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17"/>
  </p:notesMasterIdLst>
  <p:handoutMasterIdLst>
    <p:handoutMasterId r:id="rId18"/>
  </p:handoutMasterIdLst>
  <p:sldIdLst>
    <p:sldId id="283" r:id="rId5"/>
    <p:sldId id="311" r:id="rId6"/>
    <p:sldId id="329" r:id="rId7"/>
    <p:sldId id="330" r:id="rId8"/>
    <p:sldId id="316" r:id="rId9"/>
    <p:sldId id="338" r:id="rId10"/>
    <p:sldId id="340" r:id="rId11"/>
    <p:sldId id="331" r:id="rId12"/>
    <p:sldId id="361" r:id="rId13"/>
    <p:sldId id="359" r:id="rId14"/>
    <p:sldId id="366" r:id="rId15"/>
    <p:sldId id="367" r:id="rId1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686BFB65-520F-4649-842A-8FAC50C1638D}">
          <p14:sldIdLst>
            <p14:sldId id="283"/>
          </p14:sldIdLst>
        </p14:section>
        <p14:section name="Background" id="{2C4D1EE9-A3E0-4084-9198-0FB1A973D7CA}">
          <p14:sldIdLst>
            <p14:sldId id="311"/>
            <p14:sldId id="329"/>
            <p14:sldId id="330"/>
            <p14:sldId id="316"/>
          </p14:sldIdLst>
        </p14:section>
        <p14:section name="Study Design" id="{493AD70F-3663-6848-82DA-207AD5EAF590}">
          <p14:sldIdLst>
            <p14:sldId id="338"/>
            <p14:sldId id="340"/>
            <p14:sldId id="331"/>
            <p14:sldId id="361"/>
            <p14:sldId id="359"/>
            <p14:sldId id="366"/>
            <p14:sldId id="36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EE71F-E4CF-2640-16B2-A6A6650BB44B}" name="Cassandra WALKER" initials="CW" userId="S::cassandra.walker@wfp.org::7d551a76-2a3b-46ce-9612-27f9694a0380" providerId="AD"/>
  <p188:author id="{E164B82E-70A5-DC7F-7202-998852D0418F}" name="Nicole Wu" initials="YW" userId="Nicole Wu" providerId="None"/>
  <p188:author id="{6A52989B-2D3B-6FC0-BBC3-D88A3726BC0B}" name="Mohamed SALEM" initials="MS" userId="S::mohamed.salem@wfp.org::13f12703-f1ce-4b8b-924c-fe401988a08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CC5"/>
    <a:srgbClr val="59CAFF"/>
    <a:srgbClr val="FFFFFF"/>
    <a:srgbClr val="73F4E2"/>
    <a:srgbClr val="6DE4D0"/>
    <a:srgbClr val="57C5F7"/>
    <a:srgbClr val="FFFFFE"/>
    <a:srgbClr val="0070BA"/>
    <a:srgbClr val="DEE5C9"/>
    <a:srgbClr val="FCED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CD4FAF-B307-8F18-6331-D6161046E863}" v="34" dt="2023-08-15T09:08:16.9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7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rah WEYORI" userId="S::alirah.weyori@wfp.org::1c7cbaa8-91f0-4806-8632-e4be5028c1b4" providerId="AD" clId="Web-{A4CD4FAF-B307-8F18-6331-D6161046E863}"/>
    <pc:docChg chg="modSld">
      <pc:chgData name="Alirah WEYORI" userId="S::alirah.weyori@wfp.org::1c7cbaa8-91f0-4806-8632-e4be5028c1b4" providerId="AD" clId="Web-{A4CD4FAF-B307-8F18-6331-D6161046E863}" dt="2023-08-15T09:08:10.636" v="31" actId="20577"/>
      <pc:docMkLst>
        <pc:docMk/>
      </pc:docMkLst>
      <pc:sldChg chg="modSp">
        <pc:chgData name="Alirah WEYORI" userId="S::alirah.weyori@wfp.org::1c7cbaa8-91f0-4806-8632-e4be5028c1b4" providerId="AD" clId="Web-{A4CD4FAF-B307-8F18-6331-D6161046E863}" dt="2023-08-15T09:04:56.113" v="2" actId="20577"/>
        <pc:sldMkLst>
          <pc:docMk/>
          <pc:sldMk cId="3313085326" sldId="331"/>
        </pc:sldMkLst>
        <pc:spChg chg="mod">
          <ac:chgData name="Alirah WEYORI" userId="S::alirah.weyori@wfp.org::1c7cbaa8-91f0-4806-8632-e4be5028c1b4" providerId="AD" clId="Web-{A4CD4FAF-B307-8F18-6331-D6161046E863}" dt="2023-08-15T09:04:56.113" v="2" actId="20577"/>
          <ac:spMkLst>
            <pc:docMk/>
            <pc:sldMk cId="3313085326" sldId="331"/>
            <ac:spMk id="6" creationId="{C77D6C2F-AC0C-CDE5-6C26-DEC4BD426D97}"/>
          </ac:spMkLst>
        </pc:spChg>
      </pc:sldChg>
      <pc:sldChg chg="modSp">
        <pc:chgData name="Alirah WEYORI" userId="S::alirah.weyori@wfp.org::1c7cbaa8-91f0-4806-8632-e4be5028c1b4" providerId="AD" clId="Web-{A4CD4FAF-B307-8F18-6331-D6161046E863}" dt="2023-08-15T09:06:18.132" v="8" actId="20577"/>
        <pc:sldMkLst>
          <pc:docMk/>
          <pc:sldMk cId="710863415" sldId="359"/>
        </pc:sldMkLst>
        <pc:spChg chg="mod">
          <ac:chgData name="Alirah WEYORI" userId="S::alirah.weyori@wfp.org::1c7cbaa8-91f0-4806-8632-e4be5028c1b4" providerId="AD" clId="Web-{A4CD4FAF-B307-8F18-6331-D6161046E863}" dt="2023-08-15T09:06:18.132" v="8" actId="20577"/>
          <ac:spMkLst>
            <pc:docMk/>
            <pc:sldMk cId="710863415" sldId="359"/>
            <ac:spMk id="6" creationId="{C77D6C2F-AC0C-CDE5-6C26-DEC4BD426D97}"/>
          </ac:spMkLst>
        </pc:spChg>
      </pc:sldChg>
      <pc:sldChg chg="modSp">
        <pc:chgData name="Alirah WEYORI" userId="S::alirah.weyori@wfp.org::1c7cbaa8-91f0-4806-8632-e4be5028c1b4" providerId="AD" clId="Web-{A4CD4FAF-B307-8F18-6331-D6161046E863}" dt="2023-08-15T09:06:52.352" v="13" actId="20577"/>
        <pc:sldMkLst>
          <pc:docMk/>
          <pc:sldMk cId="174327325" sldId="366"/>
        </pc:sldMkLst>
        <pc:spChg chg="mod">
          <ac:chgData name="Alirah WEYORI" userId="S::alirah.weyori@wfp.org::1c7cbaa8-91f0-4806-8632-e4be5028c1b4" providerId="AD" clId="Web-{A4CD4FAF-B307-8F18-6331-D6161046E863}" dt="2023-08-15T09:06:52.352" v="13" actId="20577"/>
          <ac:spMkLst>
            <pc:docMk/>
            <pc:sldMk cId="174327325" sldId="366"/>
            <ac:spMk id="6" creationId="{C77D6C2F-AC0C-CDE5-6C26-DEC4BD426D97}"/>
          </ac:spMkLst>
        </pc:spChg>
      </pc:sldChg>
      <pc:sldChg chg="modSp">
        <pc:chgData name="Alirah WEYORI" userId="S::alirah.weyori@wfp.org::1c7cbaa8-91f0-4806-8632-e4be5028c1b4" providerId="AD" clId="Web-{A4CD4FAF-B307-8F18-6331-D6161046E863}" dt="2023-08-15T09:08:10.636" v="31" actId="20577"/>
        <pc:sldMkLst>
          <pc:docMk/>
          <pc:sldMk cId="812228377" sldId="367"/>
        </pc:sldMkLst>
        <pc:spChg chg="mod">
          <ac:chgData name="Alirah WEYORI" userId="S::alirah.weyori@wfp.org::1c7cbaa8-91f0-4806-8632-e4be5028c1b4" providerId="AD" clId="Web-{A4CD4FAF-B307-8F18-6331-D6161046E863}" dt="2023-08-15T09:08:10.636" v="31" actId="20577"/>
          <ac:spMkLst>
            <pc:docMk/>
            <pc:sldMk cId="812228377" sldId="367"/>
            <ac:spMk id="6" creationId="{C77D6C2F-AC0C-CDE5-6C26-DEC4BD426D97}"/>
          </ac:spMkLst>
        </pc:spChg>
      </pc:sldChg>
    </pc:docChg>
  </pc:docChgLst>
  <pc:docChgLst>
    <pc:chgData name="Nicole WU" userId="4cf90142-5117-41df-a92b-6216d87bdf3c" providerId="ADAL" clId="{C9F8280B-96EB-AE42-BD9E-04BE1F37E20A}"/>
    <pc:docChg chg="modSld">
      <pc:chgData name="Nicole WU" userId="4cf90142-5117-41df-a92b-6216d87bdf3c" providerId="ADAL" clId="{C9F8280B-96EB-AE42-BD9E-04BE1F37E20A}" dt="2023-08-14T13:25:38.946" v="38" actId="1036"/>
      <pc:docMkLst>
        <pc:docMk/>
      </pc:docMkLst>
      <pc:sldChg chg="modSp mod">
        <pc:chgData name="Nicole WU" userId="4cf90142-5117-41df-a92b-6216d87bdf3c" providerId="ADAL" clId="{C9F8280B-96EB-AE42-BD9E-04BE1F37E20A}" dt="2023-08-14T13:25:38.946" v="38" actId="1036"/>
        <pc:sldMkLst>
          <pc:docMk/>
          <pc:sldMk cId="300030145" sldId="340"/>
        </pc:sldMkLst>
        <pc:spChg chg="mod">
          <ac:chgData name="Nicole WU" userId="4cf90142-5117-41df-a92b-6216d87bdf3c" providerId="ADAL" clId="{C9F8280B-96EB-AE42-BD9E-04BE1F37E20A}" dt="2023-08-14T13:25:19.435" v="13" actId="1076"/>
          <ac:spMkLst>
            <pc:docMk/>
            <pc:sldMk cId="300030145" sldId="340"/>
            <ac:spMk id="3" creationId="{58DF4EA1-0911-9123-CB79-6E24EF2A8DC7}"/>
          </ac:spMkLst>
        </pc:spChg>
        <pc:spChg chg="mod">
          <ac:chgData name="Nicole WU" userId="4cf90142-5117-41df-a92b-6216d87bdf3c" providerId="ADAL" clId="{C9F8280B-96EB-AE42-BD9E-04BE1F37E20A}" dt="2023-08-14T13:25:38.946" v="38" actId="1036"/>
          <ac:spMkLst>
            <pc:docMk/>
            <pc:sldMk cId="300030145" sldId="340"/>
            <ac:spMk id="43" creationId="{6422C3DC-F089-EB33-33FD-988B9E740243}"/>
          </ac:spMkLst>
        </pc:spChg>
        <pc:cxnChg chg="mod">
          <ac:chgData name="Nicole WU" userId="4cf90142-5117-41df-a92b-6216d87bdf3c" providerId="ADAL" clId="{C9F8280B-96EB-AE42-BD9E-04BE1F37E20A}" dt="2023-08-14T13:25:34.668" v="33" actId="1036"/>
          <ac:cxnSpMkLst>
            <pc:docMk/>
            <pc:sldMk cId="300030145" sldId="340"/>
            <ac:cxnSpMk id="23" creationId="{959D9D4C-1E61-1A4B-A1A3-033DC7A5E5C2}"/>
          </ac:cxnSpMkLst>
        </pc:cxnChg>
      </pc:sldChg>
      <pc:sldChg chg="modSp mod">
        <pc:chgData name="Nicole WU" userId="4cf90142-5117-41df-a92b-6216d87bdf3c" providerId="ADAL" clId="{C9F8280B-96EB-AE42-BD9E-04BE1F37E20A}" dt="2023-08-14T13:10:52.438" v="3" actId="20577"/>
        <pc:sldMkLst>
          <pc:docMk/>
          <pc:sldMk cId="773978157" sldId="361"/>
        </pc:sldMkLst>
        <pc:spChg chg="mod">
          <ac:chgData name="Nicole WU" userId="4cf90142-5117-41df-a92b-6216d87bdf3c" providerId="ADAL" clId="{C9F8280B-96EB-AE42-BD9E-04BE1F37E20A}" dt="2023-08-14T13:10:49.619" v="1" actId="20577"/>
          <ac:spMkLst>
            <pc:docMk/>
            <pc:sldMk cId="773978157" sldId="361"/>
            <ac:spMk id="4" creationId="{B527F588-3365-B368-4A52-E7E1D4E559FF}"/>
          </ac:spMkLst>
        </pc:spChg>
        <pc:spChg chg="mod">
          <ac:chgData name="Nicole WU" userId="4cf90142-5117-41df-a92b-6216d87bdf3c" providerId="ADAL" clId="{C9F8280B-96EB-AE42-BD9E-04BE1F37E20A}" dt="2023-08-14T13:10:52.438" v="3" actId="20577"/>
          <ac:spMkLst>
            <pc:docMk/>
            <pc:sldMk cId="773978157" sldId="361"/>
            <ac:spMk id="5" creationId="{2B5D4394-D1B1-3C18-B85D-110A8E83BBB2}"/>
          </ac:spMkLst>
        </pc:spChg>
      </pc:sldChg>
      <pc:sldChg chg="modSp mod">
        <pc:chgData name="Nicole WU" userId="4cf90142-5117-41df-a92b-6216d87bdf3c" providerId="ADAL" clId="{C9F8280B-96EB-AE42-BD9E-04BE1F37E20A}" dt="2023-08-14T13:11:07.634" v="12" actId="20577"/>
        <pc:sldMkLst>
          <pc:docMk/>
          <pc:sldMk cId="174327325" sldId="366"/>
        </pc:sldMkLst>
        <pc:spChg chg="mod">
          <ac:chgData name="Nicole WU" userId="4cf90142-5117-41df-a92b-6216d87bdf3c" providerId="ADAL" clId="{C9F8280B-96EB-AE42-BD9E-04BE1F37E20A}" dt="2023-08-14T13:11:07.634" v="12" actId="20577"/>
          <ac:spMkLst>
            <pc:docMk/>
            <pc:sldMk cId="174327325" sldId="366"/>
            <ac:spMk id="6" creationId="{C77D6C2F-AC0C-CDE5-6C26-DEC4BD426D97}"/>
          </ac:spMkLst>
        </pc:spChg>
      </pc:sldChg>
    </pc:docChg>
  </pc:docChgLst>
  <pc:docChgLst>
    <pc:chgData name="Mohamed SALEM" userId="13f12703-f1ce-4b8b-924c-fe401988a08b" providerId="ADAL" clId="{AB73EC3C-A44B-4EFA-BB68-48D48F0484C2}"/>
    <pc:docChg chg="custSel delSld modSld delSection modSection">
      <pc:chgData name="Mohamed SALEM" userId="13f12703-f1ce-4b8b-924c-fe401988a08b" providerId="ADAL" clId="{AB73EC3C-A44B-4EFA-BB68-48D48F0484C2}" dt="2023-08-16T08:10:13.411" v="52" actId="20577"/>
      <pc:docMkLst>
        <pc:docMk/>
      </pc:docMkLst>
      <pc:sldChg chg="del">
        <pc:chgData name="Mohamed SALEM" userId="13f12703-f1ce-4b8b-924c-fe401988a08b" providerId="ADAL" clId="{AB73EC3C-A44B-4EFA-BB68-48D48F0484C2}" dt="2023-08-14T12:53:46.903" v="0" actId="47"/>
        <pc:sldMkLst>
          <pc:docMk/>
          <pc:sldMk cId="93493557" sldId="325"/>
        </pc:sldMkLst>
      </pc:sldChg>
      <pc:sldChg chg="del">
        <pc:chgData name="Mohamed SALEM" userId="13f12703-f1ce-4b8b-924c-fe401988a08b" providerId="ADAL" clId="{AB73EC3C-A44B-4EFA-BB68-48D48F0484C2}" dt="2023-08-14T12:53:46.903" v="0" actId="47"/>
        <pc:sldMkLst>
          <pc:docMk/>
          <pc:sldMk cId="1045701143" sldId="344"/>
        </pc:sldMkLst>
      </pc:sldChg>
      <pc:sldChg chg="modSp mod">
        <pc:chgData name="Mohamed SALEM" userId="13f12703-f1ce-4b8b-924c-fe401988a08b" providerId="ADAL" clId="{AB73EC3C-A44B-4EFA-BB68-48D48F0484C2}" dt="2023-08-16T08:10:13.411" v="52" actId="20577"/>
        <pc:sldMkLst>
          <pc:docMk/>
          <pc:sldMk cId="174327325" sldId="366"/>
        </pc:sldMkLst>
        <pc:spChg chg="mod">
          <ac:chgData name="Mohamed SALEM" userId="13f12703-f1ce-4b8b-924c-fe401988a08b" providerId="ADAL" clId="{AB73EC3C-A44B-4EFA-BB68-48D48F0484C2}" dt="2023-08-16T08:10:13.411" v="52" actId="20577"/>
          <ac:spMkLst>
            <pc:docMk/>
            <pc:sldMk cId="174327325" sldId="366"/>
            <ac:spMk id="6" creationId="{C77D6C2F-AC0C-CDE5-6C26-DEC4BD426D97}"/>
          </ac:spMkLst>
        </pc:spChg>
      </pc:sldChg>
      <pc:sldChg chg="del">
        <pc:chgData name="Mohamed SALEM" userId="13f12703-f1ce-4b8b-924c-fe401988a08b" providerId="ADAL" clId="{AB73EC3C-A44B-4EFA-BB68-48D48F0484C2}" dt="2023-08-14T12:53:46.903" v="0" actId="47"/>
        <pc:sldMkLst>
          <pc:docMk/>
          <pc:sldMk cId="4131393188" sldId="368"/>
        </pc:sldMkLst>
      </pc:sldChg>
      <pc:sldChg chg="del">
        <pc:chgData name="Mohamed SALEM" userId="13f12703-f1ce-4b8b-924c-fe401988a08b" providerId="ADAL" clId="{AB73EC3C-A44B-4EFA-BB68-48D48F0484C2}" dt="2023-08-14T12:53:46.903" v="0" actId="47"/>
        <pc:sldMkLst>
          <pc:docMk/>
          <pc:sldMk cId="1654705270" sldId="372"/>
        </pc:sldMkLst>
      </pc:sldChg>
      <pc:sldMasterChg chg="delSldLayout">
        <pc:chgData name="Mohamed SALEM" userId="13f12703-f1ce-4b8b-924c-fe401988a08b" providerId="ADAL" clId="{AB73EC3C-A44B-4EFA-BB68-48D48F0484C2}" dt="2023-08-14T12:53:46.903" v="0" actId="47"/>
        <pc:sldMasterMkLst>
          <pc:docMk/>
          <pc:sldMasterMk cId="818424624" sldId="2147483665"/>
        </pc:sldMasterMkLst>
        <pc:sldLayoutChg chg="del">
          <pc:chgData name="Mohamed SALEM" userId="13f12703-f1ce-4b8b-924c-fe401988a08b" providerId="ADAL" clId="{AB73EC3C-A44B-4EFA-BB68-48D48F0484C2}" dt="2023-08-14T12:53:46.903" v="0" actId="47"/>
          <pc:sldLayoutMkLst>
            <pc:docMk/>
            <pc:sldMasterMk cId="818424624" sldId="2147483665"/>
            <pc:sldLayoutMk cId="1935808413" sldId="214748367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14/08/2023</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14/08/2023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2624929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useful in emergencies where F2F survey is not feasible</a:t>
            </a:r>
          </a:p>
          <a:p>
            <a:pPr marL="342900" lvl="1" indent="-342900">
              <a:spcBef>
                <a:spcPts val="1000"/>
              </a:spcBef>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lvl="1" indent="-342900">
              <a:spcBef>
                <a:spcPts val="1000"/>
              </a:spcBef>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The Challenge with </a:t>
            </a: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numbers &amp; methodology is that not it is been validated against CARI or IPC</a:t>
            </a:r>
          </a:p>
          <a:p>
            <a:pPr marL="800100" lvl="2" indent="-342900">
              <a:spcBef>
                <a:spcPts val="1000"/>
              </a:spcBef>
            </a:pPr>
            <a:r>
              <a:rPr lang="en-US" sz="2200">
                <a:latin typeface="Open Sans" panose="020B0606030504020204" pitchFamily="34" charset="0"/>
                <a:ea typeface="Open Sans" panose="020B0606030504020204" pitchFamily="34" charset="0"/>
                <a:cs typeface="Times New Roman" panose="02020603050405020304" pitchFamily="18" charset="0"/>
              </a:rPr>
              <a:t>Though is easily available, results are not globally accepted</a:t>
            </a:r>
            <a:endParaRPr lang="en-GB" sz="2200">
              <a:latin typeface="Open Sans" panose="020B0606030504020204" pitchFamily="34" charset="0"/>
              <a:ea typeface="Open Sans" panose="020B0606030504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2</a:t>
            </a:fld>
            <a:endParaRPr lang="it-IT"/>
          </a:p>
        </p:txBody>
      </p:sp>
    </p:spTree>
    <p:extLst>
      <p:ext uri="{BB962C8B-B14F-4D97-AF65-F5344CB8AC3E}">
        <p14:creationId xmlns:p14="http://schemas.microsoft.com/office/powerpoint/2010/main" val="805615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a:lnSpc>
                <a:spcPct val="107000"/>
              </a:lnSpc>
              <a:buFont typeface="+mj-lt"/>
              <a:buNone/>
            </a:pPr>
            <a:r>
              <a:rPr lang="en-GB" sz="1200" err="1">
                <a:effectLst/>
                <a:latin typeface="Calibri" panose="020F0502020204030204" pitchFamily="34" charset="0"/>
                <a:ea typeface="Calibri" panose="020F0502020204030204" pitchFamily="34" charset="0"/>
                <a:cs typeface="Calibri" panose="020F0502020204030204" pitchFamily="34" charset="0"/>
              </a:rPr>
              <a:t>rCARI</a:t>
            </a:r>
            <a:r>
              <a:rPr lang="en-GB" sz="1200">
                <a:effectLst/>
                <a:latin typeface="Calibri" panose="020F0502020204030204" pitchFamily="34" charset="0"/>
                <a:ea typeface="Calibri" panose="020F0502020204030204" pitchFamily="34" charset="0"/>
                <a:cs typeface="Calibri" panose="020F0502020204030204" pitchFamily="34" charset="0"/>
              </a:rPr>
              <a:t> is based on the following modules</a:t>
            </a: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Food consumption score </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Consumption-based coping strategy (</a:t>
            </a:r>
            <a:r>
              <a:rPr lang="en-GB" sz="1200" err="1">
                <a:effectLst/>
                <a:latin typeface="Calibri" panose="020F0502020204030204" pitchFamily="34" charset="0"/>
                <a:ea typeface="Calibri" panose="020F0502020204030204" pitchFamily="34" charset="0"/>
                <a:cs typeface="Calibri" panose="020F0502020204030204" pitchFamily="34" charset="0"/>
              </a:rPr>
              <a:t>rCSI</a:t>
            </a:r>
            <a:r>
              <a:rPr lang="en-GB" sz="1200">
                <a:effectLst/>
                <a:latin typeface="Calibri" panose="020F0502020204030204" pitchFamily="34" charset="0"/>
                <a:ea typeface="Calibri" panose="020F0502020204030204" pitchFamily="34" charset="0"/>
                <a:cs typeface="Calibri" panose="020F0502020204030204" pitchFamily="34" charset="0"/>
              </a:rPr>
              <a:t>)</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Livelihood coping strategy (usually a shorter version of the original) </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Income sources </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spcAft>
                <a:spcPts val="800"/>
              </a:spcAft>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Changes in income </a:t>
            </a:r>
            <a:endParaRPr lang="en-GB" sz="120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3</a:t>
            </a:fld>
            <a:endParaRPr lang="it-IT"/>
          </a:p>
        </p:txBody>
      </p:sp>
    </p:spTree>
    <p:extLst>
      <p:ext uri="{BB962C8B-B14F-4D97-AF65-F5344CB8AC3E}">
        <p14:creationId xmlns:p14="http://schemas.microsoft.com/office/powerpoint/2010/main" val="2110826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4</a:t>
            </a:fld>
            <a:endParaRPr lang="it-IT"/>
          </a:p>
        </p:txBody>
      </p:sp>
    </p:spTree>
    <p:extLst>
      <p:ext uri="{BB962C8B-B14F-4D97-AF65-F5344CB8AC3E}">
        <p14:creationId xmlns:p14="http://schemas.microsoft.com/office/powerpoint/2010/main" val="3249709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6</a:t>
            </a:fld>
            <a:endParaRPr lang="it-IT"/>
          </a:p>
        </p:txBody>
      </p:sp>
    </p:spTree>
    <p:extLst>
      <p:ext uri="{BB962C8B-B14F-4D97-AF65-F5344CB8AC3E}">
        <p14:creationId xmlns:p14="http://schemas.microsoft.com/office/powerpoint/2010/main" val="2512950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7</a:t>
            </a:fld>
            <a:endParaRPr lang="it-IT"/>
          </a:p>
        </p:txBody>
      </p:sp>
    </p:spTree>
    <p:extLst>
      <p:ext uri="{BB962C8B-B14F-4D97-AF65-F5344CB8AC3E}">
        <p14:creationId xmlns:p14="http://schemas.microsoft.com/office/powerpoint/2010/main" val="4041328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solidFill>
                <a:schemeClr val="accent6"/>
              </a:solidFill>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8</a:t>
            </a:fld>
            <a:endParaRPr lang="it-IT"/>
          </a:p>
        </p:txBody>
      </p:sp>
    </p:spTree>
    <p:extLst>
      <p:ext uri="{BB962C8B-B14F-4D97-AF65-F5344CB8AC3E}">
        <p14:creationId xmlns:p14="http://schemas.microsoft.com/office/powerpoint/2010/main" val="813800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9</a:t>
            </a:fld>
            <a:endParaRPr lang="it-IT"/>
          </a:p>
        </p:txBody>
      </p:sp>
    </p:spTree>
    <p:extLst>
      <p:ext uri="{BB962C8B-B14F-4D97-AF65-F5344CB8AC3E}">
        <p14:creationId xmlns:p14="http://schemas.microsoft.com/office/powerpoint/2010/main" val="1482199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10</a:t>
            </a:fld>
            <a:endParaRPr lang="it-IT"/>
          </a:p>
        </p:txBody>
      </p:sp>
    </p:spTree>
    <p:extLst>
      <p:ext uri="{BB962C8B-B14F-4D97-AF65-F5344CB8AC3E}">
        <p14:creationId xmlns:p14="http://schemas.microsoft.com/office/powerpoint/2010/main" val="4065912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11</a:t>
            </a:fld>
            <a:endParaRPr lang="it-IT"/>
          </a:p>
        </p:txBody>
      </p:sp>
    </p:spTree>
    <p:extLst>
      <p:ext uri="{BB962C8B-B14F-4D97-AF65-F5344CB8AC3E}">
        <p14:creationId xmlns:p14="http://schemas.microsoft.com/office/powerpoint/2010/main" val="288535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12</a:t>
            </a:fld>
            <a:endParaRPr lang="it-IT"/>
          </a:p>
        </p:txBody>
      </p:sp>
    </p:spTree>
    <p:extLst>
      <p:ext uri="{BB962C8B-B14F-4D97-AF65-F5344CB8AC3E}">
        <p14:creationId xmlns:p14="http://schemas.microsoft.com/office/powerpoint/2010/main" val="4228978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userDrawn="1"/>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393736" y="5969757"/>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COVER">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2031224" y="675542"/>
            <a:ext cx="9595954" cy="1324205"/>
          </a:xfrm>
          <a:prstGeom prst="rect">
            <a:avLst/>
          </a:prstGeom>
        </p:spPr>
        <p:txBody>
          <a:bodyPr anchor="t">
            <a:noAutofit/>
          </a:bodyPr>
          <a:lstStyle>
            <a:lvl1pPr algn="l">
              <a:lnSpc>
                <a:spcPct val="100000"/>
              </a:lnSpc>
              <a:defRPr sz="3600" b="1" i="0" baseline="0">
                <a:solidFill>
                  <a:srgbClr val="0070BA"/>
                </a:solidFill>
                <a:latin typeface="Open Sans" charset="0"/>
                <a:ea typeface="Open Sans" charset="0"/>
                <a:cs typeface="Open Sans" charset="0"/>
              </a:defRPr>
            </a:lvl1pPr>
          </a:lstStyle>
          <a:p>
            <a:r>
              <a:rPr lang="en-US" noProof="0"/>
              <a:t>Click to insert title</a:t>
            </a:r>
          </a:p>
        </p:txBody>
      </p:sp>
      <p:sp>
        <p:nvSpPr>
          <p:cNvPr id="3" name="Sottotitolo 2"/>
          <p:cNvSpPr>
            <a:spLocks noGrp="1"/>
          </p:cNvSpPr>
          <p:nvPr>
            <p:ph type="subTitle" idx="1" hasCustomPrompt="1"/>
          </p:nvPr>
        </p:nvSpPr>
        <p:spPr>
          <a:xfrm>
            <a:off x="2045184" y="1999748"/>
            <a:ext cx="9595954" cy="1655762"/>
          </a:xfrm>
        </p:spPr>
        <p:txBody>
          <a:bodyPr anchor="t">
            <a:noAutofit/>
          </a:bodyPr>
          <a:lstStyle>
            <a:lvl1pPr marL="0" indent="0" algn="l">
              <a:buNone/>
              <a:defRPr sz="2400" b="0" i="0">
                <a:solidFill>
                  <a:srgbClr val="0070BA"/>
                </a:solidFill>
                <a:latin typeface="Open Sans" charset="0"/>
                <a:ea typeface="Open Sans" charset="0"/>
                <a:cs typeface="Open Sans"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a:t>
            </a:r>
          </a:p>
        </p:txBody>
      </p:sp>
      <p:sp>
        <p:nvSpPr>
          <p:cNvPr id="4" name="Segnaposto data 3"/>
          <p:cNvSpPr>
            <a:spLocks noGrp="1"/>
          </p:cNvSpPr>
          <p:nvPr>
            <p:ph type="dt" sz="half" idx="10"/>
          </p:nvPr>
        </p:nvSpPr>
        <p:spPr>
          <a:xfrm>
            <a:off x="2066124" y="5820454"/>
            <a:ext cx="2743200" cy="365125"/>
          </a:xfrm>
        </p:spPr>
        <p:txBody>
          <a:bodyPr/>
          <a:lstStyle>
            <a:lvl1pPr algn="l">
              <a:defRPr sz="1400" b="1" i="0">
                <a:solidFill>
                  <a:srgbClr val="0070BA"/>
                </a:solidFill>
                <a:latin typeface="Open Sans" charset="0"/>
                <a:ea typeface="Open Sans" charset="0"/>
                <a:cs typeface="Open Sans" charset="0"/>
              </a:defRPr>
            </a:lvl1pPr>
          </a:lstStyle>
          <a:p>
            <a:r>
              <a:rPr lang="en-US" noProof="0"/>
              <a:t>Year Month</a:t>
            </a:r>
          </a:p>
        </p:txBody>
      </p:sp>
      <p:pic>
        <p:nvPicPr>
          <p:cNvPr id="7" name="Immagin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8163" y="539496"/>
            <a:ext cx="1082040" cy="5779008"/>
          </a:xfrm>
          <a:prstGeom prst="rect">
            <a:avLst/>
          </a:prstGeom>
        </p:spPr>
      </p:pic>
    </p:spTree>
    <p:extLst>
      <p:ext uri="{BB962C8B-B14F-4D97-AF65-F5344CB8AC3E}">
        <p14:creationId xmlns:p14="http://schemas.microsoft.com/office/powerpoint/2010/main" val="2516738171"/>
      </p:ext>
    </p:extLst>
  </p:cSld>
  <p:clrMapOvr>
    <a:masterClrMapping/>
  </p:clrMapOvr>
  <p:extLst>
    <p:ext uri="{DCECCB84-F9BA-43D5-87BE-67443E8EF086}">
      <p15:sldGuideLst xmlns:p15="http://schemas.microsoft.com/office/powerpoint/2012/main">
        <p15:guide id="1" pos="339">
          <p15:clr>
            <a:srgbClr val="FBAE40"/>
          </p15:clr>
        </p15:guide>
        <p15:guide id="2" orient="horz" pos="334">
          <p15:clr>
            <a:srgbClr val="FBAE40"/>
          </p15:clr>
        </p15:guide>
        <p15:guide id="3" orient="horz" pos="3978">
          <p15:clr>
            <a:srgbClr val="FBAE40"/>
          </p15:clr>
        </p15:guide>
        <p15:guide id="4" pos="1359">
          <p15:clr>
            <a:srgbClr val="FBAE40"/>
          </p15:clr>
        </p15:guide>
        <p15:guide id="5" orient="horz" pos="514">
          <p15:clr>
            <a:srgbClr val="FBAE40"/>
          </p15:clr>
        </p15:guide>
        <p15:guide id="6" pos="7333">
          <p15:clr>
            <a:srgbClr val="FBAE40"/>
          </p15:clr>
        </p15:guide>
        <p15:guide id="7" orient="horz" pos="3799">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 id="2147483675" r:id="rId6"/>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1954117" y="1165399"/>
            <a:ext cx="9595954" cy="741309"/>
          </a:xfrm>
        </p:spPr>
        <p:txBody>
          <a:bodyPr>
            <a:normAutofit/>
          </a:bodyPr>
          <a:lstStyle/>
          <a:p>
            <a:r>
              <a:rPr lang="en-US"/>
              <a:t>Remote CARI (</a:t>
            </a:r>
            <a:r>
              <a:rPr lang="en-US" err="1"/>
              <a:t>rCARI</a:t>
            </a:r>
            <a:r>
              <a:rPr lang="en-US"/>
              <a:t>) Validation Study</a:t>
            </a:r>
          </a:p>
        </p:txBody>
      </p:sp>
      <p:sp>
        <p:nvSpPr>
          <p:cNvPr id="3" name="Sottotitolo 2"/>
          <p:cNvSpPr>
            <a:spLocks noGrp="1"/>
          </p:cNvSpPr>
          <p:nvPr>
            <p:ph type="subTitle" idx="1"/>
          </p:nvPr>
        </p:nvSpPr>
        <p:spPr>
          <a:xfrm>
            <a:off x="1949934" y="1999748"/>
            <a:ext cx="9595954" cy="1655762"/>
          </a:xfrm>
        </p:spPr>
        <p:txBody>
          <a:bodyPr/>
          <a:lstStyle/>
          <a:p>
            <a:r>
              <a:rPr lang="en-US">
                <a:latin typeface="Open Sans"/>
                <a:ea typeface="Open Sans"/>
                <a:cs typeface="Open Sans"/>
              </a:rPr>
              <a:t>Results from Iraq pilot</a:t>
            </a:r>
            <a:endParaRPr lang="en-US"/>
          </a:p>
        </p:txBody>
      </p:sp>
      <p:pic>
        <p:nvPicPr>
          <p:cNvPr id="4" name="Picture 3">
            <a:extLst>
              <a:ext uri="{FF2B5EF4-FFF2-40B4-BE49-F238E27FC236}">
                <a16:creationId xmlns:a16="http://schemas.microsoft.com/office/drawing/2014/main" id="{A960D791-EF6F-FAB9-1B34-8EAE26F02003}"/>
              </a:ext>
            </a:extLst>
          </p:cNvPr>
          <p:cNvPicPr>
            <a:picLocks noChangeAspect="1"/>
          </p:cNvPicPr>
          <p:nvPr/>
        </p:nvPicPr>
        <p:blipFill>
          <a:blip r:embed="rId3"/>
          <a:stretch>
            <a:fillRect/>
          </a:stretch>
        </p:blipFill>
        <p:spPr>
          <a:xfrm>
            <a:off x="-23225" y="-363287"/>
            <a:ext cx="1202647" cy="320706"/>
          </a:xfrm>
          <a:prstGeom prst="rect">
            <a:avLst/>
          </a:prstGeom>
        </p:spPr>
      </p:pic>
      <p:sp>
        <p:nvSpPr>
          <p:cNvPr id="6" name="TextBox 5">
            <a:extLst>
              <a:ext uri="{FF2B5EF4-FFF2-40B4-BE49-F238E27FC236}">
                <a16:creationId xmlns:a16="http://schemas.microsoft.com/office/drawing/2014/main" id="{53CD270A-9458-E7A9-9B9B-7F70A19E11F1}"/>
              </a:ext>
            </a:extLst>
          </p:cNvPr>
          <p:cNvSpPr txBox="1"/>
          <p:nvPr/>
        </p:nvSpPr>
        <p:spPr>
          <a:xfrm>
            <a:off x="1949934" y="5554334"/>
            <a:ext cx="9595954" cy="707886"/>
          </a:xfrm>
          <a:prstGeom prst="rect">
            <a:avLst/>
          </a:prstGeom>
          <a:noFill/>
        </p:spPr>
        <p:txBody>
          <a:bodyPr wrap="square" lIns="91440" tIns="45720" rIns="91440" bIns="45720" rtlCol="0" anchor="t">
            <a:spAutoFit/>
          </a:bodyPr>
          <a:lstStyle/>
          <a:p>
            <a:r>
              <a:rPr lang="en-US" sz="2000" i="1">
                <a:solidFill>
                  <a:srgbClr val="0070BA"/>
                </a:solidFill>
              </a:rPr>
              <a:t>On behalf of :</a:t>
            </a:r>
          </a:p>
          <a:p>
            <a:r>
              <a:rPr lang="en-US" sz="2000" i="1" err="1">
                <a:solidFill>
                  <a:srgbClr val="0070BA"/>
                </a:solidFill>
              </a:rPr>
              <a:t>Alirah</a:t>
            </a:r>
            <a:r>
              <a:rPr lang="en-US" sz="2000" i="1">
                <a:solidFill>
                  <a:srgbClr val="0070BA"/>
                </a:solidFill>
              </a:rPr>
              <a:t> WEYORI &amp; Nicole WU (RAM-N) </a:t>
            </a:r>
          </a:p>
        </p:txBody>
      </p:sp>
    </p:spTree>
    <p:extLst>
      <p:ext uri="{BB962C8B-B14F-4D97-AF65-F5344CB8AC3E}">
        <p14:creationId xmlns:p14="http://schemas.microsoft.com/office/powerpoint/2010/main" val="3545166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927459" y="1671907"/>
            <a:ext cx="10542124" cy="3813174"/>
          </a:xfrm>
        </p:spPr>
        <p:txBody>
          <a:bodyPr anchor="ctr"/>
          <a:lstStyle/>
          <a:p>
            <a:pPr>
              <a:spcBef>
                <a:spcPts val="600"/>
              </a:spcBef>
              <a:spcAft>
                <a:spcPts val="600"/>
              </a:spcAft>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Traditional food security data is collected as face-to-face for micro/macro level analysis</a:t>
            </a:r>
          </a:p>
          <a:p>
            <a:pPr>
              <a:spcBef>
                <a:spcPts val="600"/>
              </a:spcBef>
              <a:spcAft>
                <a:spcPts val="600"/>
              </a:spcAft>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In recent times face-to-face data collection restricted – limited access</a:t>
            </a:r>
          </a:p>
          <a:p>
            <a:pPr lvl="1">
              <a:lnSpc>
                <a:spcPct val="150000"/>
              </a:lnSpc>
              <a:spcBef>
                <a:spcPts val="600"/>
              </a:spcBef>
              <a:spcAft>
                <a:spcPts val="600"/>
              </a:spcAft>
            </a:pPr>
            <a:r>
              <a:rPr lang="en-US" sz="22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Data gap</a:t>
            </a:r>
          </a:p>
          <a:p>
            <a:pPr lvl="1">
              <a:spcBef>
                <a:spcPts val="600"/>
              </a:spcBef>
              <a:spcAft>
                <a:spcPts val="600"/>
              </a:spcAft>
            </a:pPr>
            <a:r>
              <a:rPr lang="en-US" sz="22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Negative impact for program design and implementation </a:t>
            </a:r>
          </a:p>
          <a:p>
            <a:pPr>
              <a:spcBef>
                <a:spcPts val="600"/>
              </a:spcBef>
              <a:spcAft>
                <a:spcPts val="600"/>
              </a:spcAft>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WFP developed a novel methodology-remote CARI (</a:t>
            </a: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2986976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95928" y="1671907"/>
            <a:ext cx="4443327" cy="1627474"/>
          </a:xfrm>
        </p:spPr>
        <p:txBody>
          <a:bodyPr anchor="t"/>
          <a:lstStyle/>
          <a:p>
            <a:r>
              <a:rPr lang="en-US"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collects data through phone based or CATI interviews</a:t>
            </a:r>
          </a:p>
          <a:p>
            <a:r>
              <a:rPr lang="en-US"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aggregates indicators like standard CARI</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pic>
        <p:nvPicPr>
          <p:cNvPr id="8" name="Picture 7" descr="A picture containing text, screenshot, font, number&#10;&#10;Description automatically generated">
            <a:extLst>
              <a:ext uri="{FF2B5EF4-FFF2-40B4-BE49-F238E27FC236}">
                <a16:creationId xmlns:a16="http://schemas.microsoft.com/office/drawing/2014/main" id="{9F548F5E-1645-A988-92FC-24A524438847}"/>
              </a:ext>
            </a:extLst>
          </p:cNvPr>
          <p:cNvPicPr>
            <a:picLocks noChangeAspect="1"/>
          </p:cNvPicPr>
          <p:nvPr/>
        </p:nvPicPr>
        <p:blipFill>
          <a:blip r:embed="rId4"/>
          <a:stretch>
            <a:fillRect/>
          </a:stretch>
        </p:blipFill>
        <p:spPr>
          <a:xfrm>
            <a:off x="5410245" y="1022430"/>
            <a:ext cx="6732938" cy="4813140"/>
          </a:xfrm>
          <a:prstGeom prst="rect">
            <a:avLst/>
          </a:prstGeom>
        </p:spPr>
      </p:pic>
      <p:sp>
        <p:nvSpPr>
          <p:cNvPr id="3" name="TextBox 2">
            <a:extLst>
              <a:ext uri="{FF2B5EF4-FFF2-40B4-BE49-F238E27FC236}">
                <a16:creationId xmlns:a16="http://schemas.microsoft.com/office/drawing/2014/main" id="{A7583CC2-3F6B-5B61-354F-E8DD378C9AAD}"/>
              </a:ext>
            </a:extLst>
          </p:cNvPr>
          <p:cNvSpPr txBox="1"/>
          <p:nvPr/>
        </p:nvSpPr>
        <p:spPr>
          <a:xfrm>
            <a:off x="1121321" y="3297219"/>
            <a:ext cx="3921551" cy="2308324"/>
          </a:xfrm>
          <a:prstGeom prst="rect">
            <a:avLst/>
          </a:prstGeom>
          <a:noFill/>
        </p:spPr>
        <p:txBody>
          <a:bodyPr wrap="square" rtlCol="0">
            <a:spAutoFit/>
          </a:bodyPr>
          <a:lstStyle/>
          <a:p>
            <a:r>
              <a:rPr lang="en-US" sz="1600" dirty="0">
                <a:latin typeface="Open Sans" pitchFamily="2" charset="0"/>
                <a:ea typeface="Open Sans" pitchFamily="2" charset="0"/>
                <a:cs typeface="Open Sans" pitchFamily="2" charset="0"/>
              </a:rPr>
              <a:t>For the purpose of this study CARI calculated from FES will be compared with </a:t>
            </a:r>
            <a:r>
              <a:rPr lang="en-US" sz="1600" dirty="0" err="1">
                <a:latin typeface="Open Sans" pitchFamily="2" charset="0"/>
                <a:ea typeface="Open Sans" pitchFamily="2" charset="0"/>
                <a:cs typeface="Open Sans" pitchFamily="2" charset="0"/>
              </a:rPr>
              <a:t>rCARI</a:t>
            </a:r>
            <a:r>
              <a:rPr lang="en-US" sz="1600" dirty="0">
                <a:latin typeface="Open Sans" pitchFamily="2" charset="0"/>
                <a:ea typeface="Open Sans" pitchFamily="2" charset="0"/>
                <a:cs typeface="Open Sans" pitchFamily="2" charset="0"/>
              </a:rPr>
              <a:t> calculated through income sources</a:t>
            </a:r>
          </a:p>
          <a:p>
            <a:endParaRPr lang="en-US" sz="1600" dirty="0">
              <a:latin typeface="Open Sans" pitchFamily="2" charset="0"/>
              <a:ea typeface="Open Sans" pitchFamily="2" charset="0"/>
              <a:cs typeface="Open Sans" pitchFamily="2" charset="0"/>
            </a:endParaRPr>
          </a:p>
          <a:p>
            <a:r>
              <a:rPr lang="en-US" sz="1600" b="1">
                <a:solidFill>
                  <a:srgbClr val="007CC5"/>
                </a:solidFill>
                <a:latin typeface="Open Sans" pitchFamily="2" charset="0"/>
                <a:ea typeface="Open Sans" pitchFamily="2" charset="0"/>
                <a:cs typeface="Open Sans" pitchFamily="2" charset="0"/>
              </a:rPr>
              <a:t>ECMEN can never be collected over phone (needs long expenditure module) so CARI with ECMEN is not tested in this study</a:t>
            </a:r>
            <a:endParaRPr lang="en-GB" sz="1600" b="1">
              <a:solidFill>
                <a:srgbClr val="007CC5"/>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521495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927459" y="1671907"/>
            <a:ext cx="10542124" cy="3813174"/>
          </a:xfrm>
        </p:spPr>
        <p:txBody>
          <a:bodyPr anchor="ctr">
            <a:normAutofit fontScale="92500" lnSpcReduction="20000"/>
          </a:bodyPr>
          <a:lstStyle/>
          <a:p>
            <a:pPr>
              <a:lnSpc>
                <a:spcPct val="150000"/>
              </a:lnSpc>
            </a:pPr>
            <a:r>
              <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There could different possible ways to calculate </a:t>
            </a:r>
            <a:r>
              <a:rPr lang="en-US" sz="2400" dirty="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Which method is comparable to CARI</a:t>
            </a:r>
          </a:p>
          <a:p>
            <a:pPr lvl="2">
              <a:lnSpc>
                <a:spcPct val="150000"/>
              </a:lnSpc>
            </a:pPr>
            <a:r>
              <a:rPr lang="en-US" sz="20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Income sources and change </a:t>
            </a:r>
          </a:p>
          <a:p>
            <a:pPr lvl="2">
              <a:lnSpc>
                <a:spcPct val="150000"/>
              </a:lnSpc>
            </a:pPr>
            <a:r>
              <a:rPr lang="en-US" sz="20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Short expenditure module to measure food expenditure share (FES)  </a:t>
            </a:r>
            <a:endPar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a:lnSpc>
                <a:spcPct val="150000"/>
              </a:lnSpc>
            </a:pPr>
            <a:r>
              <a:rPr lang="en-US" sz="2400" dirty="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is not empirically validated against CARI, at the time of COVID income sources and change in income were used under the assumption that FES and expenditure cannot be collected over phone.</a:t>
            </a:r>
          </a:p>
          <a:p>
            <a:pPr>
              <a:lnSpc>
                <a:spcPct val="150000"/>
              </a:lnSpc>
            </a:pPr>
            <a:r>
              <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Short expenditure module were not tested against standardized ones</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3282286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733AE4-1795-719D-F652-A5C5B14FFF7A}"/>
              </a:ext>
            </a:extLst>
          </p:cNvPr>
          <p:cNvSpPr>
            <a:spLocks noGrp="1"/>
          </p:cNvSpPr>
          <p:nvPr>
            <p:ph idx="1"/>
          </p:nvPr>
        </p:nvSpPr>
        <p:spPr>
          <a:xfrm>
            <a:off x="824938" y="1581785"/>
            <a:ext cx="10812694" cy="4270375"/>
          </a:xfrm>
        </p:spPr>
        <p:txBody>
          <a:bodyPr anchor="ctr"/>
          <a:lstStyle/>
          <a:p>
            <a:pPr>
              <a:spcBef>
                <a:spcPts val="600"/>
              </a:spcBef>
              <a:spcAft>
                <a:spcPts val="600"/>
              </a:spcAft>
            </a:pPr>
            <a:r>
              <a:rPr lang="en-US" sz="2400" dirty="0">
                <a:solidFill>
                  <a:srgbClr val="002060"/>
                </a:solidFill>
              </a:rPr>
              <a:t>How does the </a:t>
            </a:r>
            <a:r>
              <a:rPr lang="en-US" sz="2400" dirty="0" err="1">
                <a:solidFill>
                  <a:srgbClr val="002060"/>
                </a:solidFill>
              </a:rPr>
              <a:t>rCARI</a:t>
            </a:r>
            <a:r>
              <a:rPr lang="en-US" sz="2400" dirty="0">
                <a:solidFill>
                  <a:srgbClr val="002060"/>
                </a:solidFill>
              </a:rPr>
              <a:t> aggregation using income sources compare with CARI using FES, regardless of the modality?</a:t>
            </a:r>
          </a:p>
          <a:p>
            <a:pPr>
              <a:spcBef>
                <a:spcPts val="600"/>
              </a:spcBef>
              <a:spcAft>
                <a:spcPts val="600"/>
              </a:spcAft>
            </a:pPr>
            <a:r>
              <a:rPr lang="en-US" sz="2400" dirty="0">
                <a:solidFill>
                  <a:srgbClr val="002060"/>
                </a:solidFill>
              </a:rPr>
              <a:t>How does interview modality (f2f vs remote) affect the reporting on different FS indicators included in both aggregate?</a:t>
            </a:r>
          </a:p>
          <a:p>
            <a:pPr lvl="1">
              <a:spcBef>
                <a:spcPts val="600"/>
              </a:spcBef>
              <a:spcAft>
                <a:spcPts val="600"/>
              </a:spcAft>
            </a:pPr>
            <a:r>
              <a:rPr lang="en-US" sz="2000" dirty="0">
                <a:solidFill>
                  <a:srgbClr val="002060"/>
                </a:solidFill>
              </a:rPr>
              <a:t>Inter-household comparison (Remote-first </a:t>
            </a:r>
            <a:r>
              <a:rPr lang="en-US" sz="2000" dirty="0" err="1">
                <a:solidFill>
                  <a:srgbClr val="002060"/>
                </a:solidFill>
              </a:rPr>
              <a:t>gp</a:t>
            </a:r>
            <a:r>
              <a:rPr lang="en-US" sz="2000" dirty="0">
                <a:solidFill>
                  <a:srgbClr val="002060"/>
                </a:solidFill>
              </a:rPr>
              <a:t> compared with F2F-first </a:t>
            </a:r>
            <a:r>
              <a:rPr lang="en-US" sz="2000" dirty="0" err="1">
                <a:solidFill>
                  <a:srgbClr val="002060"/>
                </a:solidFill>
              </a:rPr>
              <a:t>qp</a:t>
            </a:r>
            <a:r>
              <a:rPr lang="en-US" sz="2400" dirty="0">
                <a:solidFill>
                  <a:srgbClr val="002060"/>
                </a:solidFill>
              </a:rPr>
              <a:t>)</a:t>
            </a:r>
            <a:endParaRPr lang="en-US" sz="2000" dirty="0">
              <a:solidFill>
                <a:srgbClr val="002060"/>
              </a:solidFill>
            </a:endParaRPr>
          </a:p>
          <a:p>
            <a:pPr lvl="1">
              <a:spcBef>
                <a:spcPts val="600"/>
              </a:spcBef>
              <a:spcAft>
                <a:spcPts val="600"/>
              </a:spcAft>
            </a:pPr>
            <a:r>
              <a:rPr lang="en-US" sz="2000" dirty="0">
                <a:solidFill>
                  <a:srgbClr val="002060"/>
                </a:solidFill>
              </a:rPr>
              <a:t>Intra-household comparison FS reporting (same HH over time)</a:t>
            </a:r>
          </a:p>
          <a:p>
            <a:pPr>
              <a:spcBef>
                <a:spcPts val="600"/>
              </a:spcBef>
              <a:spcAft>
                <a:spcPts val="600"/>
              </a:spcAft>
            </a:pPr>
            <a:r>
              <a:rPr lang="en-US" sz="2400" dirty="0">
                <a:solidFill>
                  <a:srgbClr val="002060"/>
                </a:solidFill>
              </a:rPr>
              <a:t>What is the diagnostic accuracy of the different versions' expenditure module?</a:t>
            </a:r>
          </a:p>
          <a:p>
            <a:pPr lvl="1">
              <a:spcBef>
                <a:spcPts val="600"/>
              </a:spcBef>
              <a:spcAft>
                <a:spcPts val="600"/>
              </a:spcAft>
            </a:pPr>
            <a:r>
              <a:rPr lang="en-US" sz="2000" dirty="0">
                <a:solidFill>
                  <a:srgbClr val="002060"/>
                </a:solidFill>
              </a:rPr>
              <a:t>FES-long v3 FES-short in F2F interview </a:t>
            </a:r>
          </a:p>
          <a:p>
            <a:pPr lvl="1">
              <a:spcBef>
                <a:spcPts val="600"/>
              </a:spcBef>
              <a:spcAft>
                <a:spcPts val="600"/>
              </a:spcAft>
            </a:pPr>
            <a:r>
              <a:rPr lang="en-US" sz="2000" dirty="0">
                <a:solidFill>
                  <a:srgbClr val="002060"/>
                </a:solidFill>
              </a:rPr>
              <a:t>FES-very short module in phone interview </a:t>
            </a:r>
          </a:p>
        </p:txBody>
      </p:sp>
      <p:sp>
        <p:nvSpPr>
          <p:cNvPr id="4" name="Title 1">
            <a:extLst>
              <a:ext uri="{FF2B5EF4-FFF2-40B4-BE49-F238E27FC236}">
                <a16:creationId xmlns:a16="http://schemas.microsoft.com/office/drawing/2014/main" id="{BEE78D87-A9B7-C8C0-3FDA-3783672917BF}"/>
              </a:ext>
            </a:extLst>
          </p:cNvPr>
          <p:cNvSpPr txBox="1">
            <a:spLocks/>
          </p:cNvSpPr>
          <p:nvPr/>
        </p:nvSpPr>
        <p:spPr>
          <a:xfrm>
            <a:off x="824938" y="519907"/>
            <a:ext cx="10542124" cy="115200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3000" b="1" i="0" kern="120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US"/>
              <a:t>Research questions </a:t>
            </a:r>
            <a:endParaRPr lang="en-GB"/>
          </a:p>
        </p:txBody>
      </p:sp>
    </p:spTree>
    <p:extLst>
      <p:ext uri="{BB962C8B-B14F-4D97-AF65-F5344CB8AC3E}">
        <p14:creationId xmlns:p14="http://schemas.microsoft.com/office/powerpoint/2010/main" val="3249434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peech Bubble: Rectangle with Corners Rounded 5">
            <a:extLst>
              <a:ext uri="{FF2B5EF4-FFF2-40B4-BE49-F238E27FC236}">
                <a16:creationId xmlns:a16="http://schemas.microsoft.com/office/drawing/2014/main" id="{E767ABE5-0184-8B36-5479-76A24B961185}"/>
              </a:ext>
            </a:extLst>
          </p:cNvPr>
          <p:cNvSpPr/>
          <p:nvPr/>
        </p:nvSpPr>
        <p:spPr>
          <a:xfrm>
            <a:off x="8383851" y="4673605"/>
            <a:ext cx="2928224"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a:t>
            </a:r>
          </a:p>
          <a:p>
            <a:pPr algn="ctr"/>
            <a:r>
              <a:rPr lang="en-US" b="1">
                <a:solidFill>
                  <a:srgbClr val="002060"/>
                </a:solidFill>
                <a:latin typeface="Open Sans" pitchFamily="2" charset="0"/>
                <a:ea typeface="Open Sans" pitchFamily="2" charset="0"/>
                <a:cs typeface="Open Sans" pitchFamily="2" charset="0"/>
              </a:rPr>
              <a:t>(Remote)</a:t>
            </a:r>
            <a:endParaRPr lang="en-US" b="1">
              <a:solidFill>
                <a:srgbClr val="002060"/>
              </a:solidFill>
              <a:effectLst/>
              <a:latin typeface="Open Sans" pitchFamily="2" charset="0"/>
              <a:ea typeface="Open Sans" pitchFamily="2" charset="0"/>
              <a:cs typeface="Open Sans" pitchFamily="2" charset="0"/>
            </a:endParaRPr>
          </a:p>
          <a:p>
            <a:pPr algn="ctr"/>
            <a:r>
              <a:rPr lang="en-US" b="1">
                <a:solidFill>
                  <a:srgbClr val="002060"/>
                </a:solidFill>
                <a:latin typeface="Open Sans" pitchFamily="2" charset="0"/>
                <a:ea typeface="Open Sans" pitchFamily="2" charset="0"/>
                <a:cs typeface="Open Sans" pitchFamily="2" charset="0"/>
              </a:rPr>
              <a:t>300 HH</a:t>
            </a:r>
            <a:endParaRPr lang="en-GB">
              <a:solidFill>
                <a:srgbClr val="002060"/>
              </a:solidFill>
              <a:effectLst/>
              <a:latin typeface="Open Sans" pitchFamily="2" charset="0"/>
              <a:ea typeface="Open Sans" pitchFamily="2" charset="0"/>
              <a:cs typeface="Open Sans" pitchFamily="2" charset="0"/>
            </a:endParaRPr>
          </a:p>
        </p:txBody>
      </p:sp>
      <p:sp>
        <p:nvSpPr>
          <p:cNvPr id="7" name="Speech Bubble: Rectangle with Corners Rounded 49">
            <a:extLst>
              <a:ext uri="{FF2B5EF4-FFF2-40B4-BE49-F238E27FC236}">
                <a16:creationId xmlns:a16="http://schemas.microsoft.com/office/drawing/2014/main" id="{B127FBED-1089-3247-8B90-6B4E1540C7F9}"/>
              </a:ext>
            </a:extLst>
          </p:cNvPr>
          <p:cNvSpPr/>
          <p:nvPr/>
        </p:nvSpPr>
        <p:spPr>
          <a:xfrm>
            <a:off x="4261104" y="4776182"/>
            <a:ext cx="2013269" cy="981523"/>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B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375 HH</a:t>
            </a:r>
            <a:endParaRPr lang="en-GB">
              <a:solidFill>
                <a:srgbClr val="002060"/>
              </a:solidFill>
              <a:effectLst/>
              <a:latin typeface="Open Sans" pitchFamily="2" charset="0"/>
              <a:ea typeface="Open Sans" pitchFamily="2" charset="0"/>
              <a:cs typeface="Open Sans" pitchFamily="2" charset="0"/>
            </a:endParaRPr>
          </a:p>
        </p:txBody>
      </p:sp>
      <p:sp>
        <p:nvSpPr>
          <p:cNvPr id="8" name="Speech Bubble: Rectangle with Corners Rounded 7">
            <a:extLst>
              <a:ext uri="{FF2B5EF4-FFF2-40B4-BE49-F238E27FC236}">
                <a16:creationId xmlns:a16="http://schemas.microsoft.com/office/drawing/2014/main" id="{7843C2A3-0D84-EBD3-3E1D-44C9C42539D5}"/>
              </a:ext>
            </a:extLst>
          </p:cNvPr>
          <p:cNvSpPr/>
          <p:nvPr/>
        </p:nvSpPr>
        <p:spPr>
          <a:xfrm>
            <a:off x="741625" y="3642207"/>
            <a:ext cx="1731062" cy="1133975"/>
          </a:xfrm>
          <a:prstGeom prst="wedgeRoundRectCallout">
            <a:avLst>
              <a:gd name="adj1" fmla="val -20611"/>
              <a:gd name="adj2" fmla="val 49015"/>
              <a:gd name="adj3" fmla="val 16667"/>
            </a:avLst>
          </a:prstGeom>
          <a:solidFill>
            <a:srgbClr val="FFFFFF"/>
          </a:solidFill>
          <a:ln w="28575">
            <a:solidFill>
              <a:schemeClr val="accent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002060"/>
                </a:solidFill>
                <a:latin typeface="Open Sans" pitchFamily="2" charset="0"/>
                <a:ea typeface="Open Sans" pitchFamily="2" charset="0"/>
                <a:cs typeface="Open Sans" pitchFamily="2" charset="0"/>
              </a:rPr>
              <a:t>Sampled HH</a:t>
            </a:r>
          </a:p>
          <a:p>
            <a:pPr algn="ctr"/>
            <a:r>
              <a:rPr lang="en-GB" b="1">
                <a:solidFill>
                  <a:srgbClr val="002060"/>
                </a:solidFill>
                <a:latin typeface="Open Sans" pitchFamily="2" charset="0"/>
                <a:ea typeface="Open Sans" pitchFamily="2" charset="0"/>
                <a:cs typeface="Open Sans" pitchFamily="2" charset="0"/>
              </a:rPr>
              <a:t>(600 + 25% attrition)</a:t>
            </a:r>
          </a:p>
        </p:txBody>
      </p:sp>
      <p:cxnSp>
        <p:nvCxnSpPr>
          <p:cNvPr id="9" name="Straight Arrow Connector 8">
            <a:extLst>
              <a:ext uri="{FF2B5EF4-FFF2-40B4-BE49-F238E27FC236}">
                <a16:creationId xmlns:a16="http://schemas.microsoft.com/office/drawing/2014/main" id="{AAB9B6E4-B3CC-1511-4DBD-381DB03C63CF}"/>
              </a:ext>
            </a:extLst>
          </p:cNvPr>
          <p:cNvCxnSpPr>
            <a:cxnSpLocks/>
            <a:endCxn id="7" idx="19"/>
          </p:cNvCxnSpPr>
          <p:nvPr/>
        </p:nvCxnSpPr>
        <p:spPr>
          <a:xfrm>
            <a:off x="2472689" y="4446026"/>
            <a:ext cx="1788415" cy="917847"/>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D8CBDB44-F00E-8AC4-2D83-98856084BC9C}"/>
              </a:ext>
            </a:extLst>
          </p:cNvPr>
          <p:cNvCxnSpPr>
            <a:cxnSpLocks/>
            <a:endCxn id="15" idx="1"/>
          </p:cNvCxnSpPr>
          <p:nvPr/>
        </p:nvCxnSpPr>
        <p:spPr>
          <a:xfrm flipV="1">
            <a:off x="2472687" y="3091090"/>
            <a:ext cx="1722051" cy="1031313"/>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979EB662-F96D-10F9-4186-10F1B95C82E6}"/>
              </a:ext>
            </a:extLst>
          </p:cNvPr>
          <p:cNvCxnSpPr>
            <a:cxnSpLocks/>
          </p:cNvCxnSpPr>
          <p:nvPr/>
        </p:nvCxnSpPr>
        <p:spPr>
          <a:xfrm>
            <a:off x="6274373" y="5297803"/>
            <a:ext cx="2109478"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FCADB271-BE11-A886-327B-4826785721F7}"/>
              </a:ext>
            </a:extLst>
          </p:cNvPr>
          <p:cNvCxnSpPr>
            <a:cxnSpLocks/>
          </p:cNvCxnSpPr>
          <p:nvPr/>
        </p:nvCxnSpPr>
        <p:spPr>
          <a:xfrm flipV="1">
            <a:off x="4868607" y="3560792"/>
            <a:ext cx="868427" cy="89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C43AE659-56B1-DDEA-BC20-2A836DA367AB}"/>
              </a:ext>
            </a:extLst>
          </p:cNvPr>
          <p:cNvSpPr txBox="1"/>
          <p:nvPr/>
        </p:nvSpPr>
        <p:spPr>
          <a:xfrm>
            <a:off x="4204523" y="1683215"/>
            <a:ext cx="2069850" cy="338554"/>
          </a:xfrm>
          <a:prstGeom prst="rect">
            <a:avLst/>
          </a:prstGeom>
          <a:solidFill>
            <a:srgbClr val="FFFFFF"/>
          </a:solidFill>
          <a:ln w="28575">
            <a:solidFill>
              <a:schemeClr val="accent1"/>
            </a:solidFill>
          </a:ln>
        </p:spPr>
        <p:txBody>
          <a:bodyPr wrap="square" rtlCol="0">
            <a:spAutoFit/>
          </a:bodyPr>
          <a:lstStyle/>
          <a:p>
            <a:pPr algn="ctr"/>
            <a:r>
              <a:rPr lang="en-GB" sz="1600" b="1">
                <a:solidFill>
                  <a:srgbClr val="002060"/>
                </a:solidFill>
                <a:latin typeface="Open Sans" pitchFamily="2" charset="0"/>
                <a:ea typeface="Open Sans" pitchFamily="2" charset="0"/>
                <a:cs typeface="Open Sans" pitchFamily="2" charset="0"/>
              </a:rPr>
              <a:t>1st Interview</a:t>
            </a:r>
          </a:p>
        </p:txBody>
      </p:sp>
      <p:sp>
        <p:nvSpPr>
          <p:cNvPr id="14" name="Speech Bubble: Rectangle with Corners Rounded 49">
            <a:extLst>
              <a:ext uri="{FF2B5EF4-FFF2-40B4-BE49-F238E27FC236}">
                <a16:creationId xmlns:a16="http://schemas.microsoft.com/office/drawing/2014/main" id="{9FF8F268-8BCF-E8B2-5B5B-9C53BF57908E}"/>
              </a:ext>
            </a:extLst>
          </p:cNvPr>
          <p:cNvSpPr/>
          <p:nvPr/>
        </p:nvSpPr>
        <p:spPr>
          <a:xfrm>
            <a:off x="8383850" y="2557750"/>
            <a:ext cx="2928225" cy="1023602"/>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300 HH</a:t>
            </a:r>
            <a:endParaRPr lang="en-GB" sz="3200">
              <a:solidFill>
                <a:srgbClr val="002060"/>
              </a:solidFill>
              <a:effectLst/>
              <a:latin typeface="Open Sans" pitchFamily="2" charset="0"/>
              <a:ea typeface="Open Sans" pitchFamily="2" charset="0"/>
              <a:cs typeface="Open Sans" pitchFamily="2" charset="0"/>
            </a:endParaRPr>
          </a:p>
        </p:txBody>
      </p:sp>
      <p:sp>
        <p:nvSpPr>
          <p:cNvPr id="15" name="Speech Bubble: Rectangle with Corners Rounded 14">
            <a:extLst>
              <a:ext uri="{FF2B5EF4-FFF2-40B4-BE49-F238E27FC236}">
                <a16:creationId xmlns:a16="http://schemas.microsoft.com/office/drawing/2014/main" id="{5EA3E412-3D92-88B3-CB0C-9BC829A14E5C}"/>
              </a:ext>
            </a:extLst>
          </p:cNvPr>
          <p:cNvSpPr/>
          <p:nvPr/>
        </p:nvSpPr>
        <p:spPr>
          <a:xfrm>
            <a:off x="4194738" y="2539972"/>
            <a:ext cx="2109478" cy="1102235"/>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A (</a:t>
            </a:r>
            <a:r>
              <a:rPr lang="en-US" b="1">
                <a:solidFill>
                  <a:srgbClr val="002060"/>
                </a:solidFill>
                <a:effectLst/>
                <a:latin typeface="Open Sans" pitchFamily="2" charset="0"/>
                <a:ea typeface="Open Sans" pitchFamily="2" charset="0"/>
                <a:cs typeface="Open Sans" pitchFamily="2" charset="0"/>
              </a:rPr>
              <a:t>Remote</a:t>
            </a:r>
            <a:r>
              <a:rPr lang="en-US" b="1">
                <a:solidFill>
                  <a:srgbClr val="002060"/>
                </a:solidFill>
                <a:latin typeface="Open Sans" pitchFamily="2" charset="0"/>
                <a:ea typeface="Open Sans" pitchFamily="2" charset="0"/>
                <a:cs typeface="Open Sans" pitchFamily="2" charset="0"/>
              </a:rPr>
              <a:t>)</a:t>
            </a:r>
          </a:p>
          <a:p>
            <a:pPr algn="ctr"/>
            <a:r>
              <a:rPr lang="en-US" b="1">
                <a:solidFill>
                  <a:srgbClr val="002060"/>
                </a:solidFill>
                <a:latin typeface="Open Sans" pitchFamily="2" charset="0"/>
                <a:ea typeface="Open Sans" pitchFamily="2" charset="0"/>
                <a:cs typeface="Open Sans" pitchFamily="2" charset="0"/>
              </a:rPr>
              <a:t>375 HH</a:t>
            </a:r>
            <a:endParaRPr lang="en-GB">
              <a:solidFill>
                <a:srgbClr val="002060"/>
              </a:solidFill>
              <a:latin typeface="Open Sans" pitchFamily="2" charset="0"/>
              <a:ea typeface="Open Sans" pitchFamily="2" charset="0"/>
              <a:cs typeface="Open Sans" pitchFamily="2" charset="0"/>
            </a:endParaRPr>
          </a:p>
        </p:txBody>
      </p:sp>
      <p:sp>
        <p:nvSpPr>
          <p:cNvPr id="16" name="Left Brace 15">
            <a:extLst>
              <a:ext uri="{FF2B5EF4-FFF2-40B4-BE49-F238E27FC236}">
                <a16:creationId xmlns:a16="http://schemas.microsoft.com/office/drawing/2014/main" id="{118DE8F7-07C2-1395-819C-52F5FC744EFF}"/>
              </a:ext>
            </a:extLst>
          </p:cNvPr>
          <p:cNvSpPr/>
          <p:nvPr/>
        </p:nvSpPr>
        <p:spPr>
          <a:xfrm rot="5400000">
            <a:off x="5012020" y="1296537"/>
            <a:ext cx="484698" cy="2099692"/>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cxnSp>
        <p:nvCxnSpPr>
          <p:cNvPr id="17" name="Straight Arrow Connector 16">
            <a:extLst>
              <a:ext uri="{FF2B5EF4-FFF2-40B4-BE49-F238E27FC236}">
                <a16:creationId xmlns:a16="http://schemas.microsoft.com/office/drawing/2014/main" id="{E848B589-B2DE-3381-029B-B90850A7D8C4}"/>
              </a:ext>
            </a:extLst>
          </p:cNvPr>
          <p:cNvCxnSpPr>
            <a:cxnSpLocks/>
            <a:stCxn id="15" idx="3"/>
          </p:cNvCxnSpPr>
          <p:nvPr/>
        </p:nvCxnSpPr>
        <p:spPr>
          <a:xfrm flipV="1">
            <a:off x="6304216" y="3086622"/>
            <a:ext cx="2079635" cy="4468"/>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8" name="TextBox 17">
            <a:extLst>
              <a:ext uri="{FF2B5EF4-FFF2-40B4-BE49-F238E27FC236}">
                <a16:creationId xmlns:a16="http://schemas.microsoft.com/office/drawing/2014/main" id="{60979141-BBD0-EE11-5468-9E2EBEE02D3B}"/>
              </a:ext>
            </a:extLst>
          </p:cNvPr>
          <p:cNvSpPr txBox="1"/>
          <p:nvPr/>
        </p:nvSpPr>
        <p:spPr>
          <a:xfrm>
            <a:off x="8435659" y="1683215"/>
            <a:ext cx="2876415" cy="338554"/>
          </a:xfrm>
          <a:prstGeom prst="rect">
            <a:avLst/>
          </a:prstGeom>
          <a:solidFill>
            <a:srgbClr val="FFFFFF"/>
          </a:solidFill>
          <a:ln w="28575">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p:txBody>
      </p:sp>
      <p:sp>
        <p:nvSpPr>
          <p:cNvPr id="19" name="Left Brace 18">
            <a:extLst>
              <a:ext uri="{FF2B5EF4-FFF2-40B4-BE49-F238E27FC236}">
                <a16:creationId xmlns:a16="http://schemas.microsoft.com/office/drawing/2014/main" id="{88DFF2FE-F4E0-D427-91B3-D5676BB1D961}"/>
              </a:ext>
            </a:extLst>
          </p:cNvPr>
          <p:cNvSpPr/>
          <p:nvPr/>
        </p:nvSpPr>
        <p:spPr>
          <a:xfrm rot="5400000">
            <a:off x="9631518" y="889380"/>
            <a:ext cx="484697" cy="2876417"/>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20" name="TextBox 19">
            <a:extLst>
              <a:ext uri="{FF2B5EF4-FFF2-40B4-BE49-F238E27FC236}">
                <a16:creationId xmlns:a16="http://schemas.microsoft.com/office/drawing/2014/main" id="{F5E7CE51-DE28-E6B6-7877-6BEAEA2258FA}"/>
              </a:ext>
            </a:extLst>
          </p:cNvPr>
          <p:cNvSpPr txBox="1"/>
          <p:nvPr/>
        </p:nvSpPr>
        <p:spPr>
          <a:xfrm>
            <a:off x="6492240" y="2787840"/>
            <a:ext cx="1534024"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 48 Hours</a:t>
            </a:r>
            <a:endParaRPr lang="en-GB" sz="1600" b="1">
              <a:latin typeface="Open Sans" pitchFamily="2" charset="0"/>
              <a:ea typeface="Open Sans" pitchFamily="2" charset="0"/>
              <a:cs typeface="Open Sans" pitchFamily="2" charset="0"/>
            </a:endParaRPr>
          </a:p>
        </p:txBody>
      </p:sp>
      <p:sp>
        <p:nvSpPr>
          <p:cNvPr id="21" name="TextBox 20">
            <a:extLst>
              <a:ext uri="{FF2B5EF4-FFF2-40B4-BE49-F238E27FC236}">
                <a16:creationId xmlns:a16="http://schemas.microsoft.com/office/drawing/2014/main" id="{98C21982-688B-3CDB-BD72-E95BAFCBFA3D}"/>
              </a:ext>
            </a:extLst>
          </p:cNvPr>
          <p:cNvSpPr txBox="1"/>
          <p:nvPr/>
        </p:nvSpPr>
        <p:spPr>
          <a:xfrm>
            <a:off x="6495505" y="4994553"/>
            <a:ext cx="1792137"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intervals 48 Hours</a:t>
            </a:r>
            <a:endParaRPr lang="en-GB" sz="1600" b="1">
              <a:latin typeface="Open Sans" pitchFamily="2" charset="0"/>
              <a:ea typeface="Open Sans" pitchFamily="2" charset="0"/>
              <a:cs typeface="Open Sans" pitchFamily="2" charset="0"/>
            </a:endParaRPr>
          </a:p>
        </p:txBody>
      </p:sp>
      <p:sp>
        <p:nvSpPr>
          <p:cNvPr id="30" name="Title 1">
            <a:extLst>
              <a:ext uri="{FF2B5EF4-FFF2-40B4-BE49-F238E27FC236}">
                <a16:creationId xmlns:a16="http://schemas.microsoft.com/office/drawing/2014/main" id="{43A27B2C-3292-3987-1B6D-F6B9FEA32C12}"/>
              </a:ext>
            </a:extLst>
          </p:cNvPr>
          <p:cNvSpPr>
            <a:spLocks noGrp="1"/>
          </p:cNvSpPr>
          <p:nvPr>
            <p:ph type="title"/>
          </p:nvPr>
        </p:nvSpPr>
        <p:spPr>
          <a:xfrm>
            <a:off x="824938" y="519907"/>
            <a:ext cx="10542124" cy="1152000"/>
          </a:xfrm>
        </p:spPr>
        <p:txBody>
          <a:bodyPr/>
          <a:lstStyle/>
          <a:p>
            <a:r>
              <a:rPr lang="en-US" altLang="zh-CN"/>
              <a:t>Iraq Pilot Sample Design</a:t>
            </a:r>
            <a:endParaRPr lang="en-GB"/>
          </a:p>
        </p:txBody>
      </p:sp>
    </p:spTree>
    <p:extLst>
      <p:ext uri="{BB962C8B-B14F-4D97-AF65-F5344CB8AC3E}">
        <p14:creationId xmlns:p14="http://schemas.microsoft.com/office/powerpoint/2010/main" val="216137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arn(inVertical)">
                                      <p:cBhvr>
                                        <p:cTn id="13" dur="500"/>
                                        <p:tgtEl>
                                          <p:spTgt spid="1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arn(inVertical)">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inVertical)">
                                      <p:cBhvr>
                                        <p:cTn id="21" dur="500"/>
                                        <p:tgtEl>
                                          <p:spTgt spid="11"/>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barn(inVertical)">
                                      <p:cBhvr>
                                        <p:cTn id="29" dur="500"/>
                                        <p:tgtEl>
                                          <p:spTgt spid="2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arn(inVertical)">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8" grpId="0" animBg="1"/>
      <p:bldP spid="19" grpId="0" animBg="1"/>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peech Bubble: Rectangle with Corners Rounded 2">
            <a:extLst>
              <a:ext uri="{FF2B5EF4-FFF2-40B4-BE49-F238E27FC236}">
                <a16:creationId xmlns:a16="http://schemas.microsoft.com/office/drawing/2014/main" id="{58DF4EA1-0911-9123-CB79-6E24EF2A8DC7}"/>
              </a:ext>
            </a:extLst>
          </p:cNvPr>
          <p:cNvSpPr/>
          <p:nvPr/>
        </p:nvSpPr>
        <p:spPr>
          <a:xfrm>
            <a:off x="8152203" y="4949963"/>
            <a:ext cx="2928224"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a:t>
            </a:r>
          </a:p>
          <a:p>
            <a:pPr algn="ctr"/>
            <a:r>
              <a:rPr lang="en-US" b="1">
                <a:solidFill>
                  <a:srgbClr val="002060"/>
                </a:solidFill>
                <a:effectLst/>
                <a:latin typeface="Open Sans" pitchFamily="2" charset="0"/>
                <a:ea typeface="Open Sans" pitchFamily="2" charset="0"/>
                <a:cs typeface="Open Sans" pitchFamily="2" charset="0"/>
              </a:rPr>
              <a:t>(Remote)</a:t>
            </a:r>
          </a:p>
          <a:p>
            <a:pPr algn="ctr"/>
            <a:r>
              <a:rPr lang="en-US" b="1">
                <a:solidFill>
                  <a:srgbClr val="002060"/>
                </a:solidFill>
                <a:latin typeface="Open Sans" pitchFamily="2" charset="0"/>
                <a:ea typeface="Open Sans" pitchFamily="2" charset="0"/>
                <a:cs typeface="Open Sans" pitchFamily="2" charset="0"/>
              </a:rPr>
              <a:t>300 HH</a:t>
            </a:r>
            <a:endParaRPr lang="en-GB">
              <a:solidFill>
                <a:srgbClr val="002060"/>
              </a:solidFill>
              <a:effectLst/>
              <a:latin typeface="Open Sans" pitchFamily="2" charset="0"/>
              <a:ea typeface="Open Sans" pitchFamily="2" charset="0"/>
              <a:cs typeface="Open Sans" pitchFamily="2" charset="0"/>
            </a:endParaRPr>
          </a:p>
        </p:txBody>
      </p:sp>
      <p:cxnSp>
        <p:nvCxnSpPr>
          <p:cNvPr id="5" name="Straight Arrow Connector 4">
            <a:extLst>
              <a:ext uri="{FF2B5EF4-FFF2-40B4-BE49-F238E27FC236}">
                <a16:creationId xmlns:a16="http://schemas.microsoft.com/office/drawing/2014/main" id="{2E5167ED-8894-2E85-79D1-A04E50053CE8}"/>
              </a:ext>
            </a:extLst>
          </p:cNvPr>
          <p:cNvCxnSpPr>
            <a:cxnSpLocks/>
          </p:cNvCxnSpPr>
          <p:nvPr/>
        </p:nvCxnSpPr>
        <p:spPr>
          <a:xfrm>
            <a:off x="2265425" y="4080266"/>
            <a:ext cx="1513256" cy="133256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36B9B8CF-D013-B28F-CE6B-88AEE9EE8D10}"/>
              </a:ext>
            </a:extLst>
          </p:cNvPr>
          <p:cNvCxnSpPr>
            <a:cxnSpLocks/>
            <a:endCxn id="26" idx="1"/>
          </p:cNvCxnSpPr>
          <p:nvPr/>
        </p:nvCxnSpPr>
        <p:spPr>
          <a:xfrm flipV="1">
            <a:off x="2241039" y="2944786"/>
            <a:ext cx="1722051" cy="105186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3" name="Straight Arrow Connector 22">
            <a:extLst>
              <a:ext uri="{FF2B5EF4-FFF2-40B4-BE49-F238E27FC236}">
                <a16:creationId xmlns:a16="http://schemas.microsoft.com/office/drawing/2014/main" id="{959D9D4C-1E61-1A4B-A1A3-033DC7A5E5C2}"/>
              </a:ext>
            </a:extLst>
          </p:cNvPr>
          <p:cNvCxnSpPr>
            <a:cxnSpLocks/>
          </p:cNvCxnSpPr>
          <p:nvPr/>
        </p:nvCxnSpPr>
        <p:spPr>
          <a:xfrm>
            <a:off x="6042725" y="5467489"/>
            <a:ext cx="2109478"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73C56564-2AF3-B7E4-ABE2-7A8A391D6F0D}"/>
              </a:ext>
            </a:extLst>
          </p:cNvPr>
          <p:cNvCxnSpPr>
            <a:cxnSpLocks/>
          </p:cNvCxnSpPr>
          <p:nvPr/>
        </p:nvCxnSpPr>
        <p:spPr>
          <a:xfrm flipV="1">
            <a:off x="4636959" y="3414488"/>
            <a:ext cx="868427" cy="89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26" name="Speech Bubble: Rectangle with Corners Rounded 25">
            <a:extLst>
              <a:ext uri="{FF2B5EF4-FFF2-40B4-BE49-F238E27FC236}">
                <a16:creationId xmlns:a16="http://schemas.microsoft.com/office/drawing/2014/main" id="{E1A5DCDC-EE83-617B-0A13-223B8FA8C0F2}"/>
              </a:ext>
            </a:extLst>
          </p:cNvPr>
          <p:cNvSpPr/>
          <p:nvPr/>
        </p:nvSpPr>
        <p:spPr>
          <a:xfrm>
            <a:off x="3963090" y="2393668"/>
            <a:ext cx="2109478" cy="1102235"/>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A (</a:t>
            </a:r>
            <a:r>
              <a:rPr lang="en-US" b="1">
                <a:solidFill>
                  <a:srgbClr val="002060"/>
                </a:solidFill>
                <a:effectLst/>
                <a:latin typeface="Open Sans" pitchFamily="2" charset="0"/>
                <a:ea typeface="Open Sans" pitchFamily="2" charset="0"/>
                <a:cs typeface="Open Sans" pitchFamily="2" charset="0"/>
              </a:rPr>
              <a:t>Remote</a:t>
            </a:r>
            <a:r>
              <a:rPr lang="en-US" b="1">
                <a:solidFill>
                  <a:srgbClr val="002060"/>
                </a:solidFill>
                <a:latin typeface="Open Sans" pitchFamily="2" charset="0"/>
                <a:ea typeface="Open Sans" pitchFamily="2" charset="0"/>
                <a:cs typeface="Open Sans" pitchFamily="2" charset="0"/>
              </a:rPr>
              <a:t>)</a:t>
            </a:r>
          </a:p>
          <a:p>
            <a:pPr algn="ctr"/>
            <a:r>
              <a:rPr lang="en-US" b="1">
                <a:solidFill>
                  <a:srgbClr val="002060"/>
                </a:solidFill>
                <a:latin typeface="Open Sans" pitchFamily="2" charset="0"/>
                <a:ea typeface="Open Sans" pitchFamily="2" charset="0"/>
                <a:cs typeface="Open Sans" pitchFamily="2" charset="0"/>
              </a:rPr>
              <a:t>375 HH</a:t>
            </a:r>
            <a:endParaRPr lang="en-GB">
              <a:solidFill>
                <a:srgbClr val="002060"/>
              </a:solidFill>
              <a:latin typeface="Open Sans" pitchFamily="2" charset="0"/>
              <a:ea typeface="Open Sans" pitchFamily="2" charset="0"/>
              <a:cs typeface="Open Sans" pitchFamily="2" charset="0"/>
            </a:endParaRPr>
          </a:p>
        </p:txBody>
      </p:sp>
      <p:sp>
        <p:nvSpPr>
          <p:cNvPr id="27" name="Left Brace 26">
            <a:extLst>
              <a:ext uri="{FF2B5EF4-FFF2-40B4-BE49-F238E27FC236}">
                <a16:creationId xmlns:a16="http://schemas.microsoft.com/office/drawing/2014/main" id="{F0DADB58-B58A-2FC4-FDB1-C5802E927C61}"/>
              </a:ext>
            </a:extLst>
          </p:cNvPr>
          <p:cNvSpPr/>
          <p:nvPr/>
        </p:nvSpPr>
        <p:spPr>
          <a:xfrm rot="5400000">
            <a:off x="4780372" y="1150233"/>
            <a:ext cx="484698" cy="2099692"/>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cxnSp>
        <p:nvCxnSpPr>
          <p:cNvPr id="28" name="Straight Arrow Connector 27">
            <a:extLst>
              <a:ext uri="{FF2B5EF4-FFF2-40B4-BE49-F238E27FC236}">
                <a16:creationId xmlns:a16="http://schemas.microsoft.com/office/drawing/2014/main" id="{7EF2A77E-17A4-CD5D-A420-B6581319B2D9}"/>
              </a:ext>
            </a:extLst>
          </p:cNvPr>
          <p:cNvCxnSpPr>
            <a:cxnSpLocks/>
            <a:stCxn id="26" idx="3"/>
          </p:cNvCxnSpPr>
          <p:nvPr/>
        </p:nvCxnSpPr>
        <p:spPr>
          <a:xfrm flipV="1">
            <a:off x="6072568" y="2940318"/>
            <a:ext cx="2079635" cy="4468"/>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29" name="TextBox 28">
            <a:extLst>
              <a:ext uri="{FF2B5EF4-FFF2-40B4-BE49-F238E27FC236}">
                <a16:creationId xmlns:a16="http://schemas.microsoft.com/office/drawing/2014/main" id="{030403E6-9755-70D2-C8C9-9D1823179D90}"/>
              </a:ext>
            </a:extLst>
          </p:cNvPr>
          <p:cNvSpPr txBox="1"/>
          <p:nvPr/>
        </p:nvSpPr>
        <p:spPr>
          <a:xfrm>
            <a:off x="8152203" y="1573773"/>
            <a:ext cx="2897726" cy="338554"/>
          </a:xfrm>
          <a:prstGeom prst="rect">
            <a:avLst/>
          </a:prstGeom>
          <a:solidFill>
            <a:srgbClr val="FFFFFF"/>
          </a:solidFill>
          <a:ln w="2857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p:txBody>
      </p:sp>
      <p:sp>
        <p:nvSpPr>
          <p:cNvPr id="30" name="Left Brace 29">
            <a:extLst>
              <a:ext uri="{FF2B5EF4-FFF2-40B4-BE49-F238E27FC236}">
                <a16:creationId xmlns:a16="http://schemas.microsoft.com/office/drawing/2014/main" id="{3457CF6C-2E2F-8598-2400-118829C532A4}"/>
              </a:ext>
            </a:extLst>
          </p:cNvPr>
          <p:cNvSpPr/>
          <p:nvPr/>
        </p:nvSpPr>
        <p:spPr>
          <a:xfrm rot="5400000">
            <a:off x="9399870" y="730884"/>
            <a:ext cx="484697" cy="2876417"/>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31" name="Speech Bubble: Rectangle with Corners Rounded 49">
            <a:extLst>
              <a:ext uri="{FF2B5EF4-FFF2-40B4-BE49-F238E27FC236}">
                <a16:creationId xmlns:a16="http://schemas.microsoft.com/office/drawing/2014/main" id="{447672DA-C69C-EA8E-4EAE-E22B911455EC}"/>
              </a:ext>
            </a:extLst>
          </p:cNvPr>
          <p:cNvSpPr/>
          <p:nvPr/>
        </p:nvSpPr>
        <p:spPr>
          <a:xfrm>
            <a:off x="8173512" y="2308316"/>
            <a:ext cx="2876417" cy="1703187"/>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w="38100">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(F2F) 300</a:t>
            </a:r>
          </a:p>
          <a:p>
            <a:pPr algn="ctr"/>
            <a:endParaRPr lang="en-GB" sz="3200">
              <a:effectLst/>
              <a:latin typeface="Open Sans" pitchFamily="2" charset="0"/>
              <a:ea typeface="Open Sans" pitchFamily="2" charset="0"/>
              <a:cs typeface="Open Sans" pitchFamily="2" charset="0"/>
            </a:endParaRPr>
          </a:p>
        </p:txBody>
      </p:sp>
      <p:sp>
        <p:nvSpPr>
          <p:cNvPr id="32" name="Speech Bubble: Rectangle with Corners Rounded 49">
            <a:extLst>
              <a:ext uri="{FF2B5EF4-FFF2-40B4-BE49-F238E27FC236}">
                <a16:creationId xmlns:a16="http://schemas.microsoft.com/office/drawing/2014/main" id="{67C8EBBC-7ABC-48A9-1A21-20C2F7425DA8}"/>
              </a:ext>
            </a:extLst>
          </p:cNvPr>
          <p:cNvSpPr/>
          <p:nvPr/>
        </p:nvSpPr>
        <p:spPr>
          <a:xfrm>
            <a:off x="3759633" y="4556725"/>
            <a:ext cx="2659456" cy="1712203"/>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w="38100">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B (F2F) 375</a:t>
            </a:r>
          </a:p>
          <a:p>
            <a:pPr algn="ctr"/>
            <a:endParaRPr lang="en-GB" b="1">
              <a:latin typeface="Open Sans" pitchFamily="2" charset="0"/>
              <a:ea typeface="Open Sans" pitchFamily="2" charset="0"/>
              <a:cs typeface="Open Sans" pitchFamily="2" charset="0"/>
            </a:endParaRPr>
          </a:p>
        </p:txBody>
      </p:sp>
      <p:sp>
        <p:nvSpPr>
          <p:cNvPr id="33" name="Rectangle 32">
            <a:extLst>
              <a:ext uri="{FF2B5EF4-FFF2-40B4-BE49-F238E27FC236}">
                <a16:creationId xmlns:a16="http://schemas.microsoft.com/office/drawing/2014/main" id="{26DAF795-59AD-AFAA-F50F-0C0CC9F33930}"/>
              </a:ext>
            </a:extLst>
          </p:cNvPr>
          <p:cNvSpPr/>
          <p:nvPr/>
        </p:nvSpPr>
        <p:spPr>
          <a:xfrm>
            <a:off x="3890042" y="4954768"/>
            <a:ext cx="2401745" cy="472154"/>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tx1"/>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188 HH Long-modules</a:t>
            </a:r>
          </a:p>
        </p:txBody>
      </p:sp>
      <p:sp>
        <p:nvSpPr>
          <p:cNvPr id="34" name="Rectangle 33">
            <a:extLst>
              <a:ext uri="{FF2B5EF4-FFF2-40B4-BE49-F238E27FC236}">
                <a16:creationId xmlns:a16="http://schemas.microsoft.com/office/drawing/2014/main" id="{4377BDC8-3C15-C71F-8833-EE4A31BC896C}"/>
              </a:ext>
            </a:extLst>
          </p:cNvPr>
          <p:cNvSpPr/>
          <p:nvPr/>
        </p:nvSpPr>
        <p:spPr>
          <a:xfrm>
            <a:off x="3898012" y="5556040"/>
            <a:ext cx="2401746" cy="496362"/>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accent1"/>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187 HH Short Modules</a:t>
            </a:r>
          </a:p>
        </p:txBody>
      </p:sp>
      <p:sp>
        <p:nvSpPr>
          <p:cNvPr id="35" name="Rectangle 34">
            <a:extLst>
              <a:ext uri="{FF2B5EF4-FFF2-40B4-BE49-F238E27FC236}">
                <a16:creationId xmlns:a16="http://schemas.microsoft.com/office/drawing/2014/main" id="{E88D17CE-2114-CBB7-1DD3-1D390DA50F6E}"/>
              </a:ext>
            </a:extLst>
          </p:cNvPr>
          <p:cNvSpPr/>
          <p:nvPr/>
        </p:nvSpPr>
        <p:spPr>
          <a:xfrm>
            <a:off x="8387339" y="2769583"/>
            <a:ext cx="2401745" cy="472154"/>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tx1"/>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150 HH Long-modules</a:t>
            </a:r>
          </a:p>
        </p:txBody>
      </p:sp>
      <p:sp>
        <p:nvSpPr>
          <p:cNvPr id="36" name="Rectangle 35">
            <a:extLst>
              <a:ext uri="{FF2B5EF4-FFF2-40B4-BE49-F238E27FC236}">
                <a16:creationId xmlns:a16="http://schemas.microsoft.com/office/drawing/2014/main" id="{1E74CA04-6249-53A5-1A19-A0A08700BF55}"/>
              </a:ext>
            </a:extLst>
          </p:cNvPr>
          <p:cNvSpPr/>
          <p:nvPr/>
        </p:nvSpPr>
        <p:spPr>
          <a:xfrm>
            <a:off x="8387338" y="3378439"/>
            <a:ext cx="2401746" cy="496362"/>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accent1"/>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150 HH Short Modules</a:t>
            </a:r>
          </a:p>
        </p:txBody>
      </p:sp>
      <p:sp>
        <p:nvSpPr>
          <p:cNvPr id="42" name="TextBox 41">
            <a:extLst>
              <a:ext uri="{FF2B5EF4-FFF2-40B4-BE49-F238E27FC236}">
                <a16:creationId xmlns:a16="http://schemas.microsoft.com/office/drawing/2014/main" id="{C0A2DE01-8335-EE23-FD5B-7BCE46E5468D}"/>
              </a:ext>
            </a:extLst>
          </p:cNvPr>
          <p:cNvSpPr txBox="1"/>
          <p:nvPr/>
        </p:nvSpPr>
        <p:spPr>
          <a:xfrm>
            <a:off x="6297168" y="2641536"/>
            <a:ext cx="1534024"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 48 Hours</a:t>
            </a:r>
            <a:endParaRPr lang="en-GB" sz="1600" b="1">
              <a:latin typeface="Open Sans" pitchFamily="2" charset="0"/>
              <a:ea typeface="Open Sans" pitchFamily="2" charset="0"/>
              <a:cs typeface="Open Sans" pitchFamily="2" charset="0"/>
            </a:endParaRPr>
          </a:p>
        </p:txBody>
      </p:sp>
      <p:sp>
        <p:nvSpPr>
          <p:cNvPr id="43" name="TextBox 42">
            <a:extLst>
              <a:ext uri="{FF2B5EF4-FFF2-40B4-BE49-F238E27FC236}">
                <a16:creationId xmlns:a16="http://schemas.microsoft.com/office/drawing/2014/main" id="{6422C3DC-F089-EB33-33FD-988B9E740243}"/>
              </a:ext>
            </a:extLst>
          </p:cNvPr>
          <p:cNvSpPr txBox="1"/>
          <p:nvPr/>
        </p:nvSpPr>
        <p:spPr>
          <a:xfrm>
            <a:off x="6430166" y="5167573"/>
            <a:ext cx="1654512"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intervals 48 </a:t>
            </a:r>
            <a:r>
              <a:rPr lang="en-US" altLang="zh-CN" sz="1600" b="1">
                <a:latin typeface="Open Sans" pitchFamily="2" charset="0"/>
                <a:ea typeface="Open Sans" pitchFamily="2" charset="0"/>
                <a:cs typeface="Open Sans" pitchFamily="2" charset="0"/>
              </a:rPr>
              <a:t>Hours</a:t>
            </a:r>
            <a:endParaRPr lang="en-GB" sz="1600" b="1">
              <a:latin typeface="Open Sans" pitchFamily="2" charset="0"/>
              <a:ea typeface="Open Sans" pitchFamily="2" charset="0"/>
              <a:cs typeface="Open Sans" pitchFamily="2" charset="0"/>
            </a:endParaRPr>
          </a:p>
        </p:txBody>
      </p:sp>
      <p:sp>
        <p:nvSpPr>
          <p:cNvPr id="6" name="Speech Bubble: Rectangle with Corners Rounded 7">
            <a:extLst>
              <a:ext uri="{FF2B5EF4-FFF2-40B4-BE49-F238E27FC236}">
                <a16:creationId xmlns:a16="http://schemas.microsoft.com/office/drawing/2014/main" id="{F8774377-2D40-33CD-652F-418A320A13C6}"/>
              </a:ext>
            </a:extLst>
          </p:cNvPr>
          <p:cNvSpPr/>
          <p:nvPr/>
        </p:nvSpPr>
        <p:spPr>
          <a:xfrm>
            <a:off x="978099" y="3495903"/>
            <a:ext cx="1731062" cy="1133975"/>
          </a:xfrm>
          <a:prstGeom prst="wedgeRoundRectCallout">
            <a:avLst>
              <a:gd name="adj1" fmla="val -20611"/>
              <a:gd name="adj2" fmla="val 49015"/>
              <a:gd name="adj3" fmla="val 16667"/>
            </a:avLst>
          </a:prstGeom>
          <a:solidFill>
            <a:srgbClr val="FFFFFF"/>
          </a:solidFill>
          <a:ln w="28575">
            <a:solidFill>
              <a:schemeClr val="accent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002060"/>
                </a:solidFill>
                <a:latin typeface="Open Sans" pitchFamily="2" charset="0"/>
                <a:ea typeface="Open Sans" pitchFamily="2" charset="0"/>
                <a:cs typeface="Open Sans" pitchFamily="2" charset="0"/>
              </a:rPr>
              <a:t>Sampled HH</a:t>
            </a:r>
          </a:p>
          <a:p>
            <a:pPr algn="ctr"/>
            <a:r>
              <a:rPr lang="en-GB" b="1">
                <a:solidFill>
                  <a:srgbClr val="002060"/>
                </a:solidFill>
                <a:latin typeface="Open Sans" pitchFamily="2" charset="0"/>
                <a:ea typeface="Open Sans" pitchFamily="2" charset="0"/>
                <a:cs typeface="Open Sans" pitchFamily="2" charset="0"/>
              </a:rPr>
              <a:t>(600 + 25% attrition)</a:t>
            </a:r>
          </a:p>
        </p:txBody>
      </p:sp>
      <p:sp>
        <p:nvSpPr>
          <p:cNvPr id="8" name="TextBox 7">
            <a:extLst>
              <a:ext uri="{FF2B5EF4-FFF2-40B4-BE49-F238E27FC236}">
                <a16:creationId xmlns:a16="http://schemas.microsoft.com/office/drawing/2014/main" id="{73BFB3AE-F771-7B25-3727-7C88FE390FC2}"/>
              </a:ext>
            </a:extLst>
          </p:cNvPr>
          <p:cNvSpPr txBox="1"/>
          <p:nvPr/>
        </p:nvSpPr>
        <p:spPr>
          <a:xfrm>
            <a:off x="4002717" y="1573773"/>
            <a:ext cx="2069850" cy="338554"/>
          </a:xfrm>
          <a:prstGeom prst="rect">
            <a:avLst/>
          </a:prstGeom>
          <a:solidFill>
            <a:srgbClr val="FFFFFF"/>
          </a:solidFill>
          <a:ln w="28575">
            <a:solidFill>
              <a:schemeClr val="accent1"/>
            </a:solidFill>
          </a:ln>
        </p:spPr>
        <p:txBody>
          <a:bodyPr wrap="square" rtlCol="0">
            <a:spAutoFit/>
          </a:bodyPr>
          <a:lstStyle/>
          <a:p>
            <a:pPr algn="ctr"/>
            <a:r>
              <a:rPr lang="en-GB" sz="1600" b="1">
                <a:solidFill>
                  <a:srgbClr val="002060"/>
                </a:solidFill>
                <a:latin typeface="Open Sans" pitchFamily="2" charset="0"/>
                <a:ea typeface="Open Sans" pitchFamily="2" charset="0"/>
                <a:cs typeface="Open Sans" pitchFamily="2" charset="0"/>
              </a:rPr>
              <a:t>1st Interview</a:t>
            </a:r>
          </a:p>
        </p:txBody>
      </p:sp>
      <p:sp>
        <p:nvSpPr>
          <p:cNvPr id="14" name="Title 1">
            <a:extLst>
              <a:ext uri="{FF2B5EF4-FFF2-40B4-BE49-F238E27FC236}">
                <a16:creationId xmlns:a16="http://schemas.microsoft.com/office/drawing/2014/main" id="{F79A39CB-82AC-81CA-C90C-F66576AD99B6}"/>
              </a:ext>
            </a:extLst>
          </p:cNvPr>
          <p:cNvSpPr>
            <a:spLocks noGrp="1"/>
          </p:cNvSpPr>
          <p:nvPr>
            <p:ph type="title"/>
          </p:nvPr>
        </p:nvSpPr>
        <p:spPr>
          <a:xfrm>
            <a:off x="824938" y="519907"/>
            <a:ext cx="10542124" cy="1152000"/>
          </a:xfrm>
        </p:spPr>
        <p:txBody>
          <a:bodyPr/>
          <a:lstStyle/>
          <a:p>
            <a:r>
              <a:rPr lang="en-US" altLang="zh-CN"/>
              <a:t>Iraq Pilot Sample Design</a:t>
            </a:r>
            <a:endParaRPr lang="en-GB"/>
          </a:p>
        </p:txBody>
      </p:sp>
    </p:spTree>
    <p:extLst>
      <p:ext uri="{BB962C8B-B14F-4D97-AF65-F5344CB8AC3E}">
        <p14:creationId xmlns:p14="http://schemas.microsoft.com/office/powerpoint/2010/main" val="30003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arn(inVertical)">
                                      <p:cBhvr>
                                        <p:cTn id="10" dur="500"/>
                                        <p:tgtEl>
                                          <p:spTgt spid="3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barn(inVertical)">
                                      <p:cBhvr>
                                        <p:cTn id="13" dur="500"/>
                                        <p:tgtEl>
                                          <p:spTgt spid="3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barn(inVertical)">
                                      <p:cBhvr>
                                        <p:cTn id="16" dur="500"/>
                                        <p:tgtEl>
                                          <p:spTgt spid="31"/>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barn(inVertical)">
                                      <p:cBhvr>
                                        <p:cTn id="19" dur="500"/>
                                        <p:tgtEl>
                                          <p:spTgt spid="35"/>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arn(inVertical)">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barn(inVertical)">
                                      <p:cBhvr>
                                        <p:cTn id="27" dur="500"/>
                                        <p:tgtEl>
                                          <p:spTgt spid="43"/>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barn(inVertical)">
                                      <p:cBhvr>
                                        <p:cTn id="3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42"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US" altLang="zh-CN"/>
              <a:t>Implementation</a:t>
            </a:r>
            <a:endParaRPr lang="en-GB"/>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24938" y="1522413"/>
            <a:ext cx="10542124" cy="3793300"/>
          </a:xfrm>
        </p:spPr>
        <p:txBody>
          <a:bodyPr anchor="ctr"/>
          <a:lstStyle/>
          <a:p>
            <a:pPr>
              <a:spcBef>
                <a:spcPts val="600"/>
              </a:spcBef>
              <a:spcAft>
                <a:spcPts val="600"/>
              </a:spcAft>
            </a:pPr>
            <a:r>
              <a:rPr lang="en-US" sz="2400" dirty="0"/>
              <a:t>Cross-over design: 2 groups of HH from the same sample</a:t>
            </a:r>
          </a:p>
          <a:p>
            <a:pPr>
              <a:spcBef>
                <a:spcPts val="600"/>
              </a:spcBef>
              <a:spcAft>
                <a:spcPts val="600"/>
              </a:spcAft>
            </a:pPr>
            <a:r>
              <a:rPr lang="en-US" sz="2400" dirty="0">
                <a:latin typeface="Open Sans"/>
                <a:ea typeface="Open Sans"/>
                <a:cs typeface="Open Sans"/>
              </a:rPr>
              <a:t>We interviewed 676 households from 2 IDP and 2 refugee camps </a:t>
            </a:r>
            <a:endParaRPr lang="en-US" sz="2400" dirty="0"/>
          </a:p>
          <a:p>
            <a:pPr>
              <a:spcBef>
                <a:spcPts val="600"/>
              </a:spcBef>
              <a:spcAft>
                <a:spcPts val="600"/>
              </a:spcAft>
            </a:pPr>
            <a:r>
              <a:rPr lang="en-US" sz="2400" dirty="0"/>
              <a:t>Each household was interviewed twice</a:t>
            </a:r>
          </a:p>
          <a:p>
            <a:pPr lvl="1">
              <a:spcBef>
                <a:spcPts val="600"/>
              </a:spcBef>
              <a:spcAft>
                <a:spcPts val="600"/>
              </a:spcAft>
            </a:pPr>
            <a:r>
              <a:rPr lang="en-US" sz="2000" dirty="0"/>
              <a:t>Face-to-face</a:t>
            </a:r>
          </a:p>
          <a:p>
            <a:pPr lvl="1">
              <a:spcBef>
                <a:spcPts val="600"/>
              </a:spcBef>
              <a:spcAft>
                <a:spcPts val="600"/>
              </a:spcAft>
            </a:pPr>
            <a:r>
              <a:rPr lang="en-US" sz="2000" dirty="0"/>
              <a:t>Remote</a:t>
            </a:r>
          </a:p>
          <a:p>
            <a:pPr>
              <a:spcBef>
                <a:spcPts val="600"/>
              </a:spcBef>
              <a:spcAft>
                <a:spcPts val="600"/>
              </a:spcAft>
            </a:pPr>
            <a:r>
              <a:rPr lang="en-US" sz="2400" dirty="0"/>
              <a:t>This would allow for intra- and inter-household validation of the measurements </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3313085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peech Bubble: Rectangle with Corners Rounded 7">
            <a:extLst>
              <a:ext uri="{FF2B5EF4-FFF2-40B4-BE49-F238E27FC236}">
                <a16:creationId xmlns:a16="http://schemas.microsoft.com/office/drawing/2014/main" id="{7843C2A3-0D84-EBD3-3E1D-44C9C42539D5}"/>
              </a:ext>
            </a:extLst>
          </p:cNvPr>
          <p:cNvSpPr/>
          <p:nvPr/>
        </p:nvSpPr>
        <p:spPr>
          <a:xfrm>
            <a:off x="741625" y="3642207"/>
            <a:ext cx="1731062" cy="1133975"/>
          </a:xfrm>
          <a:prstGeom prst="wedgeRoundRectCallout">
            <a:avLst>
              <a:gd name="adj1" fmla="val -20611"/>
              <a:gd name="adj2" fmla="val 49015"/>
              <a:gd name="adj3" fmla="val 16667"/>
            </a:avLst>
          </a:prstGeom>
          <a:solidFill>
            <a:srgbClr val="FFFFFF"/>
          </a:solidFill>
          <a:ln w="28575">
            <a:solidFill>
              <a:schemeClr val="accent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dirty="0">
                <a:solidFill>
                  <a:srgbClr val="002060"/>
                </a:solidFill>
                <a:latin typeface="Open Sans" pitchFamily="2" charset="0"/>
                <a:ea typeface="Open Sans" pitchFamily="2" charset="0"/>
                <a:cs typeface="Open Sans" pitchFamily="2" charset="0"/>
              </a:rPr>
              <a:t>Sampled </a:t>
            </a:r>
          </a:p>
          <a:p>
            <a:pPr algn="ctr"/>
            <a:r>
              <a:rPr lang="en-GB" b="1" dirty="0">
                <a:solidFill>
                  <a:srgbClr val="002060"/>
                </a:solidFill>
                <a:latin typeface="Open Sans" pitchFamily="2" charset="0"/>
                <a:ea typeface="Open Sans" pitchFamily="2" charset="0"/>
                <a:cs typeface="Open Sans" pitchFamily="2" charset="0"/>
              </a:rPr>
              <a:t>676 HH</a:t>
            </a:r>
          </a:p>
        </p:txBody>
      </p:sp>
      <p:cxnSp>
        <p:nvCxnSpPr>
          <p:cNvPr id="9" name="Straight Arrow Connector 8">
            <a:extLst>
              <a:ext uri="{FF2B5EF4-FFF2-40B4-BE49-F238E27FC236}">
                <a16:creationId xmlns:a16="http://schemas.microsoft.com/office/drawing/2014/main" id="{AAB9B6E4-B3CC-1511-4DBD-381DB03C63CF}"/>
              </a:ext>
            </a:extLst>
          </p:cNvPr>
          <p:cNvCxnSpPr>
            <a:cxnSpLocks/>
            <a:stCxn id="8" idx="3"/>
          </p:cNvCxnSpPr>
          <p:nvPr/>
        </p:nvCxnSpPr>
        <p:spPr>
          <a:xfrm>
            <a:off x="2472687" y="4209195"/>
            <a:ext cx="969499" cy="1173532"/>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D8CBDB44-F00E-8AC4-2D83-98856084BC9C}"/>
              </a:ext>
            </a:extLst>
          </p:cNvPr>
          <p:cNvCxnSpPr>
            <a:cxnSpLocks/>
            <a:stCxn id="8" idx="3"/>
          </p:cNvCxnSpPr>
          <p:nvPr/>
        </p:nvCxnSpPr>
        <p:spPr>
          <a:xfrm flipV="1">
            <a:off x="2472687" y="3109944"/>
            <a:ext cx="903133" cy="109925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30" name="Title 1">
            <a:extLst>
              <a:ext uri="{FF2B5EF4-FFF2-40B4-BE49-F238E27FC236}">
                <a16:creationId xmlns:a16="http://schemas.microsoft.com/office/drawing/2014/main" id="{43A27B2C-3292-3987-1B6D-F6B9FEA32C12}"/>
              </a:ext>
            </a:extLst>
          </p:cNvPr>
          <p:cNvSpPr>
            <a:spLocks noGrp="1"/>
          </p:cNvSpPr>
          <p:nvPr>
            <p:ph type="title"/>
          </p:nvPr>
        </p:nvSpPr>
        <p:spPr>
          <a:xfrm>
            <a:off x="824938" y="417165"/>
            <a:ext cx="10542124" cy="1152000"/>
          </a:xfrm>
        </p:spPr>
        <p:txBody>
          <a:bodyPr/>
          <a:lstStyle/>
          <a:p>
            <a:r>
              <a:rPr lang="en-US" dirty="0"/>
              <a:t>Implementation</a:t>
            </a:r>
            <a:endParaRPr lang="en-GB" dirty="0"/>
          </a:p>
        </p:txBody>
      </p:sp>
      <p:grpSp>
        <p:nvGrpSpPr>
          <p:cNvPr id="2" name="Group 1">
            <a:extLst>
              <a:ext uri="{FF2B5EF4-FFF2-40B4-BE49-F238E27FC236}">
                <a16:creationId xmlns:a16="http://schemas.microsoft.com/office/drawing/2014/main" id="{FF305BB0-E30F-FC59-99B2-66F5D19B30E4}"/>
              </a:ext>
            </a:extLst>
          </p:cNvPr>
          <p:cNvGrpSpPr/>
          <p:nvPr/>
        </p:nvGrpSpPr>
        <p:grpSpPr>
          <a:xfrm>
            <a:off x="3375820" y="1248435"/>
            <a:ext cx="7991242" cy="5039313"/>
            <a:chOff x="4194738" y="1229581"/>
            <a:chExt cx="7991242" cy="5039313"/>
          </a:xfrm>
        </p:grpSpPr>
        <p:sp>
          <p:nvSpPr>
            <p:cNvPr id="6" name="Speech Bubble: Rectangle with Corners Rounded 5">
              <a:extLst>
                <a:ext uri="{FF2B5EF4-FFF2-40B4-BE49-F238E27FC236}">
                  <a16:creationId xmlns:a16="http://schemas.microsoft.com/office/drawing/2014/main" id="{E767ABE5-0184-8B36-5479-76A24B961185}"/>
                </a:ext>
              </a:extLst>
            </p:cNvPr>
            <p:cNvSpPr/>
            <p:nvPr/>
          </p:nvSpPr>
          <p:spPr>
            <a:xfrm>
              <a:off x="8383852" y="4652383"/>
              <a:ext cx="1788416"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(Remote)</a:t>
              </a:r>
            </a:p>
            <a:p>
              <a:pPr algn="ctr"/>
              <a:r>
                <a:rPr lang="en-US" b="1">
                  <a:solidFill>
                    <a:srgbClr val="002060"/>
                  </a:solidFill>
                  <a:latin typeface="Open Sans" pitchFamily="2" charset="0"/>
                  <a:ea typeface="Open Sans" pitchFamily="2" charset="0"/>
                  <a:cs typeface="Open Sans" pitchFamily="2" charset="0"/>
                </a:rPr>
                <a:t>233 HH</a:t>
              </a:r>
              <a:endParaRPr lang="en-GB">
                <a:solidFill>
                  <a:srgbClr val="002060"/>
                </a:solidFill>
                <a:effectLst/>
                <a:latin typeface="Open Sans" pitchFamily="2" charset="0"/>
                <a:ea typeface="Open Sans" pitchFamily="2" charset="0"/>
                <a:cs typeface="Open Sans" pitchFamily="2" charset="0"/>
              </a:endParaRPr>
            </a:p>
          </p:txBody>
        </p:sp>
        <p:sp>
          <p:nvSpPr>
            <p:cNvPr id="7" name="Speech Bubble: Rectangle with Corners Rounded 49">
              <a:extLst>
                <a:ext uri="{FF2B5EF4-FFF2-40B4-BE49-F238E27FC236}">
                  <a16:creationId xmlns:a16="http://schemas.microsoft.com/office/drawing/2014/main" id="{B127FBED-1089-3247-8B90-6B4E1540C7F9}"/>
                </a:ext>
              </a:extLst>
            </p:cNvPr>
            <p:cNvSpPr/>
            <p:nvPr/>
          </p:nvSpPr>
          <p:spPr>
            <a:xfrm>
              <a:off x="4261104" y="4776182"/>
              <a:ext cx="2013269" cy="981523"/>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B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369 HH</a:t>
              </a:r>
              <a:endParaRPr lang="en-GB">
                <a:solidFill>
                  <a:srgbClr val="002060"/>
                </a:solidFill>
                <a:effectLst/>
                <a:latin typeface="Open Sans" pitchFamily="2" charset="0"/>
                <a:ea typeface="Open Sans" pitchFamily="2" charset="0"/>
                <a:cs typeface="Open Sans" pitchFamily="2" charset="0"/>
              </a:endParaRPr>
            </a:p>
          </p:txBody>
        </p:sp>
        <p:cxnSp>
          <p:nvCxnSpPr>
            <p:cNvPr id="11" name="Straight Arrow Connector 10">
              <a:extLst>
                <a:ext uri="{FF2B5EF4-FFF2-40B4-BE49-F238E27FC236}">
                  <a16:creationId xmlns:a16="http://schemas.microsoft.com/office/drawing/2014/main" id="{979EB662-F96D-10F9-4186-10F1B95C82E6}"/>
                </a:ext>
              </a:extLst>
            </p:cNvPr>
            <p:cNvCxnSpPr>
              <a:cxnSpLocks/>
            </p:cNvCxnSpPr>
            <p:nvPr/>
          </p:nvCxnSpPr>
          <p:spPr>
            <a:xfrm>
              <a:off x="6274373" y="5297803"/>
              <a:ext cx="2109478"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FCADB271-BE11-A886-327B-4826785721F7}"/>
                </a:ext>
              </a:extLst>
            </p:cNvPr>
            <p:cNvCxnSpPr>
              <a:cxnSpLocks/>
            </p:cNvCxnSpPr>
            <p:nvPr/>
          </p:nvCxnSpPr>
          <p:spPr>
            <a:xfrm flipV="1">
              <a:off x="4868607" y="3560792"/>
              <a:ext cx="868427" cy="89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C43AE659-56B1-DDEA-BC20-2A836DA367AB}"/>
                </a:ext>
              </a:extLst>
            </p:cNvPr>
            <p:cNvSpPr txBox="1"/>
            <p:nvPr/>
          </p:nvSpPr>
          <p:spPr>
            <a:xfrm>
              <a:off x="4204523" y="1683215"/>
              <a:ext cx="2069850" cy="338554"/>
            </a:xfrm>
            <a:prstGeom prst="rect">
              <a:avLst/>
            </a:prstGeom>
            <a:solidFill>
              <a:srgbClr val="FFFFFF"/>
            </a:solidFill>
            <a:ln w="28575">
              <a:solidFill>
                <a:schemeClr val="accent1"/>
              </a:solidFill>
            </a:ln>
          </p:spPr>
          <p:txBody>
            <a:bodyPr wrap="square" rtlCol="0">
              <a:spAutoFit/>
            </a:bodyPr>
            <a:lstStyle/>
            <a:p>
              <a:pPr algn="ctr"/>
              <a:r>
                <a:rPr lang="en-GB" sz="1600" b="1">
                  <a:solidFill>
                    <a:srgbClr val="002060"/>
                  </a:solidFill>
                  <a:latin typeface="Open Sans" pitchFamily="2" charset="0"/>
                  <a:ea typeface="Open Sans" pitchFamily="2" charset="0"/>
                  <a:cs typeface="Open Sans" pitchFamily="2" charset="0"/>
                </a:rPr>
                <a:t>1st Interview</a:t>
              </a:r>
            </a:p>
          </p:txBody>
        </p:sp>
        <p:sp>
          <p:nvSpPr>
            <p:cNvPr id="14" name="Speech Bubble: Rectangle with Corners Rounded 49">
              <a:extLst>
                <a:ext uri="{FF2B5EF4-FFF2-40B4-BE49-F238E27FC236}">
                  <a16:creationId xmlns:a16="http://schemas.microsoft.com/office/drawing/2014/main" id="{9FF8F268-8BCF-E8B2-5B5B-9C53BF57908E}"/>
                </a:ext>
              </a:extLst>
            </p:cNvPr>
            <p:cNvSpPr/>
            <p:nvPr/>
          </p:nvSpPr>
          <p:spPr>
            <a:xfrm>
              <a:off x="8383850" y="2558676"/>
              <a:ext cx="1711969" cy="1023602"/>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221 HH</a:t>
              </a:r>
              <a:endParaRPr lang="en-GB" sz="3200">
                <a:solidFill>
                  <a:srgbClr val="002060"/>
                </a:solidFill>
                <a:effectLst/>
                <a:latin typeface="Open Sans" pitchFamily="2" charset="0"/>
                <a:ea typeface="Open Sans" pitchFamily="2" charset="0"/>
                <a:cs typeface="Open Sans" pitchFamily="2" charset="0"/>
              </a:endParaRPr>
            </a:p>
          </p:txBody>
        </p:sp>
        <p:sp>
          <p:nvSpPr>
            <p:cNvPr id="15" name="Speech Bubble: Rectangle with Corners Rounded 14">
              <a:extLst>
                <a:ext uri="{FF2B5EF4-FFF2-40B4-BE49-F238E27FC236}">
                  <a16:creationId xmlns:a16="http://schemas.microsoft.com/office/drawing/2014/main" id="{5EA3E412-3D92-88B3-CB0C-9BC829A14E5C}"/>
                </a:ext>
              </a:extLst>
            </p:cNvPr>
            <p:cNvSpPr/>
            <p:nvPr/>
          </p:nvSpPr>
          <p:spPr>
            <a:xfrm>
              <a:off x="4194738" y="2539972"/>
              <a:ext cx="2109478" cy="1102235"/>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A (Remote)</a:t>
              </a:r>
            </a:p>
            <a:p>
              <a:pPr algn="ctr"/>
              <a:r>
                <a:rPr lang="en-US" b="1">
                  <a:solidFill>
                    <a:srgbClr val="002060"/>
                  </a:solidFill>
                  <a:latin typeface="Open Sans" pitchFamily="2" charset="0"/>
                  <a:ea typeface="Open Sans" pitchFamily="2" charset="0"/>
                  <a:cs typeface="Open Sans" pitchFamily="2" charset="0"/>
                </a:rPr>
                <a:t>307 HH</a:t>
              </a:r>
              <a:endParaRPr lang="en-GB">
                <a:solidFill>
                  <a:srgbClr val="002060"/>
                </a:solidFill>
                <a:latin typeface="Open Sans" pitchFamily="2" charset="0"/>
                <a:ea typeface="Open Sans" pitchFamily="2" charset="0"/>
                <a:cs typeface="Open Sans" pitchFamily="2" charset="0"/>
              </a:endParaRPr>
            </a:p>
          </p:txBody>
        </p:sp>
        <p:sp>
          <p:nvSpPr>
            <p:cNvPr id="16" name="Left Brace 15">
              <a:extLst>
                <a:ext uri="{FF2B5EF4-FFF2-40B4-BE49-F238E27FC236}">
                  <a16:creationId xmlns:a16="http://schemas.microsoft.com/office/drawing/2014/main" id="{118DE8F7-07C2-1395-819C-52F5FC744EFF}"/>
                </a:ext>
              </a:extLst>
            </p:cNvPr>
            <p:cNvSpPr/>
            <p:nvPr/>
          </p:nvSpPr>
          <p:spPr>
            <a:xfrm rot="5400000">
              <a:off x="5012020" y="1296537"/>
              <a:ext cx="484698" cy="2099692"/>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cxnSp>
          <p:nvCxnSpPr>
            <p:cNvPr id="17" name="Straight Arrow Connector 16">
              <a:extLst>
                <a:ext uri="{FF2B5EF4-FFF2-40B4-BE49-F238E27FC236}">
                  <a16:creationId xmlns:a16="http://schemas.microsoft.com/office/drawing/2014/main" id="{E848B589-B2DE-3381-029B-B90850A7D8C4}"/>
                </a:ext>
              </a:extLst>
            </p:cNvPr>
            <p:cNvCxnSpPr>
              <a:cxnSpLocks/>
              <a:stCxn id="15" idx="3"/>
            </p:cNvCxnSpPr>
            <p:nvPr/>
          </p:nvCxnSpPr>
          <p:spPr>
            <a:xfrm flipV="1">
              <a:off x="6304216" y="3086622"/>
              <a:ext cx="2079635" cy="4468"/>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8" name="TextBox 17">
              <a:extLst>
                <a:ext uri="{FF2B5EF4-FFF2-40B4-BE49-F238E27FC236}">
                  <a16:creationId xmlns:a16="http://schemas.microsoft.com/office/drawing/2014/main" id="{60979141-BBD0-EE11-5468-9E2EBEE02D3B}"/>
                </a:ext>
              </a:extLst>
            </p:cNvPr>
            <p:cNvSpPr txBox="1"/>
            <p:nvPr/>
          </p:nvSpPr>
          <p:spPr>
            <a:xfrm>
              <a:off x="8363741" y="1229581"/>
              <a:ext cx="1660160" cy="851192"/>
            </a:xfrm>
            <a:prstGeom prst="rect">
              <a:avLst/>
            </a:prstGeom>
            <a:solidFill>
              <a:srgbClr val="FFFFFF"/>
            </a:solidFill>
            <a:ln w="28575">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a:p>
              <a:pPr algn="ctr"/>
              <a:r>
                <a:rPr lang="en-GB" sz="1600" b="1">
                  <a:solidFill>
                    <a:schemeClr val="accent5">
                      <a:lumMod val="10000"/>
                    </a:schemeClr>
                  </a:solidFill>
                  <a:latin typeface="Open Sans" pitchFamily="2" charset="0"/>
                  <a:ea typeface="Open Sans" pitchFamily="2" charset="0"/>
                  <a:cs typeface="Open Sans" pitchFamily="2" charset="0"/>
                </a:rPr>
                <a:t>Same HH</a:t>
              </a:r>
            </a:p>
          </p:txBody>
        </p:sp>
        <p:sp>
          <p:nvSpPr>
            <p:cNvPr id="19" name="Left Brace 18">
              <a:extLst>
                <a:ext uri="{FF2B5EF4-FFF2-40B4-BE49-F238E27FC236}">
                  <a16:creationId xmlns:a16="http://schemas.microsoft.com/office/drawing/2014/main" id="{88DFF2FE-F4E0-D427-91B3-D5676BB1D961}"/>
                </a:ext>
              </a:extLst>
            </p:cNvPr>
            <p:cNvSpPr/>
            <p:nvPr/>
          </p:nvSpPr>
          <p:spPr>
            <a:xfrm rot="5400000">
              <a:off x="9101144" y="1419756"/>
              <a:ext cx="329190" cy="1660160"/>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20" name="TextBox 19">
              <a:extLst>
                <a:ext uri="{FF2B5EF4-FFF2-40B4-BE49-F238E27FC236}">
                  <a16:creationId xmlns:a16="http://schemas.microsoft.com/office/drawing/2014/main" id="{F5E7CE51-DE28-E6B6-7877-6BEAEA2258FA}"/>
                </a:ext>
              </a:extLst>
            </p:cNvPr>
            <p:cNvSpPr txBox="1"/>
            <p:nvPr/>
          </p:nvSpPr>
          <p:spPr>
            <a:xfrm>
              <a:off x="6548802" y="2806694"/>
              <a:ext cx="1534024"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 48 Hours</a:t>
              </a:r>
              <a:endParaRPr lang="en-GB" sz="1600" b="1">
                <a:latin typeface="Open Sans" pitchFamily="2" charset="0"/>
                <a:ea typeface="Open Sans" pitchFamily="2" charset="0"/>
                <a:cs typeface="Open Sans" pitchFamily="2" charset="0"/>
              </a:endParaRPr>
            </a:p>
          </p:txBody>
        </p:sp>
        <p:sp>
          <p:nvSpPr>
            <p:cNvPr id="21" name="TextBox 20">
              <a:extLst>
                <a:ext uri="{FF2B5EF4-FFF2-40B4-BE49-F238E27FC236}">
                  <a16:creationId xmlns:a16="http://schemas.microsoft.com/office/drawing/2014/main" id="{98C21982-688B-3CDB-BD72-E95BAFCBFA3D}"/>
                </a:ext>
              </a:extLst>
            </p:cNvPr>
            <p:cNvSpPr txBox="1"/>
            <p:nvPr/>
          </p:nvSpPr>
          <p:spPr>
            <a:xfrm>
              <a:off x="6420089" y="5003980"/>
              <a:ext cx="1792137"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intervals 48 Hours</a:t>
              </a:r>
              <a:endParaRPr lang="en-GB" sz="1600" b="1">
                <a:latin typeface="Open Sans" pitchFamily="2" charset="0"/>
                <a:ea typeface="Open Sans" pitchFamily="2" charset="0"/>
                <a:cs typeface="Open Sans" pitchFamily="2" charset="0"/>
              </a:endParaRPr>
            </a:p>
          </p:txBody>
        </p:sp>
        <p:sp>
          <p:nvSpPr>
            <p:cNvPr id="3" name="TextBox 2">
              <a:extLst>
                <a:ext uri="{FF2B5EF4-FFF2-40B4-BE49-F238E27FC236}">
                  <a16:creationId xmlns:a16="http://schemas.microsoft.com/office/drawing/2014/main" id="{D7FEE22D-4DC2-836B-4ECD-7B06DE0ADD52}"/>
                </a:ext>
              </a:extLst>
            </p:cNvPr>
            <p:cNvSpPr txBox="1"/>
            <p:nvPr/>
          </p:nvSpPr>
          <p:spPr>
            <a:xfrm>
              <a:off x="10189117" y="1239678"/>
              <a:ext cx="1996863" cy="830997"/>
            </a:xfrm>
            <a:prstGeom prst="rect">
              <a:avLst/>
            </a:prstGeom>
            <a:solidFill>
              <a:srgbClr val="FFFFFF"/>
            </a:solidFill>
            <a:ln w="28575">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a:p>
              <a:pPr algn="ctr"/>
              <a:r>
                <a:rPr lang="en-GB" sz="1600" b="1">
                  <a:solidFill>
                    <a:schemeClr val="accent5">
                      <a:lumMod val="10000"/>
                    </a:schemeClr>
                  </a:solidFill>
                  <a:latin typeface="Open Sans" pitchFamily="2" charset="0"/>
                  <a:ea typeface="Open Sans" pitchFamily="2" charset="0"/>
                  <a:cs typeface="Open Sans" pitchFamily="2" charset="0"/>
                </a:rPr>
                <a:t>Same respondent</a:t>
              </a:r>
            </a:p>
          </p:txBody>
        </p:sp>
        <p:sp>
          <p:nvSpPr>
            <p:cNvPr id="4" name="Speech Bubble: Rectangle with Corners Rounded 49">
              <a:extLst>
                <a:ext uri="{FF2B5EF4-FFF2-40B4-BE49-F238E27FC236}">
                  <a16:creationId xmlns:a16="http://schemas.microsoft.com/office/drawing/2014/main" id="{B527F588-3365-B368-4A52-E7E1D4E559FF}"/>
                </a:ext>
              </a:extLst>
            </p:cNvPr>
            <p:cNvSpPr/>
            <p:nvPr/>
          </p:nvSpPr>
          <p:spPr>
            <a:xfrm>
              <a:off x="10447681" y="2580910"/>
              <a:ext cx="1711968" cy="1023602"/>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dirty="0">
                  <a:solidFill>
                    <a:srgbClr val="002060"/>
                  </a:solidFill>
                  <a:effectLst/>
                  <a:latin typeface="Open Sans" pitchFamily="2" charset="0"/>
                  <a:ea typeface="Open Sans" pitchFamily="2" charset="0"/>
                  <a:cs typeface="Open Sans" pitchFamily="2" charset="0"/>
                </a:rPr>
                <a:t>Group A </a:t>
              </a:r>
            </a:p>
            <a:p>
              <a:pPr algn="ctr"/>
              <a:r>
                <a:rPr lang="en-US" b="1" dirty="0">
                  <a:solidFill>
                    <a:srgbClr val="002060"/>
                  </a:solidFill>
                  <a:effectLst/>
                  <a:latin typeface="Open Sans" pitchFamily="2" charset="0"/>
                  <a:ea typeface="Open Sans" pitchFamily="2" charset="0"/>
                  <a:cs typeface="Open Sans" pitchFamily="2" charset="0"/>
                </a:rPr>
                <a:t>(F2F)</a:t>
              </a:r>
            </a:p>
            <a:p>
              <a:pPr algn="ctr"/>
              <a:r>
                <a:rPr lang="en-US" b="1" dirty="0">
                  <a:solidFill>
                    <a:srgbClr val="002060"/>
                  </a:solidFill>
                  <a:latin typeface="Open Sans" pitchFamily="2" charset="0"/>
                  <a:ea typeface="Open Sans" pitchFamily="2" charset="0"/>
                  <a:cs typeface="Open Sans" pitchFamily="2" charset="0"/>
                </a:rPr>
                <a:t>66 HH</a:t>
              </a:r>
              <a:endParaRPr lang="en-GB" sz="3200" dirty="0">
                <a:solidFill>
                  <a:srgbClr val="002060"/>
                </a:solidFill>
                <a:effectLst/>
                <a:latin typeface="Open Sans" pitchFamily="2" charset="0"/>
                <a:ea typeface="Open Sans" pitchFamily="2" charset="0"/>
                <a:cs typeface="Open Sans" pitchFamily="2" charset="0"/>
              </a:endParaRPr>
            </a:p>
          </p:txBody>
        </p:sp>
        <p:sp>
          <p:nvSpPr>
            <p:cNvPr id="5" name="Speech Bubble: Rectangle with Corners Rounded 4">
              <a:extLst>
                <a:ext uri="{FF2B5EF4-FFF2-40B4-BE49-F238E27FC236}">
                  <a16:creationId xmlns:a16="http://schemas.microsoft.com/office/drawing/2014/main" id="{2B5D4394-D1B1-3C18-B85D-110A8E83BBB2}"/>
                </a:ext>
              </a:extLst>
            </p:cNvPr>
            <p:cNvSpPr/>
            <p:nvPr/>
          </p:nvSpPr>
          <p:spPr>
            <a:xfrm>
              <a:off x="10423997" y="4652383"/>
              <a:ext cx="1711968"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dirty="0">
                  <a:solidFill>
                    <a:srgbClr val="002060"/>
                  </a:solidFill>
                  <a:effectLst/>
                  <a:latin typeface="Open Sans" pitchFamily="2" charset="0"/>
                  <a:ea typeface="Open Sans" pitchFamily="2" charset="0"/>
                  <a:cs typeface="Open Sans" pitchFamily="2" charset="0"/>
                </a:rPr>
                <a:t>Group </a:t>
              </a:r>
              <a:r>
                <a:rPr lang="en-US" b="1" dirty="0">
                  <a:solidFill>
                    <a:srgbClr val="002060"/>
                  </a:solidFill>
                  <a:latin typeface="Open Sans" pitchFamily="2" charset="0"/>
                  <a:ea typeface="Open Sans" pitchFamily="2" charset="0"/>
                  <a:cs typeface="Open Sans" pitchFamily="2" charset="0"/>
                </a:rPr>
                <a:t>B</a:t>
              </a:r>
              <a:r>
                <a:rPr lang="en-US" b="1" dirty="0">
                  <a:solidFill>
                    <a:srgbClr val="002060"/>
                  </a:solidFill>
                  <a:effectLst/>
                  <a:latin typeface="Open Sans" pitchFamily="2" charset="0"/>
                  <a:ea typeface="Open Sans" pitchFamily="2" charset="0"/>
                  <a:cs typeface="Open Sans" pitchFamily="2" charset="0"/>
                </a:rPr>
                <a:t> </a:t>
              </a:r>
              <a:r>
                <a:rPr lang="en-US" b="1" dirty="0">
                  <a:solidFill>
                    <a:srgbClr val="002060"/>
                  </a:solidFill>
                  <a:latin typeface="Open Sans" pitchFamily="2" charset="0"/>
                  <a:ea typeface="Open Sans" pitchFamily="2" charset="0"/>
                  <a:cs typeface="Open Sans" pitchFamily="2" charset="0"/>
                </a:rPr>
                <a:t>(Remote)</a:t>
              </a:r>
              <a:endParaRPr lang="en-US" b="1" dirty="0">
                <a:solidFill>
                  <a:srgbClr val="002060"/>
                </a:solidFill>
                <a:effectLst/>
                <a:latin typeface="Open Sans" pitchFamily="2" charset="0"/>
                <a:ea typeface="Open Sans" pitchFamily="2" charset="0"/>
                <a:cs typeface="Open Sans" pitchFamily="2" charset="0"/>
              </a:endParaRPr>
            </a:p>
            <a:p>
              <a:pPr algn="ctr"/>
              <a:r>
                <a:rPr lang="en-US" b="1" dirty="0">
                  <a:solidFill>
                    <a:srgbClr val="002060"/>
                  </a:solidFill>
                  <a:latin typeface="Open Sans" pitchFamily="2" charset="0"/>
                  <a:ea typeface="Open Sans" pitchFamily="2" charset="0"/>
                  <a:cs typeface="Open Sans" pitchFamily="2" charset="0"/>
                </a:rPr>
                <a:t>68 HH</a:t>
              </a:r>
              <a:endParaRPr lang="en-GB" dirty="0">
                <a:solidFill>
                  <a:srgbClr val="002060"/>
                </a:solidFill>
                <a:effectLst/>
                <a:latin typeface="Open Sans" pitchFamily="2" charset="0"/>
                <a:ea typeface="Open Sans" pitchFamily="2" charset="0"/>
                <a:cs typeface="Open Sans" pitchFamily="2" charset="0"/>
              </a:endParaRPr>
            </a:p>
          </p:txBody>
        </p:sp>
        <p:sp>
          <p:nvSpPr>
            <p:cNvPr id="22" name="Left Brace 21">
              <a:extLst>
                <a:ext uri="{FF2B5EF4-FFF2-40B4-BE49-F238E27FC236}">
                  <a16:creationId xmlns:a16="http://schemas.microsoft.com/office/drawing/2014/main" id="{C41A533C-AD31-D9FF-BBE1-417A14DFBDE0}"/>
                </a:ext>
              </a:extLst>
            </p:cNvPr>
            <p:cNvSpPr/>
            <p:nvPr/>
          </p:nvSpPr>
          <p:spPr>
            <a:xfrm rot="5400000">
              <a:off x="11113166" y="1428320"/>
              <a:ext cx="329190" cy="1660160"/>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23" name="Rectangle 22">
              <a:extLst>
                <a:ext uri="{FF2B5EF4-FFF2-40B4-BE49-F238E27FC236}">
                  <a16:creationId xmlns:a16="http://schemas.microsoft.com/office/drawing/2014/main" id="{4D1EF874-7099-AD0C-DF25-9AC55ACE9C28}"/>
                </a:ext>
              </a:extLst>
            </p:cNvPr>
            <p:cNvSpPr/>
            <p:nvPr/>
          </p:nvSpPr>
          <p:spPr>
            <a:xfrm>
              <a:off x="8383850" y="5928189"/>
              <a:ext cx="1788416"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37%</a:t>
              </a:r>
              <a:endParaRPr lang="en-GB"/>
            </a:p>
          </p:txBody>
        </p:sp>
        <p:sp>
          <p:nvSpPr>
            <p:cNvPr id="24" name="Rectangle 23">
              <a:extLst>
                <a:ext uri="{FF2B5EF4-FFF2-40B4-BE49-F238E27FC236}">
                  <a16:creationId xmlns:a16="http://schemas.microsoft.com/office/drawing/2014/main" id="{15F3B546-A52E-8AC9-08AA-4D3DCBFCF553}"/>
                </a:ext>
              </a:extLst>
            </p:cNvPr>
            <p:cNvSpPr/>
            <p:nvPr/>
          </p:nvSpPr>
          <p:spPr>
            <a:xfrm>
              <a:off x="8383850" y="3758637"/>
              <a:ext cx="1711969"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28%</a:t>
              </a:r>
              <a:endParaRPr lang="en-GB"/>
            </a:p>
          </p:txBody>
        </p:sp>
        <p:sp>
          <p:nvSpPr>
            <p:cNvPr id="25" name="Rectangle 24">
              <a:extLst>
                <a:ext uri="{FF2B5EF4-FFF2-40B4-BE49-F238E27FC236}">
                  <a16:creationId xmlns:a16="http://schemas.microsoft.com/office/drawing/2014/main" id="{075DE2C6-9B19-0608-E48F-C0FB96EAEA0D}"/>
                </a:ext>
              </a:extLst>
            </p:cNvPr>
            <p:cNvSpPr/>
            <p:nvPr/>
          </p:nvSpPr>
          <p:spPr>
            <a:xfrm>
              <a:off x="10447681" y="3767199"/>
              <a:ext cx="1711968"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78%</a:t>
              </a:r>
              <a:endParaRPr lang="en-GB"/>
            </a:p>
          </p:txBody>
        </p:sp>
        <p:sp>
          <p:nvSpPr>
            <p:cNvPr id="26" name="Rectangle 25">
              <a:extLst>
                <a:ext uri="{FF2B5EF4-FFF2-40B4-BE49-F238E27FC236}">
                  <a16:creationId xmlns:a16="http://schemas.microsoft.com/office/drawing/2014/main" id="{10FB3726-3BE9-00C8-6D3D-9A82805004C4}"/>
                </a:ext>
              </a:extLst>
            </p:cNvPr>
            <p:cNvSpPr/>
            <p:nvPr/>
          </p:nvSpPr>
          <p:spPr>
            <a:xfrm>
              <a:off x="10423997" y="5924979"/>
              <a:ext cx="1711967"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82%</a:t>
              </a:r>
              <a:endParaRPr lang="en-GB"/>
            </a:p>
          </p:txBody>
        </p:sp>
        <p:sp>
          <p:nvSpPr>
            <p:cNvPr id="27" name="TextBox 26">
              <a:extLst>
                <a:ext uri="{FF2B5EF4-FFF2-40B4-BE49-F238E27FC236}">
                  <a16:creationId xmlns:a16="http://schemas.microsoft.com/office/drawing/2014/main" id="{0BA9EDE0-F854-009A-4D17-60E848B814EA}"/>
                </a:ext>
              </a:extLst>
            </p:cNvPr>
            <p:cNvSpPr txBox="1"/>
            <p:nvPr/>
          </p:nvSpPr>
          <p:spPr>
            <a:xfrm>
              <a:off x="6677519" y="3770348"/>
              <a:ext cx="1428108" cy="369332"/>
            </a:xfrm>
            <a:prstGeom prst="rect">
              <a:avLst/>
            </a:prstGeom>
            <a:noFill/>
          </p:spPr>
          <p:txBody>
            <a:bodyPr wrap="square" rtlCol="0">
              <a:spAutoFit/>
            </a:bodyPr>
            <a:lstStyle/>
            <a:p>
              <a:r>
                <a:rPr lang="en-US"/>
                <a:t>Attrition rate </a:t>
              </a:r>
              <a:endParaRPr lang="en-GB"/>
            </a:p>
          </p:txBody>
        </p:sp>
        <p:sp>
          <p:nvSpPr>
            <p:cNvPr id="28" name="TextBox 27">
              <a:extLst>
                <a:ext uri="{FF2B5EF4-FFF2-40B4-BE49-F238E27FC236}">
                  <a16:creationId xmlns:a16="http://schemas.microsoft.com/office/drawing/2014/main" id="{855572DA-EDA4-20E2-CA25-E00F8C90ECC2}"/>
                </a:ext>
              </a:extLst>
            </p:cNvPr>
            <p:cNvSpPr txBox="1"/>
            <p:nvPr/>
          </p:nvSpPr>
          <p:spPr>
            <a:xfrm>
              <a:off x="6677519" y="5899562"/>
              <a:ext cx="1428108" cy="369332"/>
            </a:xfrm>
            <a:prstGeom prst="rect">
              <a:avLst/>
            </a:prstGeom>
            <a:noFill/>
          </p:spPr>
          <p:txBody>
            <a:bodyPr wrap="square" rtlCol="0">
              <a:spAutoFit/>
            </a:bodyPr>
            <a:lstStyle/>
            <a:p>
              <a:r>
                <a:rPr lang="en-US"/>
                <a:t>Attrition rate </a:t>
              </a:r>
              <a:endParaRPr lang="en-GB"/>
            </a:p>
          </p:txBody>
        </p:sp>
      </p:grpSp>
    </p:spTree>
    <p:extLst>
      <p:ext uri="{BB962C8B-B14F-4D97-AF65-F5344CB8AC3E}">
        <p14:creationId xmlns:p14="http://schemas.microsoft.com/office/powerpoint/2010/main" val="773978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Limitations</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951843" y="1536191"/>
            <a:ext cx="10542124" cy="4291585"/>
          </a:xfrm>
        </p:spPr>
        <p:txBody>
          <a:bodyPr anchor="t">
            <a:normAutofit fontScale="92500"/>
          </a:bodyPr>
          <a:lstStyle/>
          <a:p>
            <a:pPr marL="514350" indent="-514350">
              <a:lnSpc>
                <a:spcPct val="150000"/>
              </a:lnSpc>
              <a:buFont typeface="+mj-lt"/>
              <a:buAutoNum type="arabicPeriod"/>
            </a:pPr>
            <a:r>
              <a:rPr lang="en-GB" sz="2600" b="1" dirty="0"/>
              <a:t>Pre-exposure bias from first interview </a:t>
            </a:r>
          </a:p>
          <a:p>
            <a:pPr lvl="1">
              <a:lnSpc>
                <a:spcPct val="150000"/>
              </a:lnSpc>
            </a:pPr>
            <a:r>
              <a:rPr lang="en-GB" sz="2200" dirty="0"/>
              <a:t>Short interval between the first and second interview, the indicators reported in the second interview is influenced by the recall from the first interview </a:t>
            </a:r>
          </a:p>
          <a:p>
            <a:pPr lvl="1">
              <a:lnSpc>
                <a:spcPct val="150000"/>
              </a:lnSpc>
            </a:pPr>
            <a:r>
              <a:rPr lang="en-GB" sz="2200" dirty="0">
                <a:latin typeface="Open Sans"/>
                <a:ea typeface="Open Sans"/>
                <a:cs typeface="Open Sans"/>
              </a:rPr>
              <a:t>If long intervals were applied the reference period for the indicators would have changed the estimations (difficult to have wash-out period) </a:t>
            </a:r>
            <a:endParaRPr lang="en-GB" sz="2200" dirty="0"/>
          </a:p>
          <a:p>
            <a:pPr lvl="1">
              <a:lnSpc>
                <a:spcPct val="150000"/>
              </a:lnSpc>
            </a:pPr>
            <a:r>
              <a:rPr lang="en-GB" sz="2200" dirty="0">
                <a:latin typeface="Open Sans"/>
                <a:ea typeface="Open Sans"/>
                <a:cs typeface="Open Sans"/>
              </a:rPr>
              <a:t>The pre-exposure bias is not equivalent in the 2 arms of the study (one group is pre-exposed to phone interview and the other pre-exposed to F2F) </a:t>
            </a:r>
            <a:endParaRPr lang="en-GB" sz="2200" dirty="0"/>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710863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Limitations (Cont.)</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24938" y="1575124"/>
            <a:ext cx="10542124" cy="3707752"/>
          </a:xfrm>
        </p:spPr>
        <p:txBody>
          <a:bodyPr anchor="t"/>
          <a:lstStyle/>
          <a:p>
            <a:pPr marL="514350" indent="-514350">
              <a:lnSpc>
                <a:spcPct val="150000"/>
              </a:lnSpc>
              <a:buFont typeface="+mj-lt"/>
              <a:buAutoNum type="arabicPeriod" startAt="2"/>
            </a:pPr>
            <a:r>
              <a:rPr lang="en-GB" sz="2400" b="1" dirty="0"/>
              <a:t>Different attrition rates between the two arms of the study</a:t>
            </a:r>
          </a:p>
          <a:p>
            <a:pPr marL="914400" lvl="1" indent="-514350">
              <a:lnSpc>
                <a:spcPct val="150000"/>
              </a:lnSpc>
              <a:buFont typeface="Arial" panose="020B0604020202020204" pitchFamily="34" charset="0"/>
              <a:buChar char="•"/>
            </a:pPr>
            <a:r>
              <a:rPr lang="en-GB" sz="2000" dirty="0"/>
              <a:t>After the first interview, 28% attrition for phone first and 37% attrition for F2F first groups </a:t>
            </a:r>
          </a:p>
          <a:p>
            <a:pPr marL="914400" lvl="1" indent="-514350">
              <a:lnSpc>
                <a:spcPct val="150000"/>
              </a:lnSpc>
              <a:buFont typeface="Arial" panose="020B0604020202020204" pitchFamily="34" charset="0"/>
              <a:buChar char="•"/>
            </a:pPr>
            <a:r>
              <a:rPr lang="en-GB" sz="2000" dirty="0"/>
              <a:t>Probably F2F first were more reluctant to pick up the phone as they expect long interview over phone on the </a:t>
            </a:r>
            <a:r>
              <a:rPr lang="en-GB" sz="2000"/>
              <a:t>same questions</a:t>
            </a:r>
            <a:endParaRPr lang="en-GB" sz="2000" dirty="0"/>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174327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Limitations (Cont.)</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24938" y="1448710"/>
            <a:ext cx="10542124" cy="4801902"/>
          </a:xfrm>
        </p:spPr>
        <p:txBody>
          <a:bodyPr anchor="t">
            <a:normAutofit fontScale="92500"/>
          </a:bodyPr>
          <a:lstStyle/>
          <a:p>
            <a:pPr marL="514350" indent="-514350">
              <a:lnSpc>
                <a:spcPct val="150000"/>
              </a:lnSpc>
              <a:buFont typeface="+mj-lt"/>
              <a:buAutoNum type="arabicPeriod" startAt="3"/>
            </a:pPr>
            <a:r>
              <a:rPr lang="en-GB" sz="2800" b="1" dirty="0"/>
              <a:t>Respondent bias </a:t>
            </a:r>
          </a:p>
          <a:p>
            <a:pPr lvl="1">
              <a:lnSpc>
                <a:spcPct val="150000"/>
              </a:lnSpc>
            </a:pPr>
            <a:r>
              <a:rPr lang="en-GB" sz="2200" dirty="0"/>
              <a:t>Difficulty in getting the exact same respondent within the household to answer the two questionnaires</a:t>
            </a:r>
          </a:p>
          <a:p>
            <a:pPr lvl="2">
              <a:lnSpc>
                <a:spcPct val="150000"/>
              </a:lnSpc>
            </a:pPr>
            <a:r>
              <a:rPr lang="en-GB" sz="1900" dirty="0"/>
              <a:t>When the HH has only one phone (usually with the man) and the women answers the HH questionnaire (man is outside), the phone interview had to happen with the phone owner (man) </a:t>
            </a:r>
          </a:p>
          <a:p>
            <a:pPr lvl="2">
              <a:lnSpc>
                <a:spcPct val="150000"/>
              </a:lnSpc>
            </a:pPr>
            <a:r>
              <a:rPr lang="en-GB" sz="1900" dirty="0">
                <a:latin typeface="Open Sans"/>
                <a:ea typeface="Open Sans"/>
                <a:cs typeface="Open Sans"/>
              </a:rPr>
              <a:t>Several visits (2-3) visits to the same HH to catch the same person which still was not possible</a:t>
            </a:r>
            <a:endParaRPr lang="en-GB" sz="1900" dirty="0"/>
          </a:p>
          <a:p>
            <a:pPr lvl="1">
              <a:lnSpc>
                <a:spcPct val="150000"/>
              </a:lnSpc>
            </a:pPr>
            <a:r>
              <a:rPr lang="en-GB" sz="2200" dirty="0">
                <a:latin typeface="Open Sans"/>
                <a:ea typeface="Open Sans"/>
                <a:cs typeface="Open Sans"/>
              </a:rPr>
              <a:t>This resulted in a very small sample size (134 HHs) for intra-HH comparison (80% attrition) </a:t>
            </a:r>
            <a:endParaRPr lang="en-GB" sz="2200" dirty="0"/>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812228377"/>
      </p:ext>
    </p:extLst>
  </p:cSld>
  <p:clrMapOvr>
    <a:masterClrMapping/>
  </p:clrMapOvr>
</p:sld>
</file>

<file path=ppt/theme/theme1.xml><?xml version="1.0" encoding="utf-8"?>
<a:theme xmlns:a="http://schemas.openxmlformats.org/drawingml/2006/main" name="Theme2">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Props1.xml><?xml version="1.0" encoding="utf-8"?>
<ds:datastoreItem xmlns:ds="http://schemas.openxmlformats.org/officeDocument/2006/customXml" ds:itemID="{B81F67AD-05E7-4525-B1BC-1BDFA29409AB}"/>
</file>

<file path=customXml/itemProps2.xml><?xml version="1.0" encoding="utf-8"?>
<ds:datastoreItem xmlns:ds="http://schemas.openxmlformats.org/officeDocument/2006/customXml" ds:itemID="{D2C8538E-530A-445D-9A15-7CC7F4A16C23}">
  <ds:schemaRefs>
    <ds:schemaRef ds:uri="http://schemas.microsoft.com/sharepoint/v3/contenttype/forms"/>
  </ds:schemaRefs>
</ds:datastoreItem>
</file>

<file path=customXml/itemProps3.xml><?xml version="1.0" encoding="utf-8"?>
<ds:datastoreItem xmlns:ds="http://schemas.openxmlformats.org/officeDocument/2006/customXml" ds:itemID="{FF2CF057-9F0A-4CCB-B937-805ED701A0E8}">
  <ds:schemaRefs>
    <ds:schemaRef ds:uri="http://purl.org/dc/elements/1.1/"/>
    <ds:schemaRef ds:uri="http://schemas.microsoft.com/office/2006/metadata/properties"/>
    <ds:schemaRef ds:uri="http://purl.org/dc/terms/"/>
    <ds:schemaRef ds:uri="http://schemas.microsoft.com/office/2006/documentManagement/types"/>
    <ds:schemaRef ds:uri="3940b711-dc1d-4235-b0a5-48d487f0d3b9"/>
    <ds:schemaRef ds:uri="http://www.w3.org/XML/1998/namespace"/>
    <ds:schemaRef ds:uri="http://schemas.openxmlformats.org/package/2006/metadata/core-properties"/>
    <ds:schemaRef ds:uri="http://purl.org/dc/dcmitype/"/>
    <ds:schemaRef ds:uri="http://schemas.microsoft.com/office/infopath/2007/PartnerControls"/>
    <ds:schemaRef ds:uri="49256dcf-74b5-4e0f-b2ab-e17546be8a80"/>
  </ds:schemaRefs>
</ds:datastoreItem>
</file>

<file path=docProps/app.xml><?xml version="1.0" encoding="utf-8"?>
<Properties xmlns="http://schemas.openxmlformats.org/officeDocument/2006/extended-properties" xmlns:vt="http://schemas.openxmlformats.org/officeDocument/2006/docPropsVTypes">
  <Template/>
  <TotalTime>2777</TotalTime>
  <Words>1002</Words>
  <Application>Microsoft Office PowerPoint</Application>
  <PresentationFormat>Widescreen</PresentationFormat>
  <Paragraphs>152</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HALDEN SOLID</vt:lpstr>
      <vt:lpstr>Open Sans</vt:lpstr>
      <vt:lpstr>Open Sans Extrabold</vt:lpstr>
      <vt:lpstr>Theme2</vt:lpstr>
      <vt:lpstr>Remote CARI (rCARI) Validation Study</vt:lpstr>
      <vt:lpstr>Background</vt:lpstr>
      <vt:lpstr>Background</vt:lpstr>
      <vt:lpstr>Background</vt:lpstr>
      <vt:lpstr>PowerPoint Presentation</vt:lpstr>
      <vt:lpstr>Iraq Pilot Sample Design</vt:lpstr>
      <vt:lpstr>Iraq Pilot Sample Design</vt:lpstr>
      <vt:lpstr>Implementation</vt:lpstr>
      <vt:lpstr>Implementation</vt:lpstr>
      <vt:lpstr>Limitations</vt:lpstr>
      <vt:lpstr>Limitations (Cont.)</vt:lpstr>
      <vt:lpstr>Limitations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lastModifiedBy>Mohamed SALEM</cp:lastModifiedBy>
  <cp:revision>3</cp:revision>
  <dcterms:created xsi:type="dcterms:W3CDTF">2018-08-20T09:35:59Z</dcterms:created>
  <dcterms:modified xsi:type="dcterms:W3CDTF">2023-08-16T08:10:22Z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