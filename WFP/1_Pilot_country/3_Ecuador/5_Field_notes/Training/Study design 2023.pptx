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4"/>
  </p:sldMasterIdLst>
  <p:notesMasterIdLst>
    <p:notesMasterId r:id="rId16"/>
  </p:notesMasterIdLst>
  <p:handoutMasterIdLst>
    <p:handoutMasterId r:id="rId17"/>
  </p:handoutMasterIdLst>
  <p:sldIdLst>
    <p:sldId id="261" r:id="rId5"/>
    <p:sldId id="292" r:id="rId6"/>
    <p:sldId id="293" r:id="rId7"/>
    <p:sldId id="311" r:id="rId8"/>
    <p:sldId id="296" r:id="rId9"/>
    <p:sldId id="277" r:id="rId10"/>
    <p:sldId id="304" r:id="rId11"/>
    <p:sldId id="310" r:id="rId12"/>
    <p:sldId id="301" r:id="rId13"/>
    <p:sldId id="286" r:id="rId14"/>
    <p:sldId id="306" r:id="rId1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52989B-2D3B-6FC0-BBC3-D88A3726BC0B}" name="Mohamed SALEM" initials="MS" userId="S::mohamed.salem@wfp.org::13f12703-f1ce-4b8b-924c-fe401988a08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BA"/>
    <a:srgbClr val="898CF5"/>
    <a:srgbClr val="FFFF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60DAD6-F747-4B99-8290-D0BEFDBA6F22}" v="5" dt="2023-06-01T08:20:01.582"/>
    <p1510:client id="{82D91052-34A2-4918-90F2-827820512A56}" v="2" dt="2023-06-01T16:33:51.4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310" autoAdjust="0"/>
    <p:restoredTop sz="74332" autoAdjust="0"/>
  </p:normalViewPr>
  <p:slideViewPr>
    <p:cSldViewPr snapToGrid="0">
      <p:cViewPr varScale="1">
        <p:scale>
          <a:sx n="64" d="100"/>
          <a:sy n="64" d="100"/>
        </p:scale>
        <p:origin x="768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rah WEYORI" userId="1c7cbaa8-91f0-4806-8632-e4be5028c1b4" providerId="ADAL" clId="{0C60DAD6-F747-4B99-8290-D0BEFDBA6F22}"/>
    <pc:docChg chg="custSel delSld modSld">
      <pc:chgData name="Alirah WEYORI" userId="1c7cbaa8-91f0-4806-8632-e4be5028c1b4" providerId="ADAL" clId="{0C60DAD6-F747-4B99-8290-D0BEFDBA6F22}" dt="2023-06-01T08:26:28.856" v="58" actId="6549"/>
      <pc:docMkLst>
        <pc:docMk/>
      </pc:docMkLst>
      <pc:sldChg chg="modSp mod">
        <pc:chgData name="Alirah WEYORI" userId="1c7cbaa8-91f0-4806-8632-e4be5028c1b4" providerId="ADAL" clId="{0C60DAD6-F747-4B99-8290-D0BEFDBA6F22}" dt="2023-06-01T08:23:19.214" v="44" actId="1076"/>
        <pc:sldMkLst>
          <pc:docMk/>
          <pc:sldMk cId="1472955817" sldId="261"/>
        </pc:sldMkLst>
        <pc:spChg chg="mod">
          <ac:chgData name="Alirah WEYORI" userId="1c7cbaa8-91f0-4806-8632-e4be5028c1b4" providerId="ADAL" clId="{0C60DAD6-F747-4B99-8290-D0BEFDBA6F22}" dt="2023-06-01T08:23:19.214" v="44" actId="1076"/>
          <ac:spMkLst>
            <pc:docMk/>
            <pc:sldMk cId="1472955817" sldId="261"/>
            <ac:spMk id="9" creationId="{1A015D9C-C9D3-D64F-ADA5-742B12AEEA7C}"/>
          </ac:spMkLst>
        </pc:spChg>
      </pc:sldChg>
      <pc:sldChg chg="modSp mod">
        <pc:chgData name="Alirah WEYORI" userId="1c7cbaa8-91f0-4806-8632-e4be5028c1b4" providerId="ADAL" clId="{0C60DAD6-F747-4B99-8290-D0BEFDBA6F22}" dt="2023-06-01T08:26:28.856" v="58" actId="6549"/>
        <pc:sldMkLst>
          <pc:docMk/>
          <pc:sldMk cId="1261453650" sldId="277"/>
        </pc:sldMkLst>
        <pc:spChg chg="mod">
          <ac:chgData name="Alirah WEYORI" userId="1c7cbaa8-91f0-4806-8632-e4be5028c1b4" providerId="ADAL" clId="{0C60DAD6-F747-4B99-8290-D0BEFDBA6F22}" dt="2023-06-01T08:26:28.856" v="58" actId="6549"/>
          <ac:spMkLst>
            <pc:docMk/>
            <pc:sldMk cId="1261453650" sldId="277"/>
            <ac:spMk id="107" creationId="{B8E08D19-9EC5-420E-85B6-D43143E224B1}"/>
          </ac:spMkLst>
        </pc:spChg>
      </pc:sldChg>
      <pc:sldChg chg="addSp delSp modSp mod">
        <pc:chgData name="Alirah WEYORI" userId="1c7cbaa8-91f0-4806-8632-e4be5028c1b4" providerId="ADAL" clId="{0C60DAD6-F747-4B99-8290-D0BEFDBA6F22}" dt="2023-06-01T08:25:08.237" v="45" actId="14100"/>
        <pc:sldMkLst>
          <pc:docMk/>
          <pc:sldMk cId="1390366204" sldId="286"/>
        </pc:sldMkLst>
        <pc:spChg chg="mod">
          <ac:chgData name="Alirah WEYORI" userId="1c7cbaa8-91f0-4806-8632-e4be5028c1b4" providerId="ADAL" clId="{0C60DAD6-F747-4B99-8290-D0BEFDBA6F22}" dt="2023-06-01T08:25:08.237" v="45" actId="14100"/>
          <ac:spMkLst>
            <pc:docMk/>
            <pc:sldMk cId="1390366204" sldId="286"/>
            <ac:spMk id="5" creationId="{7E44B879-13DF-B1BE-7393-04AE90432AD3}"/>
          </ac:spMkLst>
        </pc:spChg>
        <pc:spChg chg="del">
          <ac:chgData name="Alirah WEYORI" userId="1c7cbaa8-91f0-4806-8632-e4be5028c1b4" providerId="ADAL" clId="{0C60DAD6-F747-4B99-8290-D0BEFDBA6F22}" dt="2023-06-01T08:20:59.823" v="16" actId="478"/>
          <ac:spMkLst>
            <pc:docMk/>
            <pc:sldMk cId="1390366204" sldId="286"/>
            <ac:spMk id="6" creationId="{976CF346-227C-9D0A-FCA6-48B7717B8252}"/>
          </ac:spMkLst>
        </pc:spChg>
        <pc:graphicFrameChg chg="add del mod">
          <ac:chgData name="Alirah WEYORI" userId="1c7cbaa8-91f0-4806-8632-e4be5028c1b4" providerId="ADAL" clId="{0C60DAD6-F747-4B99-8290-D0BEFDBA6F22}" dt="2023-06-01T08:20:01.418" v="4"/>
          <ac:graphicFrameMkLst>
            <pc:docMk/>
            <pc:sldMk cId="1390366204" sldId="286"/>
            <ac:graphicFrameMk id="2" creationId="{31BA24CA-285E-9514-08B2-FABD205EE344}"/>
          </ac:graphicFrameMkLst>
        </pc:graphicFrameChg>
        <pc:graphicFrameChg chg="add mod modGraphic">
          <ac:chgData name="Alirah WEYORI" userId="1c7cbaa8-91f0-4806-8632-e4be5028c1b4" providerId="ADAL" clId="{0C60DAD6-F747-4B99-8290-D0BEFDBA6F22}" dt="2023-06-01T08:21:35.874" v="36" actId="20577"/>
          <ac:graphicFrameMkLst>
            <pc:docMk/>
            <pc:sldMk cId="1390366204" sldId="286"/>
            <ac:graphicFrameMk id="3" creationId="{9D48953D-C747-1F78-940B-40D8D94768E9}"/>
          </ac:graphicFrameMkLst>
        </pc:graphicFrameChg>
        <pc:graphicFrameChg chg="del">
          <ac:chgData name="Alirah WEYORI" userId="1c7cbaa8-91f0-4806-8632-e4be5028c1b4" providerId="ADAL" clId="{0C60DAD6-F747-4B99-8290-D0BEFDBA6F22}" dt="2023-06-01T08:19:14.330" v="0" actId="478"/>
          <ac:graphicFrameMkLst>
            <pc:docMk/>
            <pc:sldMk cId="1390366204" sldId="286"/>
            <ac:graphicFrameMk id="7" creationId="{4DC19564-DA97-85B7-C134-AB5663E5E240}"/>
          </ac:graphicFrameMkLst>
        </pc:graphicFrameChg>
      </pc:sldChg>
      <pc:sldChg chg="del">
        <pc:chgData name="Alirah WEYORI" userId="1c7cbaa8-91f0-4806-8632-e4be5028c1b4" providerId="ADAL" clId="{0C60DAD6-F747-4B99-8290-D0BEFDBA6F22}" dt="2023-06-01T08:21:47.619" v="37" actId="47"/>
        <pc:sldMkLst>
          <pc:docMk/>
          <pc:sldMk cId="1042580577" sldId="287"/>
        </pc:sldMkLst>
      </pc:sldChg>
      <pc:sldChg chg="modSp mod">
        <pc:chgData name="Alirah WEYORI" userId="1c7cbaa8-91f0-4806-8632-e4be5028c1b4" providerId="ADAL" clId="{0C60DAD6-F747-4B99-8290-D0BEFDBA6F22}" dt="2023-06-01T08:25:33.876" v="52" actId="20577"/>
        <pc:sldMkLst>
          <pc:docMk/>
          <pc:sldMk cId="475964468" sldId="310"/>
        </pc:sldMkLst>
        <pc:spChg chg="mod">
          <ac:chgData name="Alirah WEYORI" userId="1c7cbaa8-91f0-4806-8632-e4be5028c1b4" providerId="ADAL" clId="{0C60DAD6-F747-4B99-8290-D0BEFDBA6F22}" dt="2023-06-01T08:25:33.876" v="52" actId="20577"/>
          <ac:spMkLst>
            <pc:docMk/>
            <pc:sldMk cId="475964468" sldId="310"/>
            <ac:spMk id="14" creationId="{CCE27503-62D8-5D32-C3BF-3FCB7E983EF2}"/>
          </ac:spMkLst>
        </pc:spChg>
        <pc:cxnChg chg="mod">
          <ac:chgData name="Alirah WEYORI" userId="1c7cbaa8-91f0-4806-8632-e4be5028c1b4" providerId="ADAL" clId="{0C60DAD6-F747-4B99-8290-D0BEFDBA6F22}" dt="2023-06-01T08:25:24.808" v="46" actId="14100"/>
          <ac:cxnSpMkLst>
            <pc:docMk/>
            <pc:sldMk cId="475964468" sldId="310"/>
            <ac:cxnSpMk id="54" creationId="{ECA74230-3527-4E4E-BBE6-8334D4626557}"/>
          </ac:cxnSpMkLst>
        </pc:cxnChg>
      </pc:sldChg>
    </pc:docChg>
  </pc:docChgLst>
  <pc:docChgLst>
    <pc:chgData name="Espedito NASTRO" userId="8b25acab-9a48-4f31-8640-f6d24c141f1d" providerId="ADAL" clId="{82D91052-34A2-4918-90F2-827820512A56}"/>
    <pc:docChg chg="modSld">
      <pc:chgData name="Espedito NASTRO" userId="8b25acab-9a48-4f31-8640-f6d24c141f1d" providerId="ADAL" clId="{82D91052-34A2-4918-90F2-827820512A56}" dt="2023-06-01T17:41:27.441" v="1" actId="14100"/>
      <pc:docMkLst>
        <pc:docMk/>
      </pc:docMkLst>
      <pc:sldChg chg="modSp mod">
        <pc:chgData name="Espedito NASTRO" userId="8b25acab-9a48-4f31-8640-f6d24c141f1d" providerId="ADAL" clId="{82D91052-34A2-4918-90F2-827820512A56}" dt="2023-06-01T17:41:27.441" v="1" actId="14100"/>
        <pc:sldMkLst>
          <pc:docMk/>
          <pc:sldMk cId="475964468" sldId="310"/>
        </pc:sldMkLst>
        <pc:spChg chg="mod">
          <ac:chgData name="Espedito NASTRO" userId="8b25acab-9a48-4f31-8640-f6d24c141f1d" providerId="ADAL" clId="{82D91052-34A2-4918-90F2-827820512A56}" dt="2023-06-01T17:41:00.111" v="0" actId="1076"/>
          <ac:spMkLst>
            <pc:docMk/>
            <pc:sldMk cId="475964468" sldId="310"/>
            <ac:spMk id="18" creationId="{D18ED16F-1385-C386-3999-5DBC532DC256}"/>
          </ac:spMkLst>
        </pc:spChg>
        <pc:cxnChg chg="mod">
          <ac:chgData name="Espedito NASTRO" userId="8b25acab-9a48-4f31-8640-f6d24c141f1d" providerId="ADAL" clId="{82D91052-34A2-4918-90F2-827820512A56}" dt="2023-06-01T17:41:27.441" v="1" actId="14100"/>
          <ac:cxnSpMkLst>
            <pc:docMk/>
            <pc:sldMk cId="475964468" sldId="310"/>
            <ac:cxnSpMk id="8" creationId="{9D59422C-9108-259D-0994-4049D64FC570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FFAB1A-079C-564C-A3B2-E630BC843578}" type="datetimeFigureOut">
              <a:rPr lang="it-IT" smtClean="0"/>
              <a:t>01/06/2023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900685-03CC-EF47-A6B6-8CB07CAC109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66613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21A65-5E85-7243-A45D-5622BE4ACE07}" type="datetimeFigureOut">
              <a:rPr lang="it-IT" smtClean="0"/>
              <a:t>01/06/2023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27884D-8063-894A-9B96-2E8B250142E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9342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0672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DE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The 5 IPC Phase classification </a:t>
            </a:r>
            <a:r>
              <a:rPr lang="de-DE" sz="2400" err="1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of</a:t>
            </a:r>
            <a:r>
              <a:rPr lang="de-DE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err="1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food</a:t>
            </a:r>
            <a:r>
              <a:rPr lang="de-DE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err="1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insecurity</a:t>
            </a:r>
            <a:endParaRPr lang="de-DE" sz="2400">
              <a:solidFill>
                <a:schemeClr val="tx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lvl="2"/>
            <a:r>
              <a:rPr lang="de-DE" sz="1800">
                <a:solidFill>
                  <a:schemeClr val="tx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Phase 1 (None/Minimal)</a:t>
            </a:r>
          </a:p>
          <a:p>
            <a:pPr lvl="2"/>
            <a:r>
              <a:rPr lang="de-DE" sz="1800">
                <a:solidFill>
                  <a:schemeClr val="tx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Phase 2 (</a:t>
            </a:r>
            <a:r>
              <a:rPr lang="de-DE" sz="1800" err="1">
                <a:solidFill>
                  <a:schemeClr val="tx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Stressed</a:t>
            </a:r>
            <a:r>
              <a:rPr lang="de-DE" sz="1800">
                <a:solidFill>
                  <a:schemeClr val="tx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)</a:t>
            </a:r>
          </a:p>
          <a:p>
            <a:pPr lvl="2"/>
            <a:r>
              <a:rPr lang="de-DE" sz="1800">
                <a:solidFill>
                  <a:schemeClr val="tx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Phase 3 (Crisis)</a:t>
            </a:r>
          </a:p>
          <a:p>
            <a:pPr lvl="2"/>
            <a:r>
              <a:rPr lang="de-DE" sz="1800">
                <a:solidFill>
                  <a:schemeClr val="tx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Phase 4 (Emergency)</a:t>
            </a:r>
          </a:p>
          <a:p>
            <a:pPr lvl="2"/>
            <a:r>
              <a:rPr lang="de-DE" sz="1800">
                <a:solidFill>
                  <a:schemeClr val="tx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Phase 5 (</a:t>
            </a:r>
            <a:r>
              <a:rPr lang="de-DE" sz="1800" err="1">
                <a:solidFill>
                  <a:schemeClr val="tx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Catastrophe</a:t>
            </a:r>
            <a:r>
              <a:rPr lang="de-DE" sz="1800">
                <a:solidFill>
                  <a:schemeClr val="tx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/</a:t>
            </a:r>
            <a:r>
              <a:rPr lang="de-DE" sz="1800" err="1">
                <a:solidFill>
                  <a:schemeClr val="tx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Famine</a:t>
            </a:r>
            <a:r>
              <a:rPr lang="de-DE" sz="1800">
                <a:solidFill>
                  <a:schemeClr val="tx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08129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1" indent="-342900">
              <a:spcBef>
                <a:spcPts val="1000"/>
              </a:spcBef>
            </a:pPr>
            <a:r>
              <a:rPr lang="en-US" sz="1200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Matrix of simple &amp; easy to understand food security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5950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rCARI useful in emergencies where F2F survey is not feasible</a:t>
            </a:r>
          </a:p>
          <a:p>
            <a:pPr marL="342900" lvl="1" indent="-342900">
              <a:spcBef>
                <a:spcPts val="1000"/>
              </a:spcBef>
            </a:pPr>
            <a:endParaRPr lang="en-US" sz="2400" dirty="0">
              <a:solidFill>
                <a:schemeClr val="tx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342900" lvl="1" indent="-342900">
              <a:spcBef>
                <a:spcPts val="1000"/>
              </a:spcBef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The Challenge with rCARI numbers &amp; methodology is that not it is been validated against CARI or IPC</a:t>
            </a:r>
          </a:p>
          <a:p>
            <a:pPr marL="800100" lvl="2" indent="-342900">
              <a:spcBef>
                <a:spcPts val="1000"/>
              </a:spcBef>
            </a:pP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Though is easily available, results are not globally accepted</a:t>
            </a:r>
            <a:endParaRPr lang="en-GB" sz="2200" dirty="0"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rCARI is based on the following modules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 consumption score 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Consumption-based coping strategy (rCSI)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Livelihood coping strategy (usually a shorter version of the original) 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Income sources 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Changes in income 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56154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200" b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Primary objective: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n-GB" sz="120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Compare the results of rCARI, i.e., remote CARI with standard CARI version 3. This will contribute to answering the question of comparability and convergence of the remote and face-to-face modules and methodologies for collecting food insecurity. 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200" b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Secondary objectives: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buFont typeface="+mj-lt"/>
              <a:buAutoNum type="arabicPeriod"/>
            </a:pPr>
            <a:r>
              <a:rPr lang="en-GB" sz="120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Compare and validate the different livelihood coping strategy modules e.g., LCS-Essential Needs, LCS- Food Security. </a:t>
            </a: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en-GB" sz="120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Compare and validate the results of the rCARI with other standard food security measurements like IPC.</a:t>
            </a:r>
            <a:endParaRPr lang="en-GB" sz="12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14775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15088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79770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52451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3998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3884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763591BB-DB01-D043-A519-067963333E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80232" y="643259"/>
            <a:ext cx="991329" cy="264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967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846311" y="664870"/>
            <a:ext cx="10542124" cy="11520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i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846312" y="1919941"/>
            <a:ext cx="10542124" cy="4100053"/>
          </a:xfrm>
        </p:spPr>
        <p:txBody>
          <a:bodyPr>
            <a:noAutofit/>
          </a:bodyPr>
          <a:lstStyle>
            <a:lvl1pPr marL="342900" indent="-3429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1pPr>
            <a:lvl2pPr marL="7429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2pPr>
            <a:lvl3pPr marL="12001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3pPr>
            <a:lvl4pPr marL="16573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4pPr>
            <a:lvl5pPr marL="21145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93736" y="5969757"/>
            <a:ext cx="1625642" cy="7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421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099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539999" y="1795071"/>
            <a:ext cx="5460945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800" spc="60" baseline="0"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600" spc="60" baseline="0"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400" spc="60" baseline="0"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6078019" y="1795071"/>
            <a:ext cx="5513982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423F2EF9-E3A7-7C43-99DB-3D909AA2C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10" name="Immagine 6">
            <a:extLst>
              <a:ext uri="{FF2B5EF4-FFF2-40B4-BE49-F238E27FC236}">
                <a16:creationId xmlns:a16="http://schemas.microsoft.com/office/drawing/2014/main" id="{C72777E0-737A-CE4D-97A6-44B3AB1E52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45E43B2A-AD48-1C47-BB21-AA2602857130}"/>
              </a:ext>
            </a:extLst>
          </p:cNvPr>
          <p:cNvSpPr txBox="1">
            <a:spLocks/>
          </p:cNvSpPr>
          <p:nvPr userDrawn="1"/>
        </p:nvSpPr>
        <p:spPr>
          <a:xfrm>
            <a:off x="717181" y="716415"/>
            <a:ext cx="11052002" cy="66255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spc="60" baseline="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GB" sz="3600" b="0" kern="1400" spc="230">
                <a:solidFill>
                  <a:schemeClr val="tx1"/>
                </a:solidFill>
                <a:latin typeface="HALDEN SOLID" pitchFamily="2" charset="0"/>
              </a:rPr>
              <a:t>Slide title lorem ipsum </a:t>
            </a:r>
            <a:r>
              <a:rPr lang="en-GB" sz="3600" b="0" kern="1400" spc="230" err="1">
                <a:solidFill>
                  <a:schemeClr val="tx1"/>
                </a:solidFill>
                <a:latin typeface="HALDEN SOLID" pitchFamily="2" charset="0"/>
              </a:rPr>
              <a:t>dolor</a:t>
            </a:r>
            <a:endParaRPr lang="en-GB" sz="3600" b="0" kern="1400" spc="230">
              <a:solidFill>
                <a:schemeClr val="tx1"/>
              </a:solidFill>
              <a:latin typeface="HALDEN SOLI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10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539999" y="1795071"/>
            <a:ext cx="5460945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800" spc="60" baseline="0"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600" spc="60" baseline="0"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400" spc="60" baseline="0"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29D93D5-8F53-3444-8F3E-BBF377575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94425" y="1795463"/>
            <a:ext cx="5397500" cy="4098925"/>
          </a:xfrm>
        </p:spPr>
        <p:txBody>
          <a:bodyPr/>
          <a:lstStyle/>
          <a:p>
            <a:r>
              <a:rPr lang="en-GB"/>
              <a:t>Click icon to add picture</a:t>
            </a:r>
            <a:endParaRPr lang="it-IT"/>
          </a:p>
        </p:txBody>
      </p:sp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592D85CC-EB0C-D645-85D6-3DB77E029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10" name="Immagine 6">
            <a:extLst>
              <a:ext uri="{FF2B5EF4-FFF2-40B4-BE49-F238E27FC236}">
                <a16:creationId xmlns:a16="http://schemas.microsoft.com/office/drawing/2014/main" id="{EE9D2174-1656-564C-9C34-210AF0606E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622D786E-D5DB-B346-B2FA-981C681ADAA2}"/>
              </a:ext>
            </a:extLst>
          </p:cNvPr>
          <p:cNvSpPr txBox="1">
            <a:spLocks/>
          </p:cNvSpPr>
          <p:nvPr userDrawn="1"/>
        </p:nvSpPr>
        <p:spPr>
          <a:xfrm>
            <a:off x="717181" y="716415"/>
            <a:ext cx="11052002" cy="66255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spc="60" baseline="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GB" sz="3600" b="0" kern="1400" spc="230">
                <a:solidFill>
                  <a:schemeClr val="tx1"/>
                </a:solidFill>
                <a:latin typeface="HALDEN SOLID" pitchFamily="2" charset="0"/>
              </a:rPr>
              <a:t>Slide title lorem ipsum </a:t>
            </a:r>
            <a:r>
              <a:rPr lang="en-GB" sz="3600" b="0" kern="1400" spc="230" err="1">
                <a:solidFill>
                  <a:schemeClr val="tx1"/>
                </a:solidFill>
                <a:latin typeface="HALDEN SOLID" pitchFamily="2" charset="0"/>
              </a:rPr>
              <a:t>dolor</a:t>
            </a:r>
            <a:endParaRPr lang="en-GB" sz="3600" b="0" kern="1400" spc="230">
              <a:solidFill>
                <a:schemeClr val="tx1"/>
              </a:solidFill>
              <a:latin typeface="HALDEN SOLI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742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73394" y="1732935"/>
            <a:ext cx="10667744" cy="4444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7637761" y="622799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0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it-IT"/>
              <a:t>Year Month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711542" y="6227991"/>
            <a:ext cx="102726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1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fld id="{2026EB2A-1F26-4143-92A6-3B752CD465DB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24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4" r:id="rId3"/>
    <p:sldLayoutId id="2147483672" r:id="rId4"/>
    <p:sldLayoutId id="2147483673" r:id="rId5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>
          <a:solidFill>
            <a:srgbClr val="0070BA"/>
          </a:solidFill>
          <a:latin typeface="Open Sans" charset="0"/>
          <a:ea typeface="Open Sans" charset="0"/>
          <a:cs typeface="Open Sans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0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74">
          <p15:clr>
            <a:srgbClr val="F26B43"/>
          </p15:clr>
        </p15:guide>
        <p15:guide id="2" pos="7333">
          <p15:clr>
            <a:srgbClr val="F26B43"/>
          </p15:clr>
        </p15:guide>
        <p15:guide id="3" pos="688">
          <p15:clr>
            <a:srgbClr val="F26B43"/>
          </p15:clr>
        </p15:guide>
        <p15:guide id="4" orient="horz" pos="334">
          <p15:clr>
            <a:srgbClr val="F26B43"/>
          </p15:clr>
        </p15:guide>
        <p15:guide id="5" orient="horz" pos="11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olo 1">
            <a:extLst>
              <a:ext uri="{FF2B5EF4-FFF2-40B4-BE49-F238E27FC236}">
                <a16:creationId xmlns:a16="http://schemas.microsoft.com/office/drawing/2014/main" id="{1A015D9C-C9D3-D64F-ADA5-742B12AEEA7C}"/>
              </a:ext>
            </a:extLst>
          </p:cNvPr>
          <p:cNvSpPr txBox="1">
            <a:spLocks/>
          </p:cNvSpPr>
          <p:nvPr/>
        </p:nvSpPr>
        <p:spPr>
          <a:xfrm>
            <a:off x="1559697" y="2854175"/>
            <a:ext cx="9072605" cy="11496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pPr algn="ctr"/>
            <a:r>
              <a:rPr lang="en-GB" b="0" dirty="0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Review &amp; Validation of the remote CARI (rCARI)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52D83F10-A12A-DC43-92D2-9708578359F6}"/>
              </a:ext>
            </a:extLst>
          </p:cNvPr>
          <p:cNvSpPr txBox="1">
            <a:spLocks/>
          </p:cNvSpPr>
          <p:nvPr/>
        </p:nvSpPr>
        <p:spPr>
          <a:xfrm>
            <a:off x="773530" y="1078869"/>
            <a:ext cx="5151019" cy="42382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955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B89D-5416-48E5-81EA-436AE51F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519907"/>
            <a:ext cx="10542124" cy="1152000"/>
          </a:xfrm>
        </p:spPr>
        <p:txBody>
          <a:bodyPr/>
          <a:lstStyle/>
          <a:p>
            <a:r>
              <a:rPr lang="en-GB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B35CF-F8D9-4777-A432-1DE7A6FC1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7357" y="1462889"/>
            <a:ext cx="10257285" cy="47634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Methodologies to assess &amp; report of acute food insecurity (AFI) abound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Acceptance &amp; reliability depend on transparency, compatible, &amp; comparability</a:t>
            </a:r>
          </a:p>
          <a:p>
            <a:pPr lvl="2">
              <a:lnSpc>
                <a:spcPct val="150000"/>
              </a:lnSpc>
            </a:pPr>
            <a:r>
              <a:rPr lang="en-US" sz="1800" dirty="0">
                <a:solidFill>
                  <a:schemeClr val="tx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IPC-Integrated Food Security Phase Classification &amp; Cadre </a:t>
            </a:r>
            <a:r>
              <a:rPr lang="en-US" sz="1800" dirty="0" err="1">
                <a:solidFill>
                  <a:schemeClr val="tx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Harmonise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 (CH)</a:t>
            </a:r>
          </a:p>
          <a:p>
            <a:pPr lvl="2">
              <a:lnSpc>
                <a:spcPct val="150000"/>
              </a:lnSpc>
            </a:pPr>
            <a:r>
              <a:rPr lang="en-US" sz="1800" dirty="0">
                <a:solidFill>
                  <a:schemeClr val="tx1">
                    <a:lumMod val="7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CARI – Consolidated Approach of Reporting food Insecurity</a:t>
            </a:r>
          </a:p>
          <a:p>
            <a:pPr lvl="2">
              <a:lnSpc>
                <a:spcPct val="150000"/>
              </a:lnSpc>
            </a:pPr>
            <a:r>
              <a:rPr lang="en-US" sz="1800" dirty="0">
                <a:solidFill>
                  <a:schemeClr val="tx1">
                    <a:lumMod val="7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Recently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 the rCARI – Remote Consolidated Approach of Reporting food Insecurity</a:t>
            </a:r>
            <a:endParaRPr lang="en-US" sz="1800" dirty="0">
              <a:solidFill>
                <a:schemeClr val="tx1">
                  <a:lumMod val="75000"/>
                </a:schemeClr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IPC used since 2004 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Consensus based approach to classifying AFI-convergence of evidence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Led by experts in the field (TWG)</a:t>
            </a:r>
          </a:p>
        </p:txBody>
      </p:sp>
    </p:spTree>
    <p:extLst>
      <p:ext uri="{BB962C8B-B14F-4D97-AF65-F5344CB8AC3E}">
        <p14:creationId xmlns:p14="http://schemas.microsoft.com/office/powerpoint/2010/main" val="434839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B89D-5416-48E5-81EA-436AE51F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519907"/>
            <a:ext cx="10542124" cy="1152000"/>
          </a:xfrm>
        </p:spPr>
        <p:txBody>
          <a:bodyPr/>
          <a:lstStyle/>
          <a:p>
            <a:r>
              <a:rPr lang="en-GB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B35CF-F8D9-4777-A432-1DE7A6FC1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206" y="1472678"/>
            <a:ext cx="10327588" cy="453623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CARI used since 2012</a:t>
            </a: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Used in the absence of IPC or CH to report AFI</a:t>
            </a:r>
          </a:p>
          <a:p>
            <a:pPr lvl="1"/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Relies on HH survey data (national representative assessment data</a:t>
            </a:r>
          </a:p>
          <a:p>
            <a:pPr marL="342900" lvl="1" indent="-342900">
              <a:lnSpc>
                <a:spcPct val="150000"/>
              </a:lnSpc>
              <a:spcBef>
                <a:spcPts val="1000"/>
              </a:spcBef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Onset of COVID-19 pandemic restricted the use of CARI &amp; IPC use</a:t>
            </a:r>
          </a:p>
          <a:p>
            <a:pPr lvl="1"/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Vacuum of data for AFI analysis</a:t>
            </a:r>
          </a:p>
          <a:p>
            <a:pPr marL="342900" lvl="1" indent="-342900">
              <a:lnSpc>
                <a:spcPct val="150000"/>
              </a:lnSpc>
              <a:spcBef>
                <a:spcPts val="1000"/>
              </a:spcBef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WFP developed the remote CARI (rCARI) to report AFI</a:t>
            </a:r>
          </a:p>
          <a:p>
            <a:pPr lvl="1"/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Good for quick operational decisions</a:t>
            </a:r>
          </a:p>
          <a:p>
            <a:pPr lvl="1"/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Relies on call centers or Computerized Assisted Telephone Interviews (CATI)</a:t>
            </a:r>
          </a:p>
        </p:txBody>
      </p:sp>
    </p:spTree>
    <p:extLst>
      <p:ext uri="{BB962C8B-B14F-4D97-AF65-F5344CB8AC3E}">
        <p14:creationId xmlns:p14="http://schemas.microsoft.com/office/powerpoint/2010/main" val="12140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B89D-5416-48E5-81EA-436AE51F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519907"/>
            <a:ext cx="10542124" cy="1152000"/>
          </a:xfrm>
        </p:spPr>
        <p:txBody>
          <a:bodyPr/>
          <a:lstStyle/>
          <a:p>
            <a:r>
              <a:rPr lang="en-GB" dirty="0"/>
              <a:t>Background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77D6C2F-AC0C-CDE5-6C26-DEC4BD426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5927" y="1578633"/>
            <a:ext cx="10714827" cy="4759460"/>
          </a:xfrm>
        </p:spPr>
        <p:txBody>
          <a:bodyPr/>
          <a:lstStyle/>
          <a:p>
            <a:pPr marL="342900" lvl="1" indent="-342900">
              <a:lnSpc>
                <a:spcPct val="150000"/>
              </a:lnSpc>
              <a:spcBef>
                <a:spcPts val="1000"/>
              </a:spcBef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CARI and rCARI aggregate indicators in a similar way 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(except on the economic vulnerability dimension)</a:t>
            </a:r>
          </a:p>
          <a:p>
            <a:pPr marL="342900" lvl="1" indent="-342900">
              <a:lnSpc>
                <a:spcPct val="150000"/>
              </a:lnSpc>
              <a:spcBef>
                <a:spcPts val="1000"/>
              </a:spcBef>
            </a:pPr>
            <a:endParaRPr lang="en-US" sz="2400" dirty="0">
              <a:solidFill>
                <a:schemeClr val="tx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342900" lvl="1" indent="-342900">
              <a:lnSpc>
                <a:spcPct val="150000"/>
              </a:lnSpc>
              <a:spcBef>
                <a:spcPts val="1000"/>
              </a:spcBef>
            </a:pPr>
            <a:endParaRPr lang="en-US" sz="2400" dirty="0">
              <a:solidFill>
                <a:schemeClr val="tx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342900" lvl="1" indent="-342900">
              <a:lnSpc>
                <a:spcPct val="150000"/>
              </a:lnSpc>
              <a:spcBef>
                <a:spcPts val="1000"/>
              </a:spcBef>
            </a:pPr>
            <a:endParaRPr lang="en-US" sz="2400" dirty="0">
              <a:solidFill>
                <a:schemeClr val="tx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342900" lvl="1" indent="-342900">
              <a:lnSpc>
                <a:spcPct val="150000"/>
              </a:lnSpc>
              <a:spcBef>
                <a:spcPts val="1000"/>
              </a:spcBef>
            </a:pPr>
            <a:endParaRPr lang="en-US" sz="2400" dirty="0">
              <a:solidFill>
                <a:schemeClr val="tx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342900" lvl="1" indent="-342900">
              <a:lnSpc>
                <a:spcPct val="150000"/>
              </a:lnSpc>
              <a:spcBef>
                <a:spcPts val="1000"/>
              </a:spcBef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To date, rCARI is not validated against the conventional CARI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1AF62C-7163-96E4-54C0-B87505C2E8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249" t="36636" r="15024" b="28304"/>
          <a:stretch/>
        </p:blipFill>
        <p:spPr bwMode="auto">
          <a:xfrm>
            <a:off x="1261872" y="2812929"/>
            <a:ext cx="9043416" cy="26174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86976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05D0D-7CB2-2242-BE0E-B72CE5E5E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420" y="1976707"/>
            <a:ext cx="10732780" cy="3865293"/>
          </a:xfrm>
        </p:spPr>
        <p:txBody>
          <a:bodyPr/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n-GB" sz="2800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Compare the results of rCARI with standard CARI</a:t>
            </a:r>
          </a:p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endParaRPr lang="en-GB" sz="2400" dirty="0">
              <a:solidFill>
                <a:schemeClr val="tx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GB" sz="2800" b="1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	Secondary objectives:</a:t>
            </a:r>
          </a:p>
          <a:p>
            <a:pPr marL="803275" indent="365125" algn="just">
              <a:lnSpc>
                <a:spcPct val="115000"/>
              </a:lnSpc>
              <a:buFont typeface="+mj-lt"/>
              <a:buAutoNum type="arabicPeriod"/>
            </a:pPr>
            <a:r>
              <a:rPr lang="en-GB" dirty="0">
                <a:latin typeface="Open Sans" panose="020B0606030504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Compare &amp; validate the different livelihood coping strategy modules – LCS Essential Needs, &amp; LCS Food Security </a:t>
            </a:r>
          </a:p>
          <a:p>
            <a:pPr marL="803275" indent="365125" algn="just">
              <a:lnSpc>
                <a:spcPct val="115000"/>
              </a:lnSpc>
              <a:buFont typeface="+mj-lt"/>
              <a:buAutoNum type="arabicPeriod"/>
            </a:pPr>
            <a:r>
              <a:rPr lang="en-GB" dirty="0">
                <a:latin typeface="Open Sans" panose="020B0606030504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Compare &amp; validate the results of the rCARI with other standard food security measurements like IPC.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999FF3-0E37-AD51-18F7-3D20C1298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519907"/>
            <a:ext cx="10542124" cy="1152000"/>
          </a:xfrm>
        </p:spPr>
        <p:txBody>
          <a:bodyPr/>
          <a:lstStyle/>
          <a:p>
            <a:r>
              <a:rPr lang="en-GB" dirty="0"/>
              <a:t>Main Objective</a:t>
            </a:r>
          </a:p>
        </p:txBody>
      </p:sp>
    </p:spTree>
    <p:extLst>
      <p:ext uri="{BB962C8B-B14F-4D97-AF65-F5344CB8AC3E}">
        <p14:creationId xmlns:p14="http://schemas.microsoft.com/office/powerpoint/2010/main" val="2571662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06">
            <a:extLst>
              <a:ext uri="{FF2B5EF4-FFF2-40B4-BE49-F238E27FC236}">
                <a16:creationId xmlns:a16="http://schemas.microsoft.com/office/drawing/2014/main" id="{B8E08D19-9EC5-420E-85B6-D43143E224B1}"/>
              </a:ext>
            </a:extLst>
          </p:cNvPr>
          <p:cNvSpPr txBox="1"/>
          <p:nvPr/>
        </p:nvSpPr>
        <p:spPr>
          <a:xfrm>
            <a:off x="846310" y="1441186"/>
            <a:ext cx="10499379" cy="5018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lnSpc>
                <a:spcPct val="150000"/>
              </a:lnSpc>
              <a:spcBef>
                <a:spcPts val="1000"/>
              </a:spcBef>
              <a:buClr>
                <a:srgbClr val="0070BA"/>
              </a:buClr>
              <a:buFont typeface="Arial" charset="0"/>
              <a:buChar char="•"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Randomized Control (RCT) Design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latin typeface="Open Sans" charset="0"/>
                <a:ea typeface="Open Sans" charset="0"/>
                <a:cs typeface="Open Sans" charset="0"/>
              </a:rPr>
              <a:t>Involves two comparable groups – (Face-to-Face &amp; Remote)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Open Sans" charset="0"/>
                <a:ea typeface="Open Sans" charset="0"/>
                <a:cs typeface="Open Sans" charset="0"/>
              </a:rPr>
              <a:t>Randomly assigned to the two groups</a:t>
            </a: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Open Sans" charset="0"/>
                <a:ea typeface="Open Sans" charset="0"/>
                <a:cs typeface="Open Sans" charset="0"/>
              </a:rPr>
              <a:t>Face-Face (control) &amp; Remote (treated)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Open Sans" charset="0"/>
                <a:ea typeface="Open Sans" charset="0"/>
                <a:cs typeface="Open Sans" charset="0"/>
              </a:rPr>
              <a:t>Both interviews to run concurrently</a:t>
            </a:r>
          </a:p>
          <a:p>
            <a:pPr marL="342900" lvl="1" indent="-342900">
              <a:lnSpc>
                <a:spcPct val="150000"/>
              </a:lnSpc>
              <a:spcBef>
                <a:spcPts val="1000"/>
              </a:spcBef>
              <a:buClr>
                <a:srgbClr val="0070BA"/>
              </a:buClr>
              <a:buFont typeface="Arial" charset="0"/>
              <a:buChar char="•"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Stratified sampling units/respondents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Open Sans" charset="0"/>
                <a:ea typeface="Open Sans" charset="0"/>
                <a:cs typeface="Open Sans" charset="0"/>
              </a:rPr>
              <a:t>Min. 2 Admin1 or Livelihood Areas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Open Sans" charset="0"/>
                <a:ea typeface="Open Sans" charset="0"/>
                <a:cs typeface="Open Sans" charset="0"/>
              </a:rPr>
              <a:t>4 Admin2 Areas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Open Sans" charset="0"/>
                <a:ea typeface="Open Sans" charset="0"/>
                <a:cs typeface="Open Sans" charset="0"/>
              </a:rPr>
              <a:t>20 Admin3 Areas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Open Sans" charset="0"/>
                <a:ea typeface="Open Sans" charset="0"/>
                <a:cs typeface="Open Sans" charset="0"/>
              </a:rPr>
              <a:t>35 HH per Admin3 Area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A2E673B-7418-3875-06A7-6B9E0C1DF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519907"/>
            <a:ext cx="10542124" cy="1152000"/>
          </a:xfrm>
        </p:spPr>
        <p:txBody>
          <a:bodyPr/>
          <a:lstStyle/>
          <a:p>
            <a:r>
              <a:rPr lang="en-GB" dirty="0"/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1261453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CA74230-3527-4E4E-BBE6-8334D4626557}"/>
              </a:ext>
            </a:extLst>
          </p:cNvPr>
          <p:cNvCxnSpPr>
            <a:cxnSpLocks/>
            <a:endCxn id="14" idx="19"/>
          </p:cNvCxnSpPr>
          <p:nvPr/>
        </p:nvCxnSpPr>
        <p:spPr>
          <a:xfrm>
            <a:off x="3917441" y="4299722"/>
            <a:ext cx="1722049" cy="140934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60F1896-1466-4105-B802-82071799A00B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3917441" y="2427407"/>
            <a:ext cx="1722049" cy="145762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3750393-C4E8-2A3B-967F-A064AE94C8AB}"/>
              </a:ext>
            </a:extLst>
          </p:cNvPr>
          <p:cNvSpPr/>
          <p:nvPr/>
        </p:nvSpPr>
        <p:spPr>
          <a:xfrm>
            <a:off x="5639490" y="1489821"/>
            <a:ext cx="3330774" cy="1875171"/>
          </a:xfrm>
          <a:prstGeom prst="wedgeRoundRectCallout">
            <a:avLst>
              <a:gd name="adj1" fmla="val -20611"/>
              <a:gd name="adj2" fmla="val 49015"/>
              <a:gd name="adj3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b="1" dirty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r>
              <a:rPr lang="en-US" sz="2800" b="1" dirty="0">
                <a:ea typeface="Open Sans" panose="020B0606030504020204" pitchFamily="34" charset="0"/>
                <a:cs typeface="Open Sans" panose="020B0606030504020204" pitchFamily="34" charset="0"/>
              </a:rPr>
              <a:t>Group A (Phone)</a:t>
            </a:r>
          </a:p>
          <a:p>
            <a:pPr algn="ctr"/>
            <a:r>
              <a:rPr lang="en-US" sz="2800" b="1" dirty="0">
                <a:ea typeface="Open Sans" panose="020B0606030504020204" pitchFamily="34" charset="0"/>
                <a:cs typeface="Open Sans" panose="020B0606030504020204" pitchFamily="34" charset="0"/>
              </a:rPr>
              <a:t>750 HH</a:t>
            </a:r>
            <a:endParaRPr lang="en-GB" sz="2800" dirty="0"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Speech Bubble: Rectangle with Corners Rounded 49">
            <a:extLst>
              <a:ext uri="{FF2B5EF4-FFF2-40B4-BE49-F238E27FC236}">
                <a16:creationId xmlns:a16="http://schemas.microsoft.com/office/drawing/2014/main" id="{CCE27503-62D8-5D32-C3BF-3FCB7E983EF2}"/>
              </a:ext>
            </a:extLst>
          </p:cNvPr>
          <p:cNvSpPr/>
          <p:nvPr/>
        </p:nvSpPr>
        <p:spPr>
          <a:xfrm>
            <a:off x="5639490" y="4546132"/>
            <a:ext cx="3330774" cy="1942253"/>
          </a:xfrm>
          <a:custGeom>
            <a:avLst/>
            <a:gdLst>
              <a:gd name="connsiteX0" fmla="*/ 0 w 855640"/>
              <a:gd name="connsiteY0" fmla="*/ 105705 h 634215"/>
              <a:gd name="connsiteX1" fmla="*/ 105705 w 855640"/>
              <a:gd name="connsiteY1" fmla="*/ 0 h 634215"/>
              <a:gd name="connsiteX2" fmla="*/ 142607 w 855640"/>
              <a:gd name="connsiteY2" fmla="*/ 0 h 634215"/>
              <a:gd name="connsiteX3" fmla="*/ 142607 w 855640"/>
              <a:gd name="connsiteY3" fmla="*/ 0 h 634215"/>
              <a:gd name="connsiteX4" fmla="*/ 356517 w 855640"/>
              <a:gd name="connsiteY4" fmla="*/ 0 h 634215"/>
              <a:gd name="connsiteX5" fmla="*/ 749935 w 855640"/>
              <a:gd name="connsiteY5" fmla="*/ 0 h 634215"/>
              <a:gd name="connsiteX6" fmla="*/ 855640 w 855640"/>
              <a:gd name="connsiteY6" fmla="*/ 105705 h 634215"/>
              <a:gd name="connsiteX7" fmla="*/ 855640 w 855640"/>
              <a:gd name="connsiteY7" fmla="*/ 369959 h 634215"/>
              <a:gd name="connsiteX8" fmla="*/ 855640 w 855640"/>
              <a:gd name="connsiteY8" fmla="*/ 369959 h 634215"/>
              <a:gd name="connsiteX9" fmla="*/ 855640 w 855640"/>
              <a:gd name="connsiteY9" fmla="*/ 528513 h 634215"/>
              <a:gd name="connsiteX10" fmla="*/ 855640 w 855640"/>
              <a:gd name="connsiteY10" fmla="*/ 528510 h 634215"/>
              <a:gd name="connsiteX11" fmla="*/ 749935 w 855640"/>
              <a:gd name="connsiteY11" fmla="*/ 634215 h 634215"/>
              <a:gd name="connsiteX12" fmla="*/ 356517 w 855640"/>
              <a:gd name="connsiteY12" fmla="*/ 634215 h 634215"/>
              <a:gd name="connsiteX13" fmla="*/ 251464 w 855640"/>
              <a:gd name="connsiteY13" fmla="*/ 634215 h 634215"/>
              <a:gd name="connsiteX14" fmla="*/ 142607 w 855640"/>
              <a:gd name="connsiteY14" fmla="*/ 634215 h 634215"/>
              <a:gd name="connsiteX15" fmla="*/ 105705 w 855640"/>
              <a:gd name="connsiteY15" fmla="*/ 634215 h 634215"/>
              <a:gd name="connsiteX16" fmla="*/ 0 w 855640"/>
              <a:gd name="connsiteY16" fmla="*/ 528510 h 634215"/>
              <a:gd name="connsiteX17" fmla="*/ 0 w 855640"/>
              <a:gd name="connsiteY17" fmla="*/ 528513 h 634215"/>
              <a:gd name="connsiteX18" fmla="*/ 0 w 855640"/>
              <a:gd name="connsiteY18" fmla="*/ 369959 h 634215"/>
              <a:gd name="connsiteX19" fmla="*/ 0 w 855640"/>
              <a:gd name="connsiteY19" fmla="*/ 369959 h 634215"/>
              <a:gd name="connsiteX20" fmla="*/ 0 w 855640"/>
              <a:gd name="connsiteY20" fmla="*/ 105705 h 634215"/>
              <a:gd name="connsiteX0" fmla="*/ 0 w 855640"/>
              <a:gd name="connsiteY0" fmla="*/ 105705 h 634215"/>
              <a:gd name="connsiteX1" fmla="*/ 105705 w 855640"/>
              <a:gd name="connsiteY1" fmla="*/ 0 h 634215"/>
              <a:gd name="connsiteX2" fmla="*/ 142607 w 855640"/>
              <a:gd name="connsiteY2" fmla="*/ 0 h 634215"/>
              <a:gd name="connsiteX3" fmla="*/ 142607 w 855640"/>
              <a:gd name="connsiteY3" fmla="*/ 0 h 634215"/>
              <a:gd name="connsiteX4" fmla="*/ 356517 w 855640"/>
              <a:gd name="connsiteY4" fmla="*/ 0 h 634215"/>
              <a:gd name="connsiteX5" fmla="*/ 749935 w 855640"/>
              <a:gd name="connsiteY5" fmla="*/ 0 h 634215"/>
              <a:gd name="connsiteX6" fmla="*/ 855640 w 855640"/>
              <a:gd name="connsiteY6" fmla="*/ 105705 h 634215"/>
              <a:gd name="connsiteX7" fmla="*/ 855640 w 855640"/>
              <a:gd name="connsiteY7" fmla="*/ 369959 h 634215"/>
              <a:gd name="connsiteX8" fmla="*/ 855640 w 855640"/>
              <a:gd name="connsiteY8" fmla="*/ 369959 h 634215"/>
              <a:gd name="connsiteX9" fmla="*/ 855640 w 855640"/>
              <a:gd name="connsiteY9" fmla="*/ 528513 h 634215"/>
              <a:gd name="connsiteX10" fmla="*/ 855640 w 855640"/>
              <a:gd name="connsiteY10" fmla="*/ 528510 h 634215"/>
              <a:gd name="connsiteX11" fmla="*/ 749935 w 855640"/>
              <a:gd name="connsiteY11" fmla="*/ 634215 h 634215"/>
              <a:gd name="connsiteX12" fmla="*/ 356517 w 855640"/>
              <a:gd name="connsiteY12" fmla="*/ 634215 h 634215"/>
              <a:gd name="connsiteX13" fmla="*/ 251464 w 855640"/>
              <a:gd name="connsiteY13" fmla="*/ 634215 h 634215"/>
              <a:gd name="connsiteX14" fmla="*/ 142607 w 855640"/>
              <a:gd name="connsiteY14" fmla="*/ 634215 h 634215"/>
              <a:gd name="connsiteX15" fmla="*/ 105705 w 855640"/>
              <a:gd name="connsiteY15" fmla="*/ 634215 h 634215"/>
              <a:gd name="connsiteX16" fmla="*/ 0 w 855640"/>
              <a:gd name="connsiteY16" fmla="*/ 528510 h 634215"/>
              <a:gd name="connsiteX17" fmla="*/ 0 w 855640"/>
              <a:gd name="connsiteY17" fmla="*/ 528513 h 634215"/>
              <a:gd name="connsiteX18" fmla="*/ 0 w 855640"/>
              <a:gd name="connsiteY18" fmla="*/ 369959 h 634215"/>
              <a:gd name="connsiteX19" fmla="*/ 0 w 855640"/>
              <a:gd name="connsiteY19" fmla="*/ 379739 h 634215"/>
              <a:gd name="connsiteX20" fmla="*/ 0 w 855640"/>
              <a:gd name="connsiteY20" fmla="*/ 105705 h 634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855640" h="634215">
                <a:moveTo>
                  <a:pt x="0" y="105705"/>
                </a:moveTo>
                <a:cubicBezTo>
                  <a:pt x="0" y="47326"/>
                  <a:pt x="47326" y="0"/>
                  <a:pt x="105705" y="0"/>
                </a:cubicBezTo>
                <a:lnTo>
                  <a:pt x="142607" y="0"/>
                </a:lnTo>
                <a:lnTo>
                  <a:pt x="142607" y="0"/>
                </a:lnTo>
                <a:lnTo>
                  <a:pt x="356517" y="0"/>
                </a:lnTo>
                <a:lnTo>
                  <a:pt x="749935" y="0"/>
                </a:lnTo>
                <a:cubicBezTo>
                  <a:pt x="808314" y="0"/>
                  <a:pt x="855640" y="47326"/>
                  <a:pt x="855640" y="105705"/>
                </a:cubicBezTo>
                <a:lnTo>
                  <a:pt x="855640" y="369959"/>
                </a:lnTo>
                <a:lnTo>
                  <a:pt x="855640" y="369959"/>
                </a:lnTo>
                <a:lnTo>
                  <a:pt x="855640" y="528513"/>
                </a:lnTo>
                <a:lnTo>
                  <a:pt x="855640" y="528510"/>
                </a:lnTo>
                <a:cubicBezTo>
                  <a:pt x="855640" y="586889"/>
                  <a:pt x="808314" y="634215"/>
                  <a:pt x="749935" y="634215"/>
                </a:cubicBezTo>
                <a:lnTo>
                  <a:pt x="356517" y="634215"/>
                </a:lnTo>
                <a:lnTo>
                  <a:pt x="251464" y="634215"/>
                </a:lnTo>
                <a:lnTo>
                  <a:pt x="142607" y="634215"/>
                </a:lnTo>
                <a:lnTo>
                  <a:pt x="105705" y="634215"/>
                </a:lnTo>
                <a:cubicBezTo>
                  <a:pt x="47326" y="634215"/>
                  <a:pt x="0" y="586889"/>
                  <a:pt x="0" y="528510"/>
                </a:cubicBezTo>
                <a:lnTo>
                  <a:pt x="0" y="528513"/>
                </a:lnTo>
                <a:lnTo>
                  <a:pt x="0" y="369959"/>
                </a:lnTo>
                <a:lnTo>
                  <a:pt x="0" y="379739"/>
                </a:lnTo>
                <a:lnTo>
                  <a:pt x="0" y="10570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b="1" dirty="0">
              <a:solidFill>
                <a:schemeClr val="accent3">
                  <a:lumMod val="50000"/>
                </a:schemeClr>
              </a:solidFill>
              <a:effectLst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endParaRPr lang="en-US" sz="2000" b="1" dirty="0">
              <a:solidFill>
                <a:schemeClr val="accent3">
                  <a:lumMod val="50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r>
              <a:rPr lang="en-US" sz="2800" b="1" dirty="0">
                <a:solidFill>
                  <a:schemeClr val="accent3">
                    <a:lumMod val="50000"/>
                  </a:schemeClr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Group 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B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(F2F) </a:t>
            </a:r>
          </a:p>
          <a:p>
            <a:pPr algn="ctr"/>
            <a:r>
              <a:rPr lang="en-US" sz="2800" b="1" dirty="0">
                <a:solidFill>
                  <a:schemeClr val="accent3">
                    <a:lumMod val="5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750 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HH</a:t>
            </a:r>
          </a:p>
          <a:p>
            <a:pPr algn="ctr"/>
            <a:endParaRPr lang="en-GB" sz="3600" dirty="0"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D0E0F6B-5083-5435-2B47-5382D6854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923" y="664869"/>
            <a:ext cx="10542124" cy="824952"/>
          </a:xfrm>
        </p:spPr>
        <p:txBody>
          <a:bodyPr/>
          <a:lstStyle/>
          <a:p>
            <a:r>
              <a:rPr lang="en-GB" dirty="0"/>
              <a:t>RCT Design Setup</a:t>
            </a: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82B10C7A-2E3F-185C-4E55-0859BF7B2776}"/>
              </a:ext>
            </a:extLst>
          </p:cNvPr>
          <p:cNvSpPr/>
          <p:nvPr/>
        </p:nvSpPr>
        <p:spPr>
          <a:xfrm>
            <a:off x="568960" y="3520401"/>
            <a:ext cx="3384615" cy="1230922"/>
          </a:xfrm>
          <a:prstGeom prst="wedgeRoundRectCallout">
            <a:avLst>
              <a:gd name="adj1" fmla="val -20611"/>
              <a:gd name="adj2" fmla="val 49015"/>
              <a:gd name="adj3" fmla="val 16667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000" b="1" dirty="0">
                <a:ea typeface="Open Sans" panose="020B0606030504020204" pitchFamily="34" charset="0"/>
                <a:cs typeface="Times New Roman" panose="02020603050405020304" pitchFamily="18" charset="0"/>
              </a:rPr>
              <a:t>Sampled HH</a:t>
            </a:r>
          </a:p>
          <a:p>
            <a:pPr algn="ctr"/>
            <a:r>
              <a:rPr lang="en-GB" sz="2000" b="1" dirty="0">
                <a:ea typeface="Open Sans" panose="020B0606030504020204" pitchFamily="34" charset="0"/>
                <a:cs typeface="Times New Roman" panose="02020603050405020304" pitchFamily="18" charset="0"/>
              </a:rPr>
              <a:t>1200 + (xx% none response)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14532CF-B3C2-EF49-8FEF-AFDDDBD45423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3953575" y="3972560"/>
            <a:ext cx="7441472" cy="163302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291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CA74230-3527-4E4E-BBE6-8334D4626557}"/>
              </a:ext>
            </a:extLst>
          </p:cNvPr>
          <p:cNvCxnSpPr>
            <a:cxnSpLocks/>
            <a:endCxn id="14" idx="19"/>
          </p:cNvCxnSpPr>
          <p:nvPr/>
        </p:nvCxnSpPr>
        <p:spPr>
          <a:xfrm>
            <a:off x="3912935" y="4336473"/>
            <a:ext cx="1726555" cy="137259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60F1896-1466-4105-B802-82071799A00B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3912935" y="2427407"/>
            <a:ext cx="1726555" cy="1463873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3750393-C4E8-2A3B-967F-A064AE94C8AB}"/>
              </a:ext>
            </a:extLst>
          </p:cNvPr>
          <p:cNvSpPr/>
          <p:nvPr/>
        </p:nvSpPr>
        <p:spPr>
          <a:xfrm>
            <a:off x="5639490" y="1489821"/>
            <a:ext cx="3330774" cy="1875171"/>
          </a:xfrm>
          <a:prstGeom prst="wedgeRoundRectCallout">
            <a:avLst>
              <a:gd name="adj1" fmla="val -20611"/>
              <a:gd name="adj2" fmla="val 49015"/>
              <a:gd name="adj3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b="1" dirty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r>
              <a:rPr lang="en-US" sz="2800" b="1" dirty="0">
                <a:ea typeface="Open Sans" panose="020B0606030504020204" pitchFamily="34" charset="0"/>
                <a:cs typeface="Open Sans" panose="020B0606030504020204" pitchFamily="34" charset="0"/>
              </a:rPr>
              <a:t>Group A (Phone)</a:t>
            </a:r>
          </a:p>
          <a:p>
            <a:pPr algn="ctr"/>
            <a:r>
              <a:rPr lang="en-US" sz="2800" b="1" dirty="0">
                <a:ea typeface="Open Sans" panose="020B0606030504020204" pitchFamily="34" charset="0"/>
                <a:cs typeface="Open Sans" panose="020B0606030504020204" pitchFamily="34" charset="0"/>
              </a:rPr>
              <a:t>750 HH</a:t>
            </a:r>
            <a:endParaRPr lang="en-GB" sz="2800" dirty="0"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Speech Bubble: Rectangle with Corners Rounded 49">
            <a:extLst>
              <a:ext uri="{FF2B5EF4-FFF2-40B4-BE49-F238E27FC236}">
                <a16:creationId xmlns:a16="http://schemas.microsoft.com/office/drawing/2014/main" id="{CCE27503-62D8-5D32-C3BF-3FCB7E983EF2}"/>
              </a:ext>
            </a:extLst>
          </p:cNvPr>
          <p:cNvSpPr/>
          <p:nvPr/>
        </p:nvSpPr>
        <p:spPr>
          <a:xfrm>
            <a:off x="5639490" y="4546132"/>
            <a:ext cx="3330774" cy="1942253"/>
          </a:xfrm>
          <a:custGeom>
            <a:avLst/>
            <a:gdLst>
              <a:gd name="connsiteX0" fmla="*/ 0 w 855640"/>
              <a:gd name="connsiteY0" fmla="*/ 105705 h 634215"/>
              <a:gd name="connsiteX1" fmla="*/ 105705 w 855640"/>
              <a:gd name="connsiteY1" fmla="*/ 0 h 634215"/>
              <a:gd name="connsiteX2" fmla="*/ 142607 w 855640"/>
              <a:gd name="connsiteY2" fmla="*/ 0 h 634215"/>
              <a:gd name="connsiteX3" fmla="*/ 142607 w 855640"/>
              <a:gd name="connsiteY3" fmla="*/ 0 h 634215"/>
              <a:gd name="connsiteX4" fmla="*/ 356517 w 855640"/>
              <a:gd name="connsiteY4" fmla="*/ 0 h 634215"/>
              <a:gd name="connsiteX5" fmla="*/ 749935 w 855640"/>
              <a:gd name="connsiteY5" fmla="*/ 0 h 634215"/>
              <a:gd name="connsiteX6" fmla="*/ 855640 w 855640"/>
              <a:gd name="connsiteY6" fmla="*/ 105705 h 634215"/>
              <a:gd name="connsiteX7" fmla="*/ 855640 w 855640"/>
              <a:gd name="connsiteY7" fmla="*/ 369959 h 634215"/>
              <a:gd name="connsiteX8" fmla="*/ 855640 w 855640"/>
              <a:gd name="connsiteY8" fmla="*/ 369959 h 634215"/>
              <a:gd name="connsiteX9" fmla="*/ 855640 w 855640"/>
              <a:gd name="connsiteY9" fmla="*/ 528513 h 634215"/>
              <a:gd name="connsiteX10" fmla="*/ 855640 w 855640"/>
              <a:gd name="connsiteY10" fmla="*/ 528510 h 634215"/>
              <a:gd name="connsiteX11" fmla="*/ 749935 w 855640"/>
              <a:gd name="connsiteY11" fmla="*/ 634215 h 634215"/>
              <a:gd name="connsiteX12" fmla="*/ 356517 w 855640"/>
              <a:gd name="connsiteY12" fmla="*/ 634215 h 634215"/>
              <a:gd name="connsiteX13" fmla="*/ 251464 w 855640"/>
              <a:gd name="connsiteY13" fmla="*/ 634215 h 634215"/>
              <a:gd name="connsiteX14" fmla="*/ 142607 w 855640"/>
              <a:gd name="connsiteY14" fmla="*/ 634215 h 634215"/>
              <a:gd name="connsiteX15" fmla="*/ 105705 w 855640"/>
              <a:gd name="connsiteY15" fmla="*/ 634215 h 634215"/>
              <a:gd name="connsiteX16" fmla="*/ 0 w 855640"/>
              <a:gd name="connsiteY16" fmla="*/ 528510 h 634215"/>
              <a:gd name="connsiteX17" fmla="*/ 0 w 855640"/>
              <a:gd name="connsiteY17" fmla="*/ 528513 h 634215"/>
              <a:gd name="connsiteX18" fmla="*/ 0 w 855640"/>
              <a:gd name="connsiteY18" fmla="*/ 369959 h 634215"/>
              <a:gd name="connsiteX19" fmla="*/ 0 w 855640"/>
              <a:gd name="connsiteY19" fmla="*/ 369959 h 634215"/>
              <a:gd name="connsiteX20" fmla="*/ 0 w 855640"/>
              <a:gd name="connsiteY20" fmla="*/ 105705 h 634215"/>
              <a:gd name="connsiteX0" fmla="*/ 0 w 855640"/>
              <a:gd name="connsiteY0" fmla="*/ 105705 h 634215"/>
              <a:gd name="connsiteX1" fmla="*/ 105705 w 855640"/>
              <a:gd name="connsiteY1" fmla="*/ 0 h 634215"/>
              <a:gd name="connsiteX2" fmla="*/ 142607 w 855640"/>
              <a:gd name="connsiteY2" fmla="*/ 0 h 634215"/>
              <a:gd name="connsiteX3" fmla="*/ 142607 w 855640"/>
              <a:gd name="connsiteY3" fmla="*/ 0 h 634215"/>
              <a:gd name="connsiteX4" fmla="*/ 356517 w 855640"/>
              <a:gd name="connsiteY4" fmla="*/ 0 h 634215"/>
              <a:gd name="connsiteX5" fmla="*/ 749935 w 855640"/>
              <a:gd name="connsiteY5" fmla="*/ 0 h 634215"/>
              <a:gd name="connsiteX6" fmla="*/ 855640 w 855640"/>
              <a:gd name="connsiteY6" fmla="*/ 105705 h 634215"/>
              <a:gd name="connsiteX7" fmla="*/ 855640 w 855640"/>
              <a:gd name="connsiteY7" fmla="*/ 369959 h 634215"/>
              <a:gd name="connsiteX8" fmla="*/ 855640 w 855640"/>
              <a:gd name="connsiteY8" fmla="*/ 369959 h 634215"/>
              <a:gd name="connsiteX9" fmla="*/ 855640 w 855640"/>
              <a:gd name="connsiteY9" fmla="*/ 528513 h 634215"/>
              <a:gd name="connsiteX10" fmla="*/ 855640 w 855640"/>
              <a:gd name="connsiteY10" fmla="*/ 528510 h 634215"/>
              <a:gd name="connsiteX11" fmla="*/ 749935 w 855640"/>
              <a:gd name="connsiteY11" fmla="*/ 634215 h 634215"/>
              <a:gd name="connsiteX12" fmla="*/ 356517 w 855640"/>
              <a:gd name="connsiteY12" fmla="*/ 634215 h 634215"/>
              <a:gd name="connsiteX13" fmla="*/ 251464 w 855640"/>
              <a:gd name="connsiteY13" fmla="*/ 634215 h 634215"/>
              <a:gd name="connsiteX14" fmla="*/ 142607 w 855640"/>
              <a:gd name="connsiteY14" fmla="*/ 634215 h 634215"/>
              <a:gd name="connsiteX15" fmla="*/ 105705 w 855640"/>
              <a:gd name="connsiteY15" fmla="*/ 634215 h 634215"/>
              <a:gd name="connsiteX16" fmla="*/ 0 w 855640"/>
              <a:gd name="connsiteY16" fmla="*/ 528510 h 634215"/>
              <a:gd name="connsiteX17" fmla="*/ 0 w 855640"/>
              <a:gd name="connsiteY17" fmla="*/ 528513 h 634215"/>
              <a:gd name="connsiteX18" fmla="*/ 0 w 855640"/>
              <a:gd name="connsiteY18" fmla="*/ 369959 h 634215"/>
              <a:gd name="connsiteX19" fmla="*/ 0 w 855640"/>
              <a:gd name="connsiteY19" fmla="*/ 379739 h 634215"/>
              <a:gd name="connsiteX20" fmla="*/ 0 w 855640"/>
              <a:gd name="connsiteY20" fmla="*/ 105705 h 634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855640" h="634215">
                <a:moveTo>
                  <a:pt x="0" y="105705"/>
                </a:moveTo>
                <a:cubicBezTo>
                  <a:pt x="0" y="47326"/>
                  <a:pt x="47326" y="0"/>
                  <a:pt x="105705" y="0"/>
                </a:cubicBezTo>
                <a:lnTo>
                  <a:pt x="142607" y="0"/>
                </a:lnTo>
                <a:lnTo>
                  <a:pt x="142607" y="0"/>
                </a:lnTo>
                <a:lnTo>
                  <a:pt x="356517" y="0"/>
                </a:lnTo>
                <a:lnTo>
                  <a:pt x="749935" y="0"/>
                </a:lnTo>
                <a:cubicBezTo>
                  <a:pt x="808314" y="0"/>
                  <a:pt x="855640" y="47326"/>
                  <a:pt x="855640" y="105705"/>
                </a:cubicBezTo>
                <a:lnTo>
                  <a:pt x="855640" y="369959"/>
                </a:lnTo>
                <a:lnTo>
                  <a:pt x="855640" y="369959"/>
                </a:lnTo>
                <a:lnTo>
                  <a:pt x="855640" y="528513"/>
                </a:lnTo>
                <a:lnTo>
                  <a:pt x="855640" y="528510"/>
                </a:lnTo>
                <a:cubicBezTo>
                  <a:pt x="855640" y="586889"/>
                  <a:pt x="808314" y="634215"/>
                  <a:pt x="749935" y="634215"/>
                </a:cubicBezTo>
                <a:lnTo>
                  <a:pt x="356517" y="634215"/>
                </a:lnTo>
                <a:lnTo>
                  <a:pt x="251464" y="634215"/>
                </a:lnTo>
                <a:lnTo>
                  <a:pt x="142607" y="634215"/>
                </a:lnTo>
                <a:lnTo>
                  <a:pt x="105705" y="634215"/>
                </a:lnTo>
                <a:cubicBezTo>
                  <a:pt x="47326" y="634215"/>
                  <a:pt x="0" y="586889"/>
                  <a:pt x="0" y="528510"/>
                </a:cubicBezTo>
                <a:lnTo>
                  <a:pt x="0" y="528513"/>
                </a:lnTo>
                <a:lnTo>
                  <a:pt x="0" y="369959"/>
                </a:lnTo>
                <a:lnTo>
                  <a:pt x="0" y="379739"/>
                </a:lnTo>
                <a:lnTo>
                  <a:pt x="0" y="10570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Group </a:t>
            </a: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B</a:t>
            </a: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(F2F) 750</a:t>
            </a:r>
          </a:p>
          <a:p>
            <a:pPr algn="ctr"/>
            <a:endParaRPr lang="en-GB" sz="3600" dirty="0"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BE5976E-B8EE-C91A-61C7-41EE920339DA}"/>
              </a:ext>
            </a:extLst>
          </p:cNvPr>
          <p:cNvSpPr/>
          <p:nvPr/>
        </p:nvSpPr>
        <p:spPr>
          <a:xfrm>
            <a:off x="5861304" y="5012821"/>
            <a:ext cx="2953510" cy="47215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375 HH Long-modules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8ED16F-1385-C386-3999-5DBC532DC256}"/>
              </a:ext>
            </a:extLst>
          </p:cNvPr>
          <p:cNvSpPr/>
          <p:nvPr/>
        </p:nvSpPr>
        <p:spPr>
          <a:xfrm>
            <a:off x="5861304" y="5709064"/>
            <a:ext cx="2953511" cy="4963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375 HH Short Modules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5A77ED1-5BEC-95BD-E876-FF96B3716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923" y="664869"/>
            <a:ext cx="10542124" cy="824952"/>
          </a:xfrm>
        </p:spPr>
        <p:txBody>
          <a:bodyPr/>
          <a:lstStyle/>
          <a:p>
            <a:r>
              <a:rPr lang="en-GB" dirty="0"/>
              <a:t>RCT Design Setup</a:t>
            </a:r>
          </a:p>
        </p:txBody>
      </p:sp>
      <p:sp>
        <p:nvSpPr>
          <p:cNvPr id="34" name="Speech Bubble: Rectangle with Corners Rounded 33">
            <a:extLst>
              <a:ext uri="{FF2B5EF4-FFF2-40B4-BE49-F238E27FC236}">
                <a16:creationId xmlns:a16="http://schemas.microsoft.com/office/drawing/2014/main" id="{BD296266-9EF3-45A1-9974-EB1D08B9AF41}"/>
              </a:ext>
            </a:extLst>
          </p:cNvPr>
          <p:cNvSpPr/>
          <p:nvPr/>
        </p:nvSpPr>
        <p:spPr>
          <a:xfrm>
            <a:off x="568960" y="3520401"/>
            <a:ext cx="3384615" cy="1230922"/>
          </a:xfrm>
          <a:prstGeom prst="wedgeRoundRectCallout">
            <a:avLst>
              <a:gd name="adj1" fmla="val -20611"/>
              <a:gd name="adj2" fmla="val 49015"/>
              <a:gd name="adj3" fmla="val 16667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000" b="1" dirty="0">
                <a:ea typeface="Open Sans" panose="020B0606030504020204" pitchFamily="34" charset="0"/>
                <a:cs typeface="Times New Roman" panose="02020603050405020304" pitchFamily="18" charset="0"/>
              </a:rPr>
              <a:t>Sampled HH</a:t>
            </a:r>
          </a:p>
          <a:p>
            <a:pPr algn="ctr"/>
            <a:r>
              <a:rPr lang="en-GB" sz="2000" b="1" dirty="0">
                <a:ea typeface="Open Sans" panose="020B0606030504020204" pitchFamily="34" charset="0"/>
                <a:cs typeface="Times New Roman" panose="02020603050405020304" pitchFamily="18" charset="0"/>
              </a:rPr>
              <a:t>1200 + (xx% none response)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D59422C-9108-259D-0994-4049D64FC570}"/>
              </a:ext>
            </a:extLst>
          </p:cNvPr>
          <p:cNvCxnSpPr>
            <a:cxnSpLocks/>
          </p:cNvCxnSpPr>
          <p:nvPr/>
        </p:nvCxnSpPr>
        <p:spPr>
          <a:xfrm>
            <a:off x="3953575" y="4135862"/>
            <a:ext cx="7441472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964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B89D-5416-48E5-81EA-436AE51F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311" y="563270"/>
            <a:ext cx="10542124" cy="1152000"/>
          </a:xfrm>
        </p:spPr>
        <p:txBody>
          <a:bodyPr/>
          <a:lstStyle/>
          <a:p>
            <a:r>
              <a:rPr lang="en-GB" dirty="0"/>
              <a:t>Modules 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8E08D19-9EC5-420E-85B6-D43143E224B1}"/>
              </a:ext>
            </a:extLst>
          </p:cNvPr>
          <p:cNvSpPr txBox="1"/>
          <p:nvPr/>
        </p:nvSpPr>
        <p:spPr>
          <a:xfrm>
            <a:off x="934720" y="1410114"/>
            <a:ext cx="10453715" cy="4367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Quantitative data will be collected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Face-to-Face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Remote interviews</a:t>
            </a:r>
          </a:p>
          <a:p>
            <a:pPr marL="800100" lvl="2" indent="-342900">
              <a:lnSpc>
                <a:spcPct val="150000"/>
              </a:lnSpc>
              <a:spcBef>
                <a:spcPts val="1000"/>
              </a:spcBef>
              <a:buClr>
                <a:srgbClr val="0070BA"/>
              </a:buClr>
              <a:buFont typeface="Arial" charset="0"/>
              <a:buChar char="•"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Quantitative modules</a:t>
            </a:r>
          </a:p>
          <a:p>
            <a:pPr marL="12573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 consumption</a:t>
            </a:r>
            <a:endParaRPr lang="en-GB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257300" lvl="2" indent="-342900" algn="just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Livelihood coping strategy </a:t>
            </a:r>
          </a:p>
          <a:p>
            <a:pPr marL="1714500" lvl="3" indent="-342900" algn="just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Consumption based</a:t>
            </a:r>
          </a:p>
          <a:p>
            <a:pPr marL="1714500" lvl="3" indent="-342900" algn="just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Essential needs</a:t>
            </a:r>
          </a:p>
          <a:p>
            <a:pPr marL="1257300" lvl="2" indent="-342900" algn="just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 expenditure score</a:t>
            </a:r>
            <a:endParaRPr lang="en-GB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257300" lvl="2" indent="-342900" algn="just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Income sources </a:t>
            </a:r>
            <a:endParaRPr lang="en-GB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257300" lvl="2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Changes in income </a:t>
            </a:r>
          </a:p>
        </p:txBody>
      </p:sp>
    </p:spTree>
    <p:extLst>
      <p:ext uri="{BB962C8B-B14F-4D97-AF65-F5344CB8AC3E}">
        <p14:creationId xmlns:p14="http://schemas.microsoft.com/office/powerpoint/2010/main" val="667740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E44B879-13DF-B1BE-7393-04AE90432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3" y="723004"/>
            <a:ext cx="10923954" cy="655930"/>
          </a:xfrm>
        </p:spPr>
        <p:txBody>
          <a:bodyPr/>
          <a:lstStyle/>
          <a:p>
            <a:r>
              <a:rPr lang="en-GB"/>
              <a:t>Tentative workplan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D48953D-C747-1F78-940B-40D8D94768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60998"/>
              </p:ext>
            </p:extLst>
          </p:nvPr>
        </p:nvGraphicFramePr>
        <p:xfrm>
          <a:off x="634023" y="1378933"/>
          <a:ext cx="10923954" cy="4299544"/>
        </p:xfrm>
        <a:graphic>
          <a:graphicData uri="http://schemas.openxmlformats.org/drawingml/2006/table">
            <a:tbl>
              <a:tblPr firstRow="1" firstCol="1"/>
              <a:tblGrid>
                <a:gridCol w="5339241">
                  <a:extLst>
                    <a:ext uri="{9D8B030D-6E8A-4147-A177-3AD203B41FA5}">
                      <a16:colId xmlns:a16="http://schemas.microsoft.com/office/drawing/2014/main" val="2680029908"/>
                    </a:ext>
                  </a:extLst>
                </a:gridCol>
                <a:gridCol w="935114">
                  <a:extLst>
                    <a:ext uri="{9D8B030D-6E8A-4147-A177-3AD203B41FA5}">
                      <a16:colId xmlns:a16="http://schemas.microsoft.com/office/drawing/2014/main" val="2679616205"/>
                    </a:ext>
                  </a:extLst>
                </a:gridCol>
                <a:gridCol w="966286">
                  <a:extLst>
                    <a:ext uri="{9D8B030D-6E8A-4147-A177-3AD203B41FA5}">
                      <a16:colId xmlns:a16="http://schemas.microsoft.com/office/drawing/2014/main" val="2926041569"/>
                    </a:ext>
                  </a:extLst>
                </a:gridCol>
                <a:gridCol w="966286">
                  <a:extLst>
                    <a:ext uri="{9D8B030D-6E8A-4147-A177-3AD203B41FA5}">
                      <a16:colId xmlns:a16="http://schemas.microsoft.com/office/drawing/2014/main" val="3811431324"/>
                    </a:ext>
                  </a:extLst>
                </a:gridCol>
                <a:gridCol w="936414">
                  <a:extLst>
                    <a:ext uri="{9D8B030D-6E8A-4147-A177-3AD203B41FA5}">
                      <a16:colId xmlns:a16="http://schemas.microsoft.com/office/drawing/2014/main" val="3020435652"/>
                    </a:ext>
                  </a:extLst>
                </a:gridCol>
                <a:gridCol w="936414">
                  <a:extLst>
                    <a:ext uri="{9D8B030D-6E8A-4147-A177-3AD203B41FA5}">
                      <a16:colId xmlns:a16="http://schemas.microsoft.com/office/drawing/2014/main" val="1474824948"/>
                    </a:ext>
                  </a:extLst>
                </a:gridCol>
                <a:gridCol w="844199">
                  <a:extLst>
                    <a:ext uri="{9D8B030D-6E8A-4147-A177-3AD203B41FA5}">
                      <a16:colId xmlns:a16="http://schemas.microsoft.com/office/drawing/2014/main" val="3822767877"/>
                    </a:ext>
                  </a:extLst>
                </a:gridCol>
              </a:tblGrid>
              <a:tr h="537443">
                <a:tc rowSpan="2">
                  <a:txBody>
                    <a:bodyPr/>
                    <a:lstStyle/>
                    <a:p>
                      <a:pPr algn="r"/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Time</a:t>
                      </a:r>
                      <a:endParaRPr lang="en-GB" sz="20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Activity</a:t>
                      </a:r>
                      <a:endParaRPr lang="en-GB" sz="20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May 2023</a:t>
                      </a:r>
                      <a:endParaRPr lang="en-GB" sz="2000" b="1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June 2023</a:t>
                      </a:r>
                      <a:endParaRPr lang="en-GB" sz="2000" b="1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084720"/>
                  </a:ext>
                </a:extLst>
              </a:tr>
              <a:tr h="537443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W1</a:t>
                      </a:r>
                      <a:endParaRPr lang="en-GB" sz="2000" b="1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W2</a:t>
                      </a:r>
                      <a:endParaRPr lang="en-GB" sz="2000" b="1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W3</a:t>
                      </a:r>
                      <a:endParaRPr lang="en-GB" sz="2000" b="1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W4</a:t>
                      </a:r>
                      <a:endParaRPr lang="en-GB" sz="2000" b="1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W5</a:t>
                      </a:r>
                      <a:endParaRPr lang="en-GB" sz="2000" b="1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W6</a:t>
                      </a:r>
                      <a:endParaRPr lang="en-GB" sz="2000" b="1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9165044"/>
                  </a:ext>
                </a:extLst>
              </a:tr>
              <a:tr h="537443">
                <a:tc>
                  <a:txBody>
                    <a:bodyPr/>
                    <a:lstStyle/>
                    <a:p>
                      <a:pPr marL="342900" lvl="0" indent="-342900">
                        <a:buClr>
                          <a:srgbClr val="000000"/>
                        </a:buClr>
                        <a:buFont typeface="Open Sans" panose="020B0606030504020204" pitchFamily="34" charset="0"/>
                        <a:buAutoNum type="arabicPeriod"/>
                      </a:pPr>
                      <a:r>
                        <a:rPr lang="en-US" sz="2000" i="1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Adapting the Questionnaire to CAR</a:t>
                      </a:r>
                      <a:endParaRPr lang="en-GB" sz="20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highlight>
                            <a:srgbClr val="006400"/>
                          </a:highlight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endParaRPr lang="en-GB" sz="1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70AD47"/>
                          </a:solidFill>
                          <a:effectLst/>
                          <a:highlight>
                            <a:srgbClr val="006400"/>
                          </a:highlight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endParaRPr lang="en-GB" sz="1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endParaRPr lang="en-GB" sz="1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endParaRPr lang="en-GB" sz="1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endParaRPr lang="en-GB" sz="1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endParaRPr lang="en-GB" sz="1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5034590"/>
                  </a:ext>
                </a:extLst>
              </a:tr>
              <a:tr h="537443">
                <a:tc>
                  <a:txBody>
                    <a:bodyPr/>
                    <a:lstStyle/>
                    <a:p>
                      <a:pPr marL="0" lvl="0" indent="0">
                        <a:buClr>
                          <a:srgbClr val="000000"/>
                        </a:buClr>
                        <a:buFont typeface="Open Sans" panose="020B0606030504020204" pitchFamily="34" charset="0"/>
                        <a:buNone/>
                      </a:pPr>
                      <a:r>
                        <a:rPr lang="en-US" sz="2000" i="1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2. Compiling list of households with contacts</a:t>
                      </a:r>
                      <a:endParaRPr lang="en-GB" sz="20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highlight>
                            <a:srgbClr val="006400"/>
                          </a:highlight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 </a:t>
                      </a:r>
                      <a:endParaRPr lang="en-GB" sz="1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70AD47"/>
                          </a:solidFill>
                          <a:effectLst/>
                          <a:highlight>
                            <a:srgbClr val="006400"/>
                          </a:highlight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 </a:t>
                      </a:r>
                      <a:endParaRPr lang="en-GB" sz="1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 </a:t>
                      </a:r>
                      <a:endParaRPr lang="en-GB" sz="1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 </a:t>
                      </a:r>
                      <a:endParaRPr lang="en-GB" sz="1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 </a:t>
                      </a:r>
                      <a:endParaRPr lang="en-GB" sz="1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 </a:t>
                      </a:r>
                      <a:endParaRPr lang="en-GB" sz="1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2314325"/>
                  </a:ext>
                </a:extLst>
              </a:tr>
              <a:tr h="537443">
                <a:tc>
                  <a:txBody>
                    <a:bodyPr/>
                    <a:lstStyle/>
                    <a:p>
                      <a:pPr marL="0" lvl="0" indent="0">
                        <a:buClr>
                          <a:srgbClr val="000000"/>
                        </a:buClr>
                        <a:buFont typeface="Open Sans" panose="020B0606030504020204" pitchFamily="34" charset="0"/>
                        <a:buNone/>
                      </a:pPr>
                      <a:r>
                        <a:rPr lang="en-US" sz="2000" i="1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3. Training of Enumerators</a:t>
                      </a:r>
                      <a:endParaRPr lang="en-GB" sz="20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endParaRPr lang="en-GB" sz="1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endParaRPr lang="en-GB" sz="1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endParaRPr lang="en-GB" sz="1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endParaRPr lang="en-GB" sz="1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endParaRPr lang="en-GB" sz="1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endParaRPr lang="en-GB" sz="1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666238"/>
                  </a:ext>
                </a:extLst>
              </a:tr>
              <a:tr h="537443">
                <a:tc>
                  <a:txBody>
                    <a:bodyPr/>
                    <a:lstStyle/>
                    <a:p>
                      <a:pPr marL="0" lvl="0" indent="0">
                        <a:buClr>
                          <a:srgbClr val="000000"/>
                        </a:buClr>
                        <a:buFont typeface="Open Sans" panose="020B0606030504020204" pitchFamily="34" charset="0"/>
                        <a:buNone/>
                      </a:pPr>
                      <a:r>
                        <a:rPr lang="en-US" sz="2000" i="1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4. Testing of Questionnaire</a:t>
                      </a:r>
                      <a:endParaRPr lang="en-GB" sz="20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endParaRPr lang="en-GB" sz="1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endParaRPr lang="en-GB" sz="1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endParaRPr lang="en-GB" sz="1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endParaRPr lang="en-GB" sz="1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endParaRPr lang="en-GB" sz="1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endParaRPr lang="en-GB" sz="1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1223513"/>
                  </a:ext>
                </a:extLst>
              </a:tr>
              <a:tr h="537443">
                <a:tc>
                  <a:txBody>
                    <a:bodyPr/>
                    <a:lstStyle/>
                    <a:p>
                      <a:pPr marL="0" lvl="0" indent="0">
                        <a:buClr>
                          <a:srgbClr val="000000"/>
                        </a:buClr>
                        <a:buFont typeface="Open Sans" panose="020B0606030504020204" pitchFamily="34" charset="0"/>
                        <a:buNone/>
                      </a:pPr>
                      <a:r>
                        <a:rPr lang="en-US" sz="2000" i="1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5. Data Collection</a:t>
                      </a:r>
                      <a:endParaRPr lang="en-GB" sz="20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endParaRPr lang="en-GB" sz="1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endParaRPr lang="en-GB" sz="1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endParaRPr lang="en-GB" sz="1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endParaRPr lang="en-GB" sz="1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59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endParaRPr lang="en-GB" sz="1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59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endParaRPr lang="en-GB" sz="1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59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921842"/>
                  </a:ext>
                </a:extLst>
              </a:tr>
              <a:tr h="537443">
                <a:tc>
                  <a:txBody>
                    <a:bodyPr/>
                    <a:lstStyle/>
                    <a:p>
                      <a:pPr marL="0" lvl="0" indent="0">
                        <a:buClr>
                          <a:srgbClr val="000000"/>
                        </a:buClr>
                        <a:buFont typeface="Open Sans" panose="020B0606030504020204" pitchFamily="34" charset="0"/>
                        <a:buNone/>
                      </a:pPr>
                      <a:r>
                        <a:rPr lang="en-US" sz="2000" i="1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6. Final Dataset &amp; Report</a:t>
                      </a:r>
                      <a:endParaRPr lang="en-GB" sz="20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endParaRPr lang="en-GB" sz="1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endParaRPr lang="en-GB" sz="1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endParaRPr lang="en-GB" sz="1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endParaRPr lang="en-GB" sz="1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endParaRPr lang="en-GB" sz="12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endParaRPr lang="en-GB" sz="12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550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0366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3641339-8560-7BE9-2C09-A2F73AFF1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7101" y="2558883"/>
            <a:ext cx="9257798" cy="1068237"/>
          </a:xfrm>
        </p:spPr>
        <p:txBody>
          <a:bodyPr/>
          <a:lstStyle/>
          <a:p>
            <a:pPr algn="ctr"/>
            <a:r>
              <a:rPr lang="en-GB" sz="6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6041619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WFP COLOUR PALETTE">
      <a:dk1>
        <a:srgbClr val="007DBC"/>
      </a:dk1>
      <a:lt1>
        <a:srgbClr val="36B5C5"/>
      </a:lt1>
      <a:dk2>
        <a:srgbClr val="00B385"/>
      </a:dk2>
      <a:lt2>
        <a:srgbClr val="008868"/>
      </a:lt2>
      <a:accent1>
        <a:srgbClr val="1A4161"/>
      </a:accent1>
      <a:accent2>
        <a:srgbClr val="982B56"/>
      </a:accent2>
      <a:accent3>
        <a:srgbClr val="EF404C"/>
      </a:accent3>
      <a:accent4>
        <a:srgbClr val="B79F8D"/>
      </a:accent4>
      <a:accent5>
        <a:srgbClr val="ECDFBB"/>
      </a:accent5>
      <a:accent6>
        <a:srgbClr val="F37847"/>
      </a:accent6>
      <a:hlink>
        <a:srgbClr val="FFFFFF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" id="{CEABC6C1-02E8-6E4D-9B35-02EDBE627B8A}" vid="{F8040699-0E4C-D043-8EE2-4232DCF6EB18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EC5AEA005F3944B5281CE0F7F3B6DF" ma:contentTypeVersion="19" ma:contentTypeDescription="Create a new document." ma:contentTypeScope="" ma:versionID="43cac7850c215b99b189dd42ff5381b4">
  <xsd:schema xmlns:xsd="http://www.w3.org/2001/XMLSchema" xmlns:xs="http://www.w3.org/2001/XMLSchema" xmlns:p="http://schemas.microsoft.com/office/2006/metadata/properties" xmlns:ns2="49256dcf-74b5-4e0f-b2ab-e17546be8a80" xmlns:ns3="3940b711-dc1d-4235-b0a5-48d487f0d3b9" targetNamespace="http://schemas.microsoft.com/office/2006/metadata/properties" ma:root="true" ma:fieldsID="7f3b09dd81f609e653ddad0159f4af65" ns2:_="" ns3:_="">
    <xsd:import namespace="49256dcf-74b5-4e0f-b2ab-e17546be8a80"/>
    <xsd:import namespace="3940b711-dc1d-4235-b0a5-48d487f0d3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Not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256dcf-74b5-4e0f-b2ab-e17546be8a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acc4dc2-1d7d-4ba2-9bc5-748c4ad50a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s" ma:index="26" nillable="true" ma:displayName="Notes" ma:description="Describe what this folder should contain" ma:format="Dropdown" ma:internalName="Note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40b711-dc1d-4235-b0a5-48d487f0d3b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17c2faf-511a-483c-a677-1ab92e51de83}" ma:internalName="TaxCatchAll" ma:showField="CatchAllData" ma:web="3940b711-dc1d-4235-b0a5-48d487f0d3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256dcf-74b5-4e0f-b2ab-e17546be8a80">
      <Terms xmlns="http://schemas.microsoft.com/office/infopath/2007/PartnerControls"/>
    </lcf76f155ced4ddcb4097134ff3c332f>
    <TaxCatchAll xmlns="3940b711-dc1d-4235-b0a5-48d487f0d3b9" xsi:nil="true"/>
    <Notes xmlns="49256dcf-74b5-4e0f-b2ab-e17546be8a80" xsi:nil="true"/>
  </documentManagement>
</p:properties>
</file>

<file path=customXml/itemProps1.xml><?xml version="1.0" encoding="utf-8"?>
<ds:datastoreItem xmlns:ds="http://schemas.openxmlformats.org/officeDocument/2006/customXml" ds:itemID="{992A9F31-14DE-48B1-9D3E-07337CD37F2F}"/>
</file>

<file path=customXml/itemProps2.xml><?xml version="1.0" encoding="utf-8"?>
<ds:datastoreItem xmlns:ds="http://schemas.openxmlformats.org/officeDocument/2006/customXml" ds:itemID="{D2C8538E-530A-445D-9A15-7CC7F4A16C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2CF057-9F0A-4CCB-B937-805ED701A0E8}">
  <ds:schemaRefs>
    <ds:schemaRef ds:uri="http://schemas.microsoft.com/office/2006/documentManagement/types"/>
    <ds:schemaRef ds:uri="http://purl.org/dc/dcmitype/"/>
    <ds:schemaRef ds:uri="http://schemas.microsoft.com/office/infopath/2007/PartnerControls"/>
    <ds:schemaRef ds:uri="49256dcf-74b5-4e0f-b2ab-e17546be8a80"/>
    <ds:schemaRef ds:uri="http://www.w3.org/XML/1998/namespace"/>
    <ds:schemaRef ds:uri="3940b711-dc1d-4235-b0a5-48d487f0d3b9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4335</TotalTime>
  <Words>682</Words>
  <Application>Microsoft Office PowerPoint</Application>
  <PresentationFormat>Widescreen</PresentationFormat>
  <Paragraphs>161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HALDEN SOLID</vt:lpstr>
      <vt:lpstr>Open Sans</vt:lpstr>
      <vt:lpstr>Open Sans Extrabold</vt:lpstr>
      <vt:lpstr>Theme2</vt:lpstr>
      <vt:lpstr>PowerPoint Presentation</vt:lpstr>
      <vt:lpstr>Background</vt:lpstr>
      <vt:lpstr>Background</vt:lpstr>
      <vt:lpstr>Background</vt:lpstr>
      <vt:lpstr>Main Objective</vt:lpstr>
      <vt:lpstr>Methodology</vt:lpstr>
      <vt:lpstr>RCT Design Setup</vt:lpstr>
      <vt:lpstr>RCT Design Setup</vt:lpstr>
      <vt:lpstr>Modules </vt:lpstr>
      <vt:lpstr>Tentative workplan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 slide Useful tips to correctly edit this powerpoint template</dc:title>
  <dc:creator>Helen CLARKE</dc:creator>
  <cp:lastModifiedBy>Espedito NASTRO</cp:lastModifiedBy>
  <cp:revision>2</cp:revision>
  <dcterms:created xsi:type="dcterms:W3CDTF">2018-08-20T09:35:59Z</dcterms:created>
  <dcterms:modified xsi:type="dcterms:W3CDTF">2023-06-01T17:41:36Z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0x01010007EC5AEA005F3944B5281CE0F7F3B6DF</vt:lpwstr>
  </property>
  <property fmtid="{D5CDD505-2E9C-101B-9397-08002B2CF9AE}" pid="3" name="MediaServiceImageTags">
    <vt:lpwstr/>
  </property>
</Properties>
</file>