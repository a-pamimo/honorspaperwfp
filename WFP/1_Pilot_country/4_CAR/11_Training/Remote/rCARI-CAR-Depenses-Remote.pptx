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5" r:id="rId4"/>
  </p:sldMasterIdLst>
  <p:notesMasterIdLst>
    <p:notesMasterId r:id="rId28"/>
  </p:notesMasterIdLst>
  <p:handoutMasterIdLst>
    <p:handoutMasterId r:id="rId29"/>
  </p:handoutMasterIdLst>
  <p:sldIdLst>
    <p:sldId id="261" r:id="rId5"/>
    <p:sldId id="274" r:id="rId6"/>
    <p:sldId id="4112" r:id="rId7"/>
    <p:sldId id="4115" r:id="rId8"/>
    <p:sldId id="291" r:id="rId9"/>
    <p:sldId id="4143" r:id="rId10"/>
    <p:sldId id="4144" r:id="rId11"/>
    <p:sldId id="4145" r:id="rId12"/>
    <p:sldId id="4146" r:id="rId13"/>
    <p:sldId id="4147" r:id="rId14"/>
    <p:sldId id="4148" r:id="rId15"/>
    <p:sldId id="4149" r:id="rId16"/>
    <p:sldId id="4150" r:id="rId17"/>
    <p:sldId id="4151" r:id="rId18"/>
    <p:sldId id="4152" r:id="rId19"/>
    <p:sldId id="332" r:id="rId20"/>
    <p:sldId id="306" r:id="rId21"/>
    <p:sldId id="4154" r:id="rId22"/>
    <p:sldId id="4153" r:id="rId23"/>
    <p:sldId id="4155" r:id="rId24"/>
    <p:sldId id="4156" r:id="rId25"/>
    <p:sldId id="4157" r:id="rId26"/>
    <p:sldId id="333" r:id="rId27"/>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2216101-4936-4465-91C6-7E1AB5A4B7C8}">
          <p14:sldIdLst>
            <p14:sldId id="261"/>
          </p14:sldIdLst>
        </p14:section>
        <p14:section name="Relevance: both" id="{B8D5A308-6A34-47A9-9898-8C8385DF4400}">
          <p14:sldIdLst>
            <p14:sldId id="274"/>
            <p14:sldId id="4112"/>
            <p14:sldId id="4115"/>
            <p14:sldId id="291"/>
            <p14:sldId id="4143"/>
            <p14:sldId id="4144"/>
            <p14:sldId id="4145"/>
            <p14:sldId id="4146"/>
            <p14:sldId id="4147"/>
            <p14:sldId id="4148"/>
            <p14:sldId id="4149"/>
            <p14:sldId id="4150"/>
            <p14:sldId id="4151"/>
            <p14:sldId id="4152"/>
            <p14:sldId id="332"/>
            <p14:sldId id="306"/>
            <p14:sldId id="4154"/>
            <p14:sldId id="4153"/>
            <p14:sldId id="4155"/>
            <p14:sldId id="4156"/>
            <p14:sldId id="4157"/>
          </p14:sldIdLst>
        </p14:section>
        <p14:section name="Relevance: Analyst training" id="{ADA42E1E-067A-4161-B943-799BD9EB83DE}">
          <p14:sldIdLst/>
        </p14:section>
        <p14:section name="Relevance: both" id="{E0808810-59EE-43FB-BE83-B5C8A393D4A5}">
          <p14:sldIdLst>
            <p14:sldId id="33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67EE71F-E4CF-2640-16B2-A6A6650BB44B}" name="Cassandra WALKER" initials="CW" userId="S::cassandra.walker@wfp.org::7d551a76-2a3b-46ce-9612-27f9694a0380" providerId="AD"/>
  <p188:author id="{4B435273-2B55-8C80-B12D-5CE97319A5BE}" name="Alessandra GHERARDELLI" initials="AG" userId="S::alessandra.gherardelli@wfp.org::afe74b6d-70e8-41fc-b968-36023429f87c" providerId="AD"/>
  <p188:author id="{6A52989B-2D3B-6FC0-BBC3-D88A3726BC0B}" name="Mohamed SALEM" initials="MS" userId="S::mohamed.salem@wfp.org::13f12703-f1ce-4b8b-924c-fe401988a08b" providerId="AD"/>
  <p188:author id="{46429D9C-8177-114B-BEF0-D76BAE32C891}" name="Isra WISHAH" initials="IW" userId="S::isra.wishah@wfp.org::72089144-da43-4082-a6aa-d77401d50df3" providerId="AD"/>
  <p188:author id="{722DE0DA-4CC0-95E0-086A-D1CE3BE2A97F}" name="Lorenzo MONCADA" initials="LM" userId="S::lorenzo.moncada@wfp.org::d9b2fc5f-dba1-4749-8b5b-0d66b4bd4be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FFFE"/>
    <a:srgbClr val="B2B2B2"/>
    <a:srgbClr val="0070BA"/>
    <a:srgbClr val="C00000"/>
    <a:srgbClr val="F4B183"/>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0" d="100"/>
          <a:sy n="60" d="100"/>
        </p:scale>
        <p:origin x="1116" y="240"/>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63"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FFAB1A-079C-564C-A3B2-E630BC843578}" type="datetimeFigureOut">
              <a:rPr lang="it-IT" smtClean="0"/>
              <a:t>15/07/2023</a:t>
            </a:fld>
            <a:endParaRPr lang="it-IT"/>
          </a:p>
        </p:txBody>
      </p:sp>
      <p:sp>
        <p:nvSpPr>
          <p:cNvPr id="4" name="Segnaposto piè di pa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900685-03CC-EF47-A6B6-8CB07CAC109C}" type="slidenum">
              <a:rPr lang="it-IT" smtClean="0"/>
              <a:t>‹#›</a:t>
            </a:fld>
            <a:endParaRPr lang="it-IT"/>
          </a:p>
        </p:txBody>
      </p:sp>
    </p:spTree>
    <p:extLst>
      <p:ext uri="{BB962C8B-B14F-4D97-AF65-F5344CB8AC3E}">
        <p14:creationId xmlns:p14="http://schemas.microsoft.com/office/powerpoint/2010/main" val="15066613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B21A65-5E85-7243-A45D-5622BE4ACE07}" type="datetimeFigureOut">
              <a:rPr lang="it-IT" smtClean="0"/>
              <a:t>15/07/2023</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27884D-8063-894A-9B96-2E8B250142EB}" type="slidenum">
              <a:rPr lang="it-IT" smtClean="0"/>
              <a:t>‹#›</a:t>
            </a:fld>
            <a:endParaRPr lang="it-IT"/>
          </a:p>
        </p:txBody>
      </p:sp>
    </p:spTree>
    <p:extLst>
      <p:ext uri="{BB962C8B-B14F-4D97-AF65-F5344CB8AC3E}">
        <p14:creationId xmlns:p14="http://schemas.microsoft.com/office/powerpoint/2010/main" val="1519342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a:t>
            </a:fld>
            <a:endParaRPr lang="it-IT"/>
          </a:p>
        </p:txBody>
      </p:sp>
    </p:spTree>
    <p:extLst>
      <p:ext uri="{BB962C8B-B14F-4D97-AF65-F5344CB8AC3E}">
        <p14:creationId xmlns:p14="http://schemas.microsoft.com/office/powerpoint/2010/main" val="3282932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Income is </a:t>
            </a:r>
            <a:r>
              <a:rPr lang="en-US" b="0" i="0" dirty="0">
                <a:solidFill>
                  <a:srgbClr val="202124"/>
                </a:solidFill>
                <a:effectLst/>
                <a:latin typeface="arial" panose="020B0604020202020204" pitchFamily="34" charset="0"/>
              </a:rPr>
              <a:t>money received, especially on a regular or irregular basis, from work or through investments.</a:t>
            </a:r>
            <a:endParaRPr lang="ar-SY" dirty="0"/>
          </a:p>
          <a:p>
            <a:endParaRPr lang="ar-SY" dirty="0"/>
          </a:p>
        </p:txBody>
      </p:sp>
      <p:sp>
        <p:nvSpPr>
          <p:cNvPr id="4" name="Slide Number Placeholder 3"/>
          <p:cNvSpPr>
            <a:spLocks noGrp="1"/>
          </p:cNvSpPr>
          <p:nvPr>
            <p:ph type="sldNum" sz="quarter" idx="5"/>
          </p:nvPr>
        </p:nvSpPr>
        <p:spPr/>
        <p:txBody>
          <a:bodyPr/>
          <a:lstStyle/>
          <a:p>
            <a:fld id="{C227884D-8063-894A-9B96-2E8B250142EB}" type="slidenum">
              <a:rPr lang="it-IT" smtClean="0"/>
              <a:t>4</a:t>
            </a:fld>
            <a:endParaRPr lang="it-IT"/>
          </a:p>
        </p:txBody>
      </p:sp>
    </p:spTree>
    <p:extLst>
      <p:ext uri="{BB962C8B-B14F-4D97-AF65-F5344CB8AC3E}">
        <p14:creationId xmlns:p14="http://schemas.microsoft.com/office/powerpoint/2010/main" val="140649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5</a:t>
            </a:fld>
            <a:endParaRPr lang="it-IT"/>
          </a:p>
        </p:txBody>
      </p:sp>
    </p:spTree>
    <p:extLst>
      <p:ext uri="{BB962C8B-B14F-4D97-AF65-F5344CB8AC3E}">
        <p14:creationId xmlns:p14="http://schemas.microsoft.com/office/powerpoint/2010/main" val="18945689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16</a:t>
            </a:fld>
            <a:endParaRPr lang="it-IT"/>
          </a:p>
        </p:txBody>
      </p:sp>
    </p:spTree>
    <p:extLst>
      <p:ext uri="{BB962C8B-B14F-4D97-AF65-F5344CB8AC3E}">
        <p14:creationId xmlns:p14="http://schemas.microsoft.com/office/powerpoint/2010/main" val="10257326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18</a:t>
            </a:fld>
            <a:endParaRPr lang="it-IT"/>
          </a:p>
        </p:txBody>
      </p:sp>
    </p:spTree>
    <p:extLst>
      <p:ext uri="{BB962C8B-B14F-4D97-AF65-F5344CB8AC3E}">
        <p14:creationId xmlns:p14="http://schemas.microsoft.com/office/powerpoint/2010/main" val="41345909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19</a:t>
            </a:fld>
            <a:endParaRPr lang="it-IT"/>
          </a:p>
        </p:txBody>
      </p:sp>
    </p:spTree>
    <p:extLst>
      <p:ext uri="{BB962C8B-B14F-4D97-AF65-F5344CB8AC3E}">
        <p14:creationId xmlns:p14="http://schemas.microsoft.com/office/powerpoint/2010/main" val="33378104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20</a:t>
            </a:fld>
            <a:endParaRPr lang="it-IT"/>
          </a:p>
        </p:txBody>
      </p:sp>
    </p:spTree>
    <p:extLst>
      <p:ext uri="{BB962C8B-B14F-4D97-AF65-F5344CB8AC3E}">
        <p14:creationId xmlns:p14="http://schemas.microsoft.com/office/powerpoint/2010/main" val="21968906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21</a:t>
            </a:fld>
            <a:endParaRPr lang="it-IT"/>
          </a:p>
        </p:txBody>
      </p:sp>
    </p:spTree>
    <p:extLst>
      <p:ext uri="{BB962C8B-B14F-4D97-AF65-F5344CB8AC3E}">
        <p14:creationId xmlns:p14="http://schemas.microsoft.com/office/powerpoint/2010/main" val="33908782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22</a:t>
            </a:fld>
            <a:endParaRPr lang="it-IT"/>
          </a:p>
        </p:txBody>
      </p:sp>
    </p:spTree>
    <p:extLst>
      <p:ext uri="{BB962C8B-B14F-4D97-AF65-F5344CB8AC3E}">
        <p14:creationId xmlns:p14="http://schemas.microsoft.com/office/powerpoint/2010/main" val="12429529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ection Divider">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763591BB-DB01-D043-A519-067963333EAA}"/>
              </a:ext>
            </a:extLst>
          </p:cNvPr>
          <p:cNvPicPr>
            <a:picLocks noChangeAspect="1"/>
          </p:cNvPicPr>
          <p:nvPr/>
        </p:nvPicPr>
        <p:blipFill>
          <a:blip r:embed="rId2"/>
          <a:stretch>
            <a:fillRect/>
          </a:stretch>
        </p:blipFill>
        <p:spPr>
          <a:xfrm>
            <a:off x="10480232" y="643259"/>
            <a:ext cx="991329" cy="2648265"/>
          </a:xfrm>
          <a:prstGeom prst="rect">
            <a:avLst/>
          </a:prstGeom>
        </p:spPr>
      </p:pic>
    </p:spTree>
    <p:extLst>
      <p:ext uri="{BB962C8B-B14F-4D97-AF65-F5344CB8AC3E}">
        <p14:creationId xmlns:p14="http://schemas.microsoft.com/office/powerpoint/2010/main" val="1536967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hasCustomPrompt="1"/>
          </p:nvPr>
        </p:nvSpPr>
        <p:spPr>
          <a:xfrm>
            <a:off x="846311" y="664870"/>
            <a:ext cx="10542124" cy="1152000"/>
          </a:xfrm>
          <a:prstGeom prst="rect">
            <a:avLst/>
          </a:prstGeom>
        </p:spPr>
        <p:txBody>
          <a:bodyPr>
            <a:noAutofit/>
          </a:bodyPr>
          <a:lstStyle>
            <a:lvl1pPr marL="0" marR="0" indent="0" algn="l" defTabSz="914400" rtl="0" eaLnBrk="1" fontAlgn="auto" latinLnBrk="0" hangingPunct="1">
              <a:lnSpc>
                <a:spcPct val="90000"/>
              </a:lnSpc>
              <a:spcBef>
                <a:spcPct val="0"/>
              </a:spcBef>
              <a:spcAft>
                <a:spcPts val="0"/>
              </a:spcAft>
              <a:buClrTx/>
              <a:buSzTx/>
              <a:buFontTx/>
              <a:buNone/>
              <a:tabLst/>
              <a:defRPr b="1" i="0">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it-IT"/>
              <a:t>Click to </a:t>
            </a:r>
            <a:r>
              <a:rPr lang="it-IT" err="1"/>
              <a:t>insert</a:t>
            </a:r>
            <a:r>
              <a:rPr lang="it-IT"/>
              <a:t> </a:t>
            </a:r>
            <a:r>
              <a:rPr lang="it-IT" err="1"/>
              <a:t>title</a:t>
            </a:r>
            <a:endParaRPr lang="it-IT"/>
          </a:p>
        </p:txBody>
      </p:sp>
      <p:sp>
        <p:nvSpPr>
          <p:cNvPr id="3" name="Segnaposto contenuto 2"/>
          <p:cNvSpPr>
            <a:spLocks noGrp="1"/>
          </p:cNvSpPr>
          <p:nvPr>
            <p:ph idx="1" hasCustomPrompt="1"/>
          </p:nvPr>
        </p:nvSpPr>
        <p:spPr>
          <a:xfrm>
            <a:off x="846312" y="1919941"/>
            <a:ext cx="10542124" cy="4100053"/>
          </a:xfrm>
        </p:spPr>
        <p:txBody>
          <a:bodyPr>
            <a:noAutofit/>
          </a:bodyPr>
          <a:lstStyle>
            <a:lvl1pPr marL="342900" indent="-342900">
              <a:lnSpc>
                <a:spcPct val="100000"/>
              </a:lnSpc>
              <a:buClr>
                <a:srgbClr val="0070BA"/>
              </a:buClr>
              <a:buFont typeface="Arial" charset="0"/>
              <a:buChar char="•"/>
              <a:defRPr baseline="0"/>
            </a:lvl1pPr>
            <a:lvl2pPr marL="742950" indent="-285750">
              <a:lnSpc>
                <a:spcPct val="100000"/>
              </a:lnSpc>
              <a:buClr>
                <a:srgbClr val="0070BA"/>
              </a:buClr>
              <a:buFont typeface="Arial" charset="0"/>
              <a:buChar char="•"/>
              <a:defRPr baseline="0"/>
            </a:lvl2pPr>
            <a:lvl3pPr marL="1200150" indent="-285750">
              <a:lnSpc>
                <a:spcPct val="100000"/>
              </a:lnSpc>
              <a:buClr>
                <a:srgbClr val="0070BA"/>
              </a:buClr>
              <a:buFont typeface="Arial" charset="0"/>
              <a:buChar char="•"/>
              <a:defRPr baseline="0"/>
            </a:lvl3pPr>
            <a:lvl4pPr marL="1657350" indent="-285750">
              <a:lnSpc>
                <a:spcPct val="100000"/>
              </a:lnSpc>
              <a:buClr>
                <a:srgbClr val="0070BA"/>
              </a:buClr>
              <a:buFont typeface="Arial" charset="0"/>
              <a:buChar char="•"/>
              <a:defRPr/>
            </a:lvl4pPr>
            <a:lvl5pPr marL="2114550" indent="-285750">
              <a:lnSpc>
                <a:spcPct val="100000"/>
              </a:lnSpc>
              <a:buClr>
                <a:srgbClr val="0070BA"/>
              </a:buClr>
              <a:buFont typeface="Arial" charset="0"/>
              <a:buChar char="•"/>
              <a:defRPr/>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6" name="Segnaposto numero diapositiva 5"/>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7" name="Immagine 6"/>
          <p:cNvPicPr>
            <a:picLocks noChangeAspect="1"/>
          </p:cNvPicPr>
          <p:nvPr/>
        </p:nvPicPr>
        <p:blipFill>
          <a:blip r:embed="rId2"/>
          <a:srcRect/>
          <a:stretch/>
        </p:blipFill>
        <p:spPr>
          <a:xfrm>
            <a:off x="503066" y="5663048"/>
            <a:ext cx="1625642" cy="797675"/>
          </a:xfrm>
          <a:prstGeom prst="rect">
            <a:avLst/>
          </a:prstGeom>
        </p:spPr>
      </p:pic>
    </p:spTree>
    <p:extLst>
      <p:ext uri="{BB962C8B-B14F-4D97-AF65-F5344CB8AC3E}">
        <p14:creationId xmlns:p14="http://schemas.microsoft.com/office/powerpoint/2010/main" val="2145421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olo e contenuto">
    <p:spTree>
      <p:nvGrpSpPr>
        <p:cNvPr id="1" name=""/>
        <p:cNvGrpSpPr/>
        <p:nvPr/>
      </p:nvGrpSpPr>
      <p:grpSpPr>
        <a:xfrm>
          <a:off x="0" y="0"/>
          <a:ext cx="0" cy="0"/>
          <a:chOff x="0" y="0"/>
          <a:chExt cx="0" cy="0"/>
        </a:xfrm>
      </p:grpSpPr>
      <p:sp>
        <p:nvSpPr>
          <p:cNvPr id="6" name="Segnaposto numero diapositiva 5"/>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7" name="Immagine 6"/>
          <p:cNvPicPr>
            <a:picLocks noChangeAspect="1"/>
          </p:cNvPicPr>
          <p:nvPr/>
        </p:nvPicPr>
        <p:blipFill>
          <a:blip r:embed="rId2"/>
          <a:srcRect/>
          <a:stretch/>
        </p:blipFill>
        <p:spPr>
          <a:xfrm>
            <a:off x="503066" y="5663048"/>
            <a:ext cx="1625642" cy="797675"/>
          </a:xfrm>
          <a:prstGeom prst="rect">
            <a:avLst/>
          </a:prstGeom>
        </p:spPr>
      </p:pic>
    </p:spTree>
    <p:extLst>
      <p:ext uri="{BB962C8B-B14F-4D97-AF65-F5344CB8AC3E}">
        <p14:creationId xmlns:p14="http://schemas.microsoft.com/office/powerpoint/2010/main" val="3407099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ue contenuti">
    <p:spTree>
      <p:nvGrpSpPr>
        <p:cNvPr id="1" name=""/>
        <p:cNvGrpSpPr/>
        <p:nvPr/>
      </p:nvGrpSpPr>
      <p:grpSpPr>
        <a:xfrm>
          <a:off x="0" y="0"/>
          <a:ext cx="0" cy="0"/>
          <a:chOff x="0" y="0"/>
          <a:chExt cx="0" cy="0"/>
        </a:xfrm>
      </p:grpSpPr>
      <p:sp>
        <p:nvSpPr>
          <p:cNvPr id="3" name="Segnaposto contenuto 2"/>
          <p:cNvSpPr>
            <a:spLocks noGrp="1"/>
          </p:cNvSpPr>
          <p:nvPr>
            <p:ph sz="half" idx="1" hasCustomPrompt="1"/>
          </p:nvPr>
        </p:nvSpPr>
        <p:spPr>
          <a:xfrm>
            <a:off x="539999" y="1795071"/>
            <a:ext cx="5460945" cy="4100053"/>
          </a:xfrm>
        </p:spPr>
        <p:txBody>
          <a:bodyPr>
            <a:noAutofit/>
          </a:bodyPr>
          <a:lstStyle>
            <a:lvl1pPr marL="228600" indent="-228600">
              <a:lnSpc>
                <a:spcPct val="100000"/>
              </a:lnSpc>
              <a:buClr>
                <a:srgbClr val="0070BA"/>
              </a:buClr>
              <a:buFont typeface="Arial" charset="0"/>
              <a:buChar char="•"/>
              <a:defRPr sz="1800" spc="60" baseline="0"/>
            </a:lvl1pPr>
            <a:lvl2pPr marL="685800" indent="-228600">
              <a:lnSpc>
                <a:spcPct val="100000"/>
              </a:lnSpc>
              <a:buClr>
                <a:srgbClr val="0070BA"/>
              </a:buClr>
              <a:buFont typeface="Arial" charset="0"/>
              <a:buChar char="•"/>
              <a:defRPr sz="1600" spc="60" baseline="0"/>
            </a:lvl2pPr>
            <a:lvl3pPr marL="1143000" indent="-228600">
              <a:lnSpc>
                <a:spcPct val="100000"/>
              </a:lnSpc>
              <a:buClr>
                <a:srgbClr val="0070BA"/>
              </a:buClr>
              <a:buFont typeface="Arial" charset="0"/>
              <a:buChar char="•"/>
              <a:defRPr sz="1400" spc="60" baseline="0"/>
            </a:lvl3pPr>
            <a:lvl4pPr marL="1600200" indent="-228600">
              <a:lnSpc>
                <a:spcPct val="100000"/>
              </a:lnSpc>
              <a:buClr>
                <a:srgbClr val="0070BA"/>
              </a:buClr>
              <a:buFont typeface="Arial" charset="0"/>
              <a:buChar char="•"/>
              <a:defRPr sz="1200" spc="60" baseline="0"/>
            </a:lvl4pPr>
            <a:lvl5pPr marL="2057400" indent="-228600">
              <a:lnSpc>
                <a:spcPct val="100000"/>
              </a:lnSpc>
              <a:buClr>
                <a:srgbClr val="0070BA"/>
              </a:buClr>
              <a:buFont typeface="Arial" charset="0"/>
              <a:buChar char="•"/>
              <a:defRPr sz="1200" spc="60" baseline="0"/>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4" name="Segnaposto contenuto 3"/>
          <p:cNvSpPr>
            <a:spLocks noGrp="1"/>
          </p:cNvSpPr>
          <p:nvPr>
            <p:ph sz="half" idx="2" hasCustomPrompt="1"/>
          </p:nvPr>
        </p:nvSpPr>
        <p:spPr>
          <a:xfrm>
            <a:off x="6078019" y="1795071"/>
            <a:ext cx="5513982" cy="4100053"/>
          </a:xfrm>
        </p:spPr>
        <p:txBody>
          <a:bodyPr>
            <a:noAutofit/>
          </a:bodyPr>
          <a:lstStyle>
            <a:lvl1pPr marL="228600" indent="-228600">
              <a:lnSpc>
                <a:spcPct val="100000"/>
              </a:lnSpc>
              <a:buClr>
                <a:srgbClr val="0070BA"/>
              </a:buClr>
              <a:buFont typeface="Arial" charset="0"/>
              <a:buChar char="•"/>
              <a:defRPr/>
            </a:lvl1pPr>
            <a:lvl2pPr marL="685800" indent="-228600">
              <a:lnSpc>
                <a:spcPct val="100000"/>
              </a:lnSpc>
              <a:buClr>
                <a:srgbClr val="0070BA"/>
              </a:buClr>
              <a:buFont typeface="Arial" charset="0"/>
              <a:buChar char="•"/>
              <a:defRPr/>
            </a:lvl2pPr>
            <a:lvl3pPr marL="1143000" indent="-228600">
              <a:lnSpc>
                <a:spcPct val="100000"/>
              </a:lnSpc>
              <a:buClr>
                <a:srgbClr val="0070BA"/>
              </a:buClr>
              <a:buFont typeface="Arial" charset="0"/>
              <a:buChar char="•"/>
              <a:defRPr/>
            </a:lvl3pPr>
            <a:lvl4pPr marL="1600200" indent="-228600">
              <a:lnSpc>
                <a:spcPct val="100000"/>
              </a:lnSpc>
              <a:buClr>
                <a:srgbClr val="0070BA"/>
              </a:buClr>
              <a:buFont typeface="Arial" charset="0"/>
              <a:buChar char="•"/>
              <a:defRPr/>
            </a:lvl4pPr>
            <a:lvl5pPr marL="2057400" indent="-228600">
              <a:lnSpc>
                <a:spcPct val="100000"/>
              </a:lnSpc>
              <a:buClr>
                <a:srgbClr val="0070BA"/>
              </a:buClr>
              <a:buFont typeface="Arial" charset="0"/>
              <a:buChar char="•"/>
              <a:defRPr/>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8" name="Segnaposto numero diapositiva 5">
            <a:extLst>
              <a:ext uri="{FF2B5EF4-FFF2-40B4-BE49-F238E27FC236}">
                <a16:creationId xmlns:a16="http://schemas.microsoft.com/office/drawing/2014/main" id="{423F2EF9-E3A7-7C43-99DB-3D909AA2C805}"/>
              </a:ext>
            </a:extLst>
          </p:cNvPr>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10" name="Immagine 6">
            <a:extLst>
              <a:ext uri="{FF2B5EF4-FFF2-40B4-BE49-F238E27FC236}">
                <a16:creationId xmlns:a16="http://schemas.microsoft.com/office/drawing/2014/main" id="{C72777E0-737A-CE4D-97A6-44B3AB1E5235}"/>
              </a:ext>
            </a:extLst>
          </p:cNvPr>
          <p:cNvPicPr>
            <a:picLocks noChangeAspect="1"/>
          </p:cNvPicPr>
          <p:nvPr/>
        </p:nvPicPr>
        <p:blipFill>
          <a:blip r:embed="rId2"/>
          <a:srcRect/>
          <a:stretch/>
        </p:blipFill>
        <p:spPr>
          <a:xfrm>
            <a:off x="503066" y="5663048"/>
            <a:ext cx="1625642" cy="797675"/>
          </a:xfrm>
          <a:prstGeom prst="rect">
            <a:avLst/>
          </a:prstGeom>
        </p:spPr>
      </p:pic>
      <p:sp>
        <p:nvSpPr>
          <p:cNvPr id="7" name="Title 3">
            <a:extLst>
              <a:ext uri="{FF2B5EF4-FFF2-40B4-BE49-F238E27FC236}">
                <a16:creationId xmlns:a16="http://schemas.microsoft.com/office/drawing/2014/main" id="{45E43B2A-AD48-1C47-BB21-AA2602857130}"/>
              </a:ext>
            </a:extLst>
          </p:cNvPr>
          <p:cNvSpPr txBox="1">
            <a:spLocks/>
          </p:cNvSpPr>
          <p:nvPr/>
        </p:nvSpPr>
        <p:spPr>
          <a:xfrm>
            <a:off x="717181" y="716415"/>
            <a:ext cx="11052002" cy="662558"/>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000" b="1" i="0" kern="1200" spc="60" baseline="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GB" sz="3600" b="0" kern="1400" spc="230">
                <a:solidFill>
                  <a:schemeClr val="tx1"/>
                </a:solidFill>
                <a:latin typeface="HALDEN SOLID" pitchFamily="2" charset="0"/>
              </a:rPr>
              <a:t>Slide title lorem ipsum </a:t>
            </a:r>
            <a:r>
              <a:rPr lang="en-GB" sz="3600" b="0" kern="1400" spc="230" err="1">
                <a:solidFill>
                  <a:schemeClr val="tx1"/>
                </a:solidFill>
                <a:latin typeface="HALDEN SOLID" pitchFamily="2" charset="0"/>
              </a:rPr>
              <a:t>dolor</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92110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Due contenuti">
    <p:spTree>
      <p:nvGrpSpPr>
        <p:cNvPr id="1" name=""/>
        <p:cNvGrpSpPr/>
        <p:nvPr/>
      </p:nvGrpSpPr>
      <p:grpSpPr>
        <a:xfrm>
          <a:off x="0" y="0"/>
          <a:ext cx="0" cy="0"/>
          <a:chOff x="0" y="0"/>
          <a:chExt cx="0" cy="0"/>
        </a:xfrm>
      </p:grpSpPr>
      <p:sp>
        <p:nvSpPr>
          <p:cNvPr id="3" name="Segnaposto contenuto 2"/>
          <p:cNvSpPr>
            <a:spLocks noGrp="1"/>
          </p:cNvSpPr>
          <p:nvPr>
            <p:ph sz="half" idx="1" hasCustomPrompt="1"/>
          </p:nvPr>
        </p:nvSpPr>
        <p:spPr>
          <a:xfrm>
            <a:off x="539999" y="1795071"/>
            <a:ext cx="5460945" cy="4100053"/>
          </a:xfrm>
        </p:spPr>
        <p:txBody>
          <a:bodyPr>
            <a:noAutofit/>
          </a:bodyPr>
          <a:lstStyle>
            <a:lvl1pPr marL="228600" indent="-228600">
              <a:lnSpc>
                <a:spcPct val="100000"/>
              </a:lnSpc>
              <a:buClr>
                <a:srgbClr val="0070BA"/>
              </a:buClr>
              <a:buFont typeface="Arial" charset="0"/>
              <a:buChar char="•"/>
              <a:defRPr sz="1800" spc="60" baseline="0"/>
            </a:lvl1pPr>
            <a:lvl2pPr marL="685800" indent="-228600">
              <a:lnSpc>
                <a:spcPct val="100000"/>
              </a:lnSpc>
              <a:buClr>
                <a:srgbClr val="0070BA"/>
              </a:buClr>
              <a:buFont typeface="Arial" charset="0"/>
              <a:buChar char="•"/>
              <a:defRPr sz="1600" spc="60" baseline="0"/>
            </a:lvl2pPr>
            <a:lvl3pPr marL="1143000" indent="-228600">
              <a:lnSpc>
                <a:spcPct val="100000"/>
              </a:lnSpc>
              <a:buClr>
                <a:srgbClr val="0070BA"/>
              </a:buClr>
              <a:buFont typeface="Arial" charset="0"/>
              <a:buChar char="•"/>
              <a:defRPr sz="1400" spc="60" baseline="0"/>
            </a:lvl3pPr>
            <a:lvl4pPr marL="1600200" indent="-228600">
              <a:lnSpc>
                <a:spcPct val="100000"/>
              </a:lnSpc>
              <a:buClr>
                <a:srgbClr val="0070BA"/>
              </a:buClr>
              <a:buFont typeface="Arial" charset="0"/>
              <a:buChar char="•"/>
              <a:defRPr sz="1200" spc="60" baseline="0"/>
            </a:lvl4pPr>
            <a:lvl5pPr marL="2057400" indent="-228600">
              <a:lnSpc>
                <a:spcPct val="100000"/>
              </a:lnSpc>
              <a:buClr>
                <a:srgbClr val="0070BA"/>
              </a:buClr>
              <a:buFont typeface="Arial" charset="0"/>
              <a:buChar char="•"/>
              <a:defRPr sz="1200" spc="60" baseline="0"/>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5" name="Picture Placeholder 4">
            <a:extLst>
              <a:ext uri="{FF2B5EF4-FFF2-40B4-BE49-F238E27FC236}">
                <a16:creationId xmlns:a16="http://schemas.microsoft.com/office/drawing/2014/main" id="{D29D93D5-8F53-3444-8F3E-BBF377575DA2}"/>
              </a:ext>
            </a:extLst>
          </p:cNvPr>
          <p:cNvSpPr>
            <a:spLocks noGrp="1"/>
          </p:cNvSpPr>
          <p:nvPr>
            <p:ph type="pic" sz="quarter" idx="13"/>
          </p:nvPr>
        </p:nvSpPr>
        <p:spPr>
          <a:xfrm>
            <a:off x="6194425" y="1795463"/>
            <a:ext cx="5397500" cy="4098925"/>
          </a:xfrm>
        </p:spPr>
        <p:txBody>
          <a:bodyPr/>
          <a:lstStyle/>
          <a:p>
            <a:r>
              <a:rPr lang="en-GB"/>
              <a:t>Click icon to add picture</a:t>
            </a:r>
            <a:endParaRPr lang="it-IT"/>
          </a:p>
        </p:txBody>
      </p:sp>
      <p:sp>
        <p:nvSpPr>
          <p:cNvPr id="8" name="Segnaposto numero diapositiva 5">
            <a:extLst>
              <a:ext uri="{FF2B5EF4-FFF2-40B4-BE49-F238E27FC236}">
                <a16:creationId xmlns:a16="http://schemas.microsoft.com/office/drawing/2014/main" id="{592D85CC-EB0C-D645-85D6-3DB77E029306}"/>
              </a:ext>
            </a:extLst>
          </p:cNvPr>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10" name="Immagine 6">
            <a:extLst>
              <a:ext uri="{FF2B5EF4-FFF2-40B4-BE49-F238E27FC236}">
                <a16:creationId xmlns:a16="http://schemas.microsoft.com/office/drawing/2014/main" id="{EE9D2174-1656-564C-9C34-210AF0606E51}"/>
              </a:ext>
            </a:extLst>
          </p:cNvPr>
          <p:cNvPicPr>
            <a:picLocks noChangeAspect="1"/>
          </p:cNvPicPr>
          <p:nvPr/>
        </p:nvPicPr>
        <p:blipFill>
          <a:blip r:embed="rId2"/>
          <a:srcRect/>
          <a:stretch/>
        </p:blipFill>
        <p:spPr>
          <a:xfrm>
            <a:off x="503066" y="5663048"/>
            <a:ext cx="1625642" cy="797675"/>
          </a:xfrm>
          <a:prstGeom prst="rect">
            <a:avLst/>
          </a:prstGeom>
        </p:spPr>
      </p:pic>
      <p:sp>
        <p:nvSpPr>
          <p:cNvPr id="7" name="Title 3">
            <a:extLst>
              <a:ext uri="{FF2B5EF4-FFF2-40B4-BE49-F238E27FC236}">
                <a16:creationId xmlns:a16="http://schemas.microsoft.com/office/drawing/2014/main" id="{622D786E-D5DB-B346-B2FA-981C681ADAA2}"/>
              </a:ext>
            </a:extLst>
          </p:cNvPr>
          <p:cNvSpPr txBox="1">
            <a:spLocks/>
          </p:cNvSpPr>
          <p:nvPr/>
        </p:nvSpPr>
        <p:spPr>
          <a:xfrm>
            <a:off x="717181" y="716415"/>
            <a:ext cx="11052002" cy="662558"/>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000" b="1" i="0" kern="1200" spc="60" baseline="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GB" sz="3600" b="0" kern="1400" spc="230">
                <a:solidFill>
                  <a:schemeClr val="tx1"/>
                </a:solidFill>
                <a:latin typeface="HALDEN SOLID" pitchFamily="2" charset="0"/>
              </a:rPr>
              <a:t>Slide title lorem ipsum </a:t>
            </a:r>
            <a:r>
              <a:rPr lang="en-GB" sz="3600" b="0" kern="1400" spc="230" err="1">
                <a:solidFill>
                  <a:schemeClr val="tx1"/>
                </a:solidFill>
                <a:latin typeface="HALDEN SOLID" pitchFamily="2" charset="0"/>
              </a:rPr>
              <a:t>dolor</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313574272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 name="Segnaposto testo 2"/>
          <p:cNvSpPr>
            <a:spLocks noGrp="1"/>
          </p:cNvSpPr>
          <p:nvPr>
            <p:ph type="body" idx="1"/>
          </p:nvPr>
        </p:nvSpPr>
        <p:spPr>
          <a:xfrm>
            <a:off x="973394" y="1732935"/>
            <a:ext cx="10667744" cy="4444027"/>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7637761" y="6227991"/>
            <a:ext cx="2743200" cy="365125"/>
          </a:xfrm>
          <a:prstGeom prst="rect">
            <a:avLst/>
          </a:prstGeom>
        </p:spPr>
        <p:txBody>
          <a:bodyPr vert="horz" lIns="91440" tIns="45720" rIns="91440" bIns="45720" rtlCol="0" anchor="t"/>
          <a:lstStyle>
            <a:lvl1pPr algn="r">
              <a:defRPr sz="1200" b="0" i="0">
                <a:solidFill>
                  <a:srgbClr val="0070BA"/>
                </a:solidFill>
                <a:latin typeface="Open Sans" charset="0"/>
                <a:ea typeface="Open Sans" charset="0"/>
                <a:cs typeface="Open Sans" charset="0"/>
              </a:defRPr>
            </a:lvl1pPr>
          </a:lstStyle>
          <a:p>
            <a:r>
              <a:rPr lang="it-IT"/>
              <a:t>Year Month</a:t>
            </a:r>
          </a:p>
        </p:txBody>
      </p:sp>
      <p:sp>
        <p:nvSpPr>
          <p:cNvPr id="6" name="Segnaposto numero diapositiva 5"/>
          <p:cNvSpPr>
            <a:spLocks noGrp="1"/>
          </p:cNvSpPr>
          <p:nvPr>
            <p:ph type="sldNum" sz="quarter" idx="4"/>
          </p:nvPr>
        </p:nvSpPr>
        <p:spPr>
          <a:xfrm>
            <a:off x="10711542" y="6227991"/>
            <a:ext cx="1027267" cy="365125"/>
          </a:xfrm>
          <a:prstGeom prst="rect">
            <a:avLst/>
          </a:prstGeom>
        </p:spPr>
        <p:txBody>
          <a:bodyPr vert="horz" lIns="91440" tIns="45720" rIns="91440" bIns="45720" rtlCol="0" anchor="t"/>
          <a:lstStyle>
            <a:lvl1pPr algn="r">
              <a:defRPr sz="1200" b="1" i="0">
                <a:solidFill>
                  <a:srgbClr val="0070BA"/>
                </a:solidFill>
                <a:latin typeface="Open Sans" charset="0"/>
                <a:ea typeface="Open Sans" charset="0"/>
                <a:cs typeface="Open Sans" charset="0"/>
              </a:defRPr>
            </a:lvl1pPr>
          </a:lstStyle>
          <a:p>
            <a:fld id="{2026EB2A-1F26-4143-92A6-3B752CD465DB}" type="slidenum">
              <a:rPr lang="it-IT" smtClean="0"/>
              <a:pPr/>
              <a:t>‹#›</a:t>
            </a:fld>
            <a:endParaRPr lang="it-IT"/>
          </a:p>
        </p:txBody>
      </p:sp>
      <p:sp>
        <p:nvSpPr>
          <p:cNvPr id="5" name="Title Placeholder 4"/>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Tree>
    <p:extLst>
      <p:ext uri="{BB962C8B-B14F-4D97-AF65-F5344CB8AC3E}">
        <p14:creationId xmlns:p14="http://schemas.microsoft.com/office/powerpoint/2010/main" val="818424624"/>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4" r:id="rId3"/>
    <p:sldLayoutId id="2147483672" r:id="rId4"/>
    <p:sldLayoutId id="2147483673" r:id="rId5"/>
  </p:sldLayoutIdLst>
  <p:hf sldNum="0" hdr="0" ftr="0"/>
  <p:txStyles>
    <p:titleStyle>
      <a:lvl1pPr algn="l" defTabSz="914400" rtl="0" eaLnBrk="1" latinLnBrk="0" hangingPunct="1">
        <a:lnSpc>
          <a:spcPct val="90000"/>
        </a:lnSpc>
        <a:spcBef>
          <a:spcPct val="0"/>
        </a:spcBef>
        <a:buNone/>
        <a:defRPr sz="3000" b="1" i="0" kern="1200">
          <a:solidFill>
            <a:srgbClr val="0070BA"/>
          </a:solidFill>
          <a:latin typeface="Open Sans" charset="0"/>
          <a:ea typeface="Open Sans" charset="0"/>
          <a:cs typeface="Open Sans" charset="0"/>
        </a:defRPr>
      </a:lvl1pPr>
    </p:titleStyle>
    <p:body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74">
          <p15:clr>
            <a:srgbClr val="F26B43"/>
          </p15:clr>
        </p15:guide>
        <p15:guide id="2" pos="7333">
          <p15:clr>
            <a:srgbClr val="F26B43"/>
          </p15:clr>
        </p15:guide>
        <p15:guide id="3" pos="688">
          <p15:clr>
            <a:srgbClr val="F26B43"/>
          </p15:clr>
        </p15:guide>
        <p15:guide id="4" orient="horz" pos="334">
          <p15:clr>
            <a:srgbClr val="F26B43"/>
          </p15:clr>
        </p15:guide>
        <p15:guide id="5" orient="horz" pos="113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0EDBCFF-3705-48FB-AAE7-711FBB17B81E}"/>
              </a:ext>
            </a:extLst>
          </p:cNvPr>
          <p:cNvPicPr>
            <a:picLocks noChangeAspect="1" noChangeArrowheads="1"/>
          </p:cNvPicPr>
          <p:nvPr/>
        </p:nvPicPr>
        <p:blipFill>
          <a:blip r:embed="rId3"/>
          <a:stretch>
            <a:fillRect/>
          </a:stretch>
        </p:blipFill>
        <p:spPr bwMode="auto">
          <a:xfrm>
            <a:off x="0" y="-1878910"/>
            <a:ext cx="12191999" cy="6862917"/>
          </a:xfrm>
          <a:prstGeom prst="rect">
            <a:avLst/>
          </a:prstGeom>
          <a:noFill/>
          <a:extLst>
            <a:ext uri="{909E8E84-426E-40DD-AFC4-6F175D3DCCD1}">
              <a14:hiddenFill xmlns:a14="http://schemas.microsoft.com/office/drawing/2010/main">
                <a:solidFill>
                  <a:srgbClr val="FFFFFF"/>
                </a:solidFill>
              </a14:hiddenFill>
            </a:ext>
          </a:extLst>
        </p:spPr>
      </p:pic>
      <p:sp>
        <p:nvSpPr>
          <p:cNvPr id="9" name="Titolo 1">
            <a:extLst>
              <a:ext uri="{FF2B5EF4-FFF2-40B4-BE49-F238E27FC236}">
                <a16:creationId xmlns:a16="http://schemas.microsoft.com/office/drawing/2014/main" id="{1A015D9C-C9D3-D64F-ADA5-742B12AEEA7C}"/>
              </a:ext>
            </a:extLst>
          </p:cNvPr>
          <p:cNvSpPr txBox="1">
            <a:spLocks/>
          </p:cNvSpPr>
          <p:nvPr/>
        </p:nvSpPr>
        <p:spPr>
          <a:xfrm>
            <a:off x="659230" y="5127641"/>
            <a:ext cx="9821002" cy="1015068"/>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r>
              <a:rPr lang="fr-FR" sz="2800" dirty="0"/>
              <a:t>Module des dépenses de consommation</a:t>
            </a:r>
          </a:p>
          <a:p>
            <a:r>
              <a:rPr lang="en-GB" sz="2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Étude </a:t>
            </a:r>
            <a:r>
              <a:rPr lang="en-GB" sz="2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rCARI</a:t>
            </a:r>
            <a:r>
              <a:rPr lang="en-GB" sz="2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 </a:t>
            </a:r>
            <a:r>
              <a:rPr lang="en-GB" sz="2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Enquête</a:t>
            </a:r>
            <a:r>
              <a:rPr lang="en-GB" sz="2400" b="0"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GB" sz="2400" b="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téléphonique</a:t>
            </a:r>
            <a:endParaRPr lang="en-GB" sz="2400" b="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1" name="Picture 10" descr="Logo&#10;&#10;Description automatically generated">
            <a:extLst>
              <a:ext uri="{FF2B5EF4-FFF2-40B4-BE49-F238E27FC236}">
                <a16:creationId xmlns:a16="http://schemas.microsoft.com/office/drawing/2014/main" id="{DE458A70-5F5C-4E44-BB0F-87B246B2AF8C}"/>
              </a:ext>
            </a:extLst>
          </p:cNvPr>
          <p:cNvPicPr>
            <a:picLocks noChangeAspect="1"/>
          </p:cNvPicPr>
          <p:nvPr/>
        </p:nvPicPr>
        <p:blipFill>
          <a:blip r:embed="rId4"/>
          <a:stretch>
            <a:fillRect/>
          </a:stretch>
        </p:blipFill>
        <p:spPr>
          <a:xfrm>
            <a:off x="10480232" y="3494444"/>
            <a:ext cx="991329" cy="2648265"/>
          </a:xfrm>
          <a:prstGeom prst="rect">
            <a:avLst/>
          </a:prstGeom>
        </p:spPr>
      </p:pic>
      <p:sp>
        <p:nvSpPr>
          <p:cNvPr id="12" name="Date Placeholder 4">
            <a:extLst>
              <a:ext uri="{FF2B5EF4-FFF2-40B4-BE49-F238E27FC236}">
                <a16:creationId xmlns:a16="http://schemas.microsoft.com/office/drawing/2014/main" id="{52D83F10-A12A-DC43-92D2-9708578359F6}"/>
              </a:ext>
            </a:extLst>
          </p:cNvPr>
          <p:cNvSpPr txBox="1">
            <a:spLocks/>
          </p:cNvSpPr>
          <p:nvPr/>
        </p:nvSpPr>
        <p:spPr>
          <a:xfrm>
            <a:off x="659231" y="6149794"/>
            <a:ext cx="2743200" cy="365125"/>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b="1" dirty="0">
                <a:latin typeface="Open Sans" panose="020B0606030504020204" pitchFamily="34" charset="0"/>
                <a:ea typeface="Open Sans" panose="020B0606030504020204" pitchFamily="34" charset="0"/>
                <a:cs typeface="Open Sans" panose="020B0606030504020204" pitchFamily="34" charset="0"/>
              </a:rPr>
              <a:t>2023 </a:t>
            </a:r>
            <a:r>
              <a:rPr lang="en-GB" sz="1600" b="1" dirty="0" err="1">
                <a:latin typeface="Open Sans" panose="020B0606030504020204" pitchFamily="34" charset="0"/>
                <a:ea typeface="Open Sans" panose="020B0606030504020204" pitchFamily="34" charset="0"/>
                <a:cs typeface="Open Sans" panose="020B0606030504020204" pitchFamily="34" charset="0"/>
              </a:rPr>
              <a:t>Juillet</a:t>
            </a:r>
            <a:endParaRPr lang="en-GB" sz="1600" b="1" dirty="0">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1">
            <a:extLst>
              <a:ext uri="{FF2B5EF4-FFF2-40B4-BE49-F238E27FC236}">
                <a16:creationId xmlns:a16="http://schemas.microsoft.com/office/drawing/2014/main" id="{4E3A401C-E785-171F-1B64-03D3155EE8CE}"/>
              </a:ext>
            </a:extLst>
          </p:cNvPr>
          <p:cNvSpPr txBox="1"/>
          <p:nvPr/>
        </p:nvSpPr>
        <p:spPr>
          <a:xfrm rot="16200000">
            <a:off x="11548078" y="4195705"/>
            <a:ext cx="1057013" cy="230832"/>
          </a:xfrm>
          <a:prstGeom prst="rect">
            <a:avLst/>
          </a:prstGeom>
          <a:noFill/>
        </p:spPr>
        <p:txBody>
          <a:bodyPr wrap="square" rtlCol="0">
            <a:spAutoFit/>
          </a:bodyPr>
          <a:lstStyle/>
          <a:p>
            <a:r>
              <a:rPr lang="en-US" sz="900">
                <a:solidFill>
                  <a:srgbClr val="FFFFFE"/>
                </a:solidFill>
              </a:rPr>
              <a:t>WFP/Badre </a:t>
            </a:r>
            <a:r>
              <a:rPr lang="en-US" sz="900" err="1">
                <a:solidFill>
                  <a:srgbClr val="FFFFFE"/>
                </a:solidFill>
              </a:rPr>
              <a:t>Bahaji</a:t>
            </a:r>
            <a:endParaRPr lang="en-US" sz="900">
              <a:solidFill>
                <a:srgbClr val="FFFFFE"/>
              </a:solidFill>
            </a:endParaRPr>
          </a:p>
        </p:txBody>
      </p:sp>
    </p:spTree>
    <p:extLst>
      <p:ext uri="{BB962C8B-B14F-4D97-AF65-F5344CB8AC3E}">
        <p14:creationId xmlns:p14="http://schemas.microsoft.com/office/powerpoint/2010/main" val="1472955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642605" y="2231809"/>
            <a:ext cx="7437365" cy="21194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sz="3400" b="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a:lnSpc>
                <a:spcPts val="3920"/>
              </a:lnSpc>
            </a:pPr>
            <a:r>
              <a:rPr lang="en-US" b="0" kern="1400" spc="230">
                <a:solidFill>
                  <a:srgbClr val="FFFFFE"/>
                </a:solidFill>
                <a:latin typeface="HALDEN SOLID"/>
                <a:ea typeface="Open Sans Extrabold"/>
                <a:cs typeface="Open Sans Extrabold"/>
              </a:rPr>
              <a:t>Introduction</a:t>
            </a:r>
            <a:r>
              <a:rPr lang="it-IT" sz="3400" b="0">
                <a:solidFill>
                  <a:srgbClr val="FFFFFE"/>
                </a:solidFill>
                <a:latin typeface="Open Sans Extrabold"/>
                <a:ea typeface="Open Sans Extrabold"/>
                <a:cs typeface="Open Sans Extrabold"/>
              </a:rPr>
              <a:t> </a:t>
            </a:r>
            <a:endParaRPr lang="en-GB" sz="2900" b="0">
              <a:solidFill>
                <a:srgbClr val="FFFFFE"/>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423551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226290" cy="662558"/>
          </a:xfrm>
        </p:spPr>
        <p:txBody>
          <a:bodyPr anchor="t" anchorCtr="0"/>
          <a:lstStyle/>
          <a:p>
            <a:r>
              <a:rPr lang="fr-FR" sz="3600" b="0" kern="1400" spc="230" dirty="0">
                <a:solidFill>
                  <a:schemeClr val="tx1"/>
                </a:solidFill>
                <a:latin typeface="HALDEN SOLID" pitchFamily="2" charset="0"/>
              </a:rPr>
              <a:t>Pourquoi collecter un module des dépenses ?</a:t>
            </a:r>
            <a:endParaRPr lang="en-GB" sz="3600" b="0" kern="1400" spc="230" dirty="0">
              <a:solidFill>
                <a:schemeClr val="tx1"/>
              </a:solidFill>
              <a:latin typeface="HALDEN SOLID" pitchFamily="2" charset="0"/>
            </a:endParaRPr>
          </a:p>
        </p:txBody>
      </p:sp>
      <p:sp>
        <p:nvSpPr>
          <p:cNvPr id="10" name="Content Placeholder 2">
            <a:extLst>
              <a:ext uri="{FF2B5EF4-FFF2-40B4-BE49-F238E27FC236}">
                <a16:creationId xmlns:a16="http://schemas.microsoft.com/office/drawing/2014/main" id="{B5AE55B3-7711-47A0-B7A6-117E68749A25}"/>
              </a:ext>
            </a:extLst>
          </p:cNvPr>
          <p:cNvSpPr>
            <a:spLocks noGrp="1"/>
          </p:cNvSpPr>
          <p:nvPr>
            <p:ph idx="1"/>
          </p:nvPr>
        </p:nvSpPr>
        <p:spPr>
          <a:xfrm>
            <a:off x="717181" y="1698069"/>
            <a:ext cx="11052000" cy="4100053"/>
          </a:xfrm>
        </p:spPr>
        <p:txBody>
          <a:bodyPr/>
          <a:lstStyle/>
          <a:p>
            <a:pPr>
              <a:lnSpc>
                <a:spcPts val="2700"/>
              </a:lnSpc>
              <a:buFontTx/>
              <a:buChar char="-"/>
            </a:pPr>
            <a:r>
              <a:rPr lang="fr-FR" sz="1800" spc="60" dirty="0"/>
              <a:t>Pour définir des indicateurs très importants liés à la capacité des ménages à satisfaire leurs besoins essentiels, y compris alimentaires et non alimentaires</a:t>
            </a:r>
          </a:p>
          <a:p>
            <a:pPr>
              <a:lnSpc>
                <a:spcPts val="2700"/>
              </a:lnSpc>
              <a:buFontTx/>
              <a:buChar char="-"/>
            </a:pPr>
            <a:r>
              <a:rPr lang="fr-FR" sz="1800" spc="60" dirty="0"/>
              <a:t>Pour quantifier la valeur de ce que les ménages consomment afin de comprendre leur vulnérabilité.</a:t>
            </a:r>
          </a:p>
          <a:p>
            <a:pPr>
              <a:lnSpc>
                <a:spcPts val="2700"/>
              </a:lnSpc>
              <a:buFontTx/>
              <a:buChar char="-"/>
            </a:pPr>
            <a:r>
              <a:rPr lang="fr-FR" sz="1800" spc="60" dirty="0"/>
              <a:t>La consommation ne se limite pas à ce que les ménages dépensent en espèces sur le marché - elle inclut également l'assistance et la production propre.</a:t>
            </a:r>
          </a:p>
          <a:p>
            <a:pPr>
              <a:lnSpc>
                <a:spcPts val="2700"/>
              </a:lnSpc>
              <a:buFontTx/>
              <a:buChar char="-"/>
            </a:pPr>
            <a:r>
              <a:rPr lang="fr-FR" sz="1800" spc="60" dirty="0"/>
              <a:t>Il est primordial de collecter des données sur les dépenses avec un maximum de précision.</a:t>
            </a:r>
            <a:endParaRPr lang="en-US" sz="1800" spc="60" dirty="0"/>
          </a:p>
        </p:txBody>
      </p:sp>
    </p:spTree>
    <p:extLst>
      <p:ext uri="{BB962C8B-B14F-4D97-AF65-F5344CB8AC3E}">
        <p14:creationId xmlns:p14="http://schemas.microsoft.com/office/powerpoint/2010/main" val="3735956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C0DF0-FAFF-35E1-45E3-E0E454D38A03}"/>
              </a:ext>
            </a:extLst>
          </p:cNvPr>
          <p:cNvSpPr>
            <a:spLocks noGrp="1"/>
          </p:cNvSpPr>
          <p:nvPr>
            <p:ph type="title"/>
          </p:nvPr>
        </p:nvSpPr>
        <p:spPr>
          <a:xfrm>
            <a:off x="824938" y="458414"/>
            <a:ext cx="10166572" cy="1152000"/>
          </a:xfrm>
        </p:spPr>
        <p:txBody>
          <a:bodyPr/>
          <a:lstStyle/>
          <a:p>
            <a:r>
              <a:rPr lang="fr-FR" sz="3600" b="0" kern="1400" spc="230" dirty="0">
                <a:solidFill>
                  <a:schemeClr val="tx1"/>
                </a:solidFill>
                <a:latin typeface="HALDEN SOLID" pitchFamily="2" charset="0"/>
              </a:rPr>
              <a:t>Vue d'ensemble du module des dépenses</a:t>
            </a:r>
          </a:p>
        </p:txBody>
      </p:sp>
      <p:sp>
        <p:nvSpPr>
          <p:cNvPr id="8" name="Rectangle 7">
            <a:extLst>
              <a:ext uri="{FF2B5EF4-FFF2-40B4-BE49-F238E27FC236}">
                <a16:creationId xmlns:a16="http://schemas.microsoft.com/office/drawing/2014/main" id="{0D0870A7-C994-58A4-5E27-BB9B3A2DF4E0}"/>
              </a:ext>
            </a:extLst>
          </p:cNvPr>
          <p:cNvSpPr/>
          <p:nvPr/>
        </p:nvSpPr>
        <p:spPr>
          <a:xfrm>
            <a:off x="10826257" y="182599"/>
            <a:ext cx="1081609" cy="446714"/>
          </a:xfrm>
          <a:prstGeom prst="rect">
            <a:avLst/>
          </a:prstGeom>
          <a:noFill/>
          <a:ln w="381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9BACB61-E858-68B8-E2ED-C0774A70DD24}"/>
              </a:ext>
            </a:extLst>
          </p:cNvPr>
          <p:cNvSpPr txBox="1"/>
          <p:nvPr/>
        </p:nvSpPr>
        <p:spPr>
          <a:xfrm>
            <a:off x="10991510" y="252067"/>
            <a:ext cx="751101" cy="307777"/>
          </a:xfrm>
          <a:prstGeom prst="rect">
            <a:avLst/>
          </a:prstGeom>
          <a:noFill/>
        </p:spPr>
        <p:txBody>
          <a:bodyPr wrap="square" rtlCol="0">
            <a:spAutoFit/>
          </a:bodyPr>
          <a:lstStyle/>
          <a:p>
            <a:pPr algn="ctr"/>
            <a:r>
              <a:rPr lang="en-US" sz="1400" b="1">
                <a:solidFill>
                  <a:schemeClr val="accent5">
                    <a:lumMod val="50000"/>
                  </a:schemeClr>
                </a:solidFill>
              </a:rPr>
              <a:t>Stress</a:t>
            </a:r>
            <a:endParaRPr lang="en-US" b="1">
              <a:solidFill>
                <a:schemeClr val="accent5">
                  <a:lumMod val="50000"/>
                </a:schemeClr>
              </a:solidFill>
            </a:endParaRPr>
          </a:p>
        </p:txBody>
      </p:sp>
      <p:graphicFrame>
        <p:nvGraphicFramePr>
          <p:cNvPr id="7" name="Content Placeholder 6">
            <a:extLst>
              <a:ext uri="{FF2B5EF4-FFF2-40B4-BE49-F238E27FC236}">
                <a16:creationId xmlns:a16="http://schemas.microsoft.com/office/drawing/2014/main" id="{8B661CE3-D69C-45D7-9218-A5152B066F09}"/>
              </a:ext>
            </a:extLst>
          </p:cNvPr>
          <p:cNvGraphicFramePr>
            <a:graphicFrameLocks noGrp="1"/>
          </p:cNvGraphicFramePr>
          <p:nvPr>
            <p:ph idx="1"/>
            <p:extLst>
              <p:ext uri="{D42A27DB-BD31-4B8C-83A1-F6EECF244321}">
                <p14:modId xmlns:p14="http://schemas.microsoft.com/office/powerpoint/2010/main" val="4155061747"/>
              </p:ext>
            </p:extLst>
          </p:nvPr>
        </p:nvGraphicFramePr>
        <p:xfrm>
          <a:off x="846138" y="1919288"/>
          <a:ext cx="10542588" cy="3937000"/>
        </p:xfrm>
        <a:graphic>
          <a:graphicData uri="http://schemas.openxmlformats.org/drawingml/2006/table">
            <a:tbl>
              <a:tblPr firstRow="1" bandRow="1">
                <a:tableStyleId>{5C22544A-7EE6-4342-B048-85BDC9FD1C3A}</a:tableStyleId>
              </a:tblPr>
              <a:tblGrid>
                <a:gridCol w="3514196">
                  <a:extLst>
                    <a:ext uri="{9D8B030D-6E8A-4147-A177-3AD203B41FA5}">
                      <a16:colId xmlns:a16="http://schemas.microsoft.com/office/drawing/2014/main" val="175683310"/>
                    </a:ext>
                  </a:extLst>
                </a:gridCol>
                <a:gridCol w="3514196">
                  <a:extLst>
                    <a:ext uri="{9D8B030D-6E8A-4147-A177-3AD203B41FA5}">
                      <a16:colId xmlns:a16="http://schemas.microsoft.com/office/drawing/2014/main" val="2814596264"/>
                    </a:ext>
                  </a:extLst>
                </a:gridCol>
                <a:gridCol w="3514196">
                  <a:extLst>
                    <a:ext uri="{9D8B030D-6E8A-4147-A177-3AD203B41FA5}">
                      <a16:colId xmlns:a16="http://schemas.microsoft.com/office/drawing/2014/main" val="3443484873"/>
                    </a:ext>
                  </a:extLst>
                </a:gridCol>
              </a:tblGrid>
              <a:tr h="370840">
                <a:tc>
                  <a:txBody>
                    <a:bodyPr/>
                    <a:lstStyle/>
                    <a:p>
                      <a:r>
                        <a:rPr lang="en-GB" dirty="0"/>
                        <a:t>Groupe</a:t>
                      </a:r>
                    </a:p>
                  </a:txBody>
                  <a:tcPr/>
                </a:tc>
                <a:tc>
                  <a:txBody>
                    <a:bodyPr/>
                    <a:lstStyle/>
                    <a:p>
                      <a:r>
                        <a:rPr lang="en-GB" dirty="0" err="1"/>
                        <a:t>Periode</a:t>
                      </a:r>
                      <a:r>
                        <a:rPr lang="en-GB" dirty="0"/>
                        <a:t> de rappel</a:t>
                      </a:r>
                    </a:p>
                  </a:txBody>
                  <a:tcPr/>
                </a:tc>
                <a:tc>
                  <a:txBody>
                    <a:bodyPr/>
                    <a:lstStyle/>
                    <a:p>
                      <a:r>
                        <a:rPr lang="en-GB" dirty="0"/>
                        <a:t>Source de </a:t>
                      </a:r>
                      <a:r>
                        <a:rPr lang="en-GB" dirty="0" err="1"/>
                        <a:t>consommation</a:t>
                      </a:r>
                      <a:endParaRPr lang="en-GB" dirty="0"/>
                    </a:p>
                  </a:txBody>
                  <a:tcPr/>
                </a:tc>
                <a:extLst>
                  <a:ext uri="{0D108BD9-81ED-4DB2-BD59-A6C34878D82A}">
                    <a16:rowId xmlns:a16="http://schemas.microsoft.com/office/drawing/2014/main" val="1058128223"/>
                  </a:ext>
                </a:extLst>
              </a:tr>
              <a:tr h="370840">
                <a:tc>
                  <a:txBody>
                    <a:bodyPr/>
                    <a:lstStyle/>
                    <a:p>
                      <a:r>
                        <a:rPr lang="en-GB" dirty="0" err="1"/>
                        <a:t>Alimentaire</a:t>
                      </a:r>
                      <a:endParaRPr lang="en-GB" dirty="0"/>
                    </a:p>
                  </a:txBody>
                  <a:tcPr/>
                </a:tc>
                <a:tc>
                  <a:txBody>
                    <a:bodyPr/>
                    <a:lstStyle/>
                    <a:p>
                      <a:r>
                        <a:rPr lang="en-GB" dirty="0"/>
                        <a:t>7 </a:t>
                      </a:r>
                      <a:r>
                        <a:rPr lang="en-GB" dirty="0" err="1"/>
                        <a:t>derniers</a:t>
                      </a:r>
                      <a:r>
                        <a:rPr lang="en-GB" dirty="0"/>
                        <a:t> </a:t>
                      </a:r>
                      <a:r>
                        <a:rPr lang="en-GB" dirty="0" err="1"/>
                        <a:t>jours</a:t>
                      </a:r>
                      <a:endParaRPr lang="en-GB" dirty="0"/>
                    </a:p>
                  </a:txBody>
                  <a:tcPr/>
                </a:tc>
                <a:tc>
                  <a:txBody>
                    <a:bodyPr/>
                    <a:lstStyle/>
                    <a:p>
                      <a:pPr marL="285750" indent="-285750">
                        <a:buFontTx/>
                        <a:buChar char="-"/>
                      </a:pPr>
                      <a:r>
                        <a:rPr lang="fr-FR" sz="1800" b="0" i="0" kern="1200" dirty="0">
                          <a:solidFill>
                            <a:schemeClr val="dk1"/>
                          </a:solidFill>
                          <a:effectLst/>
                          <a:latin typeface="+mn-lt"/>
                          <a:ea typeface="+mn-ea"/>
                          <a:cs typeface="+mn-cs"/>
                        </a:rPr>
                        <a:t>achats effectués au comptant et à crédit</a:t>
                      </a:r>
                    </a:p>
                    <a:p>
                      <a:pPr marL="285750" indent="-285750">
                        <a:buFontTx/>
                        <a:buChar char="-"/>
                      </a:pPr>
                      <a:r>
                        <a:rPr lang="fr-FR" sz="1800" b="0" i="0" kern="1200" dirty="0">
                          <a:solidFill>
                            <a:schemeClr val="dk1"/>
                          </a:solidFill>
                          <a:effectLst/>
                          <a:latin typeface="+mn-lt"/>
                          <a:ea typeface="+mn-ea"/>
                          <a:cs typeface="+mn-cs"/>
                        </a:rPr>
                        <a:t>dons ou d'assistance en nature</a:t>
                      </a:r>
                    </a:p>
                    <a:p>
                      <a:pPr marL="285750" indent="-285750">
                        <a:buFontTx/>
                        <a:buChar char="-"/>
                      </a:pPr>
                      <a:r>
                        <a:rPr lang="fr-FR" sz="1800" b="0" i="0" kern="1200" dirty="0">
                          <a:solidFill>
                            <a:schemeClr val="dk1"/>
                          </a:solidFill>
                          <a:effectLst/>
                          <a:latin typeface="+mn-lt"/>
                          <a:ea typeface="+mn-ea"/>
                          <a:cs typeface="+mn-cs"/>
                        </a:rPr>
                        <a:t>Propre production: produits, cueillis, chassés ou reçus en échange de travail </a:t>
                      </a:r>
                      <a:endParaRPr lang="en-GB" dirty="0"/>
                    </a:p>
                  </a:txBody>
                  <a:tcPr/>
                </a:tc>
                <a:extLst>
                  <a:ext uri="{0D108BD9-81ED-4DB2-BD59-A6C34878D82A}">
                    <a16:rowId xmlns:a16="http://schemas.microsoft.com/office/drawing/2014/main" val="2464759948"/>
                  </a:ext>
                </a:extLst>
              </a:tr>
              <a:tr h="370840">
                <a:tc>
                  <a:txBody>
                    <a:bodyPr/>
                    <a:lstStyle/>
                    <a:p>
                      <a:r>
                        <a:rPr lang="en-GB" dirty="0"/>
                        <a:t>Non-</a:t>
                      </a:r>
                      <a:r>
                        <a:rPr lang="en-GB" dirty="0" err="1"/>
                        <a:t>alimentaire</a:t>
                      </a:r>
                      <a:endParaRPr lang="en-GB" dirty="0"/>
                    </a:p>
                  </a:txBody>
                  <a:tcPr/>
                </a:tc>
                <a:tc>
                  <a:txBody>
                    <a:bodyPr/>
                    <a:lstStyle/>
                    <a:p>
                      <a:r>
                        <a:rPr lang="en-GB" dirty="0"/>
                        <a:t>30 </a:t>
                      </a:r>
                      <a:r>
                        <a:rPr lang="en-GB" dirty="0" err="1"/>
                        <a:t>derniers</a:t>
                      </a:r>
                      <a:r>
                        <a:rPr lang="en-GB" dirty="0"/>
                        <a:t> </a:t>
                      </a:r>
                      <a:r>
                        <a:rPr lang="en-GB" dirty="0" err="1"/>
                        <a:t>jours</a:t>
                      </a:r>
                      <a:endParaRPr lang="en-GB" dirty="0"/>
                    </a:p>
                  </a:txBody>
                  <a:tcPr/>
                </a:tc>
                <a:tc>
                  <a:txBody>
                    <a:bodyPr/>
                    <a:lstStyle/>
                    <a:p>
                      <a:pPr marL="285750" indent="-285750">
                        <a:buFontTx/>
                        <a:buChar char="-"/>
                      </a:pPr>
                      <a:r>
                        <a:rPr lang="fr-FR" sz="1800" b="0" i="0" kern="1200" dirty="0">
                          <a:solidFill>
                            <a:schemeClr val="dk1"/>
                          </a:solidFill>
                          <a:effectLst/>
                          <a:latin typeface="+mn-lt"/>
                          <a:ea typeface="+mn-ea"/>
                          <a:cs typeface="+mn-cs"/>
                        </a:rPr>
                        <a:t>achats effectués au comptant et à crédit</a:t>
                      </a:r>
                    </a:p>
                    <a:p>
                      <a:pPr marL="285750" indent="-285750">
                        <a:buFontTx/>
                        <a:buChar char="-"/>
                      </a:pPr>
                      <a:r>
                        <a:rPr lang="fr-FR" sz="1800" b="0" i="0" kern="1200" dirty="0">
                          <a:solidFill>
                            <a:schemeClr val="dk1"/>
                          </a:solidFill>
                          <a:effectLst/>
                          <a:latin typeface="+mn-lt"/>
                          <a:ea typeface="+mn-ea"/>
                          <a:cs typeface="+mn-cs"/>
                        </a:rPr>
                        <a:t>dons ou d'assistance en nature</a:t>
                      </a:r>
                    </a:p>
                  </a:txBody>
                  <a:tcPr/>
                </a:tc>
                <a:extLst>
                  <a:ext uri="{0D108BD9-81ED-4DB2-BD59-A6C34878D82A}">
                    <a16:rowId xmlns:a16="http://schemas.microsoft.com/office/drawing/2014/main" val="2785971131"/>
                  </a:ext>
                </a:extLst>
              </a:tr>
              <a:tr h="370840">
                <a:tc>
                  <a:txBody>
                    <a:bodyPr/>
                    <a:lstStyle/>
                    <a:p>
                      <a:r>
                        <a:rPr lang="en-GB" dirty="0"/>
                        <a:t>Non-</a:t>
                      </a:r>
                      <a:r>
                        <a:rPr lang="en-GB" dirty="0" err="1"/>
                        <a:t>alimentaire</a:t>
                      </a:r>
                      <a:endParaRPr lang="en-GB" dirty="0"/>
                    </a:p>
                  </a:txBody>
                  <a:tcPr/>
                </a:tc>
                <a:tc>
                  <a:txBody>
                    <a:bodyPr/>
                    <a:lstStyle/>
                    <a:p>
                      <a:r>
                        <a:rPr lang="en-GB" dirty="0"/>
                        <a:t>6 </a:t>
                      </a:r>
                      <a:r>
                        <a:rPr lang="en-GB" dirty="0" err="1"/>
                        <a:t>derniers</a:t>
                      </a:r>
                      <a:r>
                        <a:rPr lang="en-GB" dirty="0"/>
                        <a:t> </a:t>
                      </a:r>
                      <a:r>
                        <a:rPr lang="en-GB" dirty="0" err="1"/>
                        <a:t>mois</a:t>
                      </a:r>
                      <a:endParaRPr lang="en-GB" dirty="0"/>
                    </a:p>
                  </a:txBody>
                  <a:tcPr/>
                </a:tc>
                <a:tc>
                  <a:txBody>
                    <a:bodyPr/>
                    <a:lstStyle/>
                    <a:p>
                      <a:pPr marL="285750" indent="-285750">
                        <a:buFontTx/>
                        <a:buChar char="-"/>
                      </a:pPr>
                      <a:r>
                        <a:rPr lang="fr-FR" sz="1800" b="0" i="0" kern="1200" dirty="0">
                          <a:solidFill>
                            <a:schemeClr val="dk1"/>
                          </a:solidFill>
                          <a:effectLst/>
                          <a:latin typeface="+mn-lt"/>
                          <a:ea typeface="+mn-ea"/>
                          <a:cs typeface="+mn-cs"/>
                        </a:rPr>
                        <a:t>achats effectués au comptant et à crédit</a:t>
                      </a:r>
                    </a:p>
                    <a:p>
                      <a:pPr marL="285750" indent="-285750">
                        <a:buFontTx/>
                        <a:buChar char="-"/>
                      </a:pPr>
                      <a:r>
                        <a:rPr lang="fr-FR" sz="1800" b="0" i="0" kern="1200" dirty="0">
                          <a:solidFill>
                            <a:schemeClr val="dk1"/>
                          </a:solidFill>
                          <a:effectLst/>
                          <a:latin typeface="+mn-lt"/>
                          <a:ea typeface="+mn-ea"/>
                          <a:cs typeface="+mn-cs"/>
                        </a:rPr>
                        <a:t>dons ou d'assistance en nature</a:t>
                      </a:r>
                    </a:p>
                  </a:txBody>
                  <a:tcPr/>
                </a:tc>
                <a:extLst>
                  <a:ext uri="{0D108BD9-81ED-4DB2-BD59-A6C34878D82A}">
                    <a16:rowId xmlns:a16="http://schemas.microsoft.com/office/drawing/2014/main" val="831979812"/>
                  </a:ext>
                </a:extLst>
              </a:tr>
            </a:tbl>
          </a:graphicData>
        </a:graphic>
      </p:graphicFrame>
    </p:spTree>
    <p:extLst>
      <p:ext uri="{BB962C8B-B14F-4D97-AF65-F5344CB8AC3E}">
        <p14:creationId xmlns:p14="http://schemas.microsoft.com/office/powerpoint/2010/main" val="1841478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7181" y="1378973"/>
            <a:ext cx="11052000" cy="4100053"/>
          </a:xfrm>
        </p:spPr>
        <p:txBody>
          <a:bodyPr vert="horz" lIns="91440" tIns="45720" rIns="91440" bIns="45720" rtlCol="0" anchor="t">
            <a:noAutofit/>
          </a:bodyPr>
          <a:lstStyle/>
          <a:p>
            <a:pPr>
              <a:buFontTx/>
              <a:buChar char="-"/>
            </a:pPr>
            <a:r>
              <a:rPr lang="fr-FR" spc="60" dirty="0">
                <a:latin typeface="Open Sans"/>
                <a:ea typeface="Open Sans"/>
                <a:cs typeface="Open Sans"/>
              </a:rPr>
              <a:t>Même si, pour simplifier, nous l'appelons "module de dépenses", nous posons en fait deux questions :</a:t>
            </a:r>
          </a:p>
          <a:p>
            <a:pPr lvl="1">
              <a:buFontTx/>
              <a:buChar char="-"/>
            </a:pPr>
            <a:r>
              <a:rPr lang="fr-FR" spc="60" dirty="0">
                <a:latin typeface="Open Sans"/>
                <a:ea typeface="Open Sans"/>
                <a:cs typeface="Open Sans"/>
              </a:rPr>
              <a:t>Pour les articles achetés, nous demandons ce que le ménage a acheté et combien il a dépensé pour ces achats</a:t>
            </a:r>
          </a:p>
          <a:p>
            <a:pPr lvl="1">
              <a:buFontTx/>
              <a:buChar char="-"/>
            </a:pPr>
            <a:r>
              <a:rPr lang="fr-FR" spc="60" dirty="0">
                <a:latin typeface="Open Sans"/>
                <a:ea typeface="Open Sans"/>
                <a:cs typeface="Open Sans"/>
              </a:rPr>
              <a:t>Pour les articles non achetés, nous demandons ce que le ménage a consommé et quelle est sa valeur.</a:t>
            </a:r>
          </a:p>
          <a:p>
            <a:pPr>
              <a:buFontTx/>
              <a:buChar char="-"/>
            </a:pPr>
            <a:r>
              <a:rPr lang="fr-FR" spc="60" dirty="0">
                <a:latin typeface="Open Sans"/>
                <a:ea typeface="Open Sans"/>
                <a:cs typeface="Open Sans"/>
              </a:rPr>
              <a:t>Notre objectif est de quantifier la valeur de ce que les ménages consomment. les ménages consomment</a:t>
            </a:r>
          </a:p>
          <a:p>
            <a:pPr>
              <a:buFontTx/>
              <a:buChar char="-"/>
            </a:pPr>
            <a:r>
              <a:rPr lang="fr-FR" spc="60" dirty="0">
                <a:latin typeface="Open Sans"/>
                <a:ea typeface="Open Sans"/>
                <a:cs typeface="Open Sans"/>
              </a:rPr>
              <a:t>Que se passerait-il si nous ne posions des questions que sur les achats ?</a:t>
            </a:r>
            <a:endParaRPr lang="en-US" spc="60" dirty="0"/>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précision</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importante</a:t>
            </a:r>
            <a:endParaRPr lang="en-GB" sz="3600" b="0" kern="1400" spc="230" dirty="0">
              <a:solidFill>
                <a:schemeClr val="tx1"/>
              </a:solidFill>
              <a:latin typeface="HALDEN SOLID" pitchFamily="2" charset="0"/>
            </a:endParaRPr>
          </a:p>
        </p:txBody>
      </p:sp>
    </p:spTree>
    <p:extLst>
      <p:ext uri="{BB962C8B-B14F-4D97-AF65-F5344CB8AC3E}">
        <p14:creationId xmlns:p14="http://schemas.microsoft.com/office/powerpoint/2010/main" val="976745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642605" y="2231809"/>
            <a:ext cx="9472066" cy="3324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sz="3400" b="0" dirty="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a:lnSpc>
                <a:spcPts val="3920"/>
              </a:lnSpc>
            </a:pPr>
            <a:r>
              <a:rPr lang="it-IT" sz="4700" b="0" kern="1400" spc="230" dirty="0">
                <a:solidFill>
                  <a:srgbClr val="FFFFFE"/>
                </a:solidFill>
                <a:latin typeface="HALDEN SOLID" pitchFamily="2" charset="0"/>
                <a:ea typeface="Open Sans Extrabold" panose="020B0606030504020204" pitchFamily="34" charset="0"/>
                <a:cs typeface="Open Sans Extrabold" panose="020B0606030504020204" pitchFamily="34" charset="0"/>
              </a:rPr>
              <a:t>Module des dépenses</a:t>
            </a:r>
          </a:p>
          <a:p>
            <a:pPr marL="742950" indent="-742950">
              <a:lnSpc>
                <a:spcPts val="3920"/>
              </a:lnSpc>
              <a:buAutoNum type="arabicPeriod"/>
            </a:pPr>
            <a:r>
              <a:rPr lang="it-IT" sz="2800" b="0" kern="1400" spc="230" dirty="0">
                <a:solidFill>
                  <a:schemeClr val="accent2"/>
                </a:solidFill>
                <a:latin typeface="HALDEN SOLID" pitchFamily="2" charset="0"/>
                <a:ea typeface="Open Sans Extrabold" panose="020B0606030504020204" pitchFamily="34" charset="0"/>
                <a:cs typeface="Open Sans Extrabold" panose="020B0606030504020204" pitchFamily="34" charset="0"/>
              </a:rPr>
              <a:t>Dépenses alimentaires</a:t>
            </a:r>
          </a:p>
          <a:p>
            <a:pPr marL="742950" indent="-742950">
              <a:lnSpc>
                <a:spcPts val="3920"/>
              </a:lnSpc>
              <a:buAutoNum type="arabicPeriod"/>
            </a:pPr>
            <a:r>
              <a:rPr lang="it-IT" sz="2800" b="0" kern="1400" spc="230" dirty="0">
                <a:solidFill>
                  <a:srgbClr val="FFFFFE"/>
                </a:solidFill>
                <a:latin typeface="HALDEN SOLID" pitchFamily="2" charset="0"/>
                <a:ea typeface="Open Sans Extrabold" panose="020B0606030504020204" pitchFamily="34" charset="0"/>
                <a:cs typeface="Open Sans Extrabold" panose="020B0606030504020204" pitchFamily="34" charset="0"/>
              </a:rPr>
              <a:t>Dépenses non-alimentaires</a:t>
            </a:r>
          </a:p>
          <a:p>
            <a:pPr marL="1200150" lvl="1" indent="-742950">
              <a:lnSpc>
                <a:spcPts val="3920"/>
              </a:lnSpc>
              <a:buFont typeface="Wingdings" panose="05000000000000000000" pitchFamily="2" charset="2"/>
              <a:buChar char="§"/>
            </a:pPr>
            <a:r>
              <a:rPr lang="it-IT" sz="2400" kern="1400" spc="230" dirty="0">
                <a:solidFill>
                  <a:srgbClr val="FFFFFF"/>
                </a:solidFill>
                <a:latin typeface="HALDEN SOLID" pitchFamily="2" charset="0"/>
                <a:ea typeface="Open Sans Extrabold" panose="020B0606030504020204" pitchFamily="34" charset="0"/>
                <a:cs typeface="Open Sans Extrabold" panose="020B0606030504020204" pitchFamily="34" charset="0"/>
              </a:rPr>
              <a:t>30 jours</a:t>
            </a:r>
          </a:p>
          <a:p>
            <a:pPr marL="1200150" lvl="1" indent="-742950">
              <a:lnSpc>
                <a:spcPts val="3920"/>
              </a:lnSpc>
              <a:buFont typeface="Wingdings" panose="05000000000000000000" pitchFamily="2" charset="2"/>
              <a:buChar char="§"/>
            </a:pPr>
            <a:r>
              <a:rPr lang="it-IT" sz="2400" kern="1400" spc="230" dirty="0">
                <a:solidFill>
                  <a:srgbClr val="FFFFFF"/>
                </a:solidFill>
                <a:latin typeface="HALDEN SOLID" pitchFamily="2" charset="0"/>
                <a:ea typeface="Open Sans Extrabold" panose="020B0606030504020204" pitchFamily="34" charset="0"/>
                <a:cs typeface="Open Sans Extrabold" panose="020B0606030504020204" pitchFamily="34" charset="0"/>
              </a:rPr>
              <a:t>6 mois</a:t>
            </a:r>
          </a:p>
          <a:p>
            <a:pPr>
              <a:lnSpc>
                <a:spcPts val="3920"/>
              </a:lnSpc>
            </a:pPr>
            <a:endParaRPr lang="en-GB" sz="2800" b="0" kern="1400" spc="230" dirty="0">
              <a:solidFill>
                <a:srgbClr val="FFFFFE"/>
              </a:solidFill>
              <a:latin typeface="HALDEN SOLID" pitchFamily="2" charset="0"/>
              <a:ea typeface="Open Sans Extrabold" panose="020B0606030504020204" pitchFamily="34" charset="0"/>
              <a:cs typeface="Open Sans Extrabold" panose="020B0606030504020204" pitchFamily="34" charset="0"/>
            </a:endParaRPr>
          </a:p>
        </p:txBody>
      </p:sp>
    </p:spTree>
    <p:extLst>
      <p:ext uri="{BB962C8B-B14F-4D97-AF65-F5344CB8AC3E}">
        <p14:creationId xmlns:p14="http://schemas.microsoft.com/office/powerpoint/2010/main" val="228494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1F7DF13-6F1D-46FA-AD05-B2E39F9C6737}"/>
              </a:ext>
            </a:extLst>
          </p:cNvPr>
          <p:cNvSpPr>
            <a:spLocks noGrp="1"/>
          </p:cNvSpPr>
          <p:nvPr>
            <p:ph idx="1"/>
          </p:nvPr>
        </p:nvSpPr>
        <p:spPr>
          <a:xfrm>
            <a:off x="717181" y="1789968"/>
            <a:ext cx="5249689" cy="4100053"/>
          </a:xfrm>
        </p:spPr>
        <p:txBody>
          <a:bodyPr/>
          <a:lstStyle/>
          <a:p>
            <a:pPr marL="0" indent="0">
              <a:buNone/>
            </a:pPr>
            <a:r>
              <a:rPr lang="fr-FR" sz="2400" b="1" dirty="0"/>
              <a:t>Aliments:</a:t>
            </a:r>
          </a:p>
          <a:p>
            <a:r>
              <a:rPr lang="fr-FR" dirty="0"/>
              <a:t>aliments de base (tels que céréales, tubercules, légumineuses)</a:t>
            </a:r>
          </a:p>
          <a:p>
            <a:r>
              <a:rPr lang="fr-FR" dirty="0"/>
              <a:t>aliments riches en protéines (tels que la viande, les œufs, le poisson, le lait et les produits laitiers)</a:t>
            </a:r>
          </a:p>
          <a:p>
            <a:r>
              <a:rPr lang="en-GB" dirty="0"/>
              <a:t>fruits et legumes</a:t>
            </a:r>
          </a:p>
          <a:p>
            <a:r>
              <a:rPr lang="fr-FR" dirty="0"/>
              <a:t>autres produits alimentaires (huile, sucre, noix, bonbons, condiments, boissons, etc.) </a:t>
            </a:r>
            <a:endParaRPr lang="en-GB" dirty="0"/>
          </a:p>
        </p:txBody>
      </p:sp>
      <p:sp>
        <p:nvSpPr>
          <p:cNvPr id="9" name="Content Placeholder 6">
            <a:extLst>
              <a:ext uri="{FF2B5EF4-FFF2-40B4-BE49-F238E27FC236}">
                <a16:creationId xmlns:a16="http://schemas.microsoft.com/office/drawing/2014/main" id="{06EB627C-B61B-4A44-800B-8A456D03B3D6}"/>
              </a:ext>
            </a:extLst>
          </p:cNvPr>
          <p:cNvSpPr txBox="1">
            <a:spLocks/>
          </p:cNvSpPr>
          <p:nvPr/>
        </p:nvSpPr>
        <p:spPr>
          <a:xfrm>
            <a:off x="6243182" y="1832213"/>
            <a:ext cx="5249689" cy="4100053"/>
          </a:xfrm>
          <a:prstGeom prst="rect">
            <a:avLst/>
          </a:prstGeom>
        </p:spPr>
        <p:txBody>
          <a:bodyPr vert="horz" lIns="91440" tIns="45720" rIns="91440" bIns="45720" rtlCol="0">
            <a:noAutofit/>
          </a:bodyPr>
          <a:lstStyle>
            <a:lvl1pPr marL="342900" indent="-342900" algn="l" defTabSz="914400" rtl="0" eaLnBrk="1" latinLnBrk="0" hangingPunct="1">
              <a:lnSpc>
                <a:spcPct val="100000"/>
              </a:lnSpc>
              <a:spcBef>
                <a:spcPts val="1000"/>
              </a:spcBef>
              <a:buClr>
                <a:srgbClr val="0070BA"/>
              </a:buClr>
              <a:buFont typeface="Arial" charset="0"/>
              <a:buChar char="•"/>
              <a:defRPr sz="2000" b="0" i="0" kern="1200" baseline="0">
                <a:solidFill>
                  <a:schemeClr val="tx1"/>
                </a:solidFill>
                <a:latin typeface="Open Sans" charset="0"/>
                <a:ea typeface="Open Sans" charset="0"/>
                <a:cs typeface="Open Sans" charset="0"/>
              </a:defRPr>
            </a:lvl1pPr>
            <a:lvl2pPr marL="742950" indent="-285750" algn="l" defTabSz="914400" rtl="0" eaLnBrk="1" latinLnBrk="0" hangingPunct="1">
              <a:lnSpc>
                <a:spcPct val="100000"/>
              </a:lnSpc>
              <a:spcBef>
                <a:spcPts val="500"/>
              </a:spcBef>
              <a:buClr>
                <a:srgbClr val="0070BA"/>
              </a:buClr>
              <a:buFont typeface="Arial" charset="0"/>
              <a:buChar char="•"/>
              <a:defRPr sz="1800" b="0" i="0" kern="1200" baseline="0">
                <a:solidFill>
                  <a:schemeClr val="tx1"/>
                </a:solidFill>
                <a:latin typeface="Open Sans" charset="0"/>
                <a:ea typeface="Open Sans" charset="0"/>
                <a:cs typeface="Open Sans" charset="0"/>
              </a:defRPr>
            </a:lvl2pPr>
            <a:lvl3pPr marL="1200150" indent="-285750" algn="l" defTabSz="914400" rtl="0" eaLnBrk="1" latinLnBrk="0" hangingPunct="1">
              <a:lnSpc>
                <a:spcPct val="100000"/>
              </a:lnSpc>
              <a:spcBef>
                <a:spcPts val="500"/>
              </a:spcBef>
              <a:buClr>
                <a:srgbClr val="0070BA"/>
              </a:buClr>
              <a:buFont typeface="Arial" charset="0"/>
              <a:buChar char="•"/>
              <a:defRPr sz="1600" b="0" i="0" kern="1200" baseline="0">
                <a:solidFill>
                  <a:schemeClr val="tx1"/>
                </a:solidFill>
                <a:latin typeface="Open Sans" charset="0"/>
                <a:ea typeface="Open Sans" charset="0"/>
                <a:cs typeface="Open Sans" charset="0"/>
              </a:defRPr>
            </a:lvl3pPr>
            <a:lvl4pPr marL="1657350" indent="-285750" algn="l" defTabSz="914400" rtl="0" eaLnBrk="1" latinLnBrk="0" hangingPunct="1">
              <a:lnSpc>
                <a:spcPct val="100000"/>
              </a:lnSpc>
              <a:spcBef>
                <a:spcPts val="500"/>
              </a:spcBef>
              <a:buClr>
                <a:srgbClr val="0070BA"/>
              </a:buClr>
              <a:buFont typeface="Arial" charset="0"/>
              <a:buChar char="•"/>
              <a:defRPr sz="1400" b="0" i="0" kern="1200">
                <a:solidFill>
                  <a:schemeClr val="tx1"/>
                </a:solidFill>
                <a:latin typeface="Open Sans" charset="0"/>
                <a:ea typeface="Open Sans" charset="0"/>
                <a:cs typeface="Open Sans" charset="0"/>
              </a:defRPr>
            </a:lvl4pPr>
            <a:lvl5pPr marL="2114550" indent="-285750" algn="l" defTabSz="914400" rtl="0" eaLnBrk="1" latinLnBrk="0" hangingPunct="1">
              <a:lnSpc>
                <a:spcPct val="100000"/>
              </a:lnSpc>
              <a:spcBef>
                <a:spcPts val="500"/>
              </a:spcBef>
              <a:buClr>
                <a:srgbClr val="0070BA"/>
              </a:buClr>
              <a:buFont typeface="Arial" charset="0"/>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fr-FR" sz="2400" b="1" dirty="0"/>
              <a:t>Source de consommation:</a:t>
            </a:r>
          </a:p>
          <a:p>
            <a:r>
              <a:rPr lang="fr-FR" dirty="0"/>
              <a:t>achats effectués au comptant et à crédit</a:t>
            </a:r>
          </a:p>
          <a:p>
            <a:r>
              <a:rPr lang="fr-FR" dirty="0"/>
              <a:t>dons en nature ou d'une assistance </a:t>
            </a:r>
          </a:p>
          <a:p>
            <a:r>
              <a:rPr lang="fr-FR" dirty="0"/>
              <a:t>produits, cueillis, chassés ou reçus en échange de travail par votre ménage</a:t>
            </a:r>
            <a:endParaRPr lang="en-GB" dirty="0"/>
          </a:p>
        </p:txBody>
      </p:sp>
      <p:sp>
        <p:nvSpPr>
          <p:cNvPr id="10" name="Title 3">
            <a:extLst>
              <a:ext uri="{FF2B5EF4-FFF2-40B4-BE49-F238E27FC236}">
                <a16:creationId xmlns:a16="http://schemas.microsoft.com/office/drawing/2014/main" id="{C0B68B8D-656C-4ABF-BE99-36E7BBC19096}"/>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Dépenses</a:t>
            </a:r>
            <a:r>
              <a:rPr lang="en-GB" sz="3600" b="0" kern="1400" spc="230" dirty="0">
                <a:solidFill>
                  <a:schemeClr val="tx1"/>
                </a:solidFill>
                <a:latin typeface="HALDEN SOLID" pitchFamily="2" charset="0"/>
              </a:rPr>
              <a:t> </a:t>
            </a:r>
            <a:r>
              <a:rPr lang="en-GB" sz="3600" b="0" kern="1400" spc="230" dirty="0" err="1">
                <a:solidFill>
                  <a:schemeClr val="tx1"/>
                </a:solidFill>
                <a:latin typeface="HALDEN SOLID" pitchFamily="2" charset="0"/>
              </a:rPr>
              <a:t>alimentaires</a:t>
            </a:r>
            <a:endParaRPr lang="en-GB" sz="3600" b="0" kern="1400" spc="230" dirty="0">
              <a:solidFill>
                <a:schemeClr val="tx1"/>
              </a:solidFill>
              <a:latin typeface="HALDEN SOLID" pitchFamily="2" charset="0"/>
            </a:endParaRPr>
          </a:p>
        </p:txBody>
      </p:sp>
      <p:sp>
        <p:nvSpPr>
          <p:cNvPr id="11" name="TextBox 10">
            <a:extLst>
              <a:ext uri="{FF2B5EF4-FFF2-40B4-BE49-F238E27FC236}">
                <a16:creationId xmlns:a16="http://schemas.microsoft.com/office/drawing/2014/main" id="{39267880-DBEA-4A99-A652-127B1CFE52C7}"/>
              </a:ext>
            </a:extLst>
          </p:cNvPr>
          <p:cNvSpPr txBox="1"/>
          <p:nvPr/>
        </p:nvSpPr>
        <p:spPr>
          <a:xfrm>
            <a:off x="4539916" y="5932266"/>
            <a:ext cx="5085347" cy="523220"/>
          </a:xfrm>
          <a:prstGeom prst="rect">
            <a:avLst/>
          </a:prstGeom>
          <a:noFill/>
        </p:spPr>
        <p:txBody>
          <a:bodyPr wrap="square" rtlCol="0">
            <a:spAutoFit/>
          </a:bodyPr>
          <a:lstStyle/>
          <a:p>
            <a:r>
              <a:rPr lang="en-GB" sz="28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7 </a:t>
            </a:r>
            <a:r>
              <a:rPr lang="en-GB" sz="2800" b="1" dirty="0" err="1">
                <a:solidFill>
                  <a:schemeClr val="accent2"/>
                </a:solidFill>
                <a:latin typeface="Open Sans" panose="020B0606030504020204" pitchFamily="34" charset="0"/>
                <a:ea typeface="Open Sans" panose="020B0606030504020204" pitchFamily="34" charset="0"/>
                <a:cs typeface="Open Sans" panose="020B0606030504020204" pitchFamily="34" charset="0"/>
              </a:rPr>
              <a:t>derniers</a:t>
            </a:r>
            <a:r>
              <a:rPr lang="en-GB" sz="28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 </a:t>
            </a:r>
            <a:r>
              <a:rPr lang="en-GB" sz="2800" b="1" dirty="0" err="1">
                <a:solidFill>
                  <a:schemeClr val="accent2"/>
                </a:solidFill>
                <a:latin typeface="Open Sans" panose="020B0606030504020204" pitchFamily="34" charset="0"/>
                <a:ea typeface="Open Sans" panose="020B0606030504020204" pitchFamily="34" charset="0"/>
                <a:cs typeface="Open Sans" panose="020B0606030504020204" pitchFamily="34" charset="0"/>
              </a:rPr>
              <a:t>jours</a:t>
            </a:r>
            <a:endParaRPr lang="en-GB" sz="2800" b="1"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789236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1F7DF13-6F1D-46FA-AD05-B2E39F9C6737}"/>
              </a:ext>
            </a:extLst>
          </p:cNvPr>
          <p:cNvSpPr>
            <a:spLocks noGrp="1"/>
          </p:cNvSpPr>
          <p:nvPr>
            <p:ph idx="1"/>
          </p:nvPr>
        </p:nvSpPr>
        <p:spPr>
          <a:xfrm>
            <a:off x="717181" y="1378974"/>
            <a:ext cx="9581851" cy="4511048"/>
          </a:xfrm>
        </p:spPr>
        <p:txBody>
          <a:bodyPr/>
          <a:lstStyle/>
          <a:p>
            <a:pPr marL="0" indent="0">
              <a:buNone/>
            </a:pPr>
            <a:r>
              <a:rPr lang="fr-FR" dirty="0"/>
              <a:t>En tenant compte des achats effectués au comptant et à crédit, combien votre ménage a-t-il dépensé en [……]  destinés à la consommation du ménage au cours des </a:t>
            </a:r>
            <a:r>
              <a:rPr lang="fr-FR" b="1" dirty="0">
                <a:solidFill>
                  <a:schemeClr val="accent1"/>
                </a:solidFill>
              </a:rPr>
              <a:t>7 derniers jours </a:t>
            </a:r>
            <a:r>
              <a:rPr lang="fr-FR" dirty="0"/>
              <a:t>?</a:t>
            </a:r>
          </a:p>
          <a:p>
            <a:pPr lvl="1"/>
            <a:r>
              <a:rPr lang="fr-FR" dirty="0"/>
              <a:t>Nous voulons savoir ce qui a été effectivement dépensé pour l'achat, indépendamment de la quantité consommée</a:t>
            </a:r>
          </a:p>
          <a:p>
            <a:pPr lvl="1"/>
            <a:r>
              <a:rPr lang="fr-FR" dirty="0"/>
              <a:t>Pour la consommation des ménages : signifie que nous ne prenons pas en considération les achats effectués pour faire des cadeaux ou pour nourrir des animaux.</a:t>
            </a:r>
          </a:p>
          <a:p>
            <a:pPr lvl="1"/>
            <a:r>
              <a:rPr lang="fr-FR" dirty="0"/>
              <a:t>Espèces : comprend également les bons de valeur ; la source des espèces n'a pas d'importance (par exemple, traitement différent des achats effectués avec une aide en espèces).- </a:t>
            </a:r>
          </a:p>
          <a:p>
            <a:pPr lvl="1"/>
            <a:r>
              <a:rPr lang="fr-FR" dirty="0"/>
              <a:t>Crédit : lorsque le ménage achète quelque chose maintenant mais le rembourse plus tard.</a:t>
            </a:r>
          </a:p>
          <a:p>
            <a:pPr lvl="1"/>
            <a:r>
              <a:rPr lang="fr-FR" dirty="0"/>
              <a:t>Pour les achats effectués à crédit, indiquez le montant que le ménage devra rembourser à l'avenir → ne pas indiquer zéro. </a:t>
            </a:r>
            <a:endParaRPr lang="en-GB" dirty="0"/>
          </a:p>
        </p:txBody>
      </p:sp>
      <p:sp>
        <p:nvSpPr>
          <p:cNvPr id="10" name="Title 3">
            <a:extLst>
              <a:ext uri="{FF2B5EF4-FFF2-40B4-BE49-F238E27FC236}">
                <a16:creationId xmlns:a16="http://schemas.microsoft.com/office/drawing/2014/main" id="{C0B68B8D-656C-4ABF-BE99-36E7BBC19096}"/>
              </a:ext>
            </a:extLst>
          </p:cNvPr>
          <p:cNvSpPr>
            <a:spLocks noGrp="1"/>
          </p:cNvSpPr>
          <p:nvPr>
            <p:ph type="title"/>
          </p:nvPr>
        </p:nvSpPr>
        <p:spPr>
          <a:xfrm>
            <a:off x="717181" y="716415"/>
            <a:ext cx="11052002" cy="662558"/>
          </a:xfrm>
        </p:spPr>
        <p:txBody>
          <a:bodyPr anchor="t" anchorCtr="0"/>
          <a:lstStyle/>
          <a:p>
            <a:r>
              <a:rPr lang="en-GB" sz="3200" b="0" kern="1400" spc="230" dirty="0" err="1">
                <a:solidFill>
                  <a:schemeClr val="tx1"/>
                </a:solidFill>
                <a:latin typeface="HALDEN SOLID" pitchFamily="2" charset="0"/>
              </a:rPr>
              <a:t>Dépenses</a:t>
            </a:r>
            <a:r>
              <a:rPr lang="en-GB" sz="3200" b="0" kern="1400" spc="230" dirty="0">
                <a:solidFill>
                  <a:schemeClr val="tx1"/>
                </a:solidFill>
                <a:latin typeface="HALDEN SOLID" pitchFamily="2" charset="0"/>
              </a:rPr>
              <a:t> </a:t>
            </a:r>
            <a:r>
              <a:rPr lang="en-GB" sz="3200" b="0" kern="1400" spc="230" dirty="0" err="1">
                <a:solidFill>
                  <a:schemeClr val="tx1"/>
                </a:solidFill>
                <a:latin typeface="HALDEN SOLID" pitchFamily="2" charset="0"/>
              </a:rPr>
              <a:t>alimentaires</a:t>
            </a:r>
            <a:r>
              <a:rPr lang="en-GB" sz="3200" b="0" kern="1400" spc="230" dirty="0">
                <a:solidFill>
                  <a:schemeClr val="tx1"/>
                </a:solidFill>
                <a:latin typeface="HALDEN SOLID" pitchFamily="2" charset="0"/>
              </a:rPr>
              <a:t> – au </a:t>
            </a:r>
            <a:r>
              <a:rPr lang="en-GB" sz="3200" b="0" kern="1400" spc="230" dirty="0" err="1">
                <a:solidFill>
                  <a:schemeClr val="tx1"/>
                </a:solidFill>
                <a:latin typeface="HALDEN SOLID" pitchFamily="2" charset="0"/>
              </a:rPr>
              <a:t>comptant</a:t>
            </a:r>
            <a:r>
              <a:rPr lang="en-GB" sz="3200" b="0" kern="1400" spc="230" dirty="0">
                <a:solidFill>
                  <a:schemeClr val="tx1"/>
                </a:solidFill>
                <a:latin typeface="HALDEN SOLID" pitchFamily="2" charset="0"/>
              </a:rPr>
              <a:t>/cash et a credit</a:t>
            </a:r>
          </a:p>
        </p:txBody>
      </p:sp>
    </p:spTree>
    <p:extLst>
      <p:ext uri="{BB962C8B-B14F-4D97-AF65-F5344CB8AC3E}">
        <p14:creationId xmlns:p14="http://schemas.microsoft.com/office/powerpoint/2010/main" val="2460753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1F7DF13-6F1D-46FA-AD05-B2E39F9C6737}"/>
              </a:ext>
            </a:extLst>
          </p:cNvPr>
          <p:cNvSpPr>
            <a:spLocks noGrp="1"/>
          </p:cNvSpPr>
          <p:nvPr>
            <p:ph idx="1"/>
          </p:nvPr>
        </p:nvSpPr>
        <p:spPr>
          <a:xfrm>
            <a:off x="717181" y="1378974"/>
            <a:ext cx="9581851" cy="4511048"/>
          </a:xfrm>
        </p:spPr>
        <p:txBody>
          <a:bodyPr/>
          <a:lstStyle/>
          <a:p>
            <a:pPr marL="0" indent="0">
              <a:buNone/>
            </a:pPr>
            <a:r>
              <a:rPr lang="fr-FR" dirty="0"/>
              <a:t>Quelle est la valeur des […] provenant de dons ou d'assistance en nature que votre ménage a consommés au cours des 7 derniers jours ?</a:t>
            </a:r>
          </a:p>
          <a:p>
            <a:pPr lvl="1"/>
            <a:r>
              <a:rPr lang="fr-FR" dirty="0"/>
              <a:t>Ici, nous voulons savoir combien le ménage a consommé d'aide en nature ou de cadeaux en nature. Il ne s'agit pas d'une simple réception sans consommation.</a:t>
            </a:r>
          </a:p>
          <a:p>
            <a:pPr lvl="1"/>
            <a:r>
              <a:rPr lang="fr-FR" dirty="0"/>
              <a:t>Ici, le répondant doit fournir une estimation du coût équivalent de l'article reçu, s'il devait l'acheter lui-même.</a:t>
            </a:r>
          </a:p>
          <a:p>
            <a:pPr lvl="1"/>
            <a:r>
              <a:rPr lang="fr-FR" dirty="0"/>
              <a:t>Si un article spécifique n'existe pas sur le marché local, l'estimation doit être basée sur la valeur d'articles comparables.</a:t>
            </a:r>
          </a:p>
          <a:p>
            <a:pPr lvl="1"/>
            <a:r>
              <a:rPr lang="fr-FR" dirty="0"/>
              <a:t>L'aide en nature et les cadeaux comprennent : ONG, agences des Nations unies, gouvernement ; autorités religieuses ; cadeaux de la famille et des amis ; emprunts auprès de la famille et des amis ; mendicité.</a:t>
            </a:r>
          </a:p>
          <a:p>
            <a:pPr lvl="1"/>
            <a:r>
              <a:rPr lang="fr-FR" dirty="0"/>
              <a:t>Rappelez-vous que nous ne nous intéressons qu'à l'aide en nature et aux cadeaux en nature, et non au fait que le ménage a consommé quelque chose grâce à l'argent reçu sous forme d'aide/de cadeau.</a:t>
            </a:r>
            <a:endParaRPr lang="en-GB" dirty="0"/>
          </a:p>
        </p:txBody>
      </p:sp>
      <p:sp>
        <p:nvSpPr>
          <p:cNvPr id="10" name="Title 3">
            <a:extLst>
              <a:ext uri="{FF2B5EF4-FFF2-40B4-BE49-F238E27FC236}">
                <a16:creationId xmlns:a16="http://schemas.microsoft.com/office/drawing/2014/main" id="{C0B68B8D-656C-4ABF-BE99-36E7BBC19096}"/>
              </a:ext>
            </a:extLst>
          </p:cNvPr>
          <p:cNvSpPr>
            <a:spLocks noGrp="1"/>
          </p:cNvSpPr>
          <p:nvPr>
            <p:ph type="title"/>
          </p:nvPr>
        </p:nvSpPr>
        <p:spPr>
          <a:xfrm>
            <a:off x="717181" y="716415"/>
            <a:ext cx="11052002" cy="662558"/>
          </a:xfrm>
        </p:spPr>
        <p:txBody>
          <a:bodyPr anchor="t" anchorCtr="0"/>
          <a:lstStyle/>
          <a:p>
            <a:r>
              <a:rPr lang="en-GB" sz="3200" b="0" kern="1400" spc="230" dirty="0" err="1">
                <a:solidFill>
                  <a:schemeClr val="tx1"/>
                </a:solidFill>
                <a:latin typeface="HALDEN SOLID" pitchFamily="2" charset="0"/>
              </a:rPr>
              <a:t>Dépenses</a:t>
            </a:r>
            <a:r>
              <a:rPr lang="en-GB" sz="3200" b="0" kern="1400" spc="230" dirty="0">
                <a:solidFill>
                  <a:schemeClr val="tx1"/>
                </a:solidFill>
                <a:latin typeface="HALDEN SOLID" pitchFamily="2" charset="0"/>
              </a:rPr>
              <a:t> </a:t>
            </a:r>
            <a:r>
              <a:rPr lang="en-GB" sz="3200" b="0" kern="1400" spc="230" dirty="0" err="1">
                <a:solidFill>
                  <a:schemeClr val="tx1"/>
                </a:solidFill>
                <a:latin typeface="HALDEN SOLID" pitchFamily="2" charset="0"/>
              </a:rPr>
              <a:t>alimentaires</a:t>
            </a:r>
            <a:r>
              <a:rPr lang="en-GB" sz="3200" b="0" kern="1400" spc="230" dirty="0">
                <a:solidFill>
                  <a:schemeClr val="tx1"/>
                </a:solidFill>
                <a:latin typeface="HALDEN SOLID" pitchFamily="2" charset="0"/>
              </a:rPr>
              <a:t> – </a:t>
            </a:r>
            <a:r>
              <a:rPr lang="fr-FR" sz="3200" b="0" kern="1400" spc="230" dirty="0">
                <a:solidFill>
                  <a:schemeClr val="tx1"/>
                </a:solidFill>
                <a:latin typeface="HALDEN SOLID" pitchFamily="2" charset="0"/>
              </a:rPr>
              <a:t>dons ou d'assistance en nature </a:t>
            </a:r>
            <a:endParaRPr lang="en-GB" sz="3200" b="0" kern="1400" spc="230" dirty="0">
              <a:solidFill>
                <a:schemeClr val="tx1"/>
              </a:solidFill>
              <a:latin typeface="HALDEN SOLID" pitchFamily="2" charset="0"/>
            </a:endParaRPr>
          </a:p>
        </p:txBody>
      </p:sp>
    </p:spTree>
    <p:extLst>
      <p:ext uri="{BB962C8B-B14F-4D97-AF65-F5344CB8AC3E}">
        <p14:creationId xmlns:p14="http://schemas.microsoft.com/office/powerpoint/2010/main" val="876206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1F7DF13-6F1D-46FA-AD05-B2E39F9C6737}"/>
              </a:ext>
            </a:extLst>
          </p:cNvPr>
          <p:cNvSpPr>
            <a:spLocks noGrp="1"/>
          </p:cNvSpPr>
          <p:nvPr>
            <p:ph idx="1"/>
          </p:nvPr>
        </p:nvSpPr>
        <p:spPr>
          <a:xfrm>
            <a:off x="717181" y="1378974"/>
            <a:ext cx="9581851" cy="4511048"/>
          </a:xfrm>
        </p:spPr>
        <p:txBody>
          <a:bodyPr/>
          <a:lstStyle/>
          <a:p>
            <a:pPr marL="0" indent="0">
              <a:buNone/>
            </a:pPr>
            <a:r>
              <a:rPr lang="fr-FR" dirty="0"/>
              <a:t>Quelle est la valeur des aliments [….] produits, cueillis, chassés ou reçus en échange de travail par votre ménage et que celui-ci a consommés au cours des sept derniers jours ?</a:t>
            </a:r>
          </a:p>
          <a:p>
            <a:pPr lvl="1"/>
            <a:r>
              <a:rPr lang="fr-FR" sz="1500" dirty="0"/>
              <a:t>Nous voulons savoir si le ménage a consommé quelque chose provenant de sa propre production, et non s'il l'a simplement produit ou obtenu sans le consommer !</a:t>
            </a:r>
          </a:p>
          <a:p>
            <a:pPr lvl="1"/>
            <a:r>
              <a:rPr lang="fr-FR" sz="1500" dirty="0"/>
              <a:t>Le répondant doit fournir une estimation de ce que coûterait ce qu'il a consommé s'il devait l'acheter → ne pas indiquer la valeur qu'il obtiendrait s'il devait le vendre !</a:t>
            </a:r>
          </a:p>
          <a:p>
            <a:pPr lvl="1"/>
            <a:r>
              <a:rPr lang="fr-FR" sz="1500" dirty="0"/>
              <a:t>Production propre : comprend les aliments produits dans la ferme ou le jardin du ménage, cueillis et chassés dans les champs, les forêts, les rivières, les lacs, la mer, etc., mais aussi les aliments reçus en échange d'un travail (par exemple, dans le cadre de la rémunération d'un travail agricole salarié).</a:t>
            </a:r>
          </a:p>
          <a:p>
            <a:pPr lvl="1"/>
            <a:r>
              <a:rPr lang="fr-FR" sz="1500" dirty="0"/>
              <a:t>L'utilisation des termes "cueilli, chassé ou pêché" dépend de chaque groupe alimentaire spécifique.</a:t>
            </a:r>
          </a:p>
          <a:p>
            <a:pPr lvl="1"/>
            <a:r>
              <a:rPr lang="fr-FR" sz="1500" dirty="0"/>
              <a:t>Le moment où la nourriture a été produite n'a pas d'importance, seul compte le moment où elle a été consommée. consommée. Par exemple, si au cours des 7 derniers jours, le ménage a consommé de la nourriture provenant des stocks d'une production antérieure, cela doit être pris en compte dans le calcul de la valeur de la nourriture.</a:t>
            </a:r>
            <a:endParaRPr lang="en-GB" sz="1500" dirty="0"/>
          </a:p>
        </p:txBody>
      </p:sp>
      <p:sp>
        <p:nvSpPr>
          <p:cNvPr id="10" name="Title 3">
            <a:extLst>
              <a:ext uri="{FF2B5EF4-FFF2-40B4-BE49-F238E27FC236}">
                <a16:creationId xmlns:a16="http://schemas.microsoft.com/office/drawing/2014/main" id="{C0B68B8D-656C-4ABF-BE99-36E7BBC19096}"/>
              </a:ext>
            </a:extLst>
          </p:cNvPr>
          <p:cNvSpPr>
            <a:spLocks noGrp="1"/>
          </p:cNvSpPr>
          <p:nvPr>
            <p:ph type="title"/>
          </p:nvPr>
        </p:nvSpPr>
        <p:spPr>
          <a:xfrm>
            <a:off x="717181" y="716415"/>
            <a:ext cx="11052002" cy="662558"/>
          </a:xfrm>
        </p:spPr>
        <p:txBody>
          <a:bodyPr anchor="t" anchorCtr="0"/>
          <a:lstStyle/>
          <a:p>
            <a:r>
              <a:rPr lang="en-GB" sz="3200" b="0" kern="1400" spc="230" dirty="0" err="1">
                <a:solidFill>
                  <a:schemeClr val="tx1"/>
                </a:solidFill>
                <a:latin typeface="HALDEN SOLID" pitchFamily="2" charset="0"/>
              </a:rPr>
              <a:t>Dépenses</a:t>
            </a:r>
            <a:r>
              <a:rPr lang="en-GB" sz="3200" b="0" kern="1400" spc="230" dirty="0">
                <a:solidFill>
                  <a:schemeClr val="tx1"/>
                </a:solidFill>
                <a:latin typeface="HALDEN SOLID" pitchFamily="2" charset="0"/>
              </a:rPr>
              <a:t> </a:t>
            </a:r>
            <a:r>
              <a:rPr lang="en-GB" sz="3200" b="0" kern="1400" spc="230" dirty="0" err="1">
                <a:solidFill>
                  <a:schemeClr val="tx1"/>
                </a:solidFill>
                <a:latin typeface="HALDEN SOLID" pitchFamily="2" charset="0"/>
              </a:rPr>
              <a:t>alimentaires</a:t>
            </a:r>
            <a:r>
              <a:rPr lang="en-GB" sz="3200" b="0" kern="1400" spc="230" dirty="0">
                <a:solidFill>
                  <a:schemeClr val="tx1"/>
                </a:solidFill>
                <a:latin typeface="HALDEN SOLID" pitchFamily="2" charset="0"/>
              </a:rPr>
              <a:t> – </a:t>
            </a:r>
            <a:r>
              <a:rPr lang="fr-FR" sz="3200" b="0" kern="1400" spc="230" dirty="0">
                <a:solidFill>
                  <a:schemeClr val="tx1"/>
                </a:solidFill>
                <a:latin typeface="HALDEN SOLID" pitchFamily="2" charset="0"/>
              </a:rPr>
              <a:t>propre production </a:t>
            </a:r>
            <a:endParaRPr lang="en-GB" sz="3200" b="0" kern="1400" spc="230" dirty="0">
              <a:solidFill>
                <a:schemeClr val="tx1"/>
              </a:solidFill>
              <a:latin typeface="HALDEN SOLID" pitchFamily="2" charset="0"/>
            </a:endParaRPr>
          </a:p>
        </p:txBody>
      </p:sp>
    </p:spTree>
    <p:extLst>
      <p:ext uri="{BB962C8B-B14F-4D97-AF65-F5344CB8AC3E}">
        <p14:creationId xmlns:p14="http://schemas.microsoft.com/office/powerpoint/2010/main" val="66103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642605" y="2231809"/>
            <a:ext cx="9472066" cy="392835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sz="3400" b="0" dirty="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a:lnSpc>
                <a:spcPts val="3920"/>
              </a:lnSpc>
            </a:pPr>
            <a:r>
              <a:rPr lang="it-IT" sz="4700" b="0" kern="1400" spc="230" dirty="0">
                <a:solidFill>
                  <a:srgbClr val="FFFFFE"/>
                </a:solidFill>
                <a:latin typeface="HALDEN SOLID" pitchFamily="2" charset="0"/>
                <a:ea typeface="Open Sans Extrabold" panose="020B0606030504020204" pitchFamily="34" charset="0"/>
                <a:cs typeface="Open Sans Extrabold" panose="020B0606030504020204" pitchFamily="34" charset="0"/>
              </a:rPr>
              <a:t>Module des dépenses</a:t>
            </a:r>
          </a:p>
          <a:p>
            <a:pPr marL="742950" indent="-742950">
              <a:lnSpc>
                <a:spcPts val="3920"/>
              </a:lnSpc>
              <a:buAutoNum type="arabicPeriod"/>
            </a:pPr>
            <a:r>
              <a:rPr lang="it-IT" sz="2800" b="0" kern="1400" spc="230" dirty="0">
                <a:solidFill>
                  <a:srgbClr val="FFFFFE"/>
                </a:solidFill>
                <a:latin typeface="HALDEN SOLID" pitchFamily="2" charset="0"/>
                <a:ea typeface="Open Sans Extrabold" panose="020B0606030504020204" pitchFamily="34" charset="0"/>
                <a:cs typeface="Open Sans Extrabold" panose="020B0606030504020204" pitchFamily="34" charset="0"/>
              </a:rPr>
              <a:t>Dépenses alimentaires</a:t>
            </a:r>
          </a:p>
          <a:p>
            <a:pPr marL="742950" indent="-742950">
              <a:lnSpc>
                <a:spcPts val="3920"/>
              </a:lnSpc>
              <a:buAutoNum type="arabicPeriod"/>
            </a:pPr>
            <a:r>
              <a:rPr lang="it-IT" sz="2800" b="0" kern="1400" spc="230" dirty="0">
                <a:solidFill>
                  <a:schemeClr val="accent2"/>
                </a:solidFill>
                <a:latin typeface="HALDEN SOLID" pitchFamily="2" charset="0"/>
                <a:ea typeface="Open Sans Extrabold" panose="020B0606030504020204" pitchFamily="34" charset="0"/>
                <a:cs typeface="Open Sans Extrabold" panose="020B0606030504020204" pitchFamily="34" charset="0"/>
              </a:rPr>
              <a:t>Dépenses non-alimentaires </a:t>
            </a:r>
          </a:p>
          <a:p>
            <a:pPr marL="1200150" lvl="1" indent="-742950">
              <a:lnSpc>
                <a:spcPts val="3920"/>
              </a:lnSpc>
              <a:buFont typeface="Wingdings" panose="05000000000000000000" pitchFamily="2" charset="2"/>
              <a:buChar char="§"/>
            </a:pPr>
            <a:r>
              <a:rPr lang="it-IT" sz="2400" kern="1400" spc="230" dirty="0">
                <a:solidFill>
                  <a:schemeClr val="accent2"/>
                </a:solidFill>
                <a:latin typeface="HALDEN SOLID" pitchFamily="2" charset="0"/>
                <a:ea typeface="Open Sans Extrabold" panose="020B0606030504020204" pitchFamily="34" charset="0"/>
                <a:cs typeface="Open Sans Extrabold" panose="020B0606030504020204" pitchFamily="34" charset="0"/>
              </a:rPr>
              <a:t>30 jours</a:t>
            </a:r>
          </a:p>
          <a:p>
            <a:pPr marL="1200150" lvl="1" indent="-742950">
              <a:lnSpc>
                <a:spcPts val="3920"/>
              </a:lnSpc>
              <a:buFont typeface="Wingdings" panose="05000000000000000000" pitchFamily="2" charset="2"/>
              <a:buChar char="§"/>
            </a:pPr>
            <a:r>
              <a:rPr lang="it-IT" sz="2400" b="0" kern="1400" spc="230" dirty="0">
                <a:solidFill>
                  <a:schemeClr val="accent2"/>
                </a:solidFill>
                <a:latin typeface="HALDEN SOLID" pitchFamily="2" charset="0"/>
                <a:ea typeface="Open Sans Extrabold" panose="020B0606030504020204" pitchFamily="34" charset="0"/>
                <a:cs typeface="Open Sans Extrabold" panose="020B0606030504020204" pitchFamily="34" charset="0"/>
              </a:rPr>
              <a:t>6 mois</a:t>
            </a:r>
          </a:p>
        </p:txBody>
      </p:sp>
    </p:spTree>
    <p:extLst>
      <p:ext uri="{BB962C8B-B14F-4D97-AF65-F5344CB8AC3E}">
        <p14:creationId xmlns:p14="http://schemas.microsoft.com/office/powerpoint/2010/main" val="1536529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1F7DF13-6F1D-46FA-AD05-B2E39F9C6737}"/>
              </a:ext>
            </a:extLst>
          </p:cNvPr>
          <p:cNvSpPr>
            <a:spLocks noGrp="1"/>
          </p:cNvSpPr>
          <p:nvPr>
            <p:ph idx="1"/>
          </p:nvPr>
        </p:nvSpPr>
        <p:spPr>
          <a:xfrm>
            <a:off x="717181" y="1789968"/>
            <a:ext cx="5249689" cy="4100053"/>
          </a:xfrm>
        </p:spPr>
        <p:txBody>
          <a:bodyPr/>
          <a:lstStyle/>
          <a:p>
            <a:pPr marL="0" indent="0">
              <a:buNone/>
            </a:pPr>
            <a:r>
              <a:rPr lang="fr-FR" sz="2400" b="1" dirty="0"/>
              <a:t>Articles/services:</a:t>
            </a:r>
          </a:p>
          <a:p>
            <a:r>
              <a:rPr lang="fr-FR" dirty="0"/>
              <a:t>articles d'hygiène et de soins personnels</a:t>
            </a:r>
          </a:p>
          <a:p>
            <a:r>
              <a:rPr lang="en-GB" dirty="0"/>
              <a:t>transports et communications</a:t>
            </a:r>
          </a:p>
          <a:p>
            <a:r>
              <a:rPr lang="fr-FR" dirty="0"/>
              <a:t>logement et services publics</a:t>
            </a:r>
          </a:p>
          <a:p>
            <a:r>
              <a:rPr lang="en-GB" dirty="0"/>
              <a:t> </a:t>
            </a:r>
            <a:r>
              <a:rPr lang="en-GB" dirty="0" err="1"/>
              <a:t>tabac</a:t>
            </a:r>
            <a:r>
              <a:rPr lang="en-GB" dirty="0"/>
              <a:t> et </a:t>
            </a:r>
            <a:r>
              <a:rPr lang="en-GB" dirty="0" err="1"/>
              <a:t>alcool</a:t>
            </a:r>
            <a:endParaRPr lang="en-GB" dirty="0"/>
          </a:p>
        </p:txBody>
      </p:sp>
      <p:sp>
        <p:nvSpPr>
          <p:cNvPr id="9" name="Content Placeholder 6">
            <a:extLst>
              <a:ext uri="{FF2B5EF4-FFF2-40B4-BE49-F238E27FC236}">
                <a16:creationId xmlns:a16="http://schemas.microsoft.com/office/drawing/2014/main" id="{06EB627C-B61B-4A44-800B-8A456D03B3D6}"/>
              </a:ext>
            </a:extLst>
          </p:cNvPr>
          <p:cNvSpPr txBox="1">
            <a:spLocks/>
          </p:cNvSpPr>
          <p:nvPr/>
        </p:nvSpPr>
        <p:spPr>
          <a:xfrm>
            <a:off x="6243182" y="1832213"/>
            <a:ext cx="5249689" cy="4100053"/>
          </a:xfrm>
          <a:prstGeom prst="rect">
            <a:avLst/>
          </a:prstGeom>
        </p:spPr>
        <p:txBody>
          <a:bodyPr vert="horz" lIns="91440" tIns="45720" rIns="91440" bIns="45720" rtlCol="0">
            <a:noAutofit/>
          </a:bodyPr>
          <a:lstStyle>
            <a:lvl1pPr marL="342900" indent="-342900" algn="l" defTabSz="914400" rtl="0" eaLnBrk="1" latinLnBrk="0" hangingPunct="1">
              <a:lnSpc>
                <a:spcPct val="100000"/>
              </a:lnSpc>
              <a:spcBef>
                <a:spcPts val="1000"/>
              </a:spcBef>
              <a:buClr>
                <a:srgbClr val="0070BA"/>
              </a:buClr>
              <a:buFont typeface="Arial" charset="0"/>
              <a:buChar char="•"/>
              <a:defRPr sz="2000" b="0" i="0" kern="1200" baseline="0">
                <a:solidFill>
                  <a:schemeClr val="tx1"/>
                </a:solidFill>
                <a:latin typeface="Open Sans" charset="0"/>
                <a:ea typeface="Open Sans" charset="0"/>
                <a:cs typeface="Open Sans" charset="0"/>
              </a:defRPr>
            </a:lvl1pPr>
            <a:lvl2pPr marL="742950" indent="-285750" algn="l" defTabSz="914400" rtl="0" eaLnBrk="1" latinLnBrk="0" hangingPunct="1">
              <a:lnSpc>
                <a:spcPct val="100000"/>
              </a:lnSpc>
              <a:spcBef>
                <a:spcPts val="500"/>
              </a:spcBef>
              <a:buClr>
                <a:srgbClr val="0070BA"/>
              </a:buClr>
              <a:buFont typeface="Arial" charset="0"/>
              <a:buChar char="•"/>
              <a:defRPr sz="1800" b="0" i="0" kern="1200" baseline="0">
                <a:solidFill>
                  <a:schemeClr val="tx1"/>
                </a:solidFill>
                <a:latin typeface="Open Sans" charset="0"/>
                <a:ea typeface="Open Sans" charset="0"/>
                <a:cs typeface="Open Sans" charset="0"/>
              </a:defRPr>
            </a:lvl2pPr>
            <a:lvl3pPr marL="1200150" indent="-285750" algn="l" defTabSz="914400" rtl="0" eaLnBrk="1" latinLnBrk="0" hangingPunct="1">
              <a:lnSpc>
                <a:spcPct val="100000"/>
              </a:lnSpc>
              <a:spcBef>
                <a:spcPts val="500"/>
              </a:spcBef>
              <a:buClr>
                <a:srgbClr val="0070BA"/>
              </a:buClr>
              <a:buFont typeface="Arial" charset="0"/>
              <a:buChar char="•"/>
              <a:defRPr sz="1600" b="0" i="0" kern="1200" baseline="0">
                <a:solidFill>
                  <a:schemeClr val="tx1"/>
                </a:solidFill>
                <a:latin typeface="Open Sans" charset="0"/>
                <a:ea typeface="Open Sans" charset="0"/>
                <a:cs typeface="Open Sans" charset="0"/>
              </a:defRPr>
            </a:lvl3pPr>
            <a:lvl4pPr marL="1657350" indent="-285750" algn="l" defTabSz="914400" rtl="0" eaLnBrk="1" latinLnBrk="0" hangingPunct="1">
              <a:lnSpc>
                <a:spcPct val="100000"/>
              </a:lnSpc>
              <a:spcBef>
                <a:spcPts val="500"/>
              </a:spcBef>
              <a:buClr>
                <a:srgbClr val="0070BA"/>
              </a:buClr>
              <a:buFont typeface="Arial" charset="0"/>
              <a:buChar char="•"/>
              <a:defRPr sz="1400" b="0" i="0" kern="1200">
                <a:solidFill>
                  <a:schemeClr val="tx1"/>
                </a:solidFill>
                <a:latin typeface="Open Sans" charset="0"/>
                <a:ea typeface="Open Sans" charset="0"/>
                <a:cs typeface="Open Sans" charset="0"/>
              </a:defRPr>
            </a:lvl4pPr>
            <a:lvl5pPr marL="2114550" indent="-285750" algn="l" defTabSz="914400" rtl="0" eaLnBrk="1" latinLnBrk="0" hangingPunct="1">
              <a:lnSpc>
                <a:spcPct val="100000"/>
              </a:lnSpc>
              <a:spcBef>
                <a:spcPts val="500"/>
              </a:spcBef>
              <a:buClr>
                <a:srgbClr val="0070BA"/>
              </a:buClr>
              <a:buFont typeface="Arial" charset="0"/>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fr-FR" sz="2400" b="1" dirty="0"/>
              <a:t>Source de consommation:</a:t>
            </a:r>
          </a:p>
          <a:p>
            <a:r>
              <a:rPr lang="fr-FR" dirty="0"/>
              <a:t>achats effectués au comptant et à crédit</a:t>
            </a:r>
          </a:p>
          <a:p>
            <a:r>
              <a:rPr lang="fr-FR" dirty="0"/>
              <a:t>dons en nature ou d'une assistance </a:t>
            </a:r>
          </a:p>
        </p:txBody>
      </p:sp>
      <p:sp>
        <p:nvSpPr>
          <p:cNvPr id="10" name="Title 3">
            <a:extLst>
              <a:ext uri="{FF2B5EF4-FFF2-40B4-BE49-F238E27FC236}">
                <a16:creationId xmlns:a16="http://schemas.microsoft.com/office/drawing/2014/main" id="{C0B68B8D-656C-4ABF-BE99-36E7BBC19096}"/>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Dépenses</a:t>
            </a:r>
            <a:r>
              <a:rPr lang="en-GB" sz="3600" b="0" kern="1400" spc="230" dirty="0">
                <a:solidFill>
                  <a:schemeClr val="tx1"/>
                </a:solidFill>
                <a:latin typeface="HALDEN SOLID" pitchFamily="2" charset="0"/>
              </a:rPr>
              <a:t> non </a:t>
            </a:r>
            <a:r>
              <a:rPr lang="en-GB" sz="3600" b="0" kern="1400" spc="230" dirty="0" err="1">
                <a:solidFill>
                  <a:schemeClr val="tx1"/>
                </a:solidFill>
                <a:latin typeface="HALDEN SOLID" pitchFamily="2" charset="0"/>
              </a:rPr>
              <a:t>alimentaires</a:t>
            </a:r>
            <a:r>
              <a:rPr lang="en-GB" sz="3600" b="0" kern="1400" spc="230" dirty="0">
                <a:solidFill>
                  <a:schemeClr val="tx1"/>
                </a:solidFill>
                <a:latin typeface="HALDEN SOLID" pitchFamily="2" charset="0"/>
              </a:rPr>
              <a:t>: 30 </a:t>
            </a:r>
            <a:r>
              <a:rPr lang="en-GB" sz="3600" b="0" kern="1400" spc="230" dirty="0" err="1">
                <a:solidFill>
                  <a:schemeClr val="tx1"/>
                </a:solidFill>
                <a:latin typeface="HALDEN SOLID" pitchFamily="2" charset="0"/>
              </a:rPr>
              <a:t>jours</a:t>
            </a:r>
            <a:endParaRPr lang="en-GB" sz="3600" b="0" kern="1400" spc="230" dirty="0">
              <a:solidFill>
                <a:schemeClr val="tx1"/>
              </a:solidFill>
              <a:latin typeface="HALDEN SOLID" pitchFamily="2" charset="0"/>
            </a:endParaRPr>
          </a:p>
        </p:txBody>
      </p:sp>
      <p:sp>
        <p:nvSpPr>
          <p:cNvPr id="11" name="TextBox 10">
            <a:extLst>
              <a:ext uri="{FF2B5EF4-FFF2-40B4-BE49-F238E27FC236}">
                <a16:creationId xmlns:a16="http://schemas.microsoft.com/office/drawing/2014/main" id="{39267880-DBEA-4A99-A652-127B1CFE52C7}"/>
              </a:ext>
            </a:extLst>
          </p:cNvPr>
          <p:cNvSpPr txBox="1"/>
          <p:nvPr/>
        </p:nvSpPr>
        <p:spPr>
          <a:xfrm>
            <a:off x="4539916" y="5932266"/>
            <a:ext cx="5085347" cy="523220"/>
          </a:xfrm>
          <a:prstGeom prst="rect">
            <a:avLst/>
          </a:prstGeom>
          <a:noFill/>
        </p:spPr>
        <p:txBody>
          <a:bodyPr wrap="square" rtlCol="0">
            <a:spAutoFit/>
          </a:bodyPr>
          <a:lstStyle/>
          <a:p>
            <a:r>
              <a:rPr lang="en-GB" sz="28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30 </a:t>
            </a:r>
            <a:r>
              <a:rPr lang="en-GB" sz="2800" b="1" dirty="0" err="1">
                <a:solidFill>
                  <a:schemeClr val="accent2"/>
                </a:solidFill>
                <a:latin typeface="Open Sans" panose="020B0606030504020204" pitchFamily="34" charset="0"/>
                <a:ea typeface="Open Sans" panose="020B0606030504020204" pitchFamily="34" charset="0"/>
                <a:cs typeface="Open Sans" panose="020B0606030504020204" pitchFamily="34" charset="0"/>
              </a:rPr>
              <a:t>derniers</a:t>
            </a:r>
            <a:r>
              <a:rPr lang="en-GB" sz="28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 </a:t>
            </a:r>
            <a:r>
              <a:rPr lang="en-GB" sz="2800" b="1" dirty="0" err="1">
                <a:solidFill>
                  <a:schemeClr val="accent2"/>
                </a:solidFill>
                <a:latin typeface="Open Sans" panose="020B0606030504020204" pitchFamily="34" charset="0"/>
                <a:ea typeface="Open Sans" panose="020B0606030504020204" pitchFamily="34" charset="0"/>
                <a:cs typeface="Open Sans" panose="020B0606030504020204" pitchFamily="34" charset="0"/>
              </a:rPr>
              <a:t>jours</a:t>
            </a:r>
            <a:endParaRPr lang="en-GB" sz="2800" b="1"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079579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1F7DF13-6F1D-46FA-AD05-B2E39F9C6737}"/>
              </a:ext>
            </a:extLst>
          </p:cNvPr>
          <p:cNvSpPr>
            <a:spLocks noGrp="1"/>
          </p:cNvSpPr>
          <p:nvPr>
            <p:ph idx="1"/>
          </p:nvPr>
        </p:nvSpPr>
        <p:spPr>
          <a:xfrm>
            <a:off x="717181" y="1789968"/>
            <a:ext cx="5249689" cy="4100053"/>
          </a:xfrm>
        </p:spPr>
        <p:txBody>
          <a:bodyPr/>
          <a:lstStyle/>
          <a:p>
            <a:pPr marL="0" indent="0">
              <a:buNone/>
            </a:pPr>
            <a:r>
              <a:rPr lang="fr-FR" sz="2400" b="1" dirty="0"/>
              <a:t>Articles/services:</a:t>
            </a:r>
          </a:p>
          <a:p>
            <a:r>
              <a:rPr lang="fr-FR" dirty="0"/>
              <a:t>l'éducation, la santé et l'habillement</a:t>
            </a:r>
            <a:endParaRPr lang="en-GB" dirty="0"/>
          </a:p>
        </p:txBody>
      </p:sp>
      <p:sp>
        <p:nvSpPr>
          <p:cNvPr id="9" name="Content Placeholder 6">
            <a:extLst>
              <a:ext uri="{FF2B5EF4-FFF2-40B4-BE49-F238E27FC236}">
                <a16:creationId xmlns:a16="http://schemas.microsoft.com/office/drawing/2014/main" id="{06EB627C-B61B-4A44-800B-8A456D03B3D6}"/>
              </a:ext>
            </a:extLst>
          </p:cNvPr>
          <p:cNvSpPr txBox="1">
            <a:spLocks/>
          </p:cNvSpPr>
          <p:nvPr/>
        </p:nvSpPr>
        <p:spPr>
          <a:xfrm>
            <a:off x="6243182" y="1832213"/>
            <a:ext cx="5249689" cy="4100053"/>
          </a:xfrm>
          <a:prstGeom prst="rect">
            <a:avLst/>
          </a:prstGeom>
        </p:spPr>
        <p:txBody>
          <a:bodyPr vert="horz" lIns="91440" tIns="45720" rIns="91440" bIns="45720" rtlCol="0">
            <a:noAutofit/>
          </a:bodyPr>
          <a:lstStyle>
            <a:lvl1pPr marL="342900" indent="-342900" algn="l" defTabSz="914400" rtl="0" eaLnBrk="1" latinLnBrk="0" hangingPunct="1">
              <a:lnSpc>
                <a:spcPct val="100000"/>
              </a:lnSpc>
              <a:spcBef>
                <a:spcPts val="1000"/>
              </a:spcBef>
              <a:buClr>
                <a:srgbClr val="0070BA"/>
              </a:buClr>
              <a:buFont typeface="Arial" charset="0"/>
              <a:buChar char="•"/>
              <a:defRPr sz="2000" b="0" i="0" kern="1200" baseline="0">
                <a:solidFill>
                  <a:schemeClr val="tx1"/>
                </a:solidFill>
                <a:latin typeface="Open Sans" charset="0"/>
                <a:ea typeface="Open Sans" charset="0"/>
                <a:cs typeface="Open Sans" charset="0"/>
              </a:defRPr>
            </a:lvl1pPr>
            <a:lvl2pPr marL="742950" indent="-285750" algn="l" defTabSz="914400" rtl="0" eaLnBrk="1" latinLnBrk="0" hangingPunct="1">
              <a:lnSpc>
                <a:spcPct val="100000"/>
              </a:lnSpc>
              <a:spcBef>
                <a:spcPts val="500"/>
              </a:spcBef>
              <a:buClr>
                <a:srgbClr val="0070BA"/>
              </a:buClr>
              <a:buFont typeface="Arial" charset="0"/>
              <a:buChar char="•"/>
              <a:defRPr sz="1800" b="0" i="0" kern="1200" baseline="0">
                <a:solidFill>
                  <a:schemeClr val="tx1"/>
                </a:solidFill>
                <a:latin typeface="Open Sans" charset="0"/>
                <a:ea typeface="Open Sans" charset="0"/>
                <a:cs typeface="Open Sans" charset="0"/>
              </a:defRPr>
            </a:lvl2pPr>
            <a:lvl3pPr marL="1200150" indent="-285750" algn="l" defTabSz="914400" rtl="0" eaLnBrk="1" latinLnBrk="0" hangingPunct="1">
              <a:lnSpc>
                <a:spcPct val="100000"/>
              </a:lnSpc>
              <a:spcBef>
                <a:spcPts val="500"/>
              </a:spcBef>
              <a:buClr>
                <a:srgbClr val="0070BA"/>
              </a:buClr>
              <a:buFont typeface="Arial" charset="0"/>
              <a:buChar char="•"/>
              <a:defRPr sz="1600" b="0" i="0" kern="1200" baseline="0">
                <a:solidFill>
                  <a:schemeClr val="tx1"/>
                </a:solidFill>
                <a:latin typeface="Open Sans" charset="0"/>
                <a:ea typeface="Open Sans" charset="0"/>
                <a:cs typeface="Open Sans" charset="0"/>
              </a:defRPr>
            </a:lvl3pPr>
            <a:lvl4pPr marL="1657350" indent="-285750" algn="l" defTabSz="914400" rtl="0" eaLnBrk="1" latinLnBrk="0" hangingPunct="1">
              <a:lnSpc>
                <a:spcPct val="100000"/>
              </a:lnSpc>
              <a:spcBef>
                <a:spcPts val="500"/>
              </a:spcBef>
              <a:buClr>
                <a:srgbClr val="0070BA"/>
              </a:buClr>
              <a:buFont typeface="Arial" charset="0"/>
              <a:buChar char="•"/>
              <a:defRPr sz="1400" b="0" i="0" kern="1200">
                <a:solidFill>
                  <a:schemeClr val="tx1"/>
                </a:solidFill>
                <a:latin typeface="Open Sans" charset="0"/>
                <a:ea typeface="Open Sans" charset="0"/>
                <a:cs typeface="Open Sans" charset="0"/>
              </a:defRPr>
            </a:lvl4pPr>
            <a:lvl5pPr marL="2114550" indent="-285750" algn="l" defTabSz="914400" rtl="0" eaLnBrk="1" latinLnBrk="0" hangingPunct="1">
              <a:lnSpc>
                <a:spcPct val="100000"/>
              </a:lnSpc>
              <a:spcBef>
                <a:spcPts val="500"/>
              </a:spcBef>
              <a:buClr>
                <a:srgbClr val="0070BA"/>
              </a:buClr>
              <a:buFont typeface="Arial" charset="0"/>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fr-FR" sz="2400" b="1" dirty="0"/>
              <a:t>Source de consommation:</a:t>
            </a:r>
          </a:p>
          <a:p>
            <a:r>
              <a:rPr lang="fr-FR" dirty="0"/>
              <a:t>achats effectués au comptant et à crédit</a:t>
            </a:r>
          </a:p>
          <a:p>
            <a:r>
              <a:rPr lang="fr-FR" dirty="0"/>
              <a:t>dons en nature ou d'une assistance </a:t>
            </a:r>
          </a:p>
        </p:txBody>
      </p:sp>
      <p:sp>
        <p:nvSpPr>
          <p:cNvPr id="10" name="Title 3">
            <a:extLst>
              <a:ext uri="{FF2B5EF4-FFF2-40B4-BE49-F238E27FC236}">
                <a16:creationId xmlns:a16="http://schemas.microsoft.com/office/drawing/2014/main" id="{C0B68B8D-656C-4ABF-BE99-36E7BBC19096}"/>
              </a:ext>
            </a:extLst>
          </p:cNvPr>
          <p:cNvSpPr>
            <a:spLocks noGrp="1"/>
          </p:cNvSpPr>
          <p:nvPr>
            <p:ph type="title"/>
          </p:nvPr>
        </p:nvSpPr>
        <p:spPr>
          <a:xfrm>
            <a:off x="717181" y="716415"/>
            <a:ext cx="11052002" cy="662558"/>
          </a:xfrm>
        </p:spPr>
        <p:txBody>
          <a:bodyPr anchor="t" anchorCtr="0"/>
          <a:lstStyle/>
          <a:p>
            <a:r>
              <a:rPr lang="en-GB" sz="3600" b="0" kern="1400" spc="230" dirty="0" err="1">
                <a:solidFill>
                  <a:schemeClr val="tx1"/>
                </a:solidFill>
                <a:latin typeface="HALDEN SOLID" pitchFamily="2" charset="0"/>
              </a:rPr>
              <a:t>Dépenses</a:t>
            </a:r>
            <a:r>
              <a:rPr lang="en-GB" sz="3600" b="0" kern="1400" spc="230" dirty="0">
                <a:solidFill>
                  <a:schemeClr val="tx1"/>
                </a:solidFill>
                <a:latin typeface="HALDEN SOLID" pitchFamily="2" charset="0"/>
              </a:rPr>
              <a:t> non </a:t>
            </a:r>
            <a:r>
              <a:rPr lang="en-GB" sz="3600" b="0" kern="1400" spc="230" dirty="0" err="1">
                <a:solidFill>
                  <a:schemeClr val="tx1"/>
                </a:solidFill>
                <a:latin typeface="HALDEN SOLID" pitchFamily="2" charset="0"/>
              </a:rPr>
              <a:t>alimentaires</a:t>
            </a:r>
            <a:r>
              <a:rPr lang="en-GB" sz="3600" b="0" kern="1400" spc="230" dirty="0">
                <a:solidFill>
                  <a:schemeClr val="tx1"/>
                </a:solidFill>
                <a:latin typeface="HALDEN SOLID" pitchFamily="2" charset="0"/>
              </a:rPr>
              <a:t>: 6 </a:t>
            </a:r>
            <a:r>
              <a:rPr lang="en-GB" sz="3600" b="0" kern="1400" spc="230" dirty="0" err="1">
                <a:solidFill>
                  <a:schemeClr val="tx1"/>
                </a:solidFill>
                <a:latin typeface="HALDEN SOLID" pitchFamily="2" charset="0"/>
              </a:rPr>
              <a:t>mois</a:t>
            </a:r>
            <a:endParaRPr lang="en-GB" sz="3600" b="0" kern="1400" spc="230" dirty="0">
              <a:solidFill>
                <a:schemeClr val="tx1"/>
              </a:solidFill>
              <a:latin typeface="HALDEN SOLID" pitchFamily="2" charset="0"/>
            </a:endParaRPr>
          </a:p>
        </p:txBody>
      </p:sp>
      <p:sp>
        <p:nvSpPr>
          <p:cNvPr id="11" name="TextBox 10">
            <a:extLst>
              <a:ext uri="{FF2B5EF4-FFF2-40B4-BE49-F238E27FC236}">
                <a16:creationId xmlns:a16="http://schemas.microsoft.com/office/drawing/2014/main" id="{39267880-DBEA-4A99-A652-127B1CFE52C7}"/>
              </a:ext>
            </a:extLst>
          </p:cNvPr>
          <p:cNvSpPr txBox="1"/>
          <p:nvPr/>
        </p:nvSpPr>
        <p:spPr>
          <a:xfrm>
            <a:off x="4539916" y="5932266"/>
            <a:ext cx="5085347" cy="523220"/>
          </a:xfrm>
          <a:prstGeom prst="rect">
            <a:avLst/>
          </a:prstGeom>
          <a:noFill/>
        </p:spPr>
        <p:txBody>
          <a:bodyPr wrap="square" rtlCol="0">
            <a:spAutoFit/>
          </a:bodyPr>
          <a:lstStyle/>
          <a:p>
            <a:r>
              <a:rPr lang="en-GB" sz="28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6 </a:t>
            </a:r>
            <a:r>
              <a:rPr lang="en-GB" sz="2800" b="1" dirty="0" err="1">
                <a:solidFill>
                  <a:schemeClr val="accent2"/>
                </a:solidFill>
                <a:latin typeface="Open Sans" panose="020B0606030504020204" pitchFamily="34" charset="0"/>
                <a:ea typeface="Open Sans" panose="020B0606030504020204" pitchFamily="34" charset="0"/>
                <a:cs typeface="Open Sans" panose="020B0606030504020204" pitchFamily="34" charset="0"/>
              </a:rPr>
              <a:t>derniers</a:t>
            </a:r>
            <a:r>
              <a:rPr lang="en-GB" sz="28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 </a:t>
            </a:r>
            <a:r>
              <a:rPr lang="en-GB" sz="2800" b="1" dirty="0" err="1">
                <a:solidFill>
                  <a:schemeClr val="accent2"/>
                </a:solidFill>
                <a:latin typeface="Open Sans" panose="020B0606030504020204" pitchFamily="34" charset="0"/>
                <a:ea typeface="Open Sans" panose="020B0606030504020204" pitchFamily="34" charset="0"/>
                <a:cs typeface="Open Sans" panose="020B0606030504020204" pitchFamily="34" charset="0"/>
              </a:rPr>
              <a:t>mois</a:t>
            </a:r>
            <a:endParaRPr lang="en-GB" sz="2800" b="1"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594416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1F7DF13-6F1D-46FA-AD05-B2E39F9C6737}"/>
              </a:ext>
            </a:extLst>
          </p:cNvPr>
          <p:cNvSpPr>
            <a:spLocks noGrp="1"/>
          </p:cNvSpPr>
          <p:nvPr>
            <p:ph idx="1"/>
          </p:nvPr>
        </p:nvSpPr>
        <p:spPr>
          <a:xfrm>
            <a:off x="717181" y="1378974"/>
            <a:ext cx="9581851" cy="4511048"/>
          </a:xfrm>
        </p:spPr>
        <p:txBody>
          <a:bodyPr/>
          <a:lstStyle/>
          <a:p>
            <a:pPr marL="0" indent="0">
              <a:buNone/>
            </a:pPr>
            <a:r>
              <a:rPr lang="fr-FR" dirty="0"/>
              <a:t>En tenant compte des achats effectués au comptant et à crédit, combien votre ménage a-t-il dépensé en [……]  destinés à la consommation du ménage au cours des </a:t>
            </a:r>
            <a:r>
              <a:rPr lang="fr-FR" b="1" dirty="0">
                <a:solidFill>
                  <a:schemeClr val="accent1"/>
                </a:solidFill>
              </a:rPr>
              <a:t>30 derniers jours / 6 derniers mois</a:t>
            </a:r>
            <a:r>
              <a:rPr lang="fr-FR" dirty="0"/>
              <a:t>?</a:t>
            </a:r>
          </a:p>
          <a:p>
            <a:pPr lvl="1"/>
            <a:r>
              <a:rPr lang="fr-FR" dirty="0"/>
              <a:t>Nous voulons savoir ce qui a été effectivement dépensé pour l'achat, indépendamment de la quantité consommée</a:t>
            </a:r>
          </a:p>
          <a:p>
            <a:pPr lvl="1"/>
            <a:r>
              <a:rPr lang="fr-FR" dirty="0"/>
              <a:t>Pour la consommation des ménages : signifie que nous ne prenons pas en considération les achats effectués pour faire des cadeaux ou pour nourrir des animaux.</a:t>
            </a:r>
          </a:p>
          <a:p>
            <a:pPr lvl="1"/>
            <a:r>
              <a:rPr lang="fr-FR" dirty="0"/>
              <a:t>Espèces : comprend également les bons de valeur ; la source des espèces n'a pas d'importance (par exemple, traitement différent des achats effectués avec une aide en espèces).- </a:t>
            </a:r>
          </a:p>
          <a:p>
            <a:pPr lvl="1"/>
            <a:r>
              <a:rPr lang="fr-FR" dirty="0"/>
              <a:t>Crédit : lorsque le ménage achète quelque chose maintenant mais le rembourse plus tard.</a:t>
            </a:r>
          </a:p>
          <a:p>
            <a:pPr lvl="1"/>
            <a:r>
              <a:rPr lang="fr-FR" dirty="0"/>
              <a:t>Pour les achats effectués à crédit, indiquez le montant que le ménage devra rembourser à l'avenir → ne pas indiquer zéro. </a:t>
            </a:r>
            <a:endParaRPr lang="en-GB" dirty="0"/>
          </a:p>
        </p:txBody>
      </p:sp>
      <p:sp>
        <p:nvSpPr>
          <p:cNvPr id="10" name="Title 3">
            <a:extLst>
              <a:ext uri="{FF2B5EF4-FFF2-40B4-BE49-F238E27FC236}">
                <a16:creationId xmlns:a16="http://schemas.microsoft.com/office/drawing/2014/main" id="{C0B68B8D-656C-4ABF-BE99-36E7BBC19096}"/>
              </a:ext>
            </a:extLst>
          </p:cNvPr>
          <p:cNvSpPr>
            <a:spLocks noGrp="1"/>
          </p:cNvSpPr>
          <p:nvPr>
            <p:ph type="title"/>
          </p:nvPr>
        </p:nvSpPr>
        <p:spPr>
          <a:xfrm>
            <a:off x="717181" y="716415"/>
            <a:ext cx="11052002" cy="662558"/>
          </a:xfrm>
        </p:spPr>
        <p:txBody>
          <a:bodyPr anchor="t" anchorCtr="0"/>
          <a:lstStyle/>
          <a:p>
            <a:r>
              <a:rPr lang="en-GB" sz="3200" b="0" kern="1400" spc="230" dirty="0" err="1">
                <a:solidFill>
                  <a:schemeClr val="tx1"/>
                </a:solidFill>
                <a:latin typeface="HALDEN SOLID" pitchFamily="2" charset="0"/>
              </a:rPr>
              <a:t>Dépenses</a:t>
            </a:r>
            <a:r>
              <a:rPr lang="en-GB" sz="3200" b="0" kern="1400" spc="230" dirty="0">
                <a:solidFill>
                  <a:schemeClr val="tx1"/>
                </a:solidFill>
                <a:latin typeface="HALDEN SOLID" pitchFamily="2" charset="0"/>
              </a:rPr>
              <a:t> non </a:t>
            </a:r>
            <a:r>
              <a:rPr lang="en-GB" sz="3200" b="0" kern="1400" spc="230" dirty="0" err="1">
                <a:solidFill>
                  <a:schemeClr val="tx1"/>
                </a:solidFill>
                <a:latin typeface="HALDEN SOLID" pitchFamily="2" charset="0"/>
              </a:rPr>
              <a:t>alimentaires</a:t>
            </a:r>
            <a:r>
              <a:rPr lang="en-GB" sz="3200" b="0" kern="1400" spc="230" dirty="0">
                <a:solidFill>
                  <a:schemeClr val="tx1"/>
                </a:solidFill>
                <a:latin typeface="HALDEN SOLID" pitchFamily="2" charset="0"/>
              </a:rPr>
              <a:t> – au </a:t>
            </a:r>
            <a:r>
              <a:rPr lang="en-GB" sz="3200" b="0" kern="1400" spc="230" dirty="0" err="1">
                <a:solidFill>
                  <a:schemeClr val="tx1"/>
                </a:solidFill>
                <a:latin typeface="HALDEN SOLID" pitchFamily="2" charset="0"/>
              </a:rPr>
              <a:t>comptant</a:t>
            </a:r>
            <a:r>
              <a:rPr lang="en-GB" sz="3200" b="0" kern="1400" spc="230" dirty="0">
                <a:solidFill>
                  <a:schemeClr val="tx1"/>
                </a:solidFill>
                <a:latin typeface="HALDEN SOLID" pitchFamily="2" charset="0"/>
              </a:rPr>
              <a:t>/cash et a credit</a:t>
            </a:r>
          </a:p>
        </p:txBody>
      </p:sp>
    </p:spTree>
    <p:extLst>
      <p:ext uri="{BB962C8B-B14F-4D97-AF65-F5344CB8AC3E}">
        <p14:creationId xmlns:p14="http://schemas.microsoft.com/office/powerpoint/2010/main" val="448662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1F7DF13-6F1D-46FA-AD05-B2E39F9C6737}"/>
              </a:ext>
            </a:extLst>
          </p:cNvPr>
          <p:cNvSpPr>
            <a:spLocks noGrp="1"/>
          </p:cNvSpPr>
          <p:nvPr>
            <p:ph idx="1"/>
          </p:nvPr>
        </p:nvSpPr>
        <p:spPr>
          <a:xfrm>
            <a:off x="717181" y="1378974"/>
            <a:ext cx="9581851" cy="4511048"/>
          </a:xfrm>
        </p:spPr>
        <p:txBody>
          <a:bodyPr/>
          <a:lstStyle/>
          <a:p>
            <a:pPr marL="0" indent="0">
              <a:buNone/>
            </a:pPr>
            <a:r>
              <a:rPr lang="fr-FR" dirty="0"/>
              <a:t>Quelle est la valeur des […] provenant de dons ou d'assistance en nature que votre ménage a consommés au cours des 30 derniers jours / 6 derniers mois?</a:t>
            </a:r>
          </a:p>
          <a:p>
            <a:pPr lvl="1"/>
            <a:r>
              <a:rPr lang="fr-FR" dirty="0"/>
              <a:t>Ici, nous voulons savoir combien le ménage a consommé d'aide en nature ou de cadeaux en nature. Il ne s'agit pas d'une simple réception sans consommation.</a:t>
            </a:r>
          </a:p>
          <a:p>
            <a:pPr lvl="1"/>
            <a:r>
              <a:rPr lang="fr-FR" dirty="0"/>
              <a:t>Ici, le répondant doit fournir une estimation du coût équivalent de l'article reçu, s'il devait l'acheter lui-même.</a:t>
            </a:r>
          </a:p>
          <a:p>
            <a:pPr lvl="1"/>
            <a:r>
              <a:rPr lang="fr-FR" dirty="0"/>
              <a:t>Si un article spécifique n'existe pas sur le marché local, l'estimation doit être basée sur la valeur d'articles comparables.</a:t>
            </a:r>
          </a:p>
          <a:p>
            <a:pPr lvl="1"/>
            <a:r>
              <a:rPr lang="fr-FR" dirty="0"/>
              <a:t>L'aide en nature et les cadeaux comprennent : ONG, agences des Nations unies, gouvernement ; autorités religieuses ; cadeaux de la famille et des amis ; emprunts auprès de la famille et des amis ; mendicité.</a:t>
            </a:r>
          </a:p>
          <a:p>
            <a:pPr lvl="1"/>
            <a:r>
              <a:rPr lang="fr-FR" dirty="0"/>
              <a:t>Rappelez-vous que nous ne nous intéressons qu'à l'aide en nature et aux cadeaux en nature, et non au fait que le ménage a consommé quelque chose grâce à l'argent reçu sous forme d'aide/de cadeau.</a:t>
            </a:r>
            <a:endParaRPr lang="en-GB" dirty="0"/>
          </a:p>
        </p:txBody>
      </p:sp>
      <p:sp>
        <p:nvSpPr>
          <p:cNvPr id="10" name="Title 3">
            <a:extLst>
              <a:ext uri="{FF2B5EF4-FFF2-40B4-BE49-F238E27FC236}">
                <a16:creationId xmlns:a16="http://schemas.microsoft.com/office/drawing/2014/main" id="{C0B68B8D-656C-4ABF-BE99-36E7BBC19096}"/>
              </a:ext>
            </a:extLst>
          </p:cNvPr>
          <p:cNvSpPr>
            <a:spLocks noGrp="1"/>
          </p:cNvSpPr>
          <p:nvPr>
            <p:ph type="title"/>
          </p:nvPr>
        </p:nvSpPr>
        <p:spPr>
          <a:xfrm>
            <a:off x="717181" y="716415"/>
            <a:ext cx="11346482" cy="662558"/>
          </a:xfrm>
        </p:spPr>
        <p:txBody>
          <a:bodyPr anchor="t" anchorCtr="0"/>
          <a:lstStyle/>
          <a:p>
            <a:r>
              <a:rPr lang="en-GB" sz="3200" b="0" kern="1400" spc="230" dirty="0" err="1">
                <a:solidFill>
                  <a:schemeClr val="tx1"/>
                </a:solidFill>
                <a:latin typeface="HALDEN SOLID" pitchFamily="2" charset="0"/>
              </a:rPr>
              <a:t>Dépenses</a:t>
            </a:r>
            <a:r>
              <a:rPr lang="en-GB" sz="3200" b="0" kern="1400" spc="230" dirty="0">
                <a:solidFill>
                  <a:schemeClr val="tx1"/>
                </a:solidFill>
                <a:latin typeface="HALDEN SOLID" pitchFamily="2" charset="0"/>
              </a:rPr>
              <a:t> non </a:t>
            </a:r>
            <a:r>
              <a:rPr lang="en-GB" sz="3200" b="0" kern="1400" spc="230" dirty="0" err="1">
                <a:solidFill>
                  <a:schemeClr val="tx1"/>
                </a:solidFill>
                <a:latin typeface="HALDEN SOLID" pitchFamily="2" charset="0"/>
              </a:rPr>
              <a:t>alimentaires</a:t>
            </a:r>
            <a:r>
              <a:rPr lang="en-GB" sz="3200" b="0" kern="1400" spc="230" dirty="0">
                <a:solidFill>
                  <a:schemeClr val="tx1"/>
                </a:solidFill>
                <a:latin typeface="HALDEN SOLID" pitchFamily="2" charset="0"/>
              </a:rPr>
              <a:t> – </a:t>
            </a:r>
            <a:r>
              <a:rPr lang="fr-FR" sz="3200" b="0" kern="1400" spc="230" dirty="0">
                <a:solidFill>
                  <a:schemeClr val="tx1"/>
                </a:solidFill>
                <a:latin typeface="HALDEN SOLID" pitchFamily="2" charset="0"/>
              </a:rPr>
              <a:t>dons ou d'assistance en nature </a:t>
            </a:r>
            <a:endParaRPr lang="en-GB" sz="3200" b="0" kern="1400" spc="230" dirty="0">
              <a:solidFill>
                <a:schemeClr val="tx1"/>
              </a:solidFill>
              <a:latin typeface="HALDEN SOLID" pitchFamily="2" charset="0"/>
            </a:endParaRPr>
          </a:p>
        </p:txBody>
      </p:sp>
    </p:spTree>
    <p:extLst>
      <p:ext uri="{BB962C8B-B14F-4D97-AF65-F5344CB8AC3E}">
        <p14:creationId xmlns:p14="http://schemas.microsoft.com/office/powerpoint/2010/main" val="37795377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6809" y="1378973"/>
            <a:ext cx="11052000" cy="4267848"/>
          </a:xfrm>
        </p:spPr>
        <p:txBody>
          <a:bodyPr/>
          <a:lstStyle/>
          <a:p>
            <a:pPr>
              <a:lnSpc>
                <a:spcPts val="2700"/>
              </a:lnSpc>
              <a:buFont typeface="Wingdings" panose="05000000000000000000" pitchFamily="2" charset="2"/>
              <a:buChar char="§"/>
            </a:pPr>
            <a:r>
              <a:rPr lang="fr-FR" sz="1800" spc="60" dirty="0"/>
              <a:t>N'oubliez pas que nous ne posons pas seulement des questions sur les biens, mais aussi sur les </a:t>
            </a:r>
            <a:r>
              <a:rPr lang="fr-FR" sz="1800" b="1" spc="60" dirty="0">
                <a:solidFill>
                  <a:schemeClr val="accent1"/>
                </a:solidFill>
              </a:rPr>
              <a:t>services</a:t>
            </a:r>
            <a:r>
              <a:rPr lang="fr-FR" sz="1800" spc="60" dirty="0"/>
              <a:t> ; si les répondants semblent ne mentionner que des biens, posez des questions sur les services.</a:t>
            </a:r>
          </a:p>
          <a:p>
            <a:pPr>
              <a:lnSpc>
                <a:spcPts val="2700"/>
              </a:lnSpc>
              <a:buFont typeface="Wingdings" panose="05000000000000000000" pitchFamily="2" charset="2"/>
              <a:buChar char="§"/>
            </a:pPr>
            <a:r>
              <a:rPr lang="fr-FR" sz="1800" spc="60" dirty="0"/>
              <a:t>Pour les groupes de dépenses non alimentaires, il est important de s'assurer que les personnes interrogées </a:t>
            </a:r>
            <a:r>
              <a:rPr lang="fr-FR" sz="1800" b="1" spc="60" dirty="0">
                <a:solidFill>
                  <a:schemeClr val="accent1"/>
                </a:solidFill>
              </a:rPr>
              <a:t>ne déclarent pas deux fois les mêmes dépenses dans des groupes différents </a:t>
            </a:r>
            <a:r>
              <a:rPr lang="fr-FR" sz="1800" spc="60" dirty="0"/>
              <a:t>(par exemple, "carburant" dans "biens et services liés au transport" ou dans "autres sources d'énergie pour la cuisine, le chauffage, l'éclairage, </a:t>
            </a:r>
            <a:r>
              <a:rPr lang="fr-FR" sz="1800" spc="60" dirty="0" err="1"/>
              <a:t>etc</a:t>
            </a:r>
            <a:r>
              <a:rPr lang="fr-FR" sz="1800" spc="60" dirty="0"/>
              <a:t>, </a:t>
            </a:r>
          </a:p>
          <a:p>
            <a:pPr>
              <a:lnSpc>
                <a:spcPts val="2700"/>
              </a:lnSpc>
              <a:buFont typeface="Wingdings" panose="05000000000000000000" pitchFamily="2" charset="2"/>
              <a:buChar char="§"/>
            </a:pPr>
            <a:r>
              <a:rPr lang="fr-FR" sz="1800" spc="60" dirty="0"/>
              <a:t>Il est très important que les </a:t>
            </a:r>
            <a:r>
              <a:rPr lang="fr-FR" sz="1800" b="1" spc="60" dirty="0">
                <a:solidFill>
                  <a:schemeClr val="accent1"/>
                </a:solidFill>
              </a:rPr>
              <a:t>dépenses importantes ne soient pas incluses </a:t>
            </a:r>
            <a:r>
              <a:rPr lang="fr-FR" sz="1800" spc="60" dirty="0"/>
              <a:t>(par exemple, l'achat de véhicules, de téléphones, de gros meubles, d'appareils électroménagers...).</a:t>
            </a:r>
          </a:p>
          <a:p>
            <a:pPr>
              <a:lnSpc>
                <a:spcPts val="2700"/>
              </a:lnSpc>
              <a:buFont typeface="Wingdings" panose="05000000000000000000" pitchFamily="2" charset="2"/>
              <a:buChar char="§"/>
            </a:pPr>
            <a:r>
              <a:rPr lang="fr-FR" sz="1800" spc="60" dirty="0"/>
              <a:t>S'assurer que les répondants </a:t>
            </a:r>
            <a:r>
              <a:rPr lang="fr-FR" sz="1800" b="1" spc="60" dirty="0">
                <a:solidFill>
                  <a:schemeClr val="accent1"/>
                </a:solidFill>
              </a:rPr>
              <a:t>ne déclarent pas les dépenses effectuées pour les ressources et les investissements de l'entreprise</a:t>
            </a:r>
            <a:endParaRPr lang="en-US" sz="1800" b="1" spc="60" dirty="0">
              <a:solidFill>
                <a:schemeClr val="accent1"/>
              </a:solidFill>
            </a:endParaRPr>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fr-FR" sz="3600" b="0" kern="1400" spc="230" dirty="0">
                <a:solidFill>
                  <a:schemeClr val="tx1"/>
                </a:solidFill>
                <a:latin typeface="HALDEN SOLID" pitchFamily="2" charset="0"/>
              </a:rPr>
              <a:t>Dépenses non alimentaires : considérations générales</a:t>
            </a:r>
            <a:endParaRPr lang="en-GB" sz="3600" b="0" kern="1400" spc="230" dirty="0">
              <a:solidFill>
                <a:schemeClr val="tx1"/>
              </a:solidFill>
              <a:latin typeface="HALDEN SOLID" pitchFamily="2" charset="0"/>
            </a:endParaRPr>
          </a:p>
        </p:txBody>
      </p:sp>
    </p:spTree>
    <p:extLst>
      <p:ext uri="{BB962C8B-B14F-4D97-AF65-F5344CB8AC3E}">
        <p14:creationId xmlns:p14="http://schemas.microsoft.com/office/powerpoint/2010/main" val="1265753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642604" y="2231809"/>
            <a:ext cx="10634995" cy="3324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sz="3400" b="0" dirty="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a:lnSpc>
                <a:spcPts val="3920"/>
              </a:lnSpc>
            </a:pPr>
            <a:r>
              <a:rPr lang="fr-FR" sz="4700" b="0" kern="1400" spc="230" dirty="0">
                <a:solidFill>
                  <a:srgbClr val="FFFFFE"/>
                </a:solidFill>
                <a:latin typeface="HALDEN SOLID" pitchFamily="2" charset="0"/>
                <a:ea typeface="Open Sans Extrabold" panose="020B0606030504020204" pitchFamily="34" charset="0"/>
                <a:cs typeface="Open Sans Extrabold" panose="020B0606030504020204" pitchFamily="34" charset="0"/>
              </a:rPr>
              <a:t>Instructions générales pour le module</a:t>
            </a:r>
            <a:endParaRPr lang="en-GB" sz="2800" b="0" kern="1400" spc="230" dirty="0">
              <a:solidFill>
                <a:srgbClr val="FFFFFE"/>
              </a:solidFill>
              <a:latin typeface="HALDEN SOLID" pitchFamily="2" charset="0"/>
              <a:ea typeface="Open Sans Extrabold" panose="020B0606030504020204" pitchFamily="34" charset="0"/>
              <a:cs typeface="Open Sans Extrabold" panose="020B0606030504020204" pitchFamily="34" charset="0"/>
            </a:endParaRPr>
          </a:p>
        </p:txBody>
      </p:sp>
    </p:spTree>
    <p:extLst>
      <p:ext uri="{BB962C8B-B14F-4D97-AF65-F5344CB8AC3E}">
        <p14:creationId xmlns:p14="http://schemas.microsoft.com/office/powerpoint/2010/main" val="35550790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6809" y="1378973"/>
            <a:ext cx="11052000" cy="4267848"/>
          </a:xfrm>
        </p:spPr>
        <p:txBody>
          <a:bodyPr/>
          <a:lstStyle/>
          <a:p>
            <a:pPr>
              <a:lnSpc>
                <a:spcPts val="2700"/>
              </a:lnSpc>
              <a:buFont typeface="Wingdings" panose="05000000000000000000" pitchFamily="2" charset="2"/>
              <a:buChar char="§"/>
            </a:pPr>
            <a:r>
              <a:rPr lang="fr-FR" sz="1800" spc="60" dirty="0"/>
              <a:t>Faites attention aux différentes périodes de rappel des sous-modules (7 jours, 30 jours, 6 mois).</a:t>
            </a:r>
          </a:p>
          <a:p>
            <a:pPr>
              <a:lnSpc>
                <a:spcPts val="2700"/>
              </a:lnSpc>
              <a:buFont typeface="Wingdings" panose="05000000000000000000" pitchFamily="2" charset="2"/>
              <a:buChar char="§"/>
            </a:pPr>
            <a:r>
              <a:rPr lang="fr-FR" sz="1800" spc="60" dirty="0"/>
              <a:t>Assurez-vous toujours que les répondants comprennent qu'ils sont censés répondre au nom de l'ensemble du ménage.</a:t>
            </a:r>
          </a:p>
          <a:p>
            <a:pPr>
              <a:lnSpc>
                <a:spcPts val="2700"/>
              </a:lnSpc>
              <a:buFont typeface="Wingdings" panose="05000000000000000000" pitchFamily="2" charset="2"/>
              <a:buChar char="§"/>
            </a:pPr>
            <a:r>
              <a:rPr lang="fr-FR" sz="1800" spc="60" dirty="0"/>
              <a:t>Faites attention aux zéros lorsque vous saisissez des valeurs (par exemple, veillez à ne pas écrire 1 000 au lieu de 10 000 !)- </a:t>
            </a:r>
          </a:p>
          <a:p>
            <a:pPr>
              <a:lnSpc>
                <a:spcPts val="2700"/>
              </a:lnSpc>
              <a:buFont typeface="Wingdings" panose="05000000000000000000" pitchFamily="2" charset="2"/>
              <a:buChar char="§"/>
            </a:pPr>
            <a:r>
              <a:rPr lang="fr-FR" sz="1800" spc="60" dirty="0"/>
              <a:t>Assurez-vous que les valeurs sont déclarées dans la devise requise- </a:t>
            </a:r>
          </a:p>
          <a:p>
            <a:pPr>
              <a:lnSpc>
                <a:spcPts val="2700"/>
              </a:lnSpc>
              <a:buFont typeface="Wingdings" panose="05000000000000000000" pitchFamily="2" charset="2"/>
              <a:buChar char="§"/>
            </a:pPr>
            <a:r>
              <a:rPr lang="fr-FR" sz="1800" spc="60" dirty="0"/>
              <a:t>Questions d'approfondissement / vérification</a:t>
            </a:r>
            <a:endParaRPr lang="en-US" sz="1800" spc="60" dirty="0"/>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fr-FR" sz="3600" b="0" kern="1400" spc="230" dirty="0">
                <a:solidFill>
                  <a:schemeClr val="tx1"/>
                </a:solidFill>
                <a:latin typeface="HALDEN SOLID" pitchFamily="2" charset="0"/>
              </a:rPr>
              <a:t>considérations générales</a:t>
            </a:r>
            <a:endParaRPr lang="en-GB" sz="3600" b="0" kern="1400" spc="230" dirty="0">
              <a:solidFill>
                <a:schemeClr val="tx1"/>
              </a:solidFill>
              <a:latin typeface="HALDEN SOLID" pitchFamily="2" charset="0"/>
            </a:endParaRPr>
          </a:p>
        </p:txBody>
      </p:sp>
    </p:spTree>
    <p:extLst>
      <p:ext uri="{BB962C8B-B14F-4D97-AF65-F5344CB8AC3E}">
        <p14:creationId xmlns:p14="http://schemas.microsoft.com/office/powerpoint/2010/main" val="1873250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6809" y="1378973"/>
            <a:ext cx="11052000" cy="4267848"/>
          </a:xfrm>
        </p:spPr>
        <p:txBody>
          <a:bodyPr/>
          <a:lstStyle/>
          <a:p>
            <a:pPr>
              <a:lnSpc>
                <a:spcPts val="2700"/>
              </a:lnSpc>
              <a:buFont typeface="Wingdings" panose="05000000000000000000" pitchFamily="2" charset="2"/>
              <a:buChar char="§"/>
            </a:pPr>
            <a:r>
              <a:rPr lang="fr-FR" sz="1800" spc="60" dirty="0"/>
              <a:t>Le ménage déclare ne rien dépenser/consommer dans les catégories de consommation très courantes (par exemple céréales, tubercules, articles d'hygiène, vêtements...)</a:t>
            </a:r>
          </a:p>
          <a:p>
            <a:pPr>
              <a:lnSpc>
                <a:spcPts val="2700"/>
              </a:lnSpc>
              <a:buFont typeface="Wingdings" panose="05000000000000000000" pitchFamily="2" charset="2"/>
              <a:buChar char="§"/>
            </a:pPr>
            <a:r>
              <a:rPr lang="fr-FR" sz="1800" spc="60" dirty="0"/>
              <a:t> Dépenses/consommation qui semblent excessivement basses ou élevées, surtout par rapport à...</a:t>
            </a:r>
          </a:p>
          <a:p>
            <a:pPr lvl="1">
              <a:lnSpc>
                <a:spcPts val="2700"/>
              </a:lnSpc>
              <a:buFont typeface="Wingdings" panose="05000000000000000000" pitchFamily="2" charset="2"/>
              <a:buChar char="§"/>
            </a:pPr>
            <a:r>
              <a:rPr lang="fr-FR" sz="1600" spc="60" dirty="0"/>
              <a:t>la taille du ménage</a:t>
            </a:r>
          </a:p>
          <a:p>
            <a:pPr lvl="1">
              <a:lnSpc>
                <a:spcPts val="2700"/>
              </a:lnSpc>
              <a:buFont typeface="Wingdings" panose="05000000000000000000" pitchFamily="2" charset="2"/>
              <a:buChar char="§"/>
            </a:pPr>
            <a:r>
              <a:rPr lang="fr-FR" sz="1600" spc="60" dirty="0"/>
              <a:t>Le type de moyens d’</a:t>
            </a:r>
            <a:r>
              <a:rPr lang="fr-FR" sz="1600" spc="60" dirty="0" err="1"/>
              <a:t>existance</a:t>
            </a:r>
            <a:endParaRPr lang="fr-FR" sz="1600" spc="60" dirty="0"/>
          </a:p>
          <a:p>
            <a:pPr lvl="1">
              <a:lnSpc>
                <a:spcPts val="2700"/>
              </a:lnSpc>
              <a:buFont typeface="Wingdings" panose="05000000000000000000" pitchFamily="2" charset="2"/>
              <a:buChar char="§"/>
            </a:pPr>
            <a:r>
              <a:rPr lang="fr-FR" sz="1600" spc="60" dirty="0"/>
              <a:t> Consommation alimentaire (par exemple, les ménages ne déclarent pas consommer de la viande dans le module FCS mais déclarent des dépenses pour la viande) </a:t>
            </a:r>
          </a:p>
          <a:p>
            <a:pPr lvl="1">
              <a:lnSpc>
                <a:spcPts val="2700"/>
              </a:lnSpc>
              <a:buFont typeface="Wingdings" panose="05000000000000000000" pitchFamily="2" charset="2"/>
              <a:buChar char="§"/>
            </a:pPr>
            <a:r>
              <a:rPr lang="fr-FR" sz="1600" spc="60" dirty="0"/>
              <a:t>Statut du logement</a:t>
            </a:r>
          </a:p>
          <a:p>
            <a:pPr lvl="1">
              <a:lnSpc>
                <a:spcPts val="2700"/>
              </a:lnSpc>
              <a:buFont typeface="Wingdings" panose="05000000000000000000" pitchFamily="2" charset="2"/>
              <a:buChar char="§"/>
            </a:pPr>
            <a:r>
              <a:rPr lang="fr-FR" sz="1600" spc="60" dirty="0"/>
              <a:t>Stratégies d'adaptation</a:t>
            </a:r>
            <a:endParaRPr lang="en-US" sz="1600" spc="60" dirty="0"/>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fr-FR" sz="3600" b="0" kern="1400" spc="230" dirty="0">
                <a:solidFill>
                  <a:schemeClr val="tx1"/>
                </a:solidFill>
                <a:latin typeface="HALDEN SOLID" pitchFamily="2" charset="0"/>
              </a:rPr>
              <a:t>Quand poser des questions d'approfondissement ?</a:t>
            </a:r>
            <a:endParaRPr lang="en-GB" sz="3600" b="0" kern="1400" spc="230" dirty="0">
              <a:solidFill>
                <a:schemeClr val="tx1"/>
              </a:solidFill>
              <a:latin typeface="HALDEN SOLID" pitchFamily="2" charset="0"/>
            </a:endParaRPr>
          </a:p>
        </p:txBody>
      </p:sp>
    </p:spTree>
    <p:extLst>
      <p:ext uri="{BB962C8B-B14F-4D97-AF65-F5344CB8AC3E}">
        <p14:creationId xmlns:p14="http://schemas.microsoft.com/office/powerpoint/2010/main" val="11626362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6809" y="1378973"/>
            <a:ext cx="11052000" cy="4267848"/>
          </a:xfrm>
        </p:spPr>
        <p:txBody>
          <a:bodyPr/>
          <a:lstStyle/>
          <a:p>
            <a:pPr>
              <a:lnSpc>
                <a:spcPts val="2700"/>
              </a:lnSpc>
              <a:buFont typeface="Wingdings" panose="05000000000000000000" pitchFamily="2" charset="2"/>
              <a:buChar char="§"/>
            </a:pPr>
            <a:r>
              <a:rPr lang="fr-FR" spc="60" dirty="0"/>
              <a:t>Si les dépenses/valeurs de consommation déclarées sont trop élevées ou trop basses:</a:t>
            </a:r>
          </a:p>
          <a:p>
            <a:pPr lvl="1">
              <a:lnSpc>
                <a:spcPts val="2700"/>
              </a:lnSpc>
              <a:buFont typeface="Wingdings" panose="05000000000000000000" pitchFamily="2" charset="2"/>
              <a:buChar char="§"/>
            </a:pPr>
            <a:r>
              <a:rPr lang="fr-FR" sz="1600" spc="60" dirty="0"/>
              <a:t>Assurez-vous que le répondant a compris la période de référence (par exemple, en passant d'un sous-module à un autre avec des périodes de rappel différentes).</a:t>
            </a:r>
          </a:p>
          <a:p>
            <a:pPr lvl="1">
              <a:lnSpc>
                <a:spcPts val="2700"/>
              </a:lnSpc>
              <a:buFont typeface="Wingdings" panose="05000000000000000000" pitchFamily="2" charset="2"/>
              <a:buChar char="§"/>
            </a:pPr>
            <a:r>
              <a:rPr lang="fr-FR" sz="1600" spc="60" dirty="0"/>
              <a:t>Assurez-vous que le répondant a compris ce qui est inclus dans le groupe de dépenses. Relisez les exemples de chaque groupe si nécessaire</a:t>
            </a:r>
          </a:p>
          <a:p>
            <a:pPr lvl="1">
              <a:lnSpc>
                <a:spcPts val="2700"/>
              </a:lnSpc>
              <a:buFont typeface="Wingdings" panose="05000000000000000000" pitchFamily="2" charset="2"/>
              <a:buChar char="§"/>
            </a:pPr>
            <a:r>
              <a:rPr lang="fr-FR" sz="1600" spc="60" dirty="0"/>
              <a:t>Assurez-vous que l'enquêté utilise la devise requise - s'il ne peut pas le faire dans la devise requise, aidez-le à faire les conversions.</a:t>
            </a:r>
          </a:p>
          <a:p>
            <a:pPr lvl="1">
              <a:lnSpc>
                <a:spcPts val="2700"/>
              </a:lnSpc>
              <a:buFont typeface="Wingdings" panose="05000000000000000000" pitchFamily="2" charset="2"/>
              <a:buChar char="§"/>
            </a:pPr>
            <a:r>
              <a:rPr lang="fr-FR" sz="1600" spc="60" dirty="0"/>
              <a:t>Demandez au répondant quels sont les articles exacts achetés/consommés : puis posez des questions sur les quantités et les prix pour comprendre si l'estimation faite par le répondant est réaliste.</a:t>
            </a:r>
            <a:endParaRPr lang="en-US" sz="1600" spc="60" dirty="0"/>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fr-FR" sz="3600" b="0" kern="1400" spc="230" dirty="0">
                <a:solidFill>
                  <a:schemeClr val="tx1"/>
                </a:solidFill>
                <a:latin typeface="HALDEN SOLID" pitchFamily="2" charset="0"/>
              </a:rPr>
              <a:t>Comment poser des questions d'approfondissement</a:t>
            </a:r>
            <a:endParaRPr lang="en-GB" sz="3600" b="0" kern="1400" spc="230" dirty="0">
              <a:solidFill>
                <a:schemeClr val="tx1"/>
              </a:solidFill>
              <a:latin typeface="HALDEN SOLID" pitchFamily="2" charset="0"/>
            </a:endParaRPr>
          </a:p>
        </p:txBody>
      </p:sp>
    </p:spTree>
    <p:extLst>
      <p:ext uri="{BB962C8B-B14F-4D97-AF65-F5344CB8AC3E}">
        <p14:creationId xmlns:p14="http://schemas.microsoft.com/office/powerpoint/2010/main" val="11746585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6809" y="1378973"/>
            <a:ext cx="11052000" cy="4267848"/>
          </a:xfrm>
        </p:spPr>
        <p:txBody>
          <a:bodyPr/>
          <a:lstStyle/>
          <a:p>
            <a:pPr>
              <a:lnSpc>
                <a:spcPts val="2700"/>
              </a:lnSpc>
              <a:buFont typeface="Wingdings" panose="05000000000000000000" pitchFamily="2" charset="2"/>
              <a:buChar char="§"/>
            </a:pPr>
            <a:r>
              <a:rPr lang="fr-FR" sz="2400" spc="60" dirty="0"/>
              <a:t>Les répondants peuvent avoir du mal à se souvenir de ce qu'ils ont dépensé/consommé parce que :</a:t>
            </a:r>
          </a:p>
          <a:p>
            <a:pPr lvl="1">
              <a:lnSpc>
                <a:spcPts val="2700"/>
              </a:lnSpc>
              <a:buFont typeface="Wingdings" panose="05000000000000000000" pitchFamily="2" charset="2"/>
              <a:buChar char="§"/>
            </a:pPr>
            <a:r>
              <a:rPr lang="fr-FR" spc="60" dirty="0"/>
              <a:t>Ils ne se souviennent pas des articles qu'ils ont consommés parmi ceux qui font partie d'un certain groupe (par exemple, ils ne se souviennent pas de tous les produits qui font partie des "céréales" ou des "articles d'hygiène")</a:t>
            </a:r>
          </a:p>
          <a:p>
            <a:pPr lvl="1">
              <a:lnSpc>
                <a:spcPts val="2700"/>
              </a:lnSpc>
              <a:buFont typeface="Wingdings" panose="05000000000000000000" pitchFamily="2" charset="2"/>
              <a:buChar char="§"/>
            </a:pPr>
            <a:r>
              <a:rPr lang="fr-FR" spc="60" dirty="0"/>
              <a:t>Ils ne se souviennent pas du montant qu'ils ont dépensé ou consommé pour ces produits</a:t>
            </a:r>
          </a:p>
          <a:p>
            <a:pPr marL="457200" lvl="1" indent="0">
              <a:lnSpc>
                <a:spcPts val="2700"/>
              </a:lnSpc>
              <a:buNone/>
            </a:pPr>
            <a:endParaRPr lang="en-US" sz="1600" spc="60" dirty="0"/>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fr-FR" sz="3600" b="0" kern="1400" spc="230" dirty="0">
                <a:solidFill>
                  <a:schemeClr val="tx1"/>
                </a:solidFill>
                <a:latin typeface="HALDEN SOLID" pitchFamily="2" charset="0"/>
              </a:rPr>
              <a:t>Difficultés à se souvenir du montant des dépenses</a:t>
            </a:r>
            <a:endParaRPr lang="en-GB" sz="3600" b="0" kern="1400" spc="230" dirty="0">
              <a:solidFill>
                <a:schemeClr val="tx1"/>
              </a:solidFill>
              <a:latin typeface="HALDEN SOLID" pitchFamily="2" charset="0"/>
            </a:endParaRPr>
          </a:p>
        </p:txBody>
      </p:sp>
    </p:spTree>
    <p:extLst>
      <p:ext uri="{BB962C8B-B14F-4D97-AF65-F5344CB8AC3E}">
        <p14:creationId xmlns:p14="http://schemas.microsoft.com/office/powerpoint/2010/main" val="9372070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6809" y="1378973"/>
            <a:ext cx="11052000" cy="4267848"/>
          </a:xfrm>
        </p:spPr>
        <p:txBody>
          <a:bodyPr/>
          <a:lstStyle/>
          <a:p>
            <a:pPr>
              <a:lnSpc>
                <a:spcPts val="2700"/>
              </a:lnSpc>
              <a:buFont typeface="Wingdings" panose="05000000000000000000" pitchFamily="2" charset="2"/>
              <a:buChar char="§"/>
            </a:pPr>
            <a:r>
              <a:rPr lang="fr-FR" sz="2400" spc="60" dirty="0"/>
              <a:t>Stratégies pour aider les répondants </a:t>
            </a:r>
          </a:p>
          <a:p>
            <a:pPr lvl="1">
              <a:lnSpc>
                <a:spcPts val="2700"/>
              </a:lnSpc>
              <a:buFont typeface="Wingdings" panose="05000000000000000000" pitchFamily="2" charset="2"/>
              <a:buChar char="§"/>
            </a:pPr>
            <a:r>
              <a:rPr lang="fr-FR" spc="60" dirty="0"/>
              <a:t>Décomposer la question pour les articles les plus importants d'un groupe de dépenses (par exemple, poser des questions sur leurs achats de riz, de maïs, de pâtes, de pain, de farine pour le groupe "céréales").</a:t>
            </a:r>
          </a:p>
          <a:p>
            <a:pPr lvl="1">
              <a:lnSpc>
                <a:spcPts val="2700"/>
              </a:lnSpc>
              <a:buFont typeface="Wingdings" panose="05000000000000000000" pitchFamily="2" charset="2"/>
              <a:buChar char="§"/>
            </a:pPr>
            <a:r>
              <a:rPr lang="fr-FR" spc="60" dirty="0"/>
              <a:t>Décomposer la période de rappel : par exemple, pour un rappel de 30 jours, poser des questions sur les 7 derniers jours seulement - puis sur les 2 dernières semaines, etc.</a:t>
            </a:r>
          </a:p>
          <a:p>
            <a:pPr lvl="1">
              <a:lnSpc>
                <a:spcPts val="2700"/>
              </a:lnSpc>
              <a:buFont typeface="Wingdings" panose="05000000000000000000" pitchFamily="2" charset="2"/>
              <a:buChar char="§"/>
            </a:pPr>
            <a:r>
              <a:rPr lang="fr-FR" spc="60" dirty="0"/>
              <a:t>Si les deux stratégies ci-dessus ne fonctionnent pas, essayez d'obtenir une estimation de ce qu'ils consommeraient/dépenseraient "habituellement" au cours d'une certaine période - puis déterminez si les 7/30 derniers jours sont différents de la situation habituelle et ajustez en fonction.</a:t>
            </a:r>
          </a:p>
          <a:p>
            <a:pPr lvl="1">
              <a:lnSpc>
                <a:spcPts val="2700"/>
              </a:lnSpc>
              <a:buFont typeface="Wingdings" panose="05000000000000000000" pitchFamily="2" charset="2"/>
              <a:buChar char="§"/>
            </a:pPr>
            <a:endParaRPr lang="en-US" sz="1600" spc="60" dirty="0"/>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fr-FR" sz="3600" b="0" kern="1400" spc="230" dirty="0">
                <a:solidFill>
                  <a:schemeClr val="tx1"/>
                </a:solidFill>
                <a:latin typeface="HALDEN SOLID" pitchFamily="2" charset="0"/>
              </a:rPr>
              <a:t>Difficultés à se souvenir du montant des dépenses</a:t>
            </a:r>
            <a:endParaRPr lang="en-GB" sz="3600" b="0" kern="1400" spc="230" dirty="0">
              <a:solidFill>
                <a:schemeClr val="tx1"/>
              </a:solidFill>
              <a:latin typeface="HALDEN SOLID" pitchFamily="2" charset="0"/>
            </a:endParaRPr>
          </a:p>
        </p:txBody>
      </p:sp>
    </p:spTree>
    <p:extLst>
      <p:ext uri="{BB962C8B-B14F-4D97-AF65-F5344CB8AC3E}">
        <p14:creationId xmlns:p14="http://schemas.microsoft.com/office/powerpoint/2010/main" val="24585125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1703200" y="2369285"/>
            <a:ext cx="8785600" cy="21194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sz="3400" b="0" dirty="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algn="ctr">
              <a:lnSpc>
                <a:spcPts val="3920"/>
              </a:lnSpc>
            </a:pPr>
            <a:r>
              <a:rPr lang="it-IT" sz="3400" b="0" dirty="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rPr>
              <a:t>Merci!</a:t>
            </a:r>
            <a:endParaRPr lang="en-GB" sz="2900" b="0" dirty="0">
              <a:solidFill>
                <a:srgbClr val="FFFFFE"/>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996823955"/>
      </p:ext>
    </p:extLst>
  </p:cSld>
  <p:clrMapOvr>
    <a:masterClrMapping/>
  </p:clrMapOvr>
</p:sld>
</file>

<file path=ppt/theme/theme1.xml><?xml version="1.0" encoding="utf-8"?>
<a:theme xmlns:a="http://schemas.openxmlformats.org/drawingml/2006/main" name="Theme2">
  <a:themeElements>
    <a:clrScheme name="WFP COLOUR PALETTE">
      <a:dk1>
        <a:srgbClr val="007DBC"/>
      </a:dk1>
      <a:lt1>
        <a:srgbClr val="36B5C5"/>
      </a:lt1>
      <a:dk2>
        <a:srgbClr val="00B385"/>
      </a:dk2>
      <a:lt2>
        <a:srgbClr val="008868"/>
      </a:lt2>
      <a:accent1>
        <a:srgbClr val="1A4161"/>
      </a:accent1>
      <a:accent2>
        <a:srgbClr val="982B56"/>
      </a:accent2>
      <a:accent3>
        <a:srgbClr val="EF404C"/>
      </a:accent3>
      <a:accent4>
        <a:srgbClr val="B79F8D"/>
      </a:accent4>
      <a:accent5>
        <a:srgbClr val="ECDFBB"/>
      </a:accent5>
      <a:accent6>
        <a:srgbClr val="F37847"/>
      </a:accent6>
      <a:hlink>
        <a:srgbClr val="FFFFFF"/>
      </a:hlink>
      <a:folHlink>
        <a:srgbClr val="000000"/>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2" id="{CEABC6C1-02E8-6E4D-9B35-02EDBE627B8A}" vid="{F8040699-0E4C-D043-8EE2-4232DCF6EB18}"/>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7EC5AEA005F3944B5281CE0F7F3B6DF" ma:contentTypeVersion="19" ma:contentTypeDescription="Create a new document." ma:contentTypeScope="" ma:versionID="43cac7850c215b99b189dd42ff5381b4">
  <xsd:schema xmlns:xsd="http://www.w3.org/2001/XMLSchema" xmlns:xs="http://www.w3.org/2001/XMLSchema" xmlns:p="http://schemas.microsoft.com/office/2006/metadata/properties" xmlns:ns2="49256dcf-74b5-4e0f-b2ab-e17546be8a80" xmlns:ns3="3940b711-dc1d-4235-b0a5-48d487f0d3b9" targetNamespace="http://schemas.microsoft.com/office/2006/metadata/properties" ma:root="true" ma:fieldsID="7f3b09dd81f609e653ddad0159f4af65" ns2:_="" ns3:_="">
    <xsd:import namespace="49256dcf-74b5-4e0f-b2ab-e17546be8a80"/>
    <xsd:import namespace="3940b711-dc1d-4235-b0a5-48d487f0d3b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256dcf-74b5-4e0f-b2ab-e17546be8a8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5acc4dc2-1d7d-4ba2-9bc5-748c4ad50a6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Notes" ma:index="26" nillable="true" ma:displayName="Notes" ma:description="Describe what this folder should contain" ma:format="Dropdown" ma:internalName="Note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940b711-dc1d-4235-b0a5-48d487f0d3b9"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517c2faf-511a-483c-a677-1ab92e51de83}" ma:internalName="TaxCatchAll" ma:showField="CatchAllData" ma:web="3940b711-dc1d-4235-b0a5-48d487f0d3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9256dcf-74b5-4e0f-b2ab-e17546be8a80">
      <Terms xmlns="http://schemas.microsoft.com/office/infopath/2007/PartnerControls"/>
    </lcf76f155ced4ddcb4097134ff3c332f>
    <TaxCatchAll xmlns="3940b711-dc1d-4235-b0a5-48d487f0d3b9" xsi:nil="true"/>
    <Notes xmlns="49256dcf-74b5-4e0f-b2ab-e17546be8a8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22E38A4-C062-48B5-999A-6B6D54DAC914}"/>
</file>

<file path=customXml/itemProps2.xml><?xml version="1.0" encoding="utf-8"?>
<ds:datastoreItem xmlns:ds="http://schemas.openxmlformats.org/officeDocument/2006/customXml" ds:itemID="{7144BB7B-CE34-4D68-9B7C-68D737AEA431}">
  <ds:schemaRefs>
    <ds:schemaRef ds:uri="http://schemas.openxmlformats.org/package/2006/metadata/core-properties"/>
    <ds:schemaRef ds:uri="3940b711-dc1d-4235-b0a5-48d487f0d3b9"/>
    <ds:schemaRef ds:uri="http://purl.org/dc/elements/1.1/"/>
    <ds:schemaRef ds:uri="http://schemas.microsoft.com/office/2006/metadata/properties"/>
    <ds:schemaRef ds:uri="49256dcf-74b5-4e0f-b2ab-e17546be8a80"/>
    <ds:schemaRef ds:uri="http://schemas.microsoft.com/office/2006/documentManagement/types"/>
    <ds:schemaRef ds:uri="http://schemas.microsoft.com/office/infopath/2007/PartnerControls"/>
    <ds:schemaRef ds:uri="http://www.w3.org/XML/1998/namespace"/>
    <ds:schemaRef ds:uri="http://purl.org/dc/dcmitype/"/>
    <ds:schemaRef ds:uri="http://purl.org/dc/terms/"/>
  </ds:schemaRefs>
</ds:datastoreItem>
</file>

<file path=customXml/itemProps3.xml><?xml version="1.0" encoding="utf-8"?>
<ds:datastoreItem xmlns:ds="http://schemas.openxmlformats.org/officeDocument/2006/customXml" ds:itemID="{2A3AC776-BB22-46C6-94CA-DE5319E3281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1535</TotalTime>
  <Words>2091</Words>
  <Application>Microsoft Office PowerPoint</Application>
  <PresentationFormat>Widescreen</PresentationFormat>
  <Paragraphs>159</Paragraphs>
  <Slides>23</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Arial</vt:lpstr>
      <vt:lpstr>Calibri</vt:lpstr>
      <vt:lpstr>HALDEN SOLID</vt:lpstr>
      <vt:lpstr>Open Sans</vt:lpstr>
      <vt:lpstr>Open Sans ExtraBold</vt:lpstr>
      <vt:lpstr>Wingdings</vt:lpstr>
      <vt:lpstr>Theme2</vt:lpstr>
      <vt:lpstr>PowerPoint Presentation</vt:lpstr>
      <vt:lpstr>PowerPoint Presentation</vt:lpstr>
      <vt:lpstr>Pourquoi collecter un module des dépenses ?</vt:lpstr>
      <vt:lpstr>Vue d'ensemble du module des dépenses</vt:lpstr>
      <vt:lpstr>précision importante</vt:lpstr>
      <vt:lpstr>PowerPoint Presentation</vt:lpstr>
      <vt:lpstr>Dépenses alimentaires</vt:lpstr>
      <vt:lpstr>Dépenses alimentaires – au comptant/cash et a credit</vt:lpstr>
      <vt:lpstr>Dépenses alimentaires – dons ou d'assistance en nature </vt:lpstr>
      <vt:lpstr>Dépenses alimentaires – propre production </vt:lpstr>
      <vt:lpstr>PowerPoint Presentation</vt:lpstr>
      <vt:lpstr>Dépenses non alimentaires: 30 jours</vt:lpstr>
      <vt:lpstr>Dépenses non alimentaires: 6 mois</vt:lpstr>
      <vt:lpstr>Dépenses non alimentaires – au comptant/cash et a credit</vt:lpstr>
      <vt:lpstr>Dépenses non alimentaires – dons ou d'assistance en nature </vt:lpstr>
      <vt:lpstr>Dépenses non alimentaires : considérations générales</vt:lpstr>
      <vt:lpstr>PowerPoint Presentation</vt:lpstr>
      <vt:lpstr>considérations générales</vt:lpstr>
      <vt:lpstr>Quand poser des questions d'approfondissement ?</vt:lpstr>
      <vt:lpstr>Comment poser des questions d'approfondissement</vt:lpstr>
      <vt:lpstr>Difficultés à se souvenir du montant des dépenses</vt:lpstr>
      <vt:lpstr>Difficultés à se souvenir du montant des dépenses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 slide Useful tips to correctly edit this powerpoint template</dc:title>
  <dc:creator>Helen CLARKE</dc:creator>
  <cp:lastModifiedBy>Jonas DEMEYER</cp:lastModifiedBy>
  <cp:revision>45</cp:revision>
  <dcterms:created xsi:type="dcterms:W3CDTF">2018-08-20T09:35:59Z</dcterms:created>
  <dcterms:modified xsi:type="dcterms:W3CDTF">2023-07-16T10:48:38Z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0x01010007EC5AEA005F3944B5281CE0F7F3B6DF</vt:lpwstr>
  </property>
  <property fmtid="{D5CDD505-2E9C-101B-9397-08002B2CF9AE}" pid="3" name="MediaServiceImageTags">
    <vt:lpwstr/>
  </property>
</Properties>
</file>