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D_7239D60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5" r:id="rId4"/>
  </p:sldMasterIdLst>
  <p:notesMasterIdLst>
    <p:notesMasterId r:id="rId41"/>
  </p:notesMasterIdLst>
  <p:handoutMasterIdLst>
    <p:handoutMasterId r:id="rId42"/>
  </p:handoutMasterIdLst>
  <p:sldIdLst>
    <p:sldId id="261" r:id="rId5"/>
    <p:sldId id="306" r:id="rId6"/>
    <p:sldId id="735" r:id="rId7"/>
    <p:sldId id="291" r:id="rId8"/>
    <p:sldId id="4158" r:id="rId9"/>
    <p:sldId id="736" r:id="rId10"/>
    <p:sldId id="260" r:id="rId11"/>
    <p:sldId id="318" r:id="rId12"/>
    <p:sldId id="265" r:id="rId13"/>
    <p:sldId id="266" r:id="rId14"/>
    <p:sldId id="737" r:id="rId15"/>
    <p:sldId id="319" r:id="rId16"/>
    <p:sldId id="4157" r:id="rId17"/>
    <p:sldId id="4159" r:id="rId18"/>
    <p:sldId id="269" r:id="rId19"/>
    <p:sldId id="320" r:id="rId20"/>
    <p:sldId id="270" r:id="rId21"/>
    <p:sldId id="271" r:id="rId22"/>
    <p:sldId id="321" r:id="rId23"/>
    <p:sldId id="322" r:id="rId24"/>
    <p:sldId id="323" r:id="rId25"/>
    <p:sldId id="324" r:id="rId26"/>
    <p:sldId id="307" r:id="rId27"/>
    <p:sldId id="325" r:id="rId28"/>
    <p:sldId id="329" r:id="rId29"/>
    <p:sldId id="330" r:id="rId30"/>
    <p:sldId id="262" r:id="rId31"/>
    <p:sldId id="263" r:id="rId32"/>
    <p:sldId id="264" r:id="rId33"/>
    <p:sldId id="279" r:id="rId34"/>
    <p:sldId id="328" r:id="rId35"/>
    <p:sldId id="4137" r:id="rId36"/>
    <p:sldId id="4144" r:id="rId37"/>
    <p:sldId id="4145" r:id="rId38"/>
    <p:sldId id="4146" r:id="rId39"/>
    <p:sldId id="4147" r:id="rId4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74482A8-B23D-4274-8CCE-7D9DD16075A0}">
          <p14:sldIdLst>
            <p14:sldId id="261"/>
          </p14:sldIdLst>
        </p14:section>
        <p14:section name="Relevance: both" id="{E10B6794-396A-4A55-BE25-454B573A0732}">
          <p14:sldIdLst>
            <p14:sldId id="306"/>
            <p14:sldId id="735"/>
            <p14:sldId id="291"/>
            <p14:sldId id="4158"/>
            <p14:sldId id="736"/>
            <p14:sldId id="260"/>
            <p14:sldId id="318"/>
            <p14:sldId id="265"/>
            <p14:sldId id="266"/>
            <p14:sldId id="737"/>
            <p14:sldId id="319"/>
            <p14:sldId id="4157"/>
            <p14:sldId id="4159"/>
            <p14:sldId id="269"/>
            <p14:sldId id="320"/>
            <p14:sldId id="270"/>
            <p14:sldId id="271"/>
            <p14:sldId id="321"/>
            <p14:sldId id="322"/>
            <p14:sldId id="323"/>
            <p14:sldId id="324"/>
            <p14:sldId id="307"/>
            <p14:sldId id="325"/>
            <p14:sldId id="329"/>
            <p14:sldId id="330"/>
            <p14:sldId id="262"/>
            <p14:sldId id="263"/>
            <p14:sldId id="264"/>
            <p14:sldId id="279"/>
            <p14:sldId id="328"/>
          </p14:sldIdLst>
        </p14:section>
        <p14:section name="Relevance: both" id="{4B26D6E0-43FB-42AD-9C96-68F223523B1B}">
          <p14:sldIdLst>
            <p14:sldId id="4137"/>
            <p14:sldId id="4144"/>
            <p14:sldId id="4145"/>
            <p14:sldId id="4146"/>
            <p14:sldId id="414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77B0AD3B-C1D1-672D-9D89-62952A69C8C3}" name="Lena HOHFELD" initials="LH" userId="S::lena.hohfeld@wfp.org::42ec1902-f3dc-4b1f-9027-73527d927344" providerId="AD"/>
  <p188:author id="{48B76E41-EE3A-55C5-FA23-E4EF01351F8D}" name="WFP-RAM-N" initials="RAMN" userId="WFP-RAM-N" providerId="None"/>
  <p188:author id="{40F2586B-3AC3-BE9D-F573-DE66AE216A67}" name="Jonas DEMEYER" initials="" userId="S::jonas.demeyer@wfp.org::1c45f721-f288-4a8d-8f07-b4395c318810" providerId="AD"/>
  <p188:author id="{722DE0DA-4CC0-95E0-086A-D1CE3BE2A97F}" name="Lorenzo MONCADA" initials="LM" userId="S::lorenzo.moncada@wfp.org::d9b2fc5f-dba1-4749-8b5b-0d66b4bd4be7" providerId="AD"/>
  <p188:author id="{CDDE9FF5-1B1F-6381-C1BC-064F2395998F}" name="Ndeye Fatou DIEME" initials="ND" userId="S::ndeyefatou.dieme@wfp.org::fcd7c9ff-0ca7-4b50-a3f5-34a106a66de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E"/>
    <a:srgbClr val="595959"/>
    <a:srgbClr val="0C0C00"/>
    <a:srgbClr val="D9D9D9"/>
    <a:srgbClr val="B2B2B2"/>
    <a:srgbClr val="0070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056A81-CF60-B96A-AD73-DC18B9E6DF57}" v="1" dt="2024-09-26T11:12:29.6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5" autoAdjust="0"/>
    <p:restoredTop sz="77086" autoAdjust="0"/>
  </p:normalViewPr>
  <p:slideViewPr>
    <p:cSldViewPr snapToGrid="0">
      <p:cViewPr>
        <p:scale>
          <a:sx n="60" d="100"/>
          <a:sy n="60" d="100"/>
        </p:scale>
        <p:origin x="944" y="240"/>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deye Fatou DIEME" userId="S::ndeyefatou.dieme@wfp.org::fcd7c9ff-0ca7-4b50-a3f5-34a106a66dea" providerId="AD" clId="Web-{61B5F710-8E3D-DFEC-8D8E-BDB258E6C826}"/>
    <pc:docChg chg="modSld sldOrd">
      <pc:chgData name="Ndeye Fatou DIEME" userId="S::ndeyefatou.dieme@wfp.org::fcd7c9ff-0ca7-4b50-a3f5-34a106a66dea" providerId="AD" clId="Web-{61B5F710-8E3D-DFEC-8D8E-BDB258E6C826}" dt="2024-09-09T10:12:23.386" v="9"/>
      <pc:docMkLst>
        <pc:docMk/>
      </pc:docMkLst>
      <pc:sldChg chg="modSp">
        <pc:chgData name="Ndeye Fatou DIEME" userId="S::ndeyefatou.dieme@wfp.org::fcd7c9ff-0ca7-4b50-a3f5-34a106a66dea" providerId="AD" clId="Web-{61B5F710-8E3D-DFEC-8D8E-BDB258E6C826}" dt="2024-09-09T09:57:31.038" v="1" actId="1076"/>
        <pc:sldMkLst>
          <pc:docMk/>
          <pc:sldMk cId="1225684752" sldId="260"/>
        </pc:sldMkLst>
        <pc:spChg chg="mod">
          <ac:chgData name="Ndeye Fatou DIEME" userId="S::ndeyefatou.dieme@wfp.org::fcd7c9ff-0ca7-4b50-a3f5-34a106a66dea" providerId="AD" clId="Web-{61B5F710-8E3D-DFEC-8D8E-BDB258E6C826}" dt="2024-09-09T09:57:31.038" v="1" actId="1076"/>
          <ac:spMkLst>
            <pc:docMk/>
            <pc:sldMk cId="1225684752" sldId="260"/>
            <ac:spMk id="2" creationId="{C1695D6D-3018-4974-A469-1F147A912234}"/>
          </ac:spMkLst>
        </pc:spChg>
      </pc:sldChg>
      <pc:sldChg chg="modSp">
        <pc:chgData name="Ndeye Fatou DIEME" userId="S::ndeyefatou.dieme@wfp.org::fcd7c9ff-0ca7-4b50-a3f5-34a106a66dea" providerId="AD" clId="Web-{61B5F710-8E3D-DFEC-8D8E-BDB258E6C826}" dt="2024-09-09T10:05:10.174" v="4" actId="1076"/>
        <pc:sldMkLst>
          <pc:docMk/>
          <pc:sldMk cId="1621131392" sldId="265"/>
        </pc:sldMkLst>
        <pc:spChg chg="mod">
          <ac:chgData name="Ndeye Fatou DIEME" userId="S::ndeyefatou.dieme@wfp.org::fcd7c9ff-0ca7-4b50-a3f5-34a106a66dea" providerId="AD" clId="Web-{61B5F710-8E3D-DFEC-8D8E-BDB258E6C826}" dt="2024-09-09T10:05:10.174" v="4" actId="1076"/>
          <ac:spMkLst>
            <pc:docMk/>
            <pc:sldMk cId="1621131392" sldId="265"/>
            <ac:spMk id="2" creationId="{F8CDBE66-BD04-4DF7-A330-7DA4F777BFC9}"/>
          </ac:spMkLst>
        </pc:spChg>
      </pc:sldChg>
      <pc:sldChg chg="modSp ord">
        <pc:chgData name="Ndeye Fatou DIEME" userId="S::ndeyefatou.dieme@wfp.org::fcd7c9ff-0ca7-4b50-a3f5-34a106a66dea" providerId="AD" clId="Web-{61B5F710-8E3D-DFEC-8D8E-BDB258E6C826}" dt="2024-09-09T10:10:05.863" v="7" actId="14100"/>
        <pc:sldMkLst>
          <pc:docMk/>
          <pc:sldMk cId="3784731373" sldId="266"/>
        </pc:sldMkLst>
        <pc:spChg chg="mod">
          <ac:chgData name="Ndeye Fatou DIEME" userId="S::ndeyefatou.dieme@wfp.org::fcd7c9ff-0ca7-4b50-a3f5-34a106a66dea" providerId="AD" clId="Web-{61B5F710-8E3D-DFEC-8D8E-BDB258E6C826}" dt="2024-09-09T10:10:05.863" v="7" actId="14100"/>
          <ac:spMkLst>
            <pc:docMk/>
            <pc:sldMk cId="3784731373" sldId="266"/>
            <ac:spMk id="2" creationId="{F8CDBE66-BD04-4DF7-A330-7DA4F777BFC9}"/>
          </ac:spMkLst>
        </pc:spChg>
      </pc:sldChg>
      <pc:sldChg chg="modSp">
        <pc:chgData name="Ndeye Fatou DIEME" userId="S::ndeyefatou.dieme@wfp.org::fcd7c9ff-0ca7-4b50-a3f5-34a106a66dea" providerId="AD" clId="Web-{61B5F710-8E3D-DFEC-8D8E-BDB258E6C826}" dt="2024-09-09T10:12:23.386" v="9"/>
        <pc:sldMkLst>
          <pc:docMk/>
          <pc:sldMk cId="286959178" sldId="319"/>
        </pc:sldMkLst>
        <pc:graphicFrameChg chg="mod modGraphic">
          <ac:chgData name="Ndeye Fatou DIEME" userId="S::ndeyefatou.dieme@wfp.org::fcd7c9ff-0ca7-4b50-a3f5-34a106a66dea" providerId="AD" clId="Web-{61B5F710-8E3D-DFEC-8D8E-BDB258E6C826}" dt="2024-09-09T10:12:23.386" v="9"/>
          <ac:graphicFrameMkLst>
            <pc:docMk/>
            <pc:sldMk cId="286959178" sldId="319"/>
            <ac:graphicFrameMk id="12" creationId="{A82371B2-C643-4CE2-8140-A730710AD368}"/>
          </ac:graphicFrameMkLst>
        </pc:graphicFrameChg>
      </pc:sldChg>
    </pc:docChg>
  </pc:docChgLst>
  <pc:docChgLst>
    <pc:chgData name="Ndeye Fatou DIEME" userId="S::ndeyefatou.dieme@wfp.org::fcd7c9ff-0ca7-4b50-a3f5-34a106a66dea" providerId="AD" clId="Web-{564B7FE6-465D-4083-FD3B-6EBA2FE9D0F3}"/>
    <pc:docChg chg="mod modSld sldOrd">
      <pc:chgData name="Ndeye Fatou DIEME" userId="S::ndeyefatou.dieme@wfp.org::fcd7c9ff-0ca7-4b50-a3f5-34a106a66dea" providerId="AD" clId="Web-{564B7FE6-465D-4083-FD3B-6EBA2FE9D0F3}" dt="2024-09-05T15:18:40.091" v="77" actId="1076"/>
      <pc:docMkLst>
        <pc:docMk/>
      </pc:docMkLst>
      <pc:sldChg chg="modSp">
        <pc:chgData name="Ndeye Fatou DIEME" userId="S::ndeyefatou.dieme@wfp.org::fcd7c9ff-0ca7-4b50-a3f5-34a106a66dea" providerId="AD" clId="Web-{564B7FE6-465D-4083-FD3B-6EBA2FE9D0F3}" dt="2024-09-05T13:30:20.148" v="37" actId="20577"/>
        <pc:sldMkLst>
          <pc:docMk/>
          <pc:sldMk cId="3122708345" sldId="262"/>
        </pc:sldMkLst>
        <pc:spChg chg="mod">
          <ac:chgData name="Ndeye Fatou DIEME" userId="S::ndeyefatou.dieme@wfp.org::fcd7c9ff-0ca7-4b50-a3f5-34a106a66dea" providerId="AD" clId="Web-{564B7FE6-465D-4083-FD3B-6EBA2FE9D0F3}" dt="2024-09-05T13:30:20.148" v="37" actId="20577"/>
          <ac:spMkLst>
            <pc:docMk/>
            <pc:sldMk cId="3122708345" sldId="262"/>
            <ac:spMk id="3" creationId="{2032BBB5-5747-42E0-81FF-AA1BF4BC9A38}"/>
          </ac:spMkLst>
        </pc:spChg>
      </pc:sldChg>
      <pc:sldChg chg="modSp">
        <pc:chgData name="Ndeye Fatou DIEME" userId="S::ndeyefatou.dieme@wfp.org::fcd7c9ff-0ca7-4b50-a3f5-34a106a66dea" providerId="AD" clId="Web-{564B7FE6-465D-4083-FD3B-6EBA2FE9D0F3}" dt="2024-09-05T15:15:45.818" v="74" actId="14100"/>
        <pc:sldMkLst>
          <pc:docMk/>
          <pc:sldMk cId="213528550" sldId="263"/>
        </pc:sldMkLst>
        <pc:spChg chg="mod">
          <ac:chgData name="Ndeye Fatou DIEME" userId="S::ndeyefatou.dieme@wfp.org::fcd7c9ff-0ca7-4b50-a3f5-34a106a66dea" providerId="AD" clId="Web-{564B7FE6-465D-4083-FD3B-6EBA2FE9D0F3}" dt="2024-09-05T15:15:45.818" v="74" actId="14100"/>
          <ac:spMkLst>
            <pc:docMk/>
            <pc:sldMk cId="213528550" sldId="263"/>
            <ac:spMk id="2" creationId="{F6D0BFD7-E30B-4C7A-9ABD-E2F9A06E596C}"/>
          </ac:spMkLst>
        </pc:spChg>
      </pc:sldChg>
      <pc:sldChg chg="modSp">
        <pc:chgData name="Ndeye Fatou DIEME" userId="S::ndeyefatou.dieme@wfp.org::fcd7c9ff-0ca7-4b50-a3f5-34a106a66dea" providerId="AD" clId="Web-{564B7FE6-465D-4083-FD3B-6EBA2FE9D0F3}" dt="2024-09-05T15:17:08.681" v="75" actId="14100"/>
        <pc:sldMkLst>
          <pc:docMk/>
          <pc:sldMk cId="798337516" sldId="264"/>
        </pc:sldMkLst>
        <pc:spChg chg="mod">
          <ac:chgData name="Ndeye Fatou DIEME" userId="S::ndeyefatou.dieme@wfp.org::fcd7c9ff-0ca7-4b50-a3f5-34a106a66dea" providerId="AD" clId="Web-{564B7FE6-465D-4083-FD3B-6EBA2FE9D0F3}" dt="2024-09-05T15:17:08.681" v="75" actId="14100"/>
          <ac:spMkLst>
            <pc:docMk/>
            <pc:sldMk cId="798337516" sldId="264"/>
            <ac:spMk id="2" creationId="{D67BCA7A-38EA-4609-B0D5-F25B4B662A2A}"/>
          </ac:spMkLst>
        </pc:spChg>
        <pc:spChg chg="mod">
          <ac:chgData name="Ndeye Fatou DIEME" userId="S::ndeyefatou.dieme@wfp.org::fcd7c9ff-0ca7-4b50-a3f5-34a106a66dea" providerId="AD" clId="Web-{564B7FE6-465D-4083-FD3B-6EBA2FE9D0F3}" dt="2024-09-05T13:39:09.805" v="50" actId="20577"/>
          <ac:spMkLst>
            <pc:docMk/>
            <pc:sldMk cId="798337516" sldId="264"/>
            <ac:spMk id="3" creationId="{CC424478-E055-48DC-A858-64522C01DF85}"/>
          </ac:spMkLst>
        </pc:spChg>
      </pc:sldChg>
      <pc:sldChg chg="modSp">
        <pc:chgData name="Ndeye Fatou DIEME" userId="S::ndeyefatou.dieme@wfp.org::fcd7c9ff-0ca7-4b50-a3f5-34a106a66dea" providerId="AD" clId="Web-{564B7FE6-465D-4083-FD3B-6EBA2FE9D0F3}" dt="2024-09-05T15:18:40.091" v="77" actId="1076"/>
        <pc:sldMkLst>
          <pc:docMk/>
          <pc:sldMk cId="2399915813" sldId="279"/>
        </pc:sldMkLst>
        <pc:spChg chg="mod">
          <ac:chgData name="Ndeye Fatou DIEME" userId="S::ndeyefatou.dieme@wfp.org::fcd7c9ff-0ca7-4b50-a3f5-34a106a66dea" providerId="AD" clId="Web-{564B7FE6-465D-4083-FD3B-6EBA2FE9D0F3}" dt="2024-09-05T15:18:29.012" v="76" actId="14100"/>
          <ac:spMkLst>
            <pc:docMk/>
            <pc:sldMk cId="2399915813" sldId="279"/>
            <ac:spMk id="2" creationId="{01E2E427-834F-4A8A-BDFF-8D55B26AB5B8}"/>
          </ac:spMkLst>
        </pc:spChg>
        <pc:spChg chg="mod">
          <ac:chgData name="Ndeye Fatou DIEME" userId="S::ndeyefatou.dieme@wfp.org::fcd7c9ff-0ca7-4b50-a3f5-34a106a66dea" providerId="AD" clId="Web-{564B7FE6-465D-4083-FD3B-6EBA2FE9D0F3}" dt="2024-09-05T15:18:40.091" v="77" actId="1076"/>
          <ac:spMkLst>
            <pc:docMk/>
            <pc:sldMk cId="2399915813" sldId="279"/>
            <ac:spMk id="3" creationId="{7BC5360B-F2B1-4880-A888-21B2A1ECCE3D}"/>
          </ac:spMkLst>
        </pc:spChg>
      </pc:sldChg>
      <pc:sldChg chg="modSp">
        <pc:chgData name="Ndeye Fatou DIEME" userId="S::ndeyefatou.dieme@wfp.org::fcd7c9ff-0ca7-4b50-a3f5-34a106a66dea" providerId="AD" clId="Web-{564B7FE6-465D-4083-FD3B-6EBA2FE9D0F3}" dt="2024-09-05T12:24:44.157" v="27"/>
        <pc:sldMkLst>
          <pc:docMk/>
          <pc:sldMk cId="286959178" sldId="319"/>
        </pc:sldMkLst>
        <pc:graphicFrameChg chg="mod modGraphic">
          <ac:chgData name="Ndeye Fatou DIEME" userId="S::ndeyefatou.dieme@wfp.org::fcd7c9ff-0ca7-4b50-a3f5-34a106a66dea" providerId="AD" clId="Web-{564B7FE6-465D-4083-FD3B-6EBA2FE9D0F3}" dt="2024-09-05T12:24:44.157" v="27"/>
          <ac:graphicFrameMkLst>
            <pc:docMk/>
            <pc:sldMk cId="286959178" sldId="319"/>
            <ac:graphicFrameMk id="13" creationId="{9A2955A7-1CB6-420F-99A0-E55E05A39E20}"/>
          </ac:graphicFrameMkLst>
        </pc:graphicFrameChg>
      </pc:sldChg>
      <pc:sldChg chg="modSp">
        <pc:chgData name="Ndeye Fatou DIEME" userId="S::ndeyefatou.dieme@wfp.org::fcd7c9ff-0ca7-4b50-a3f5-34a106a66dea" providerId="AD" clId="Web-{564B7FE6-465D-4083-FD3B-6EBA2FE9D0F3}" dt="2024-09-05T11:07:35.291" v="25"/>
        <pc:sldMkLst>
          <pc:docMk/>
          <pc:sldMk cId="1794883919" sldId="735"/>
        </pc:sldMkLst>
        <pc:graphicFrameChg chg="mod modGraphic">
          <ac:chgData name="Ndeye Fatou DIEME" userId="S::ndeyefatou.dieme@wfp.org::fcd7c9ff-0ca7-4b50-a3f5-34a106a66dea" providerId="AD" clId="Web-{564B7FE6-465D-4083-FD3B-6EBA2FE9D0F3}" dt="2024-09-05T11:07:35.291" v="25"/>
          <ac:graphicFrameMkLst>
            <pc:docMk/>
            <pc:sldMk cId="1794883919" sldId="735"/>
            <ac:graphicFrameMk id="4" creationId="{7EC941B4-FD91-4E9E-8516-3517DC163BF8}"/>
          </ac:graphicFrameMkLst>
        </pc:graphicFrameChg>
      </pc:sldChg>
      <pc:sldChg chg="ord">
        <pc:chgData name="Ndeye Fatou DIEME" userId="S::ndeyefatou.dieme@wfp.org::fcd7c9ff-0ca7-4b50-a3f5-34a106a66dea" providerId="AD" clId="Web-{564B7FE6-465D-4083-FD3B-6EBA2FE9D0F3}" dt="2024-09-05T12:25:11.376" v="28"/>
        <pc:sldMkLst>
          <pc:docMk/>
          <pc:sldMk cId="901490131" sldId="4157"/>
        </pc:sldMkLst>
      </pc:sldChg>
      <pc:sldChg chg="modSp">
        <pc:chgData name="Ndeye Fatou DIEME" userId="S::ndeyefatou.dieme@wfp.org::fcd7c9ff-0ca7-4b50-a3f5-34a106a66dea" providerId="AD" clId="Web-{564B7FE6-465D-4083-FD3B-6EBA2FE9D0F3}" dt="2024-09-05T13:54:12.428" v="51" actId="20577"/>
        <pc:sldMkLst>
          <pc:docMk/>
          <pc:sldMk cId="3136200756" sldId="4158"/>
        </pc:sldMkLst>
        <pc:spChg chg="mod">
          <ac:chgData name="Ndeye Fatou DIEME" userId="S::ndeyefatou.dieme@wfp.org::fcd7c9ff-0ca7-4b50-a3f5-34a106a66dea" providerId="AD" clId="Web-{564B7FE6-465D-4083-FD3B-6EBA2FE9D0F3}" dt="2024-09-05T13:54:12.428" v="51" actId="20577"/>
          <ac:spMkLst>
            <pc:docMk/>
            <pc:sldMk cId="3136200756" sldId="4158"/>
            <ac:spMk id="4" creationId="{37488CCE-91B8-894E-A02C-7215AD7A0490}"/>
          </ac:spMkLst>
        </pc:spChg>
      </pc:sldChg>
    </pc:docChg>
  </pc:docChgLst>
  <pc:docChgLst>
    <pc:chgData name="Jonas DEMEYER" userId="S::jonas.demeyer@wfp.org::1c45f721-f288-4a8d-8f07-b4395c318810" providerId="AD" clId="Web-{F1056A81-CF60-B96A-AD73-DC18B9E6DF57}"/>
    <pc:docChg chg="modSld">
      <pc:chgData name="Jonas DEMEYER" userId="S::jonas.demeyer@wfp.org::1c45f721-f288-4a8d-8f07-b4395c318810" providerId="AD" clId="Web-{F1056A81-CF60-B96A-AD73-DC18B9E6DF57}" dt="2024-09-26T11:12:29.609" v="0" actId="20577"/>
      <pc:docMkLst>
        <pc:docMk/>
      </pc:docMkLst>
      <pc:sldChg chg="modSp">
        <pc:chgData name="Jonas DEMEYER" userId="S::jonas.demeyer@wfp.org::1c45f721-f288-4a8d-8f07-b4395c318810" providerId="AD" clId="Web-{F1056A81-CF60-B96A-AD73-DC18B9E6DF57}" dt="2024-09-26T11:12:29.609" v="0" actId="20577"/>
        <pc:sldMkLst>
          <pc:docMk/>
          <pc:sldMk cId="3555079050" sldId="306"/>
        </pc:sldMkLst>
        <pc:spChg chg="mod">
          <ac:chgData name="Jonas DEMEYER" userId="S::jonas.demeyer@wfp.org::1c45f721-f288-4a8d-8f07-b4395c318810" providerId="AD" clId="Web-{F1056A81-CF60-B96A-AD73-DC18B9E6DF57}" dt="2024-09-26T11:12:29.609" v="0" actId="20577"/>
          <ac:spMkLst>
            <pc:docMk/>
            <pc:sldMk cId="3555079050" sldId="306"/>
            <ac:spMk id="4" creationId="{37488CCE-91B8-894E-A02C-7215AD7A0490}"/>
          </ac:spMkLst>
        </pc:spChg>
      </pc:sldChg>
    </pc:docChg>
  </pc:docChgLst>
</pc:chgInfo>
</file>

<file path=ppt/comments/modernComment_10D_7239D600.xml><?xml version="1.0" encoding="utf-8"?>
<p188:cmLst xmlns:a="http://schemas.openxmlformats.org/drawingml/2006/main" xmlns:r="http://schemas.openxmlformats.org/officeDocument/2006/relationships" xmlns:p188="http://schemas.microsoft.com/office/powerpoint/2018/8/main">
  <p188:cm id="{0F3BB94B-FAD8-4C93-AAE6-23C5DE5CE9C8}" authorId="{CDDE9FF5-1B1F-6381-C1BC-064F2395998F}" created="2024-09-05T12:35:45.815" startDate="2024-09-05T12:35:45.815" dueDate="2024-09-05T12:35:45.815" assignedTo="{40F2586B-3AC3-BE9D-F573-DE66AE216A67}" title="@Jonas DEMEYER @Alirah WEYORI : Est ce qu'on pourrait rajouter la &quot;Communication&quot; au sous-module &quot;dépenses non alimentaires sur 30 jours&quot;. Car dans le contexte actuel des pays, les dépenses en crédit de communication sont aussi très importantes pour …">
    <ac:deMkLst xmlns:ac="http://schemas.microsoft.com/office/drawing/2013/main/command">
      <pc:docMk xmlns:pc="http://schemas.microsoft.com/office/powerpoint/2013/main/command"/>
      <pc:sldMk xmlns:pc="http://schemas.microsoft.com/office/powerpoint/2013/main/command" cId="1916392960" sldId="269"/>
      <ac:spMk id="2" creationId="{C1695D6D-3018-4974-A469-1F147A912234}"/>
    </ac:deMkLst>
    <p188:replyLst>
      <p188:reply id="{AA84B86C-13B8-4751-8D3E-9E0E2BB9B0B3}" authorId="{CDDE9FF5-1B1F-6381-C1BC-064F2395998F}" created="2024-09-05T13:15:45.152">
        <p188:txBody>
          <a:bodyPr/>
          <a:lstStyle/>
          <a:p>
            <a:r>
              <a:rPr lang="en-US"/>
              <a:t>[@Jonas DEMEYER] [@Alirah WEYORI] Sorry, I have just seen it on slide 21😊</a:t>
            </a:r>
          </a:p>
        </p188:txBody>
      </p188:reply>
    </p188:replyLst>
    <p188:txBody>
      <a:bodyPr/>
      <a:lstStyle/>
      <a:p>
        <a:r>
          <a:rPr lang="en-US"/>
          <a:t>[@Jonas DEMEYER] [@Alirah WEYORI] : Est ce qu'on pourrait rajouter la "Communication" au sous-module "dépenses non alimentaires sur 30 jours". Car dans le contexte actuel des pays, les dépenses en crédit de communication sont aussi très importantes pour les ménages. </a:t>
        </a:r>
      </a:p>
    </p188:txBody>
    <p188:extLst>
      <p:ext xmlns:p="http://schemas.openxmlformats.org/presentationml/2006/main" uri="{5BB2D875-25FF-4072-B9AC-8F64D62656EB}">
        <p228:taskDetails xmlns:p228="http://schemas.microsoft.com/office/powerpoint/2022/08/main">
          <p228:history>
            <p228:event time="2024-09-05T12:35:45.815" id="{BB6835AA-FF40-42C5-8B1C-C7A638D688D0}">
              <p228:atrbtn authorId="{CDDE9FF5-1B1F-6381-C1BC-064F2395998F}"/>
              <p228:anchr>
                <p228:comment id="{0F3BB94B-FAD8-4C93-AAE6-23C5DE5CE9C8}"/>
              </p228:anchr>
              <p228:add/>
            </p228:event>
            <p228:event time="2024-09-05T12:35:45.815" id="{AED943B0-0BA9-412D-9C16-30CA60EC4E0E}">
              <p228:atrbtn authorId="{CDDE9FF5-1B1F-6381-C1BC-064F2395998F}"/>
              <p228:anchr>
                <p228:comment id="{0F3BB94B-FAD8-4C93-AAE6-23C5DE5CE9C8}"/>
              </p228:anchr>
              <p228:asgn authorId="{40F2586B-3AC3-BE9D-F573-DE66AE216A67}"/>
            </p228:event>
            <p228:event time="2024-09-05T12:35:45.815" id="{936524E0-60C0-4E05-B5F8-40E837221B46}">
              <p228:atrbtn authorId="{CDDE9FF5-1B1F-6381-C1BC-064F2395998F}"/>
              <p228:anchr>
                <p228:comment id="{0F3BB94B-FAD8-4C93-AAE6-23C5DE5CE9C8}"/>
              </p228:anchr>
              <p228:title val="@Jonas DEMEYER @Alirah WEYORI : Est ce qu'on pourrait rajouter la &quot;Communication&quot; au sous-module &quot;dépenses non alimentaires sur 30 jours&quot;. Car dans le contexte actuel des pays, les dépenses en crédit de communication sont aussi très importantes pour …"/>
            </p228:event>
            <p228:event time="2024-09-05T12:35:45.815" id="{8476FD7A-2DB7-4526-A959-C615B8298FEB}">
              <p228:atrbtn authorId="{CDDE9FF5-1B1F-6381-C1BC-064F2395998F}"/>
              <p228:anchr>
                <p228:comment id="{0F3BB94B-FAD8-4C93-AAE6-23C5DE5CE9C8}"/>
              </p228:anchr>
              <p228:date stDt="2024-09-05T12:35:45.815" endDt="2024-09-05T12:35:45.815"/>
            </p228:event>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26/09/2024</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26/09/2024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4193920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Si nous ne posions des questions que sur la valeur des achats, les ménages qui accèdent à la consommation par différents canaux (production propre, aide/cadeaux) sembleraient systématiquement plus vulnérables que les ménages qui comptent sur les achats, même si ce n'est pas le cas. Imaginons un ménage d'agriculteurs qui autoproduit la majeure partie de sa nourriture. Si nous ne posons des questions que sur les achats, il apparaîtrait comme incapable d'accéder à la nourriture.</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27884D-8063-894A-9B96-2E8B250142EB}"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3827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[1] Les exemples ci-dessous doivent être remplacés par des produits couramment consommés dans la/les zone(s) d'enquête.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[2] Comprend également les bons de valeur.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[3] Cette catégorie comprend les sources suivantes :  Assistance en nature des ONG internationales et locales, des agences des Nations unies, du gouvernement ; cadeaux de la famille et des amis ; emprunts auprès de la famille et des amis ; mendicité.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[4] L'utilisation des termes « cueilli, chassé ou pêché » dépend de chaque groupe alimentaire spécifique.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6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[5] La période de rappel standard pour le module des dépenses alimentaires est de 7 jours, avec la possibilité de choisir une période de rappel de 30 jours (_1M). Cette alternative est recommandée si l'objectif du module est de suivre les programmes distribuant des bons d'achat et si a) les bons d'achat doivent être ou sont normalement échangés en une seule fois ; b) l'enquête est menée après l'échange des bons.</a:t>
            </a:r>
            <a:endParaRPr lang="fr-FR" dirty="0"/>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4088951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8</a:t>
            </a:fld>
            <a:endParaRPr lang="es-419"/>
          </a:p>
        </p:txBody>
      </p:sp>
    </p:spTree>
    <p:extLst>
      <p:ext uri="{BB962C8B-B14F-4D97-AF65-F5344CB8AC3E}">
        <p14:creationId xmlns:p14="http://schemas.microsoft.com/office/powerpoint/2010/main" val="3741579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9</a:t>
            </a:fld>
            <a:endParaRPr lang="es-419"/>
          </a:p>
        </p:txBody>
      </p:sp>
    </p:spTree>
    <p:extLst>
      <p:ext uri="{BB962C8B-B14F-4D97-AF65-F5344CB8AC3E}">
        <p14:creationId xmlns:p14="http://schemas.microsoft.com/office/powerpoint/2010/main" val="2978178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10</a:t>
            </a:fld>
            <a:endParaRPr lang="es-419"/>
          </a:p>
        </p:txBody>
      </p:sp>
    </p:spTree>
    <p:extLst>
      <p:ext uri="{BB962C8B-B14F-4D97-AF65-F5344CB8AC3E}">
        <p14:creationId xmlns:p14="http://schemas.microsoft.com/office/powerpoint/2010/main" val="2097819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11</a:t>
            </a:fld>
            <a:endParaRPr lang="es-419"/>
          </a:p>
        </p:txBody>
      </p:sp>
    </p:spTree>
    <p:extLst>
      <p:ext uri="{BB962C8B-B14F-4D97-AF65-F5344CB8AC3E}">
        <p14:creationId xmlns:p14="http://schemas.microsoft.com/office/powerpoint/2010/main" val="1810889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fr-FR" sz="1200" b="0" i="0" u="none" strike="noStrike" cap="none" normalizeH="0" baseline="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The examples below should be replaced with items commonly consumed in the survey area(s). </a:t>
            </a:r>
            <a:endParaRPr kumimoji="0" lang="fr-FR" altLang="fr-FR" sz="1200" b="0" i="0" u="none" strike="noStrike" cap="none" normalizeH="0" baseline="0" bmk="">
              <a:ln>
                <a:noFill/>
              </a:ln>
              <a:solidFill>
                <a:schemeClr val="tx1"/>
              </a:solidFill>
              <a:effectLst/>
            </a:endParaRPr>
          </a:p>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12</a:t>
            </a:fld>
            <a:endParaRPr lang="es-419"/>
          </a:p>
        </p:txBody>
      </p:sp>
    </p:spTree>
    <p:extLst>
      <p:ext uri="{BB962C8B-B14F-4D97-AF65-F5344CB8AC3E}">
        <p14:creationId xmlns:p14="http://schemas.microsoft.com/office/powerpoint/2010/main" val="3374006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227884D-8063-894A-9B96-2E8B250142EB}" type="slidenum">
              <a:rPr lang="it-IT" smtClean="0"/>
              <a:t>13</a:t>
            </a:fld>
            <a:endParaRPr lang="it-IT"/>
          </a:p>
        </p:txBody>
      </p:sp>
    </p:spTree>
    <p:extLst>
      <p:ext uri="{BB962C8B-B14F-4D97-AF65-F5344CB8AC3E}">
        <p14:creationId xmlns:p14="http://schemas.microsoft.com/office/powerpoint/2010/main" val="1850379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Les exemples de biens et de services doivent être remplacés par des produits couramment consommés dans la (les) zone(s) étudiée(s).</a:t>
            </a:r>
            <a:endParaRPr lang="es-419" dirty="0"/>
          </a:p>
        </p:txBody>
      </p:sp>
      <p:sp>
        <p:nvSpPr>
          <p:cNvPr id="4" name="Slide Number Placeholder 3"/>
          <p:cNvSpPr>
            <a:spLocks noGrp="1"/>
          </p:cNvSpPr>
          <p:nvPr>
            <p:ph type="sldNum" sz="quarter" idx="5"/>
          </p:nvPr>
        </p:nvSpPr>
        <p:spPr/>
        <p:txBody>
          <a:bodyPr/>
          <a:lstStyle/>
          <a:p>
            <a:fld id="{814E9E76-ED3D-4702-B471-04C4385C4A0A}" type="slidenum">
              <a:rPr lang="es-419" smtClean="0"/>
              <a:t>15</a:t>
            </a:fld>
            <a:endParaRPr lang="es-419"/>
          </a:p>
        </p:txBody>
      </p:sp>
    </p:spTree>
    <p:extLst>
      <p:ext uri="{BB962C8B-B14F-4D97-AF65-F5344CB8AC3E}">
        <p14:creationId xmlns:p14="http://schemas.microsoft.com/office/powerpoint/2010/main" val="799788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Les exemples ci-dessous doivent être remplacés par des articles couramment consommés dans la/les zone(s) d'</a:t>
            </a:r>
            <a:r>
              <a:rPr kumimoji="0" lang="fr-FR" altLang="fr-FR" sz="1200" b="0" i="0" u="none" strike="noStrike" cap="none" normalizeH="0" baseline="0" dirty="0" err="1"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enquête.Le</a:t>
            </a:r>
            <a:r>
              <a:rPr kumimoji="0" lang="fr-FR" altLang="fr-FR" sz="12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module des dépenses peut être complété par des questions sur les terres agricoles (</a:t>
            </a:r>
            <a:r>
              <a:rPr kumimoji="0" lang="fr-FR" altLang="fr-FR" sz="1200" b="0" i="0" u="none" strike="noStrike" cap="none" normalizeH="0" baseline="0" dirty="0" err="1"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HHExpNFAgriLandRent</a:t>
            </a:r>
            <a:r>
              <a:rPr kumimoji="0" lang="fr-FR" altLang="fr-FR" sz="12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la main-d'œuvre agricole (</a:t>
            </a:r>
            <a:r>
              <a:rPr kumimoji="0" lang="fr-FR" altLang="fr-FR" sz="1200" b="0" i="0" u="none" strike="noStrike" cap="none" normalizeH="0" baseline="0" dirty="0" err="1"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HHExpNFAgriWorkf</a:t>
            </a:r>
            <a:r>
              <a:rPr kumimoji="0" lang="fr-FR" altLang="fr-FR" sz="12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les intrants agricoles (</a:t>
            </a:r>
            <a:r>
              <a:rPr kumimoji="0" lang="fr-FR" altLang="fr-FR" sz="1200" b="0" i="0" u="none" strike="noStrike" cap="none" normalizeH="0" baseline="0" dirty="0" err="1"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HHExpNFFarmInp</a:t>
            </a:r>
            <a:r>
              <a:rPr kumimoji="0" lang="fr-FR" altLang="fr-FR" sz="12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et les intrants pour le bétail (</a:t>
            </a:r>
            <a:r>
              <a:rPr kumimoji="0" lang="fr-FR" altLang="fr-FR" sz="1200" b="0" i="0" u="none" strike="noStrike" cap="none" normalizeH="0" baseline="0" dirty="0" err="1"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HHExpNFLvstInp</a:t>
            </a:r>
            <a:r>
              <a:rPr kumimoji="0" lang="fr-FR" altLang="fr-FR" sz="12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ou d'autres articles utilisés comme biens intermédiaires pour les activités génératrices de revenus.</a:t>
            </a:r>
            <a:endParaRPr lang="es-419" dirty="0"/>
          </a:p>
        </p:txBody>
      </p:sp>
      <p:sp>
        <p:nvSpPr>
          <p:cNvPr id="4" name="Slide Number Placeholder 3"/>
          <p:cNvSpPr>
            <a:spLocks noGrp="1"/>
          </p:cNvSpPr>
          <p:nvPr>
            <p:ph type="sldNum" sz="quarter" idx="5"/>
          </p:nvPr>
        </p:nvSpPr>
        <p:spPr/>
        <p:txBody>
          <a:bodyPr/>
          <a:lstStyle/>
          <a:p>
            <a:fld id="{814E9E76-ED3D-4702-B471-04C4385C4A0A}" type="slidenum">
              <a:rPr lang="es-419" smtClean="0"/>
              <a:t>16</a:t>
            </a:fld>
            <a:endParaRPr lang="es-419"/>
          </a:p>
        </p:txBody>
      </p:sp>
    </p:spTree>
    <p:extLst>
      <p:ext uri="{BB962C8B-B14F-4D97-AF65-F5344CB8AC3E}">
        <p14:creationId xmlns:p14="http://schemas.microsoft.com/office/powerpoint/2010/main" val="355615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17</a:t>
            </a:fld>
            <a:endParaRPr lang="es-419"/>
          </a:p>
        </p:txBody>
      </p:sp>
    </p:spTree>
    <p:extLst>
      <p:ext uri="{BB962C8B-B14F-4D97-AF65-F5344CB8AC3E}">
        <p14:creationId xmlns:p14="http://schemas.microsoft.com/office/powerpoint/2010/main" val="574187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18</a:t>
            </a:fld>
            <a:endParaRPr lang="es-419"/>
          </a:p>
        </p:txBody>
      </p:sp>
    </p:spTree>
    <p:extLst>
      <p:ext uri="{BB962C8B-B14F-4D97-AF65-F5344CB8AC3E}">
        <p14:creationId xmlns:p14="http://schemas.microsoft.com/office/powerpoint/2010/main" val="3421519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19</a:t>
            </a:fld>
            <a:endParaRPr lang="es-419"/>
          </a:p>
        </p:txBody>
      </p:sp>
    </p:spTree>
    <p:extLst>
      <p:ext uri="{BB962C8B-B14F-4D97-AF65-F5344CB8AC3E}">
        <p14:creationId xmlns:p14="http://schemas.microsoft.com/office/powerpoint/2010/main" val="3818547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5"/>
          </p:nvPr>
        </p:nvSpPr>
        <p:spPr/>
        <p:txBody>
          <a:bodyPr/>
          <a:lstStyle/>
          <a:p>
            <a:fld id="{814E9E76-ED3D-4702-B471-04C4385C4A0A}" type="slidenum">
              <a:rPr lang="es-419" smtClean="0"/>
              <a:t>20</a:t>
            </a:fld>
            <a:endParaRPr lang="es-419"/>
          </a:p>
        </p:txBody>
      </p:sp>
    </p:spTree>
    <p:extLst>
      <p:ext uri="{BB962C8B-B14F-4D97-AF65-F5344CB8AC3E}">
        <p14:creationId xmlns:p14="http://schemas.microsoft.com/office/powerpoint/2010/main" val="4254640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21</a:t>
            </a:fld>
            <a:endParaRPr lang="es-419"/>
          </a:p>
        </p:txBody>
      </p:sp>
    </p:spTree>
    <p:extLst>
      <p:ext uri="{BB962C8B-B14F-4D97-AF65-F5344CB8AC3E}">
        <p14:creationId xmlns:p14="http://schemas.microsoft.com/office/powerpoint/2010/main" val="1154050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22</a:t>
            </a:fld>
            <a:endParaRPr lang="es-419"/>
          </a:p>
        </p:txBody>
      </p:sp>
    </p:spTree>
    <p:extLst>
      <p:ext uri="{BB962C8B-B14F-4D97-AF65-F5344CB8AC3E}">
        <p14:creationId xmlns:p14="http://schemas.microsoft.com/office/powerpoint/2010/main" val="2069452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24</a:t>
            </a:fld>
            <a:endParaRPr lang="es-419"/>
          </a:p>
        </p:txBody>
      </p:sp>
    </p:spTree>
    <p:extLst>
      <p:ext uri="{BB962C8B-B14F-4D97-AF65-F5344CB8AC3E}">
        <p14:creationId xmlns:p14="http://schemas.microsoft.com/office/powerpoint/2010/main" val="2997447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814E9E76-ED3D-4702-B471-04C4385C4A0A}" type="slidenum">
              <a:rPr lang="es-419" smtClean="0"/>
              <a:t>25</a:t>
            </a:fld>
            <a:endParaRPr lang="es-419"/>
          </a:p>
        </p:txBody>
      </p:sp>
    </p:spTree>
    <p:extLst>
      <p:ext uri="{BB962C8B-B14F-4D97-AF65-F5344CB8AC3E}">
        <p14:creationId xmlns:p14="http://schemas.microsoft.com/office/powerpoint/2010/main" val="1783899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227884D-8063-894A-9B96-2E8B250142EB}" type="slidenum">
              <a:rPr lang="it-IT" smtClean="0"/>
              <a:t>26</a:t>
            </a:fld>
            <a:endParaRPr lang="it-IT"/>
          </a:p>
        </p:txBody>
      </p:sp>
    </p:spTree>
    <p:extLst>
      <p:ext uri="{BB962C8B-B14F-4D97-AF65-F5344CB8AC3E}">
        <p14:creationId xmlns:p14="http://schemas.microsoft.com/office/powerpoint/2010/main" val="1537428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36</a:t>
            </a:fld>
            <a:endParaRPr lang="it-IT"/>
          </a:p>
        </p:txBody>
      </p:sp>
    </p:spTree>
    <p:extLst>
      <p:ext uri="{BB962C8B-B14F-4D97-AF65-F5344CB8AC3E}">
        <p14:creationId xmlns:p14="http://schemas.microsoft.com/office/powerpoint/2010/main" val="3973841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olo">
    <p:spTree>
      <p:nvGrpSpPr>
        <p:cNvPr id="1" name=""/>
        <p:cNvGrpSpPr/>
        <p:nvPr/>
      </p:nvGrpSpPr>
      <p:grpSpPr>
        <a:xfrm>
          <a:off x="0" y="0"/>
          <a:ext cx="0" cy="0"/>
          <a:chOff x="0" y="0"/>
          <a:chExt cx="0" cy="0"/>
        </a:xfrm>
      </p:grpSpPr>
      <p:sp>
        <p:nvSpPr>
          <p:cNvPr id="11" name="Autore e data"/>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Autore e data</a:t>
            </a:r>
          </a:p>
        </p:txBody>
      </p:sp>
      <p:sp>
        <p:nvSpPr>
          <p:cNvPr id="12" name="Titolo presentazione"/>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Titolo presentazione</a:t>
            </a:r>
          </a:p>
        </p:txBody>
      </p:sp>
      <p:sp>
        <p:nvSpPr>
          <p:cNvPr id="13" name="Corpo livello uno…"/>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Sottotitolo presentazione</a:t>
            </a:r>
          </a:p>
          <a:p>
            <a:pPr lvl="1"/>
            <a:endParaRPr/>
          </a:p>
          <a:p>
            <a:pPr lvl="2"/>
            <a:endParaRPr/>
          </a:p>
          <a:p>
            <a:pPr lvl="3"/>
            <a:endParaRPr/>
          </a:p>
          <a:p>
            <a:pPr lvl="4"/>
            <a:endParaRPr/>
          </a:p>
        </p:txBody>
      </p:sp>
      <p:sp>
        <p:nvSpPr>
          <p:cNvPr id="14"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28751098"/>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D_7239D600.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149794"/>
            <a:ext cx="2743200" cy="365125"/>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latin typeface="Open Sans" panose="020B0606030504020204" pitchFamily="34" charset="0"/>
                <a:ea typeface="Open Sans" panose="020B0606030504020204" pitchFamily="34" charset="0"/>
                <a:cs typeface="Open Sans" panose="020B0606030504020204" pitchFamily="34" charset="0"/>
              </a:rPr>
              <a:t>2024 </a:t>
            </a:r>
            <a:r>
              <a:rPr lang="en-GB" sz="1600" b="1" dirty="0" err="1">
                <a:latin typeface="Open Sans" panose="020B0606030504020204" pitchFamily="34" charset="0"/>
                <a:ea typeface="Open Sans" panose="020B0606030504020204" pitchFamily="34" charset="0"/>
                <a:cs typeface="Open Sans" panose="020B0606030504020204" pitchFamily="34" charset="0"/>
              </a:rPr>
              <a:t>Septembre</a:t>
            </a:r>
            <a:endParaRPr lang="en-GB" sz="1600" b="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descr="A picture containing ground, person, outdoor, vegetable&#10;&#10;Description automatically generated">
            <a:extLst>
              <a:ext uri="{FF2B5EF4-FFF2-40B4-BE49-F238E27FC236}">
                <a16:creationId xmlns:a16="http://schemas.microsoft.com/office/drawing/2014/main" id="{55A2EB20-E9CF-4208-8327-3428ABC5420E}"/>
              </a:ext>
            </a:extLst>
          </p:cNvPr>
          <p:cNvPicPr>
            <a:picLocks noChangeAspect="1"/>
          </p:cNvPicPr>
          <p:nvPr/>
        </p:nvPicPr>
        <p:blipFill rotWithShape="1">
          <a:blip r:embed="rId3"/>
          <a:srcRect t="13190" b="6666"/>
          <a:stretch/>
        </p:blipFill>
        <p:spPr>
          <a:xfrm>
            <a:off x="0" y="-501445"/>
            <a:ext cx="12192000" cy="5496232"/>
          </a:xfrm>
          <a:prstGeom prst="rect">
            <a:avLst/>
          </a:prstGeom>
        </p:spPr>
      </p:pic>
      <p:pic>
        <p:nvPicPr>
          <p:cNvPr id="11" name="Picture 10" descr="Logo&#10;&#10;Description automatically generated">
            <a:extLst>
              <a:ext uri="{FF2B5EF4-FFF2-40B4-BE49-F238E27FC236}">
                <a16:creationId xmlns:a16="http://schemas.microsoft.com/office/drawing/2014/main" id="{DE458A70-5F5C-4E44-BB0F-87B246B2AF8C}"/>
              </a:ext>
            </a:extLst>
          </p:cNvPr>
          <p:cNvPicPr>
            <a:picLocks noChangeAspect="1"/>
          </p:cNvPicPr>
          <p:nvPr/>
        </p:nvPicPr>
        <p:blipFill>
          <a:blip r:embed="rId4"/>
          <a:stretch>
            <a:fillRect/>
          </a:stretch>
        </p:blipFill>
        <p:spPr>
          <a:xfrm>
            <a:off x="10480232" y="3494444"/>
            <a:ext cx="991329" cy="2648265"/>
          </a:xfrm>
          <a:prstGeom prst="rect">
            <a:avLst/>
          </a:prstGeom>
        </p:spPr>
      </p:pic>
      <p:sp>
        <p:nvSpPr>
          <p:cNvPr id="2" name="Titolo 1">
            <a:extLst>
              <a:ext uri="{FF2B5EF4-FFF2-40B4-BE49-F238E27FC236}">
                <a16:creationId xmlns:a16="http://schemas.microsoft.com/office/drawing/2014/main" id="{80BEDBF2-1C9A-1360-51A4-C6FA930FEA99}"/>
              </a:ext>
            </a:extLst>
          </p:cNvPr>
          <p:cNvSpPr txBox="1">
            <a:spLocks/>
          </p:cNvSpPr>
          <p:nvPr/>
        </p:nvSpPr>
        <p:spPr>
          <a:xfrm>
            <a:off x="659230" y="5127641"/>
            <a:ext cx="9821002" cy="101506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fr-FR" sz="2800" dirty="0"/>
              <a:t>Module des dépenses</a:t>
            </a:r>
            <a:br>
              <a:rPr lang="en-GB" sz="28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br>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Étude </a:t>
            </a:r>
            <a:r>
              <a:rPr lang="en-GB" sz="2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rCARI</a:t>
            </a:r>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GB" sz="2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Enquête</a:t>
            </a:r>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GB" sz="2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téléphonique</a:t>
            </a:r>
            <a:endPar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7385659"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a:ea typeface="Open Sans Extrabold" panose="020B0606030504020204" pitchFamily="34" charset="0"/>
                <a:cs typeface="Open Sans Extrabold" panose="020B0606030504020204" pitchFamily="34" charset="0"/>
              </a:rPr>
              <a:t>module des dépenses</a:t>
            </a:r>
            <a:endParaRPr lang="en-GB"/>
          </a:p>
        </p:txBody>
      </p:sp>
    </p:spTree>
    <p:extLst>
      <p:ext uri="{BB962C8B-B14F-4D97-AF65-F5344CB8AC3E}">
        <p14:creationId xmlns:p14="http://schemas.microsoft.com/office/powerpoint/2010/main" val="3555079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0762-C4CC-4748-9971-F3840BF53EF3}"/>
              </a:ext>
            </a:extLst>
          </p:cNvPr>
          <p:cNvSpPr>
            <a:spLocks noGrp="1"/>
          </p:cNvSpPr>
          <p:nvPr>
            <p:ph type="title"/>
          </p:nvPr>
        </p:nvSpPr>
        <p:spPr/>
        <p:txBody>
          <a:bodyPr vert="horz" lIns="91440" tIns="45720" rIns="91440" bIns="45720" rtlCol="0" anchor="t" anchorCtr="0">
            <a:noAutofit/>
          </a:bodyPr>
          <a:lstStyle/>
          <a:p>
            <a:r>
              <a:rPr lang="fr-FR" sz="3600" b="0" kern="1400" spc="230" dirty="0">
                <a:solidFill>
                  <a:schemeClr val="tx1"/>
                </a:solidFill>
                <a:latin typeface="HALDEN SOLID" pitchFamily="2" charset="0"/>
              </a:rPr>
              <a:t>Aperçu du module des dépenses</a:t>
            </a:r>
            <a:endParaRPr lang="es-419" sz="3600" b="0" kern="1400" spc="230" dirty="0">
              <a:solidFill>
                <a:schemeClr val="tx1"/>
              </a:solidFill>
              <a:latin typeface="HALDEN SOLID" pitchFamily="2" charset="0"/>
            </a:endParaRPr>
          </a:p>
        </p:txBody>
      </p:sp>
      <p:graphicFrame>
        <p:nvGraphicFramePr>
          <p:cNvPr id="4" name="Table 4">
            <a:extLst>
              <a:ext uri="{FF2B5EF4-FFF2-40B4-BE49-F238E27FC236}">
                <a16:creationId xmlns:a16="http://schemas.microsoft.com/office/drawing/2014/main" id="{7EC941B4-FD91-4E9E-8516-3517DC163BF8}"/>
              </a:ext>
            </a:extLst>
          </p:cNvPr>
          <p:cNvGraphicFramePr>
            <a:graphicFrameLocks noGrp="1"/>
          </p:cNvGraphicFramePr>
          <p:nvPr>
            <p:ph idx="1"/>
            <p:extLst>
              <p:ext uri="{D42A27DB-BD31-4B8C-83A1-F6EECF244321}">
                <p14:modId xmlns:p14="http://schemas.microsoft.com/office/powerpoint/2010/main" val="3134118633"/>
              </p:ext>
            </p:extLst>
          </p:nvPr>
        </p:nvGraphicFramePr>
        <p:xfrm>
          <a:off x="673768" y="1362976"/>
          <a:ext cx="10278011" cy="4211914"/>
        </p:xfrm>
        <a:graphic>
          <a:graphicData uri="http://schemas.openxmlformats.org/drawingml/2006/table">
            <a:tbl>
              <a:tblPr firstRow="1" bandRow="1">
                <a:tableStyleId>{5C22544A-7EE6-4342-B048-85BDC9FD1C3A}</a:tableStyleId>
              </a:tblPr>
              <a:tblGrid>
                <a:gridCol w="1395664">
                  <a:extLst>
                    <a:ext uri="{9D8B030D-6E8A-4147-A177-3AD203B41FA5}">
                      <a16:colId xmlns:a16="http://schemas.microsoft.com/office/drawing/2014/main" val="529199142"/>
                    </a:ext>
                  </a:extLst>
                </a:gridCol>
                <a:gridCol w="2038825">
                  <a:extLst>
                    <a:ext uri="{9D8B030D-6E8A-4147-A177-3AD203B41FA5}">
                      <a16:colId xmlns:a16="http://schemas.microsoft.com/office/drawing/2014/main" val="3884141017"/>
                    </a:ext>
                  </a:extLst>
                </a:gridCol>
                <a:gridCol w="3280817">
                  <a:extLst>
                    <a:ext uri="{9D8B030D-6E8A-4147-A177-3AD203B41FA5}">
                      <a16:colId xmlns:a16="http://schemas.microsoft.com/office/drawing/2014/main" val="491799903"/>
                    </a:ext>
                  </a:extLst>
                </a:gridCol>
                <a:gridCol w="3562705">
                  <a:extLst>
                    <a:ext uri="{9D8B030D-6E8A-4147-A177-3AD203B41FA5}">
                      <a16:colId xmlns:a16="http://schemas.microsoft.com/office/drawing/2014/main" val="2811956828"/>
                    </a:ext>
                  </a:extLst>
                </a:gridCol>
              </a:tblGrid>
              <a:tr h="567922">
                <a:tc>
                  <a:txBody>
                    <a:bodyPr/>
                    <a:lstStyle/>
                    <a:p>
                      <a:pPr>
                        <a:lnSpc>
                          <a:spcPct val="107000"/>
                        </a:lnSpc>
                        <a:spcAft>
                          <a:spcPts val="800"/>
                        </a:spcAft>
                      </a:pPr>
                      <a:r>
                        <a:rPr lang="en-GB" sz="1600" dirty="0">
                          <a:effectLst/>
                          <a:latin typeface="Open Sans" panose="020B0606030504020204" pitchFamily="34" charset="0"/>
                          <a:ea typeface="Open Sans" panose="020B0606030504020204" pitchFamily="34" charset="0"/>
                          <a:cs typeface="Open Sans" panose="020B0606030504020204" pitchFamily="34" charset="0"/>
                        </a:rPr>
                        <a:t>Groupe</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dirty="0" err="1">
                          <a:effectLst/>
                          <a:latin typeface="Open Sans" panose="020B0606030504020204" pitchFamily="34" charset="0"/>
                          <a:ea typeface="Open Sans" panose="020B0606030504020204" pitchFamily="34" charset="0"/>
                          <a:cs typeface="Open Sans" panose="020B0606030504020204" pitchFamily="34" charset="0"/>
                        </a:rPr>
                        <a:t>Période</a:t>
                      </a:r>
                      <a:r>
                        <a:rPr lang="en-GB" sz="1600" dirty="0">
                          <a:effectLst/>
                          <a:latin typeface="Open Sans" panose="020B0606030504020204" pitchFamily="34" charset="0"/>
                          <a:ea typeface="Open Sans" panose="020B0606030504020204" pitchFamily="34" charset="0"/>
                          <a:cs typeface="Open Sans" panose="020B0606030504020204" pitchFamily="34" charset="0"/>
                        </a:rPr>
                        <a:t> de rappel</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dirty="0">
                          <a:effectLst/>
                          <a:latin typeface="Open Sans" panose="020B0606030504020204" pitchFamily="34" charset="0"/>
                          <a:ea typeface="Open Sans" panose="020B0606030504020204" pitchFamily="34" charset="0"/>
                          <a:cs typeface="Open Sans" panose="020B0606030504020204" pitchFamily="34" charset="0"/>
                        </a:rPr>
                        <a:t>Sources of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consommation</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dirty="0" err="1">
                          <a:effectLst/>
                          <a:latin typeface="Open Sans" panose="020B0606030504020204" pitchFamily="34" charset="0"/>
                          <a:ea typeface="Open Sans" panose="020B0606030504020204" pitchFamily="34" charset="0"/>
                          <a:cs typeface="Open Sans" panose="020B0606030504020204" pitchFamily="34" charset="0"/>
                        </a:rPr>
                        <a:t>Répondant</a:t>
                      </a:r>
                      <a:r>
                        <a:rPr lang="en-GB" sz="1600" dirty="0">
                          <a:effectLst/>
                          <a:latin typeface="Open Sans" panose="020B0606030504020204" pitchFamily="34" charset="0"/>
                          <a:ea typeface="Open Sans" panose="020B0606030504020204" pitchFamily="34" charset="0"/>
                          <a:cs typeface="Open Sans" panose="020B0606030504020204" pitchFamily="34" charset="0"/>
                        </a:rPr>
                        <a:t>/</a:t>
                      </a:r>
                      <a:r>
                        <a:rPr lang="en-GB" sz="1600" dirty="0" err="1">
                          <a:effectLst/>
                          <a:latin typeface="Open Sans" panose="020B0606030504020204" pitchFamily="34" charset="0"/>
                          <a:ea typeface="Open Sans" panose="020B0606030504020204" pitchFamily="34" charset="0"/>
                          <a:cs typeface="Open Sans" panose="020B0606030504020204" pitchFamily="34" charset="0"/>
                        </a:rPr>
                        <a:t>informateur</a:t>
                      </a:r>
                      <a:r>
                        <a:rPr lang="en-GB" sz="1600" dirty="0">
                          <a:effectLst/>
                          <a:latin typeface="Open Sans" panose="020B0606030504020204" pitchFamily="34" charset="0"/>
                          <a:ea typeface="Open Sans" panose="020B0606030504020204" pitchFamily="34" charset="0"/>
                          <a:cs typeface="Open Sans" panose="020B0606030504020204" pitchFamily="34" charset="0"/>
                        </a:rPr>
                        <a:t>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préféré</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253469499"/>
                  </a:ext>
                </a:extLst>
              </a:tr>
              <a:tr h="1403466">
                <a:tc>
                  <a:txBody>
                    <a:bodyPr/>
                    <a:lstStyle/>
                    <a:p>
                      <a:pPr>
                        <a:lnSpc>
                          <a:spcPct val="107000"/>
                        </a:lnSpc>
                        <a:spcAft>
                          <a:spcPts val="800"/>
                        </a:spcAft>
                      </a:pPr>
                      <a:r>
                        <a:rPr lang="en-GB" sz="1600" dirty="0" err="1">
                          <a:effectLst/>
                          <a:latin typeface="Open Sans" panose="020B0606030504020204" pitchFamily="34" charset="0"/>
                          <a:ea typeface="Open Sans" panose="020B0606030504020204" pitchFamily="34" charset="0"/>
                          <a:cs typeface="Open Sans" panose="020B0606030504020204" pitchFamily="34" charset="0"/>
                        </a:rPr>
                        <a:t>Alimentaire</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dirty="0">
                          <a:effectLst/>
                          <a:latin typeface="Open Sans" panose="020B0606030504020204" pitchFamily="34" charset="0"/>
                          <a:ea typeface="Open Sans" panose="020B0606030504020204" pitchFamily="34" charset="0"/>
                          <a:cs typeface="Open Sans" panose="020B0606030504020204" pitchFamily="34" charset="0"/>
                        </a:rPr>
                        <a:t>7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derniers</a:t>
                      </a:r>
                      <a:r>
                        <a:rPr lang="en-GB" sz="1600" dirty="0">
                          <a:effectLst/>
                          <a:latin typeface="Open Sans" panose="020B0606030504020204" pitchFamily="34" charset="0"/>
                          <a:ea typeface="Open Sans" panose="020B0606030504020204" pitchFamily="34" charset="0"/>
                          <a:cs typeface="Open Sans" panose="020B0606030504020204" pitchFamily="34" charset="0"/>
                        </a:rPr>
                        <a:t>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jours</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Achats (en espèces ou à crédit)</a:t>
                      </a:r>
                    </a:p>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Assistance en nature et dons</a:t>
                      </a:r>
                    </a:p>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Production propre</a:t>
                      </a:r>
                      <a:endParaRPr lang="es-419" sz="1600" b="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228600" algn="l">
                        <a:lnSpc>
                          <a:spcPct val="107000"/>
                        </a:lnSpc>
                        <a:spcAft>
                          <a:spcPts val="800"/>
                        </a:spcAft>
                      </a:pPr>
                      <a:r>
                        <a:rPr lang="fr-FR" sz="1600" dirty="0">
                          <a:effectLst/>
                          <a:latin typeface="Open Sans"/>
                          <a:ea typeface="Open Sans"/>
                          <a:cs typeface="Open Sans"/>
                        </a:rPr>
                        <a:t>Membre de ménage normalement chargé de la préparation et de l'achat des denrées alimentaires</a:t>
                      </a:r>
                      <a:endParaRPr lang="es-419" sz="1600" dirty="0">
                        <a:effectLst/>
                        <a:latin typeface="Open Sans"/>
                        <a:ea typeface="Open Sans"/>
                        <a:cs typeface="Open Sans"/>
                      </a:endParaRPr>
                    </a:p>
                  </a:txBody>
                  <a:tcPr marL="68580" marR="68580" marT="0" marB="0"/>
                </a:tc>
                <a:extLst>
                  <a:ext uri="{0D108BD9-81ED-4DB2-BD59-A6C34878D82A}">
                    <a16:rowId xmlns:a16="http://schemas.microsoft.com/office/drawing/2014/main" val="2346100416"/>
                  </a:ext>
                </a:extLst>
              </a:tr>
              <a:tr h="1120263">
                <a:tc>
                  <a:txBody>
                    <a:bodyPr/>
                    <a:lstStyle/>
                    <a:p>
                      <a:pPr>
                        <a:lnSpc>
                          <a:spcPct val="107000"/>
                        </a:lnSpc>
                        <a:spcAft>
                          <a:spcPts val="800"/>
                        </a:spcAft>
                      </a:pPr>
                      <a:r>
                        <a:rPr lang="en-GB" sz="1600" dirty="0">
                          <a:effectLst/>
                          <a:latin typeface="Open Sans"/>
                          <a:ea typeface="Open Sans"/>
                          <a:cs typeface="Open Sans"/>
                        </a:rPr>
                        <a:t>Non-alimentaire</a:t>
                      </a:r>
                      <a:endParaRPr lang="es-419" sz="1600" dirty="0">
                        <a:effectLst/>
                        <a:latin typeface="Open Sans"/>
                        <a:ea typeface="Open Sans"/>
                        <a:cs typeface="Open Sans"/>
                      </a:endParaRPr>
                    </a:p>
                  </a:txBody>
                  <a:tcPr marL="68580" marR="68580" marT="0" marB="0"/>
                </a:tc>
                <a:tc>
                  <a:txBody>
                    <a:bodyPr/>
                    <a:lstStyle/>
                    <a:p>
                      <a:pPr>
                        <a:lnSpc>
                          <a:spcPct val="107000"/>
                        </a:lnSpc>
                        <a:spcAft>
                          <a:spcPts val="800"/>
                        </a:spcAft>
                      </a:pPr>
                      <a:r>
                        <a:rPr lang="en-GB" sz="1600" dirty="0">
                          <a:effectLst/>
                          <a:latin typeface="Open Sans" panose="020B0606030504020204" pitchFamily="34" charset="0"/>
                          <a:ea typeface="Open Sans" panose="020B0606030504020204" pitchFamily="34" charset="0"/>
                          <a:cs typeface="Open Sans" panose="020B0606030504020204" pitchFamily="34" charset="0"/>
                        </a:rPr>
                        <a:t>30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derniers</a:t>
                      </a:r>
                      <a:r>
                        <a:rPr lang="en-GB" sz="1600" dirty="0">
                          <a:effectLst/>
                          <a:latin typeface="Open Sans" panose="020B0606030504020204" pitchFamily="34" charset="0"/>
                          <a:ea typeface="Open Sans" panose="020B0606030504020204" pitchFamily="34" charset="0"/>
                          <a:cs typeface="Open Sans" panose="020B0606030504020204" pitchFamily="34" charset="0"/>
                        </a:rPr>
                        <a:t>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jours</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Achats (en espèces ou à crédit)</a:t>
                      </a:r>
                    </a:p>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Assistance en nature et dons</a:t>
                      </a:r>
                    </a:p>
                  </a:txBody>
                  <a:tcPr marL="68580" marR="68580" marT="0" marB="0"/>
                </a:tc>
                <a:tc>
                  <a:txBody>
                    <a:bodyPr/>
                    <a:lstStyle/>
                    <a:p>
                      <a:pPr marL="228600">
                        <a:lnSpc>
                          <a:spcPct val="107000"/>
                        </a:lnSpc>
                        <a:spcAft>
                          <a:spcPts val="800"/>
                        </a:spcAft>
                      </a:pPr>
                      <a:r>
                        <a:rPr lang="fr-FR" sz="1600" dirty="0">
                          <a:effectLst/>
                          <a:latin typeface="Open Sans" panose="020B0606030504020204" pitchFamily="34" charset="0"/>
                          <a:ea typeface="Open Sans" panose="020B0606030504020204" pitchFamily="34" charset="0"/>
                          <a:cs typeface="Open Sans" panose="020B0606030504020204" pitchFamily="34" charset="0"/>
                        </a:rPr>
                        <a:t>Chef de ménage ou membre du ménage plus au courant des dépenses non alimentaires</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659836276"/>
                  </a:ext>
                </a:extLst>
              </a:tr>
              <a:tr h="1120263">
                <a:tc>
                  <a:txBody>
                    <a:bodyPr/>
                    <a:lstStyle/>
                    <a:p>
                      <a:pPr>
                        <a:lnSpc>
                          <a:spcPct val="107000"/>
                        </a:lnSpc>
                        <a:spcAft>
                          <a:spcPts val="800"/>
                        </a:spcAft>
                      </a:pPr>
                      <a:r>
                        <a:rPr lang="en-GB" sz="1600" dirty="0">
                          <a:effectLst/>
                          <a:latin typeface="Open Sans"/>
                          <a:ea typeface="Open Sans"/>
                          <a:cs typeface="Open Sans"/>
                        </a:rPr>
                        <a:t>Non-alimentaire</a:t>
                      </a:r>
                      <a:endParaRPr lang="es-419" sz="1600" dirty="0">
                        <a:effectLst/>
                        <a:latin typeface="Open Sans"/>
                        <a:ea typeface="Open Sans"/>
                        <a:cs typeface="Open Sans"/>
                      </a:endParaRPr>
                    </a:p>
                  </a:txBody>
                  <a:tcPr marL="68580" marR="68580" marT="0" marB="0"/>
                </a:tc>
                <a:tc>
                  <a:txBody>
                    <a:bodyPr/>
                    <a:lstStyle/>
                    <a:p>
                      <a:pPr>
                        <a:lnSpc>
                          <a:spcPct val="107000"/>
                        </a:lnSpc>
                        <a:spcAft>
                          <a:spcPts val="800"/>
                        </a:spcAft>
                      </a:pPr>
                      <a:r>
                        <a:rPr lang="en-GB" sz="1600" dirty="0">
                          <a:effectLst/>
                          <a:latin typeface="Open Sans" panose="020B0606030504020204" pitchFamily="34" charset="0"/>
                          <a:ea typeface="Open Sans" panose="020B0606030504020204" pitchFamily="34" charset="0"/>
                          <a:cs typeface="Open Sans" panose="020B0606030504020204" pitchFamily="34" charset="0"/>
                        </a:rPr>
                        <a:t>6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derniers</a:t>
                      </a:r>
                      <a:r>
                        <a:rPr lang="en-GB" sz="1600" dirty="0">
                          <a:effectLst/>
                          <a:latin typeface="Open Sans" panose="020B0606030504020204" pitchFamily="34" charset="0"/>
                          <a:ea typeface="Open Sans" panose="020B0606030504020204" pitchFamily="34" charset="0"/>
                          <a:cs typeface="Open Sans" panose="020B0606030504020204" pitchFamily="34" charset="0"/>
                        </a:rPr>
                        <a:t> </a:t>
                      </a:r>
                      <a:r>
                        <a:rPr lang="en-GB" sz="1600" dirty="0" err="1">
                          <a:effectLst/>
                          <a:latin typeface="Open Sans" panose="020B0606030504020204" pitchFamily="34" charset="0"/>
                          <a:ea typeface="Open Sans" panose="020B0606030504020204" pitchFamily="34" charset="0"/>
                          <a:cs typeface="Open Sans" panose="020B0606030504020204" pitchFamily="34" charset="0"/>
                        </a:rPr>
                        <a:t>mois</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Achats (en espèces ou à crédit)</a:t>
                      </a:r>
                    </a:p>
                    <a:p>
                      <a:pPr marL="342900" lvl="0" indent="-342900">
                        <a:lnSpc>
                          <a:spcPct val="107000"/>
                        </a:lnSpc>
                        <a:buFont typeface="Symbol" panose="05050102010706020507" pitchFamily="18" charset="2"/>
                        <a:buChar char=""/>
                      </a:pPr>
                      <a:r>
                        <a:rPr lang="fr-FR" sz="1600" dirty="0">
                          <a:effectLst/>
                          <a:latin typeface="Open Sans" panose="020B0606030504020204" pitchFamily="34" charset="0"/>
                          <a:ea typeface="Open Sans" panose="020B0606030504020204" pitchFamily="34" charset="0"/>
                          <a:cs typeface="Open Sans" panose="020B0606030504020204" pitchFamily="34" charset="0"/>
                        </a:rPr>
                        <a:t>Assistance en nature et dons</a:t>
                      </a:r>
                    </a:p>
                  </a:txBody>
                  <a:tcPr marL="68580" marR="68580" marT="0" marB="0"/>
                </a:tc>
                <a:tc>
                  <a:txBody>
                    <a:bodyPr/>
                    <a:lstStyle/>
                    <a:p>
                      <a:pPr marL="228600">
                        <a:lnSpc>
                          <a:spcPct val="107000"/>
                        </a:lnSpc>
                        <a:spcAft>
                          <a:spcPts val="800"/>
                        </a:spcAft>
                      </a:pPr>
                      <a:r>
                        <a:rPr lang="fr-FR" sz="1600" dirty="0">
                          <a:effectLst/>
                          <a:latin typeface="Open Sans" panose="020B0606030504020204" pitchFamily="34" charset="0"/>
                          <a:ea typeface="Open Sans" panose="020B0606030504020204" pitchFamily="34" charset="0"/>
                          <a:cs typeface="Open Sans" panose="020B0606030504020204" pitchFamily="34" charset="0"/>
                        </a:rPr>
                        <a:t>Chef de ménage ou membre du ménage plus au courant des dépenses non alimentaires</a:t>
                      </a:r>
                      <a:endParaRPr lang="es-419" sz="16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1148261328"/>
                  </a:ext>
                </a:extLst>
              </a:tr>
            </a:tbl>
          </a:graphicData>
        </a:graphic>
      </p:graphicFrame>
    </p:spTree>
    <p:extLst>
      <p:ext uri="{BB962C8B-B14F-4D97-AF65-F5344CB8AC3E}">
        <p14:creationId xmlns:p14="http://schemas.microsoft.com/office/powerpoint/2010/main" val="1794883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181" y="1378973"/>
            <a:ext cx="11052000" cy="4100053"/>
          </a:xfrm>
        </p:spPr>
        <p:txBody>
          <a:bodyPr vert="horz" lIns="91440" tIns="45720" rIns="91440" bIns="45720" rtlCol="0" anchor="t">
            <a:noAutofit/>
          </a:bodyPr>
          <a:lstStyle/>
          <a:p>
            <a:pPr>
              <a:buFontTx/>
              <a:buChar char="-"/>
            </a:pPr>
            <a:r>
              <a:rPr lang="fr-FR" spc="60" dirty="0">
                <a:latin typeface="Open Sans"/>
                <a:ea typeface="Open Sans"/>
                <a:cs typeface="Open Sans"/>
              </a:rPr>
              <a:t>Même si, pour simplifier, nous l'appelons "module de dépenses", nous posons en fait deux questions :</a:t>
            </a:r>
          </a:p>
          <a:p>
            <a:pPr lvl="1">
              <a:buFontTx/>
              <a:buChar char="-"/>
            </a:pPr>
            <a:r>
              <a:rPr lang="fr-FR" spc="60" dirty="0">
                <a:latin typeface="Open Sans"/>
                <a:ea typeface="Open Sans"/>
                <a:cs typeface="Open Sans"/>
              </a:rPr>
              <a:t>Pour les articles </a:t>
            </a:r>
            <a:r>
              <a:rPr lang="fr-FR" u="sng" spc="60" dirty="0">
                <a:latin typeface="Open Sans"/>
                <a:ea typeface="Open Sans"/>
                <a:cs typeface="Open Sans"/>
              </a:rPr>
              <a:t>achetés</a:t>
            </a:r>
            <a:r>
              <a:rPr lang="fr-FR" spc="60" dirty="0">
                <a:latin typeface="Open Sans"/>
                <a:ea typeface="Open Sans"/>
                <a:cs typeface="Open Sans"/>
              </a:rPr>
              <a:t>, nous demandons ce que le ménage a </a:t>
            </a:r>
            <a:r>
              <a:rPr lang="fr-FR" b="1" spc="60" dirty="0">
                <a:latin typeface="Open Sans"/>
                <a:ea typeface="Open Sans"/>
                <a:cs typeface="Open Sans"/>
              </a:rPr>
              <a:t>acheté</a:t>
            </a:r>
            <a:r>
              <a:rPr lang="fr-FR" spc="60" dirty="0">
                <a:latin typeface="Open Sans"/>
                <a:ea typeface="Open Sans"/>
                <a:cs typeface="Open Sans"/>
              </a:rPr>
              <a:t> et combien il a </a:t>
            </a:r>
            <a:r>
              <a:rPr lang="fr-FR" b="1" spc="60" dirty="0">
                <a:latin typeface="Open Sans"/>
                <a:ea typeface="Open Sans"/>
                <a:cs typeface="Open Sans"/>
              </a:rPr>
              <a:t>dépensé</a:t>
            </a:r>
            <a:r>
              <a:rPr lang="fr-FR" spc="60" dirty="0">
                <a:latin typeface="Open Sans"/>
                <a:ea typeface="Open Sans"/>
                <a:cs typeface="Open Sans"/>
              </a:rPr>
              <a:t> pour ces achats</a:t>
            </a:r>
          </a:p>
          <a:p>
            <a:pPr lvl="1">
              <a:buFontTx/>
              <a:buChar char="-"/>
            </a:pPr>
            <a:r>
              <a:rPr lang="fr-FR" spc="60" dirty="0">
                <a:latin typeface="Open Sans"/>
                <a:ea typeface="Open Sans"/>
                <a:cs typeface="Open Sans"/>
              </a:rPr>
              <a:t>Pour les articles </a:t>
            </a:r>
            <a:r>
              <a:rPr lang="fr-FR" u="sng" spc="60" dirty="0">
                <a:latin typeface="Open Sans"/>
                <a:ea typeface="Open Sans"/>
                <a:cs typeface="Open Sans"/>
              </a:rPr>
              <a:t>non achetés</a:t>
            </a:r>
            <a:r>
              <a:rPr lang="fr-FR" spc="60" dirty="0">
                <a:latin typeface="Open Sans"/>
                <a:ea typeface="Open Sans"/>
                <a:cs typeface="Open Sans"/>
              </a:rPr>
              <a:t> (production propre ou assistance en nature et dons), nous demandons ce que le ménage a </a:t>
            </a:r>
            <a:r>
              <a:rPr lang="fr-FR" b="1" spc="60" dirty="0">
                <a:latin typeface="Open Sans"/>
                <a:ea typeface="Open Sans"/>
                <a:cs typeface="Open Sans"/>
              </a:rPr>
              <a:t>consommé</a:t>
            </a:r>
            <a:r>
              <a:rPr lang="fr-FR" spc="60" dirty="0">
                <a:latin typeface="Open Sans"/>
                <a:ea typeface="Open Sans"/>
                <a:cs typeface="Open Sans"/>
              </a:rPr>
              <a:t> et quelle est sa </a:t>
            </a:r>
            <a:r>
              <a:rPr lang="fr-FR" b="1" spc="60" dirty="0">
                <a:latin typeface="Open Sans"/>
                <a:ea typeface="Open Sans"/>
                <a:cs typeface="Open Sans"/>
              </a:rPr>
              <a:t>valeur</a:t>
            </a:r>
            <a:r>
              <a:rPr lang="fr-FR" spc="60" dirty="0">
                <a:latin typeface="Open Sans"/>
                <a:ea typeface="Open Sans"/>
                <a:cs typeface="Open Sans"/>
              </a:rPr>
              <a:t>.</a:t>
            </a:r>
          </a:p>
          <a:p>
            <a:pPr>
              <a:buFontTx/>
              <a:buChar char="-"/>
            </a:pPr>
            <a:r>
              <a:rPr lang="fr-FR" spc="60" dirty="0">
                <a:latin typeface="Open Sans"/>
                <a:ea typeface="Open Sans"/>
                <a:cs typeface="Open Sans"/>
              </a:rPr>
              <a:t>Notre objectif est de </a:t>
            </a:r>
            <a:r>
              <a:rPr lang="fr-FR" b="1" spc="60" dirty="0">
                <a:latin typeface="Open Sans"/>
                <a:ea typeface="Open Sans"/>
                <a:cs typeface="Open Sans"/>
              </a:rPr>
              <a:t>quantifier la valeur de ce que les ménages consomment </a:t>
            </a:r>
            <a:r>
              <a:rPr lang="fr-FR" spc="60" dirty="0">
                <a:latin typeface="Open Sans"/>
                <a:ea typeface="Open Sans"/>
                <a:cs typeface="Open Sans"/>
              </a:rPr>
              <a:t>pour comprendre leur vulnérabilité.</a:t>
            </a:r>
          </a:p>
          <a:p>
            <a:pPr>
              <a:buFontTx/>
              <a:buChar char="-"/>
            </a:pPr>
            <a:r>
              <a:rPr lang="fr-FR" spc="60" dirty="0">
                <a:latin typeface="Open Sans"/>
                <a:ea typeface="Open Sans"/>
                <a:cs typeface="Open Sans"/>
              </a:rPr>
              <a:t>Pour les articles achetés, nous demandons ce que les ménages ont dépensé (et non la valeur de ce qu'ils ont consommé) uniquement parce qu'il est beaucoup plus facile de s'en souvenir. Mais au final, cela sert de proxy de la valeur de ce que les ménages consomment.</a:t>
            </a:r>
            <a:endParaRPr lang="en-US"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précision</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importante</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97674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6B5C5"/>
              </a:solidFill>
              <a:effectLst/>
              <a:uLnTx/>
              <a:uFillTx/>
              <a:latin typeface="Calibri" panose="020F0502020204030204"/>
              <a:ea typeface="+mn-ea"/>
              <a:cs typeface="+mn-cs"/>
            </a:endParaRPr>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851600" y="2369285"/>
            <a:ext cx="10488800" cy="29123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marL="0" marR="0" lvl="0" indent="0" algn="ctr" defTabSz="914400" rtl="0" eaLnBrk="1" fontAlgn="auto" latinLnBrk="0" hangingPunct="1">
              <a:lnSpc>
                <a:spcPts val="3920"/>
              </a:lnSpc>
              <a:spcBef>
                <a:spcPct val="0"/>
              </a:spcBef>
              <a:spcAft>
                <a:spcPts val="0"/>
              </a:spcAft>
              <a:buClrTx/>
              <a:buSzTx/>
              <a:buFontTx/>
              <a:buNone/>
              <a:tabLst/>
              <a:defRPr/>
            </a:pPr>
            <a:endParaRPr kumimoji="0" lang="it-IT" sz="3400" b="0" i="0" u="none" strike="noStrike" kern="1200" cap="none" spc="0" normalizeH="0" baseline="0" noProof="0" dirty="0">
              <a:ln>
                <a:noFill/>
              </a:ln>
              <a:solidFill>
                <a:srgbClr val="FFFFFE"/>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endParaRPr>
          </a:p>
          <a:p>
            <a:pPr marL="0" marR="0" lvl="0" indent="0" algn="ctr" defTabSz="914400" rtl="0" eaLnBrk="1" fontAlgn="auto" latinLnBrk="0" hangingPunct="1">
              <a:lnSpc>
                <a:spcPts val="3920"/>
              </a:lnSpc>
              <a:spcBef>
                <a:spcPct val="0"/>
              </a:spcBef>
              <a:spcAft>
                <a:spcPts val="0"/>
              </a:spcAft>
              <a:buClrTx/>
              <a:buSzTx/>
              <a:buFontTx/>
              <a:buNone/>
              <a:tabLst/>
              <a:defRPr/>
            </a:pPr>
            <a:r>
              <a:rPr kumimoji="0" lang="en-GB" sz="4600" b="0" i="0" u="none" strike="noStrike" kern="1200" cap="none" spc="0" normalizeH="0" baseline="0" noProof="0" dirty="0">
                <a:ln>
                  <a:noFill/>
                </a:ln>
                <a:solidFill>
                  <a:srgbClr val="FFFFFE"/>
                </a:solidFill>
                <a:effectLst/>
                <a:uLnTx/>
                <a:uFillTx/>
                <a:latin typeface="HALDEN SOLID"/>
                <a:ea typeface="Open Sans Extrabold"/>
                <a:cs typeface="Open Sans Extrabold"/>
              </a:rPr>
              <a:t>A </a:t>
            </a:r>
            <a:r>
              <a:rPr kumimoji="0" lang="en-GB" sz="4600" b="0" i="0" u="none" strike="noStrike" kern="1200" cap="none" spc="0" normalizeH="0" baseline="0" noProof="0" dirty="0" err="1">
                <a:ln>
                  <a:noFill/>
                </a:ln>
                <a:solidFill>
                  <a:srgbClr val="FFFFFE"/>
                </a:solidFill>
                <a:effectLst/>
                <a:uLnTx/>
                <a:uFillTx/>
                <a:latin typeface="HALDEN SOLID"/>
                <a:ea typeface="Open Sans Extrabold"/>
                <a:cs typeface="Open Sans Extrabold"/>
              </a:rPr>
              <a:t>discuter</a:t>
            </a:r>
            <a:r>
              <a:rPr kumimoji="0" lang="en-GB" sz="4600" b="0" i="0" u="none" strike="noStrike" kern="1200" cap="none" spc="0" normalizeH="0" baseline="0" noProof="0" dirty="0">
                <a:ln>
                  <a:noFill/>
                </a:ln>
                <a:solidFill>
                  <a:srgbClr val="FFFFFE"/>
                </a:solidFill>
                <a:effectLst/>
                <a:uLnTx/>
                <a:uFillTx/>
                <a:latin typeface="HALDEN SOLID"/>
                <a:ea typeface="Open Sans Extrabold"/>
                <a:cs typeface="Open Sans Extrabold"/>
              </a:rPr>
              <a:t>:</a:t>
            </a:r>
          </a:p>
          <a:p>
            <a:pPr algn="ctr">
              <a:defRPr/>
            </a:pPr>
            <a:r>
              <a:rPr kumimoji="0" lang="fr-FR" sz="3600" b="1" i="0" u="none" strike="noStrike" kern="1200" cap="none" spc="0" normalizeH="0" baseline="0" noProof="0">
                <a:ln>
                  <a:noFill/>
                </a:ln>
                <a:solidFill>
                  <a:srgbClr val="FFFFFE"/>
                </a:solidFill>
                <a:effectLst/>
                <a:uLnTx/>
                <a:uFillTx/>
                <a:latin typeface="Open Sans"/>
                <a:ea typeface="Open Sans"/>
                <a:cs typeface="Open Sans"/>
              </a:rPr>
              <a:t>Quelles seraient les conséquences si nous </a:t>
            </a:r>
            <a:r>
              <a:rPr lang="fr-FR">
                <a:solidFill>
                  <a:srgbClr val="FFFFFE"/>
                </a:solidFill>
                <a:latin typeface="Open Sans"/>
                <a:ea typeface="Open Sans"/>
                <a:cs typeface="Open Sans"/>
              </a:rPr>
              <a:t> </a:t>
            </a:r>
            <a:r>
              <a:rPr kumimoji="0" lang="fr-FR" sz="3600" b="1" i="0" u="none" strike="noStrike" kern="1200" cap="none" spc="0" normalizeH="0" baseline="0" noProof="0">
                <a:ln>
                  <a:noFill/>
                </a:ln>
                <a:solidFill>
                  <a:srgbClr val="FFFFFE"/>
                </a:solidFill>
                <a:effectLst/>
                <a:uLnTx/>
                <a:uFillTx/>
                <a:latin typeface="Open Sans"/>
                <a:ea typeface="Open Sans"/>
                <a:cs typeface="Open Sans"/>
              </a:rPr>
              <a:t>posions des questions que sur les achats ?</a:t>
            </a:r>
            <a:r>
              <a:rPr kumimoji="0" lang="it-IT" sz="3400" b="0" i="0" u="none" strike="noStrike" kern="1200" cap="none" spc="0" normalizeH="0" baseline="0" noProof="0" dirty="0">
                <a:ln>
                  <a:noFill/>
                </a:ln>
                <a:solidFill>
                  <a:srgbClr val="FFFFFE"/>
                </a:solidFill>
                <a:effectLst/>
                <a:uLnTx/>
                <a:uFillTx/>
                <a:latin typeface="Open Sans Extrabold"/>
                <a:ea typeface="Open Sans Extrabold"/>
                <a:cs typeface="Open Sans Extrabold"/>
              </a:rPr>
              <a:t> </a:t>
            </a:r>
            <a:endParaRPr kumimoji="0" lang="en-GB" sz="2900" b="0" i="0" u="none" strike="noStrike" kern="1200" cap="none" spc="0" normalizeH="0" baseline="0" noProof="0" dirty="0">
              <a:ln>
                <a:noFill/>
              </a:ln>
              <a:solidFill>
                <a:srgbClr val="FFFFFE"/>
              </a:solidFill>
              <a:effectLst/>
              <a:uLnTx/>
              <a:uFillTx/>
              <a:latin typeface="Open Sans Extrabold"/>
              <a:ea typeface="Open Sans Extrabold"/>
              <a:cs typeface="Open Sans Extrabold"/>
            </a:endParaRPr>
          </a:p>
        </p:txBody>
      </p:sp>
      <p:pic>
        <p:nvPicPr>
          <p:cNvPr id="3" name="Graphic 2" descr="Badge Question Mark with solid fill">
            <a:extLst>
              <a:ext uri="{FF2B5EF4-FFF2-40B4-BE49-F238E27FC236}">
                <a16:creationId xmlns:a16="http://schemas.microsoft.com/office/drawing/2014/main" id="{933F6D21-FBFA-43EF-A0C0-3463B1B114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7775" y="1931060"/>
            <a:ext cx="780198" cy="780198"/>
          </a:xfrm>
          <a:prstGeom prst="rect">
            <a:avLst/>
          </a:prstGeom>
        </p:spPr>
      </p:pic>
      <p:sp>
        <p:nvSpPr>
          <p:cNvPr id="5" name="TextBox 4">
            <a:extLst>
              <a:ext uri="{FF2B5EF4-FFF2-40B4-BE49-F238E27FC236}">
                <a16:creationId xmlns:a16="http://schemas.microsoft.com/office/drawing/2014/main" id="{CE9F7C10-D2AF-EEBE-C51D-035BF6056D02}"/>
              </a:ext>
            </a:extLst>
          </p:cNvPr>
          <p:cNvSpPr txBox="1"/>
          <p:nvPr/>
        </p:nvSpPr>
        <p:spPr>
          <a:xfrm>
            <a:off x="2874209" y="5128669"/>
            <a:ext cx="7152107"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FFFFFE"/>
                </a:solidFill>
                <a:effectLst/>
                <a:uLnTx/>
                <a:uFillTx/>
                <a:latin typeface="Open Sans" panose="020B0606030504020204" pitchFamily="34" charset="0"/>
                <a:ea typeface="Open Sans" panose="020B0606030504020204" pitchFamily="34" charset="0"/>
                <a:cs typeface="Open Sans" panose="020B0606030504020204" pitchFamily="34" charset="0"/>
              </a:rPr>
              <a:t>Pensez par exemple aux ménages qui dépendent de leur propre production ou de l'aide et des dons. </a:t>
            </a:r>
            <a:endParaRPr kumimoji="0" lang="en-GB" sz="2000" b="1" i="0" u="none" strike="noStrike" kern="1200" cap="none" spc="0" normalizeH="0" baseline="0" noProof="0" dirty="0">
              <a:ln>
                <a:noFill/>
              </a:ln>
              <a:solidFill>
                <a:srgbClr val="FFFFF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36200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928DBFE7-4531-9468-2D93-CF434F4C71BF}"/>
              </a:ext>
            </a:extLst>
          </p:cNvPr>
          <p:cNvSpPr txBox="1">
            <a:spLocks/>
          </p:cNvSpPr>
          <p:nvPr/>
        </p:nvSpPr>
        <p:spPr>
          <a:xfrm>
            <a:off x="642605" y="2231809"/>
            <a:ext cx="9472066" cy="3324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47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Module des dépenses</a:t>
            </a:r>
          </a:p>
          <a:p>
            <a:pPr marL="742950" indent="-742950">
              <a:lnSpc>
                <a:spcPts val="3920"/>
              </a:lnSpc>
              <a:buAutoNum type="arabicPeriod"/>
            </a:pPr>
            <a:r>
              <a:rPr lang="it-IT" sz="2800" b="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Dépenses alimentaires – 7jours</a:t>
            </a:r>
          </a:p>
          <a:p>
            <a:pPr marL="742950" indent="-742950">
              <a:lnSpc>
                <a:spcPts val="3920"/>
              </a:lnSpc>
              <a:buAutoNum type="arabicPeriod"/>
            </a:pPr>
            <a:r>
              <a:rPr lang="it-IT"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Dépenses non-alimentaires</a:t>
            </a:r>
          </a:p>
          <a:p>
            <a:pPr marL="1200150" lvl="1" indent="-742950">
              <a:lnSpc>
                <a:spcPts val="3920"/>
              </a:lnSpc>
              <a:buFont typeface="Wingdings" panose="05000000000000000000" pitchFamily="2" charset="2"/>
              <a:buChar char="§"/>
            </a:pPr>
            <a:r>
              <a:rPr lang="it-IT" sz="2400" kern="1400" spc="230" dirty="0">
                <a:solidFill>
                  <a:srgbClr val="FFFFFF"/>
                </a:solidFill>
                <a:latin typeface="HALDEN SOLID" pitchFamily="2" charset="0"/>
                <a:ea typeface="Open Sans Extrabold" panose="020B0606030504020204" pitchFamily="34" charset="0"/>
                <a:cs typeface="Open Sans Extrabold" panose="020B0606030504020204" pitchFamily="34" charset="0"/>
              </a:rPr>
              <a:t>30 jours</a:t>
            </a:r>
          </a:p>
          <a:p>
            <a:pPr marL="1200150" lvl="1" indent="-742950">
              <a:lnSpc>
                <a:spcPts val="3920"/>
              </a:lnSpc>
              <a:buFont typeface="Wingdings" panose="05000000000000000000" pitchFamily="2" charset="2"/>
              <a:buChar char="§"/>
            </a:pPr>
            <a:r>
              <a:rPr lang="it-IT" sz="2400" kern="1400" spc="230" dirty="0">
                <a:solidFill>
                  <a:srgbClr val="FFFFFF"/>
                </a:solidFill>
                <a:latin typeface="HALDEN SOLID" pitchFamily="2" charset="0"/>
                <a:ea typeface="Open Sans Extrabold" panose="020B0606030504020204" pitchFamily="34" charset="0"/>
                <a:cs typeface="Open Sans Extrabold" panose="020B0606030504020204" pitchFamily="34" charset="0"/>
              </a:rPr>
              <a:t>6 mois</a:t>
            </a:r>
          </a:p>
          <a:p>
            <a:pPr>
              <a:lnSpc>
                <a:spcPts val="3920"/>
              </a:lnSpc>
            </a:pPr>
            <a:endParaRPr lang="en-GB"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71528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95D6D-3018-4974-A469-1F147A912234}"/>
              </a:ext>
            </a:extLst>
          </p:cNvPr>
          <p:cNvSpPr>
            <a:spLocks noGrp="1"/>
          </p:cNvSpPr>
          <p:nvPr>
            <p:ph type="title"/>
          </p:nvPr>
        </p:nvSpPr>
        <p:spPr>
          <a:xfrm>
            <a:off x="817736" y="445795"/>
            <a:ext cx="10542124" cy="56145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 aperçu</a:t>
            </a:r>
            <a:endParaRPr lang="es-419" sz="3600" b="0" kern="1400" spc="230" dirty="0">
              <a:solidFill>
                <a:schemeClr val="tx1"/>
              </a:solidFill>
              <a:latin typeface="HALDEN SOLID" pitchFamily="2" charset="0"/>
            </a:endParaRPr>
          </a:p>
        </p:txBody>
      </p:sp>
      <p:graphicFrame>
        <p:nvGraphicFramePr>
          <p:cNvPr id="3" name="Table 2">
            <a:extLst>
              <a:ext uri="{FF2B5EF4-FFF2-40B4-BE49-F238E27FC236}">
                <a16:creationId xmlns:a16="http://schemas.microsoft.com/office/drawing/2014/main" id="{2B505E5A-91D9-D27B-2207-7CD9ADF11C02}"/>
              </a:ext>
            </a:extLst>
          </p:cNvPr>
          <p:cNvGraphicFramePr>
            <a:graphicFrameLocks noGrp="1"/>
          </p:cNvGraphicFramePr>
          <p:nvPr>
            <p:extLst>
              <p:ext uri="{D42A27DB-BD31-4B8C-83A1-F6EECF244321}">
                <p14:modId xmlns:p14="http://schemas.microsoft.com/office/powerpoint/2010/main" val="3517237748"/>
              </p:ext>
            </p:extLst>
          </p:nvPr>
        </p:nvGraphicFramePr>
        <p:xfrm>
          <a:off x="144379" y="1240870"/>
          <a:ext cx="11887601" cy="6336539"/>
        </p:xfrm>
        <a:graphic>
          <a:graphicData uri="http://schemas.openxmlformats.org/drawingml/2006/table">
            <a:tbl>
              <a:tblPr firstRow="1" firstCol="1" bandRow="1">
                <a:tableStyleId>{5C22544A-7EE6-4342-B048-85BDC9FD1C3A}</a:tableStyleId>
              </a:tblPr>
              <a:tblGrid>
                <a:gridCol w="186740">
                  <a:extLst>
                    <a:ext uri="{9D8B030D-6E8A-4147-A177-3AD203B41FA5}">
                      <a16:colId xmlns:a16="http://schemas.microsoft.com/office/drawing/2014/main" val="542715717"/>
                    </a:ext>
                  </a:extLst>
                </a:gridCol>
                <a:gridCol w="1298742">
                  <a:extLst>
                    <a:ext uri="{9D8B030D-6E8A-4147-A177-3AD203B41FA5}">
                      <a16:colId xmlns:a16="http://schemas.microsoft.com/office/drawing/2014/main" val="3770647706"/>
                    </a:ext>
                  </a:extLst>
                </a:gridCol>
                <a:gridCol w="1518160">
                  <a:extLst>
                    <a:ext uri="{9D8B030D-6E8A-4147-A177-3AD203B41FA5}">
                      <a16:colId xmlns:a16="http://schemas.microsoft.com/office/drawing/2014/main" val="3481362451"/>
                    </a:ext>
                  </a:extLst>
                </a:gridCol>
                <a:gridCol w="1298405">
                  <a:extLst>
                    <a:ext uri="{9D8B030D-6E8A-4147-A177-3AD203B41FA5}">
                      <a16:colId xmlns:a16="http://schemas.microsoft.com/office/drawing/2014/main" val="1309759323"/>
                    </a:ext>
                  </a:extLst>
                </a:gridCol>
                <a:gridCol w="1264259">
                  <a:extLst>
                    <a:ext uri="{9D8B030D-6E8A-4147-A177-3AD203B41FA5}">
                      <a16:colId xmlns:a16="http://schemas.microsoft.com/office/drawing/2014/main" val="1918487562"/>
                    </a:ext>
                  </a:extLst>
                </a:gridCol>
                <a:gridCol w="1264259">
                  <a:extLst>
                    <a:ext uri="{9D8B030D-6E8A-4147-A177-3AD203B41FA5}">
                      <a16:colId xmlns:a16="http://schemas.microsoft.com/office/drawing/2014/main" val="397687848"/>
                    </a:ext>
                  </a:extLst>
                </a:gridCol>
                <a:gridCol w="1264259">
                  <a:extLst>
                    <a:ext uri="{9D8B030D-6E8A-4147-A177-3AD203B41FA5}">
                      <a16:colId xmlns:a16="http://schemas.microsoft.com/office/drawing/2014/main" val="3680548766"/>
                    </a:ext>
                  </a:extLst>
                </a:gridCol>
                <a:gridCol w="1264259">
                  <a:extLst>
                    <a:ext uri="{9D8B030D-6E8A-4147-A177-3AD203B41FA5}">
                      <a16:colId xmlns:a16="http://schemas.microsoft.com/office/drawing/2014/main" val="4062958430"/>
                    </a:ext>
                  </a:extLst>
                </a:gridCol>
                <a:gridCol w="1264259">
                  <a:extLst>
                    <a:ext uri="{9D8B030D-6E8A-4147-A177-3AD203B41FA5}">
                      <a16:colId xmlns:a16="http://schemas.microsoft.com/office/drawing/2014/main" val="1113320211"/>
                    </a:ext>
                  </a:extLst>
                </a:gridCol>
                <a:gridCol w="1264259">
                  <a:extLst>
                    <a:ext uri="{9D8B030D-6E8A-4147-A177-3AD203B41FA5}">
                      <a16:colId xmlns:a16="http://schemas.microsoft.com/office/drawing/2014/main" val="3191895760"/>
                    </a:ext>
                  </a:extLst>
                </a:gridCol>
              </a:tblGrid>
              <a:tr h="1258227">
                <a:tc>
                  <a:txBody>
                    <a:bodyPr/>
                    <a:lstStyle/>
                    <a:p>
                      <a:pPr>
                        <a:lnSpc>
                          <a:spcPct val="107000"/>
                        </a:lnSpc>
                        <a:spcAft>
                          <a:spcPts val="800"/>
                        </a:spcAft>
                      </a:pPr>
                      <a:r>
                        <a:rPr lang="en-GB" sz="1400" b="0">
                          <a:solidFill>
                            <a:srgbClr val="0C0C00"/>
                          </a:solidFill>
                          <a:effectLst/>
                        </a:rPr>
                        <a:t> </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Nom de </a:t>
                      </a:r>
                      <a:r>
                        <a:rPr lang="en-GB" sz="1400" b="0" dirty="0" err="1">
                          <a:solidFill>
                            <a:srgbClr val="0C0C00"/>
                          </a:solidFill>
                          <a:effectLst/>
                        </a:rPr>
                        <a:t>l'article</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Exemple</a:t>
                      </a:r>
                      <a:r>
                        <a:rPr lang="en-GB" sz="1400" b="0" baseline="30000" dirty="0">
                          <a:solidFill>
                            <a:srgbClr val="0C0C00"/>
                          </a:solidFill>
                          <a:effectLst/>
                        </a:rPr>
                        <a:t>1</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fr-FR" sz="1400" b="0" dirty="0">
                          <a:solidFill>
                            <a:srgbClr val="0C0C00"/>
                          </a:solidFill>
                          <a:effectLst/>
                        </a:rPr>
                        <a:t>Note : Avant de poser des questions oui/non relatives à un certain nom d'article, l'enquêteur doit lire : </a:t>
                      </a:r>
                      <a:r>
                        <a:rPr lang="fr-FR" sz="1400" b="0" i="1" dirty="0">
                          <a:solidFill>
                            <a:srgbClr val="0C0C00"/>
                          </a:solidFill>
                          <a:effectLst/>
                        </a:rPr>
                        <a:t>Je vais maintenant vous poser des questions sur votre consommation et vos dépenses de [nom de l'article]. Il s'agit d'articles tels que... [Exemple].</a:t>
                      </a:r>
                      <a:endParaRPr lang="fr-FR" sz="1400" b="0" i="1"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Nom de la variable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fr-FR" sz="1400" b="0" dirty="0">
                          <a:solidFill>
                            <a:srgbClr val="0C0C00"/>
                          </a:solidFill>
                          <a:effectLst/>
                        </a:rPr>
                        <a:t>Votre ménage a-t-il </a:t>
                      </a:r>
                      <a:r>
                        <a:rPr lang="fr-FR" sz="1400" b="0" u="sng" dirty="0">
                          <a:solidFill>
                            <a:srgbClr val="0C0C00"/>
                          </a:solidFill>
                          <a:effectLst/>
                        </a:rPr>
                        <a:t>acheté</a:t>
                      </a:r>
                      <a:r>
                        <a:rPr lang="fr-FR" sz="1400" b="0" dirty="0">
                          <a:solidFill>
                            <a:srgbClr val="0C0C00"/>
                          </a:solidFill>
                          <a:effectLst/>
                        </a:rPr>
                        <a:t> de [l'article] </a:t>
                      </a:r>
                      <a:r>
                        <a:rPr lang="fr-FR" sz="1400" b="0" u="sng" dirty="0">
                          <a:solidFill>
                            <a:srgbClr val="0C0C00"/>
                          </a:solidFill>
                          <a:effectLst/>
                        </a:rPr>
                        <a:t>pour la consommation du ménage </a:t>
                      </a:r>
                      <a:r>
                        <a:rPr lang="fr-FR" sz="1400" b="0" dirty="0">
                          <a:solidFill>
                            <a:srgbClr val="0C0C00"/>
                          </a:solidFill>
                          <a:effectLst/>
                        </a:rPr>
                        <a:t>au cours des 7 derniers jours, en espèces</a:t>
                      </a:r>
                      <a:r>
                        <a:rPr lang="en-GB" sz="1400" b="0" baseline="30000" dirty="0">
                          <a:solidFill>
                            <a:srgbClr val="0C0C00"/>
                          </a:solidFill>
                          <a:effectLst/>
                        </a:rPr>
                        <a:t>2</a:t>
                      </a:r>
                      <a:r>
                        <a:rPr lang="fr-FR" sz="1400" b="0" dirty="0">
                          <a:solidFill>
                            <a:srgbClr val="0C0C00"/>
                          </a:solidFill>
                          <a:effectLst/>
                        </a:rPr>
                        <a:t> ou à crédit ? </a:t>
                      </a: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0=non -&gt; question </a:t>
                      </a:r>
                      <a:r>
                        <a:rPr lang="en-GB" sz="1400" b="0" dirty="0" err="1">
                          <a:solidFill>
                            <a:srgbClr val="0C0C00"/>
                          </a:solidFill>
                          <a:effectLst/>
                        </a:rPr>
                        <a:t>suivante</a:t>
                      </a:r>
                      <a:r>
                        <a:rPr lang="en-GB" sz="1400" b="0" dirty="0">
                          <a:solidFill>
                            <a:srgbClr val="0C0C00"/>
                          </a:solidFill>
                          <a:effectLst/>
                        </a:rPr>
                        <a:t> (_</a:t>
                      </a:r>
                      <a:r>
                        <a:rPr lang="en-GB" sz="1400" b="0" dirty="0" err="1">
                          <a:solidFill>
                            <a:srgbClr val="0C0C00"/>
                          </a:solidFill>
                          <a:effectLst/>
                        </a:rPr>
                        <a:t>GiftAidYN</a:t>
                      </a:r>
                      <a:r>
                        <a:rPr lang="en-GB" sz="1400" b="0" dirty="0">
                          <a:solidFill>
                            <a:srgbClr val="0C0C00"/>
                          </a:solidFill>
                          <a:effectLst/>
                        </a:rPr>
                        <a:t>)</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fr-FR" sz="1400" b="0" dirty="0">
                          <a:solidFill>
                            <a:srgbClr val="0C0C00"/>
                          </a:solidFill>
                          <a:effectLst/>
                        </a:rPr>
                        <a:t>En considérant à la fois les achats effectués </a:t>
                      </a:r>
                      <a:r>
                        <a:rPr lang="fr-FR" sz="1400" b="0" u="sng" dirty="0">
                          <a:solidFill>
                            <a:srgbClr val="0C0C00"/>
                          </a:solidFill>
                          <a:effectLst/>
                        </a:rPr>
                        <a:t>en espèces et à crédit</a:t>
                      </a:r>
                      <a:r>
                        <a:rPr lang="fr-FR" sz="1400" b="0" dirty="0">
                          <a:solidFill>
                            <a:srgbClr val="0C0C00"/>
                          </a:solidFill>
                          <a:effectLst/>
                        </a:rPr>
                        <a:t>, combien votre ménage a-t-il dépensé pour [article] au cours des 7 derniers jours ?</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r>
                        <a:rPr lang="en-GB" sz="1400" b="0" dirty="0" err="1">
                          <a:solidFill>
                            <a:srgbClr val="0C0C00"/>
                          </a:solidFill>
                          <a:effectLst/>
                        </a:rPr>
                        <a:t>curr</a:t>
                      </a:r>
                      <a:r>
                        <a:rPr lang="en-GB" sz="1400" b="0" dirty="0">
                          <a:solidFill>
                            <a:srgbClr val="0C0C00"/>
                          </a:solidFill>
                          <a:effectLst/>
                        </a:rPr>
                        <a: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Au cours des 7 derniers jours, votre ménage a-t-il </a:t>
                      </a:r>
                      <a:r>
                        <a:rPr lang="fr-FR" sz="1400" b="0" u="sng" dirty="0">
                          <a:solidFill>
                            <a:srgbClr val="0C0C00"/>
                          </a:solidFill>
                          <a:effectLst/>
                        </a:rPr>
                        <a:t>consommé</a:t>
                      </a:r>
                      <a:r>
                        <a:rPr lang="fr-FR" sz="1400" b="0" dirty="0">
                          <a:solidFill>
                            <a:srgbClr val="0C0C00"/>
                          </a:solidFill>
                          <a:effectLst/>
                        </a:rPr>
                        <a:t> des [articles]  provenant de </a:t>
                      </a:r>
                      <a:r>
                        <a:rPr lang="fr-FR" sz="1400" b="0" u="sng" dirty="0">
                          <a:solidFill>
                            <a:srgbClr val="0C0C00"/>
                          </a:solidFill>
                          <a:effectLst/>
                        </a:rPr>
                        <a:t>dons en nature ou d'une assistance en nature</a:t>
                      </a:r>
                      <a:r>
                        <a:rPr lang="en-GB" sz="1400" b="0" u="sng" baseline="30000" dirty="0">
                          <a:solidFill>
                            <a:srgbClr val="0C0C00"/>
                          </a:solidFill>
                          <a:effectLst/>
                        </a:rPr>
                        <a:t>3</a:t>
                      </a:r>
                      <a:r>
                        <a:rPr lang="fr-FR" sz="1400" b="0" u="sng" dirty="0">
                          <a:solidFill>
                            <a:srgbClr val="0C0C00"/>
                          </a:solidFill>
                          <a:effectLst/>
                        </a:rPr>
                        <a:t> </a:t>
                      </a:r>
                      <a:r>
                        <a:rPr lang="fr-FR" sz="1400" b="0" dirty="0">
                          <a:solidFill>
                            <a:srgbClr val="0C0C00"/>
                          </a:solidFill>
                          <a:effectLst/>
                        </a:rPr>
                        <a:t>?</a:t>
                      </a:r>
                    </a:p>
                    <a:p>
                      <a:endParaRPr lang="fr-FR" sz="1400" b="0" dirty="0">
                        <a:solidFill>
                          <a:srgbClr val="0C0C00"/>
                        </a:solidFill>
                        <a:effectLst/>
                      </a:endParaRPr>
                    </a:p>
                    <a:p>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0=non -&gt; </a:t>
                      </a:r>
                      <a:r>
                        <a:rPr lang="en-GB" sz="1400" b="0" dirty="0" err="1">
                          <a:solidFill>
                            <a:srgbClr val="0C0C00"/>
                          </a:solidFill>
                          <a:effectLst/>
                        </a:rPr>
                        <a:t>questionsuivante</a:t>
                      </a:r>
                      <a:r>
                        <a:rPr lang="en-GB" sz="1400" b="0" dirty="0">
                          <a:solidFill>
                            <a:srgbClr val="0C0C00"/>
                          </a:solidFill>
                          <a:effectLst/>
                        </a:rPr>
                        <a:t>  (_</a:t>
                      </a:r>
                      <a:r>
                        <a:rPr lang="en-GB" sz="1400" b="0" dirty="0" err="1">
                          <a:solidFill>
                            <a:srgbClr val="0C0C00"/>
                          </a:solidFill>
                          <a:effectLst/>
                        </a:rPr>
                        <a:t>OwnYN</a:t>
                      </a:r>
                      <a:r>
                        <a:rPr lang="en-GB" sz="1400" b="0" dirty="0">
                          <a:solidFill>
                            <a:srgbClr val="0C0C00"/>
                          </a:solidFill>
                          <a:effectLst/>
                        </a:rPr>
                        <a:t>)</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Quelle serait la </a:t>
                      </a:r>
                      <a:r>
                        <a:rPr lang="fr-FR" sz="1400" b="0" u="sng" dirty="0">
                          <a:solidFill>
                            <a:srgbClr val="0C0C00"/>
                          </a:solidFill>
                          <a:effectLst/>
                        </a:rPr>
                        <a:t>valeur</a:t>
                      </a:r>
                      <a:r>
                        <a:rPr lang="fr-FR" sz="1400" b="0" dirty="0">
                          <a:solidFill>
                            <a:srgbClr val="0C0C00"/>
                          </a:solidFill>
                          <a:effectLst/>
                        </a:rPr>
                        <a:t> de ces [articles] consommés provenant de </a:t>
                      </a:r>
                      <a:r>
                        <a:rPr lang="fr-FR" sz="1400" b="0" u="sng" dirty="0">
                          <a:solidFill>
                            <a:srgbClr val="0C0C00"/>
                          </a:solidFill>
                          <a:effectLst/>
                        </a:rPr>
                        <a:t>l'assistance ou de dons en nature  </a:t>
                      </a:r>
                      <a:r>
                        <a:rPr lang="fr-FR" sz="1400" b="0" dirty="0">
                          <a:solidFill>
                            <a:srgbClr val="0C0C00"/>
                          </a:solidFill>
                          <a:effectLst/>
                        </a:rPr>
                        <a:t>si vous deviez les acheter au marché ?</a:t>
                      </a:r>
                    </a:p>
                    <a:p>
                      <a:endParaRPr lang="fr-FR" sz="1400" b="0" dirty="0">
                        <a:solidFill>
                          <a:srgbClr val="0C0C00"/>
                        </a:solidFill>
                        <a:effectLst/>
                      </a:endParaRPr>
                    </a:p>
                    <a:p>
                      <a:r>
                        <a:rPr lang="en-GB" sz="1400" b="0" dirty="0">
                          <a:solidFill>
                            <a:srgbClr val="0C0C00"/>
                          </a:solidFill>
                          <a:effectLst/>
                        </a:rPr>
                        <a:t> </a:t>
                      </a:r>
                      <a:endParaRPr lang="fr-FR" sz="1400" b="0" dirty="0">
                        <a:solidFill>
                          <a:srgbClr val="0C0C00"/>
                        </a:solidFill>
                        <a:effectLst/>
                      </a:endParaRPr>
                    </a:p>
                    <a:p>
                      <a:r>
                        <a:rPr lang="en-GB" sz="1400" b="0" dirty="0">
                          <a:solidFill>
                            <a:srgbClr val="0C0C00"/>
                          </a:solidFill>
                          <a:effectLst/>
                        </a:rPr>
                        <a:t>(</a:t>
                      </a:r>
                      <a:r>
                        <a:rPr lang="en-GB" sz="1400" b="0" dirty="0" err="1">
                          <a:solidFill>
                            <a:srgbClr val="0C0C00"/>
                          </a:solidFill>
                          <a:effectLst/>
                        </a:rPr>
                        <a:t>curr</a:t>
                      </a:r>
                      <a:r>
                        <a:rPr lang="en-GB" sz="1400" b="0" dirty="0">
                          <a:solidFill>
                            <a:srgbClr val="0C0C00"/>
                          </a:solidFill>
                          <a:effectLst/>
                        </a:rPr>
                        <a:t>.)</a:t>
                      </a:r>
                      <a:endParaRPr lang="fr-FR" sz="1400" b="0" dirty="0">
                        <a:solidFill>
                          <a:srgbClr val="0C0C00"/>
                        </a:solidFill>
                        <a:effectLst/>
                        <a:latin typeface="Arial" panose="020B0604020202020204" pitchFamily="34" charset="0"/>
                        <a:ea typeface="Times New Roman" panose="02020603050405020304" pitchFamily="18"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Au cours des 7 derniers jours, votre ménage a-t-il </a:t>
                      </a:r>
                      <a:r>
                        <a:rPr lang="fr-FR" sz="1400" b="0" u="sng" dirty="0">
                          <a:solidFill>
                            <a:srgbClr val="0C0C00"/>
                          </a:solidFill>
                          <a:effectLst/>
                        </a:rPr>
                        <a:t>consommé</a:t>
                      </a:r>
                      <a:r>
                        <a:rPr lang="fr-FR" sz="1400" b="0" dirty="0">
                          <a:solidFill>
                            <a:srgbClr val="0C0C00"/>
                          </a:solidFill>
                          <a:effectLst/>
                        </a:rPr>
                        <a:t> un [article] que vous avez </a:t>
                      </a:r>
                      <a:r>
                        <a:rPr lang="fr-FR" sz="1400" b="0" u="sng" dirty="0">
                          <a:solidFill>
                            <a:srgbClr val="0C0C00"/>
                          </a:solidFill>
                          <a:effectLst/>
                        </a:rPr>
                        <a:t>produit, cueilli/chassé/pêché</a:t>
                      </a:r>
                      <a:r>
                        <a:rPr lang="en-GB" sz="1400" b="0" u="sng" baseline="30000" dirty="0">
                          <a:solidFill>
                            <a:srgbClr val="0C0C00"/>
                          </a:solidFill>
                          <a:effectLst/>
                        </a:rPr>
                        <a:t>4</a:t>
                      </a:r>
                      <a:r>
                        <a:rPr lang="fr-FR" sz="1400" b="0" u="sng" dirty="0">
                          <a:solidFill>
                            <a:srgbClr val="0C0C00"/>
                          </a:solidFill>
                          <a:effectLst/>
                        </a:rPr>
                        <a:t> ou reçu en échange de votre travail </a:t>
                      </a:r>
                      <a:r>
                        <a:rPr lang="fr-FR" sz="1400" b="0" dirty="0">
                          <a:solidFill>
                            <a:srgbClr val="0C0C00"/>
                          </a:solidFill>
                          <a:effectLst/>
                        </a:rPr>
                        <a:t>?</a:t>
                      </a:r>
                    </a:p>
                    <a:p>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r>
                        <a:rPr lang="en-GB" sz="1400" b="0" dirty="0">
                          <a:solidFill>
                            <a:srgbClr val="0C0C00"/>
                          </a:solidFill>
                          <a:effectLst/>
                        </a:rPr>
                        <a:t>0=non -&gt; article </a:t>
                      </a:r>
                      <a:r>
                        <a:rPr lang="en-GB" sz="1400" b="0" dirty="0" err="1">
                          <a:solidFill>
                            <a:srgbClr val="0C0C00"/>
                          </a:solidFill>
                          <a:effectLst/>
                        </a:rPr>
                        <a:t>suivant</a:t>
                      </a:r>
                      <a:endParaRPr lang="fr-FR" sz="1400" b="0" dirty="0">
                        <a:solidFill>
                          <a:srgbClr val="0C0C00"/>
                        </a:solidFill>
                        <a:effectLst/>
                      </a:endParaRPr>
                    </a:p>
                    <a:p>
                      <a:r>
                        <a:rPr lang="en-US" sz="1400" b="0" dirty="0">
                          <a:solidFill>
                            <a:srgbClr val="0C0C00"/>
                          </a:solidFill>
                          <a:effectLst/>
                        </a:rPr>
                        <a:t> </a:t>
                      </a:r>
                      <a:endParaRPr lang="fr-FR" sz="1400" b="0" dirty="0">
                        <a:solidFill>
                          <a:srgbClr val="0C0C00"/>
                        </a:solidFill>
                        <a:effectLst/>
                        <a:latin typeface="Arial" panose="020B0604020202020204" pitchFamily="34" charset="0"/>
                        <a:ea typeface="Times New Roman" panose="02020603050405020304" pitchFamily="18"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Quelle serait la valeur de [l’article] consommé que vous avez produit, cueilli/chassé/pêché ou reçu en échange de votre travail si vous deviez l'acheter au marché ?</a:t>
                      </a:r>
                      <a:endParaRPr lang="fr-FR" sz="1400" b="0" dirty="0">
                        <a:solidFill>
                          <a:srgbClr val="0C0C00"/>
                        </a:solidFill>
                        <a:effectLst/>
                        <a:latin typeface="Arial" panose="020B0604020202020204" pitchFamily="34" charset="0"/>
                        <a:ea typeface="Times New Roman" panose="02020603050405020304" pitchFamily="18"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extLst>
                  <a:ext uri="{0D108BD9-81ED-4DB2-BD59-A6C34878D82A}">
                    <a16:rowId xmlns:a16="http://schemas.microsoft.com/office/drawing/2014/main" val="3899206407"/>
                  </a:ext>
                </a:extLst>
              </a:tr>
              <a:tr h="152346">
                <a:tc>
                  <a:txBody>
                    <a:bodyPr/>
                    <a:lstStyle/>
                    <a:p>
                      <a:pPr>
                        <a:lnSpc>
                          <a:spcPct val="107000"/>
                        </a:lnSpc>
                        <a:spcAft>
                          <a:spcPts val="800"/>
                        </a:spcAft>
                      </a:pPr>
                      <a:r>
                        <a:rPr lang="en-GB" sz="1400" b="0">
                          <a:solidFill>
                            <a:srgbClr val="FFFFFE"/>
                          </a:solidFill>
                          <a:effectLst/>
                        </a:rPr>
                        <a:t> </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just">
                        <a:lnSpc>
                          <a:spcPct val="107000"/>
                        </a:lnSpc>
                        <a:spcAft>
                          <a:spcPts val="800"/>
                        </a:spcAft>
                      </a:pPr>
                      <a:r>
                        <a:rPr lang="en-GB" sz="1400" b="0" dirty="0" err="1">
                          <a:solidFill>
                            <a:srgbClr val="FFFFFE"/>
                          </a:solidFill>
                          <a:effectLst/>
                        </a:rPr>
                        <a:t>Groupes</a:t>
                      </a:r>
                      <a:r>
                        <a:rPr lang="en-GB" sz="1400" b="0" dirty="0">
                          <a:solidFill>
                            <a:srgbClr val="FFFFFE"/>
                          </a:solidFill>
                          <a:effectLst/>
                        </a:rPr>
                        <a:t> </a:t>
                      </a:r>
                      <a:r>
                        <a:rPr lang="en-GB" sz="1400" b="0" dirty="0" err="1">
                          <a:solidFill>
                            <a:srgbClr val="FFFFFE"/>
                          </a:solidFill>
                          <a:effectLst/>
                        </a:rPr>
                        <a:t>alimentaires</a:t>
                      </a:r>
                      <a:r>
                        <a:rPr lang="en-GB" sz="1400" b="0" dirty="0">
                          <a:solidFill>
                            <a:srgbClr val="FFFFFE"/>
                          </a:solidFill>
                          <a:effectLst/>
                        </a:rPr>
                        <a:t> (7 </a:t>
                      </a:r>
                      <a:r>
                        <a:rPr lang="en-GB" sz="1400" b="0" dirty="0" err="1">
                          <a:solidFill>
                            <a:srgbClr val="FFFFFE"/>
                          </a:solidFill>
                          <a:effectLst/>
                        </a:rPr>
                        <a:t>jours</a:t>
                      </a:r>
                      <a:r>
                        <a:rPr lang="en-GB" sz="1400" b="0" dirty="0">
                          <a:solidFill>
                            <a:srgbClr val="FFFFFE"/>
                          </a:solidFill>
                          <a:effectLst/>
                        </a:rPr>
                        <a:t>)</a:t>
                      </a:r>
                      <a:r>
                        <a:rPr lang="en-GB" sz="1400" b="0" baseline="30000" dirty="0">
                          <a:solidFill>
                            <a:srgbClr val="FFFFFE"/>
                          </a:solidFill>
                          <a:effectLst/>
                        </a:rPr>
                        <a:t>5</a:t>
                      </a:r>
                      <a:endParaRPr lang="fr-FR" sz="1400" b="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b">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 </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_7D</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_CashCredYN</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_CashCred</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_GiftAidYN</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_GiftAid</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a:solidFill>
                            <a:srgbClr val="FFFFFE"/>
                          </a:solidFill>
                          <a:effectLst/>
                        </a:rPr>
                        <a:t>_OwnYN</a:t>
                      </a:r>
                      <a:endParaRPr lang="fr-FR" sz="1400" b="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b="0" dirty="0">
                          <a:solidFill>
                            <a:srgbClr val="FFFFFE"/>
                          </a:solidFill>
                          <a:effectLst/>
                        </a:rPr>
                        <a:t>_Own</a:t>
                      </a:r>
                      <a:endParaRPr lang="fr-FR" sz="1400" b="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extLst>
                  <a:ext uri="{0D108BD9-81ED-4DB2-BD59-A6C34878D82A}">
                    <a16:rowId xmlns:a16="http://schemas.microsoft.com/office/drawing/2014/main" val="3871490720"/>
                  </a:ext>
                </a:extLst>
              </a:tr>
              <a:tr h="386002">
                <a:tc>
                  <a:txBody>
                    <a:bodyPr/>
                    <a:lstStyle/>
                    <a:p>
                      <a:pPr>
                        <a:lnSpc>
                          <a:spcPct val="107000"/>
                        </a:lnSpc>
                        <a:spcAft>
                          <a:spcPts val="800"/>
                        </a:spcAft>
                      </a:pPr>
                      <a:r>
                        <a:rPr lang="en-GB" sz="1400" b="0">
                          <a:solidFill>
                            <a:srgbClr val="0C0C00"/>
                          </a:solidFill>
                          <a:effectLst/>
                        </a:rPr>
                        <a:t>1 </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b="0" dirty="0" err="1">
                          <a:solidFill>
                            <a:srgbClr val="0C0C00"/>
                          </a:solidFill>
                          <a:effectLst/>
                        </a:rPr>
                        <a:t>Céréales</a:t>
                      </a: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b="0" dirty="0">
                          <a:solidFill>
                            <a:srgbClr val="0C0C00"/>
                          </a:solidFill>
                          <a:effectLst/>
                        </a:rPr>
                        <a:t>le maïs, le riz, le sorgho, le blé, etc. sous forme de céréales brutes, de farine, de pain, de pâtes alimentaires et de produits similaires</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b="0" dirty="0" err="1">
                          <a:solidFill>
                            <a:srgbClr val="0C0C00"/>
                          </a:solidFill>
                          <a:effectLst/>
                        </a:rPr>
                        <a:t>HHExpFCer</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b="0" dirty="0">
                          <a:solidFill>
                            <a:srgbClr val="0C0C00"/>
                          </a:solidFill>
                          <a:effectLst/>
                        </a:rPr>
                        <a:t>|__|</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b="0">
                          <a:solidFill>
                            <a:srgbClr val="0C0C00"/>
                          </a:solidFill>
                          <a:effectLst/>
                        </a:rPr>
                        <a:t>|__|</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b="0">
                          <a:solidFill>
                            <a:srgbClr val="0C0C00"/>
                          </a:solidFill>
                          <a:effectLst/>
                        </a:rPr>
                        <a:t>|__|</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b="0">
                          <a:solidFill>
                            <a:srgbClr val="0C0C00"/>
                          </a:solidFill>
                          <a:effectLst/>
                        </a:rPr>
                        <a:t>|__|</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b="0" dirty="0">
                          <a:solidFill>
                            <a:srgbClr val="0C0C00"/>
                          </a:solidFill>
                          <a:effectLst/>
                        </a:rPr>
                        <a:t>|__|</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b="0" dirty="0">
                          <a:solidFill>
                            <a:srgbClr val="0C0C00"/>
                          </a:solidFill>
                          <a:effectLst/>
                        </a:rPr>
                        <a:t>|__|</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35978" marR="35978"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extLst>
                  <a:ext uri="{0D108BD9-81ED-4DB2-BD59-A6C34878D82A}">
                    <a16:rowId xmlns:a16="http://schemas.microsoft.com/office/drawing/2014/main" val="120380897"/>
                  </a:ext>
                </a:extLst>
              </a:tr>
            </a:tbl>
          </a:graphicData>
        </a:graphic>
      </p:graphicFrame>
      <p:sp>
        <p:nvSpPr>
          <p:cNvPr id="4" name="Rectangle 1">
            <a:extLst>
              <a:ext uri="{FF2B5EF4-FFF2-40B4-BE49-F238E27FC236}">
                <a16:creationId xmlns:a16="http://schemas.microsoft.com/office/drawing/2014/main" id="{111A210B-B3C5-67AE-86F5-B57AE9B8D5F8}"/>
              </a:ext>
            </a:extLst>
          </p:cNvPr>
          <p:cNvSpPr>
            <a:spLocks noChangeArrowheads="1"/>
          </p:cNvSpPr>
          <p:nvPr/>
        </p:nvSpPr>
        <p:spPr bwMode="auto">
          <a:xfrm>
            <a:off x="3976688" y="1733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5684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important</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pPr marL="514350" indent="-514350">
              <a:buFont typeface="+mj-lt"/>
              <a:buAutoNum type="arabicPeriod"/>
            </a:pPr>
            <a:r>
              <a:rPr lang="fr-FR" sz="2000" dirty="0"/>
              <a:t>Avant de commencer : assurez-vous que le sous-module est administré au membre du ménage qui connaît le mieux la consommation alimentaire dans le ménage (ou au moins qu'il est informé par ce membre).</a:t>
            </a:r>
          </a:p>
          <a:p>
            <a:pPr marL="514350" indent="-514350">
              <a:buFont typeface="+mj-lt"/>
              <a:buAutoNum type="arabicPeriod"/>
            </a:pPr>
            <a:r>
              <a:rPr lang="fr-FR" sz="2000" dirty="0"/>
              <a:t>Avant de poser des questions sur un groupe d'aliments : lisez la liste d'exemples d'aliments appartenant à ce groupe (par exemple, précisez que les « céréales » comprennent le maïs, le riz, les pâtes...) -&gt; important de rafraîchir la mémoire de la personne interrogée, d'autant plus que </a:t>
            </a:r>
            <a:r>
              <a:rPr lang="fr-FR" sz="2000" i="1" u="sng" dirty="0"/>
              <a:t>les groupes d'aliments sont différents de ceux du score de consommation alimentaire </a:t>
            </a:r>
            <a:r>
              <a:rPr lang="fr-FR" sz="2000" dirty="0"/>
              <a:t>! </a:t>
            </a:r>
          </a:p>
          <a:p>
            <a:pPr marL="514350" indent="-514350">
              <a:buFont typeface="+mj-lt"/>
              <a:buAutoNum type="arabicPeriod"/>
            </a:pPr>
            <a:r>
              <a:rPr lang="fr-FR" sz="2000" dirty="0">
                <a:sym typeface="Wingdings" panose="05000000000000000000" pitchFamily="2" charset="2"/>
              </a:rPr>
              <a:t>Pour chaque groupe d'aliments, vous posez trois questions oui/non. Les réponses « oui » donnent suite à des questions sur la valeur des biens et services consommés. </a:t>
            </a:r>
            <a:endParaRPr lang="en-GB" dirty="0">
              <a:sym typeface="Wingdings" panose="05000000000000000000" pitchFamily="2" charset="2"/>
            </a:endParaRPr>
          </a:p>
          <a:p>
            <a:endParaRPr lang="en-GB" dirty="0"/>
          </a:p>
          <a:p>
            <a:endParaRPr lang="es-419" dirty="0"/>
          </a:p>
        </p:txBody>
      </p:sp>
    </p:spTree>
    <p:extLst>
      <p:ext uri="{BB962C8B-B14F-4D97-AF65-F5344CB8AC3E}">
        <p14:creationId xmlns:p14="http://schemas.microsoft.com/office/powerpoint/2010/main" val="2277603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a:xfrm>
            <a:off x="846311" y="474370"/>
            <a:ext cx="10542124" cy="56145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a:t>
            </a:r>
            <a:r>
              <a:rPr lang="fr-FR" sz="3600" b="0" kern="1400" spc="230" dirty="0">
                <a:solidFill>
                  <a:schemeClr val="tx1"/>
                </a:solidFill>
                <a:latin typeface="HALDEN SOLID" pitchFamily="2" charset="0"/>
              </a:rPr>
              <a:t>en espèces ou à crédit </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endParaRPr lang="en-GB">
              <a:sym typeface="Wingdings" panose="05000000000000000000" pitchFamily="2" charset="2"/>
            </a:endParaRPr>
          </a:p>
          <a:p>
            <a:endParaRPr lang="en-GB"/>
          </a:p>
          <a:p>
            <a:endParaRPr lang="es-419"/>
          </a:p>
        </p:txBody>
      </p:sp>
      <p:graphicFrame>
        <p:nvGraphicFramePr>
          <p:cNvPr id="8" name="Table 8">
            <a:extLst>
              <a:ext uri="{FF2B5EF4-FFF2-40B4-BE49-F238E27FC236}">
                <a16:creationId xmlns:a16="http://schemas.microsoft.com/office/drawing/2014/main" id="{049A55DE-E5FC-4DDE-B5BB-1BC53C19AB6A}"/>
              </a:ext>
            </a:extLst>
          </p:cNvPr>
          <p:cNvGraphicFramePr>
            <a:graphicFrameLocks noGrp="1"/>
          </p:cNvGraphicFramePr>
          <p:nvPr>
            <p:extLst>
              <p:ext uri="{D42A27DB-BD31-4B8C-83A1-F6EECF244321}">
                <p14:modId xmlns:p14="http://schemas.microsoft.com/office/powerpoint/2010/main" val="3446711484"/>
              </p:ext>
            </p:extLst>
          </p:nvPr>
        </p:nvGraphicFramePr>
        <p:xfrm>
          <a:off x="846311" y="1346769"/>
          <a:ext cx="10212554" cy="4692360"/>
        </p:xfrm>
        <a:graphic>
          <a:graphicData uri="http://schemas.openxmlformats.org/drawingml/2006/table">
            <a:tbl>
              <a:tblPr firstRow="1" bandRow="1">
                <a:tableStyleId>{5C22544A-7EE6-4342-B048-85BDC9FD1C3A}</a:tableStyleId>
              </a:tblPr>
              <a:tblGrid>
                <a:gridCol w="2379196">
                  <a:extLst>
                    <a:ext uri="{9D8B030D-6E8A-4147-A177-3AD203B41FA5}">
                      <a16:colId xmlns:a16="http://schemas.microsoft.com/office/drawing/2014/main" val="1922137545"/>
                    </a:ext>
                  </a:extLst>
                </a:gridCol>
                <a:gridCol w="7833358">
                  <a:extLst>
                    <a:ext uri="{9D8B030D-6E8A-4147-A177-3AD203B41FA5}">
                      <a16:colId xmlns:a16="http://schemas.microsoft.com/office/drawing/2014/main" val="1669966504"/>
                    </a:ext>
                  </a:extLst>
                </a:gridCol>
              </a:tblGrid>
              <a:tr h="455640">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63674307"/>
                  </a:ext>
                </a:extLst>
              </a:tr>
              <a:tr h="2214776">
                <a:tc>
                  <a:txBody>
                    <a:bodyPr/>
                    <a:lstStyle/>
                    <a:p>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Votre ménage a-t-il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acheté</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des </a:t>
                      </a:r>
                      <a:r>
                        <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pour la consommation du ménage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au cours </a:t>
                      </a:r>
                      <a:r>
                        <a:rPr lang="fr-FR" sz="1400" b="1"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des 7 derniers jours</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en espèces ou à crédit ?</a:t>
                      </a:r>
                      <a:endPar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si quelque chose a été </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acheté</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rPr>
                        <a:t>indépendamment du fait qu'il ait été effectivement consommé</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endParaRPr lang="en-GB"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Pour la consommation du ménage </a:t>
                      </a:r>
                      <a:r>
                        <a:rPr lang="fr-FR" sz="1400" b="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cela signifie que nous ne prenons pas en compte les achats effectués pour offrir des cadeaux ou pour nourrir les animaux (c'est-à-dire le fourrage).</a:t>
                      </a:r>
                      <a:endParaRPr lang="en-GB" sz="1400" b="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Espèces : </a:t>
                      </a:r>
                      <a:r>
                        <a:rPr lang="fr-FR" sz="1400" b="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comprend également les bons de valeur ; la source des espèces n'a pas d'importance (par exemple, pas de traitement différent pour les achats effectués avec l'aide en espèces).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Crédit : </a:t>
                      </a:r>
                      <a:r>
                        <a:rPr lang="fr-FR" sz="1400" b="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lorsque le ménage achète quelque chose maintenant mais le rembourse plus tard.</a:t>
                      </a:r>
                      <a:endParaRPr lang="es-419" sz="1400" b="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1655302256"/>
                  </a:ext>
                </a:extLst>
              </a:tr>
              <a:tr h="16832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Considérant à la fois les achats effectués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en espèces et à crédit</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combien votre ménage a-t-il dépensé en </a:t>
                      </a:r>
                      <a:r>
                        <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au cours </a:t>
                      </a:r>
                      <a:r>
                        <a:rPr lang="fr-FR" sz="1400" b="1"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des 7 derniers jours</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400" i="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ce qui a été </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effectivement dépensé</a:t>
                      </a:r>
                      <a:r>
                        <a:rPr lang="fr-FR" sz="1400"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pour l'achat, </a:t>
                      </a:r>
                      <a:r>
                        <a:rPr lang="fr-FR"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rPr>
                        <a:t>indépendamment de la quantité consommée.</a:t>
                      </a:r>
                      <a:endParaRPr lang="en-GB"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Pour les achats effectués à crédit, indiquez le montant que le ménage devra rembourser à l'avenir -&gt; n'indiquez pas zéro !</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3646143298"/>
                  </a:ext>
                </a:extLst>
              </a:tr>
            </a:tbl>
          </a:graphicData>
        </a:graphic>
      </p:graphicFrame>
    </p:spTree>
    <p:extLst>
      <p:ext uri="{BB962C8B-B14F-4D97-AF65-F5344CB8AC3E}">
        <p14:creationId xmlns:p14="http://schemas.microsoft.com/office/powerpoint/2010/main" val="162113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a:xfrm>
            <a:off x="912986" y="283870"/>
            <a:ext cx="10877961" cy="932925"/>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a:t>
            </a:r>
            <a:r>
              <a:rPr lang="fr-FR" sz="3600" b="0" kern="1400" spc="230" dirty="0">
                <a:solidFill>
                  <a:schemeClr val="tx1"/>
                </a:solidFill>
                <a:latin typeface="HALDEN SOLID" pitchFamily="2" charset="0"/>
              </a:rPr>
              <a:t>assistance/dons en nature </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endParaRPr lang="en-GB">
              <a:sym typeface="Wingdings" panose="05000000000000000000" pitchFamily="2" charset="2"/>
            </a:endParaRPr>
          </a:p>
          <a:p>
            <a:endParaRPr lang="en-GB"/>
          </a:p>
          <a:p>
            <a:endParaRPr lang="es-419"/>
          </a:p>
        </p:txBody>
      </p:sp>
      <p:graphicFrame>
        <p:nvGraphicFramePr>
          <p:cNvPr id="8" name="Table 8">
            <a:extLst>
              <a:ext uri="{FF2B5EF4-FFF2-40B4-BE49-F238E27FC236}">
                <a16:creationId xmlns:a16="http://schemas.microsoft.com/office/drawing/2014/main" id="{049A55DE-E5FC-4DDE-B5BB-1BC53C19AB6A}"/>
              </a:ext>
            </a:extLst>
          </p:cNvPr>
          <p:cNvGraphicFramePr>
            <a:graphicFrameLocks noGrp="1"/>
          </p:cNvGraphicFramePr>
          <p:nvPr>
            <p:extLst>
              <p:ext uri="{D42A27DB-BD31-4B8C-83A1-F6EECF244321}">
                <p14:modId xmlns:p14="http://schemas.microsoft.com/office/powerpoint/2010/main" val="33275818"/>
              </p:ext>
            </p:extLst>
          </p:nvPr>
        </p:nvGraphicFramePr>
        <p:xfrm>
          <a:off x="935420" y="1438899"/>
          <a:ext cx="9722069" cy="4177511"/>
        </p:xfrm>
        <a:graphic>
          <a:graphicData uri="http://schemas.openxmlformats.org/drawingml/2006/table">
            <a:tbl>
              <a:tblPr firstRow="1" bandRow="1">
                <a:tableStyleId>{5C22544A-7EE6-4342-B048-85BDC9FD1C3A}</a:tableStyleId>
              </a:tblPr>
              <a:tblGrid>
                <a:gridCol w="2264930">
                  <a:extLst>
                    <a:ext uri="{9D8B030D-6E8A-4147-A177-3AD203B41FA5}">
                      <a16:colId xmlns:a16="http://schemas.microsoft.com/office/drawing/2014/main" val="1922137545"/>
                    </a:ext>
                  </a:extLst>
                </a:gridCol>
                <a:gridCol w="7457139">
                  <a:extLst>
                    <a:ext uri="{9D8B030D-6E8A-4147-A177-3AD203B41FA5}">
                      <a16:colId xmlns:a16="http://schemas.microsoft.com/office/drawing/2014/main" val="1669966504"/>
                    </a:ext>
                  </a:extLst>
                </a:gridCol>
              </a:tblGrid>
              <a:tr h="375998">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63674307"/>
                  </a:ext>
                </a:extLst>
              </a:tr>
              <a:tr h="2022600">
                <a:tc>
                  <a:txBody>
                    <a:bodyPr/>
                    <a:lstStyle/>
                    <a:p>
                      <a:r>
                        <a:rPr lang="fr-FR" sz="1400" dirty="0">
                          <a:latin typeface="Open Sans" panose="020B0606030504020204" pitchFamily="34" charset="0"/>
                          <a:ea typeface="Open Sans" panose="020B0606030504020204" pitchFamily="34" charset="0"/>
                          <a:cs typeface="Open Sans" panose="020B0606030504020204" pitchFamily="34" charset="0"/>
                        </a:rPr>
                        <a:t>Au cours des </a:t>
                      </a:r>
                      <a:r>
                        <a:rPr lang="fr-FR" sz="1400" b="1" dirty="0">
                          <a:latin typeface="Open Sans" panose="020B0606030504020204" pitchFamily="34" charset="0"/>
                          <a:ea typeface="Open Sans" panose="020B0606030504020204" pitchFamily="34" charset="0"/>
                          <a:cs typeface="Open Sans" panose="020B0606030504020204" pitchFamily="34" charset="0"/>
                        </a:rPr>
                        <a:t>7 derniers jours</a:t>
                      </a:r>
                      <a:r>
                        <a:rPr lang="fr-FR" sz="1400" dirty="0">
                          <a:latin typeface="Open Sans" panose="020B0606030504020204" pitchFamily="34" charset="0"/>
                          <a:ea typeface="Open Sans" panose="020B0606030504020204" pitchFamily="34" charset="0"/>
                          <a:cs typeface="Open Sans" panose="020B0606030504020204" pitchFamily="34" charset="0"/>
                        </a:rPr>
                        <a:t>, votre ménage a-t-il </a:t>
                      </a:r>
                      <a:r>
                        <a:rPr lang="fr-FR" sz="1400" b="1" u="sng" dirty="0">
                          <a:latin typeface="Open Sans" panose="020B0606030504020204" pitchFamily="34" charset="0"/>
                          <a:ea typeface="Open Sans" panose="020B0606030504020204" pitchFamily="34" charset="0"/>
                          <a:cs typeface="Open Sans" panose="020B0606030504020204" pitchFamily="34" charset="0"/>
                        </a:rPr>
                        <a:t>consommé</a:t>
                      </a:r>
                      <a:r>
                        <a:rPr lang="fr-FR" sz="1400" dirty="0">
                          <a:latin typeface="Open Sans" panose="020B0606030504020204" pitchFamily="34" charset="0"/>
                          <a:ea typeface="Open Sans" panose="020B0606030504020204" pitchFamily="34" charset="0"/>
                          <a:cs typeface="Open Sans" panose="020B0606030504020204" pitchFamily="34" charset="0"/>
                        </a:rPr>
                        <a:t> des </a:t>
                      </a:r>
                      <a:r>
                        <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r>
                        <a:rPr lang="en-GB" sz="1400" b="1" dirty="0">
                          <a:effectLst/>
                          <a:latin typeface="Open Sans" panose="020B0606030504020204" pitchFamily="34" charset="0"/>
                          <a:ea typeface="Open Sans" panose="020B0606030504020204" pitchFamily="34" charset="0"/>
                          <a:cs typeface="Open Sans" panose="020B0606030504020204" pitchFamily="34" charset="0"/>
                        </a:rPr>
                        <a:t> </a:t>
                      </a:r>
                      <a:r>
                        <a:rPr lang="fr-FR" sz="1400" dirty="0">
                          <a:latin typeface="Open Sans" panose="020B0606030504020204" pitchFamily="34" charset="0"/>
                          <a:ea typeface="Open Sans" panose="020B0606030504020204" pitchFamily="34" charset="0"/>
                          <a:cs typeface="Open Sans" panose="020B0606030504020204" pitchFamily="34" charset="0"/>
                        </a:rPr>
                        <a:t> provenant </a:t>
                      </a:r>
                      <a:r>
                        <a:rPr lang="fr-FR" sz="1400" b="1" u="sng" dirty="0">
                          <a:latin typeface="Open Sans" panose="020B0606030504020204" pitchFamily="34" charset="0"/>
                          <a:ea typeface="Open Sans" panose="020B0606030504020204" pitchFamily="34" charset="0"/>
                          <a:cs typeface="Open Sans" panose="020B0606030504020204" pitchFamily="34" charset="0"/>
                        </a:rPr>
                        <a:t>de dons en nature ou d'une assistance en nature</a:t>
                      </a:r>
                      <a:r>
                        <a:rPr lang="fr-FR" sz="1400" dirty="0">
                          <a:latin typeface="Open Sans" panose="020B0606030504020204" pitchFamily="34" charset="0"/>
                          <a:ea typeface="Open Sans" panose="020B0606030504020204" pitchFamily="34" charset="0"/>
                          <a:cs typeface="Open Sans" panose="020B0606030504020204" pitchFamily="34" charset="0"/>
                        </a:rPr>
                        <a:t> ?</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si le ménage a </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consommé</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quelque chose provenant de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dons ou d’une assistance en nature</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rPr>
                        <a:t>et non s'il l'a simplement reçu !</a:t>
                      </a:r>
                      <a:endParaRPr lang="en-GB"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L'assistance et les dons en nature</a:t>
                      </a:r>
                      <a:r>
                        <a:rPr lang="fr-FR" sz="1400" b="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comprennent l'aide des ONG, des agences des Nations unies, du gouvernement, des autorités religieuses, les dons et les emprunts de la famille et des amis, ainsi que la nourriture obtenue par la mendicité.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Rappelez-vous que nous ne </a:t>
                      </a:r>
                      <a:r>
                        <a:rPr lang="fr-FR" sz="1400"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considérons que l’assistance en nature et les dons en nature</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et non si le foyer a consommé quelque chose provenant de l'argent reçu sous forme d'aide ou de don.</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1655302256"/>
                  </a:ext>
                </a:extLst>
              </a:tr>
              <a:tr h="17789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Quelle serait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la valeur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de ces </a:t>
                      </a:r>
                      <a:r>
                        <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consommés provenant de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l'assistance ou de dons en nature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si vous deviez les acheter au marché ?</a:t>
                      </a:r>
                      <a:endPar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Le répondant doit fournir une estimation du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coût d'achat s'il devait acheter les biens reçus qu'il a consommés.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Si un article spécifique n'existe pas sur le marché local, il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faut l'estimer sur la base de la valeur d'articles comparables.</a:t>
                      </a:r>
                      <a:endParaRPr lang="es-419" sz="1400" b="1"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3646143298"/>
                  </a:ext>
                </a:extLst>
              </a:tr>
            </a:tbl>
          </a:graphicData>
        </a:graphic>
      </p:graphicFrame>
    </p:spTree>
    <p:extLst>
      <p:ext uri="{BB962C8B-B14F-4D97-AF65-F5344CB8AC3E}">
        <p14:creationId xmlns:p14="http://schemas.microsoft.com/office/powerpoint/2010/main" val="3784731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a:t>
            </a:r>
            <a:r>
              <a:rPr lang="fr-FR" sz="3600" b="0" kern="1400" spc="230" dirty="0">
                <a:solidFill>
                  <a:schemeClr val="tx1"/>
                </a:solidFill>
                <a:latin typeface="HALDEN SOLID" pitchFamily="2" charset="0"/>
              </a:rPr>
              <a:t>production propre </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endParaRPr lang="en-GB">
              <a:sym typeface="Wingdings" panose="05000000000000000000" pitchFamily="2" charset="2"/>
            </a:endParaRPr>
          </a:p>
          <a:p>
            <a:endParaRPr lang="en-GB"/>
          </a:p>
          <a:p>
            <a:endParaRPr lang="es-419"/>
          </a:p>
        </p:txBody>
      </p:sp>
      <p:graphicFrame>
        <p:nvGraphicFramePr>
          <p:cNvPr id="8" name="Table 8">
            <a:extLst>
              <a:ext uri="{FF2B5EF4-FFF2-40B4-BE49-F238E27FC236}">
                <a16:creationId xmlns:a16="http://schemas.microsoft.com/office/drawing/2014/main" id="{049A55DE-E5FC-4DDE-B5BB-1BC53C19AB6A}"/>
              </a:ext>
            </a:extLst>
          </p:cNvPr>
          <p:cNvGraphicFramePr>
            <a:graphicFrameLocks noGrp="1"/>
          </p:cNvGraphicFramePr>
          <p:nvPr>
            <p:extLst>
              <p:ext uri="{D42A27DB-BD31-4B8C-83A1-F6EECF244321}">
                <p14:modId xmlns:p14="http://schemas.microsoft.com/office/powerpoint/2010/main" val="1890949764"/>
              </p:ext>
            </p:extLst>
          </p:nvPr>
        </p:nvGraphicFramePr>
        <p:xfrm>
          <a:off x="803564" y="1233180"/>
          <a:ext cx="10715774" cy="4690732"/>
        </p:xfrm>
        <a:graphic>
          <a:graphicData uri="http://schemas.openxmlformats.org/drawingml/2006/table">
            <a:tbl>
              <a:tblPr firstRow="1" bandRow="1">
                <a:tableStyleId>{5C22544A-7EE6-4342-B048-85BDC9FD1C3A}</a:tableStyleId>
              </a:tblPr>
              <a:tblGrid>
                <a:gridCol w="3223381">
                  <a:extLst>
                    <a:ext uri="{9D8B030D-6E8A-4147-A177-3AD203B41FA5}">
                      <a16:colId xmlns:a16="http://schemas.microsoft.com/office/drawing/2014/main" val="1922137545"/>
                    </a:ext>
                  </a:extLst>
                </a:gridCol>
                <a:gridCol w="7492393">
                  <a:extLst>
                    <a:ext uri="{9D8B030D-6E8A-4147-A177-3AD203B41FA5}">
                      <a16:colId xmlns:a16="http://schemas.microsoft.com/office/drawing/2014/main" val="1669966504"/>
                    </a:ext>
                  </a:extLst>
                </a:gridCol>
              </a:tblGrid>
              <a:tr h="466918">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63674307"/>
                  </a:ext>
                </a:extLst>
              </a:tr>
              <a:tr h="2125668">
                <a:tc>
                  <a:txBody>
                    <a:bodyPr/>
                    <a:lstStyle/>
                    <a:p>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Au cours des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7 derniers jours</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votre ménage a-t-il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consommé</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des </a:t>
                      </a:r>
                      <a:r>
                        <a:rPr lang="en-GB"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r>
                        <a:rPr lang="en-GB"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que vous avez </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produits, cueillis/chassés  ou reçus en échange de travail ?</a:t>
                      </a:r>
                      <a:endParaRPr lang="en-GB"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si le ménage a </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consommé</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quelque chose provenant de sa propre production, et </a:t>
                      </a:r>
                      <a:r>
                        <a:rPr lang="fr-FR"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rPr>
                        <a:t>non s'il l'a simplement produit ou récolté </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endParaRPr lang="en-GB"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Production propre : comprend les aliments produits dans l'exploitation agricole ou le jardin du ménage, la cueillette et la chasse dans les champs, les forêts, les rivières, les lacs, la mer, etc., mais aussi les aliments reçus en échange d'un travail (par exemple, dans le cadre de la rémunération d'un travail agricole salarié).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L'utilisation des termes « cueilli, chassé ou pêché » dépend du groupe d'aliments.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Le </a:t>
                      </a:r>
                      <a:r>
                        <a:rPr lang="fr-FR" sz="1400"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moment</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où la nourriture a été produite n'a pas d'importance, seul compte le moment où elle a été consommée. Par exemple, si au cours des sept derniers jours, le ménage a consommé des denrées alimentaires provenant des stocks d'une production antérieure, il faut comptabiliser ces denrées.</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1655302256"/>
                  </a:ext>
                </a:extLst>
              </a:tr>
              <a:tr h="1785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Quelle serait </a:t>
                      </a:r>
                      <a:r>
                        <a:rPr lang="fr-FR" sz="1400" b="1"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la valeur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des </a:t>
                      </a:r>
                      <a:r>
                        <a:rPr lang="en-GB"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r>
                        <a:rPr lang="en-GB"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b="1"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consommés</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que vous avez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produits, cueillis/</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chassés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ou reçus en échange de votre travail </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si vous deviez les acheter au marché ?</a:t>
                      </a:r>
                      <a:endPar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le répondant doit fournir une estimation de ce que coûterait l'achat de ce qu'il a consommé s’il devait </a:t>
                      </a:r>
                      <a:r>
                        <a:rPr lang="fr-FR" sz="1400"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l'acheter</a:t>
                      </a:r>
                      <a:r>
                        <a:rPr lang="fr-FR" sz="1400" u="non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-&gt;</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ne rapportez pas la valeur qu'il obtiendrait s'il avait besoin de le vendre !</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3646143298"/>
                  </a:ext>
                </a:extLst>
              </a:tr>
            </a:tbl>
          </a:graphicData>
        </a:graphic>
      </p:graphicFrame>
    </p:spTree>
    <p:extLst>
      <p:ext uri="{BB962C8B-B14F-4D97-AF65-F5344CB8AC3E}">
        <p14:creationId xmlns:p14="http://schemas.microsoft.com/office/powerpoint/2010/main" val="2636606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D817-3366-462F-A336-BFC1884668EB}"/>
              </a:ext>
            </a:extLst>
          </p:cNvPr>
          <p:cNvSpPr>
            <a:spLocks noGrp="1"/>
          </p:cNvSpPr>
          <p:nvPr>
            <p:ph type="title"/>
          </p:nvPr>
        </p:nvSpPr>
        <p:spPr>
          <a:xfrm>
            <a:off x="846311" y="183610"/>
            <a:ext cx="10542124" cy="115200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Food submodule: consumption groups</a:t>
            </a:r>
            <a:endParaRPr lang="es-419" sz="3600" b="0" kern="1400" spc="230" dirty="0">
              <a:solidFill>
                <a:schemeClr val="tx1"/>
              </a:solidFill>
              <a:latin typeface="HALDEN SOLID" pitchFamily="2" charset="0"/>
            </a:endParaRPr>
          </a:p>
        </p:txBody>
      </p:sp>
      <p:graphicFrame>
        <p:nvGraphicFramePr>
          <p:cNvPr id="12" name="Table 12">
            <a:extLst>
              <a:ext uri="{FF2B5EF4-FFF2-40B4-BE49-F238E27FC236}">
                <a16:creationId xmlns:a16="http://schemas.microsoft.com/office/drawing/2014/main" id="{A82371B2-C643-4CE2-8140-A730710AD368}"/>
              </a:ext>
            </a:extLst>
          </p:cNvPr>
          <p:cNvGraphicFramePr>
            <a:graphicFrameLocks noGrp="1"/>
          </p:cNvGraphicFramePr>
          <p:nvPr>
            <p:ph idx="1"/>
            <p:extLst>
              <p:ext uri="{D42A27DB-BD31-4B8C-83A1-F6EECF244321}">
                <p14:modId xmlns:p14="http://schemas.microsoft.com/office/powerpoint/2010/main" val="4083892485"/>
              </p:ext>
            </p:extLst>
          </p:nvPr>
        </p:nvGraphicFramePr>
        <p:xfrm>
          <a:off x="803565" y="786065"/>
          <a:ext cx="5292435" cy="4575172"/>
        </p:xfrm>
        <a:graphic>
          <a:graphicData uri="http://schemas.openxmlformats.org/drawingml/2006/table">
            <a:tbl>
              <a:tblPr firstRow="1" bandRow="1">
                <a:tableStyleId>{5C22544A-7EE6-4342-B048-85BDC9FD1C3A}</a:tableStyleId>
              </a:tblPr>
              <a:tblGrid>
                <a:gridCol w="1833648">
                  <a:extLst>
                    <a:ext uri="{9D8B030D-6E8A-4147-A177-3AD203B41FA5}">
                      <a16:colId xmlns:a16="http://schemas.microsoft.com/office/drawing/2014/main" val="763633207"/>
                    </a:ext>
                  </a:extLst>
                </a:gridCol>
                <a:gridCol w="3458787">
                  <a:extLst>
                    <a:ext uri="{9D8B030D-6E8A-4147-A177-3AD203B41FA5}">
                      <a16:colId xmlns:a16="http://schemas.microsoft.com/office/drawing/2014/main" val="2505313927"/>
                    </a:ext>
                  </a:extLst>
                </a:gridCol>
              </a:tblGrid>
              <a:tr h="414353">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Food group</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Examples of items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401874929"/>
                  </a:ext>
                </a:extLst>
              </a:tr>
              <a:tr h="861627">
                <a:tc>
                  <a:txBody>
                    <a:bodyPr/>
                    <a:lstStyle/>
                    <a:p>
                      <a:pPr>
                        <a:lnSpc>
                          <a:spcPct val="107000"/>
                        </a:lnSpc>
                        <a:spcAft>
                          <a:spcPts val="800"/>
                        </a:spcAft>
                      </a:pPr>
                      <a:r>
                        <a:rPr lang="en-GB" sz="1400" b="1" err="1">
                          <a:effectLst/>
                          <a:latin typeface="Open Sans"/>
                          <a:ea typeface="Open Sans"/>
                          <a:cs typeface="Open Sans"/>
                        </a:rPr>
                        <a:t>céréales</a:t>
                      </a:r>
                      <a:r>
                        <a:rPr lang="en-GB" sz="1400" b="1" dirty="0">
                          <a:effectLst/>
                          <a:latin typeface="Open Sans"/>
                          <a:ea typeface="Open Sans"/>
                          <a:cs typeface="Open Sans"/>
                        </a:rPr>
                        <a:t> </a:t>
                      </a:r>
                      <a:endParaRPr lang="es-419" sz="1400" b="1" dirty="0">
                        <a:effectLst/>
                        <a:latin typeface="Open Sans"/>
                        <a:ea typeface="Open Sans"/>
                        <a:cs typeface="Open Sans"/>
                      </a:endParaRPr>
                    </a:p>
                  </a:txBody>
                  <a:tcPr marL="68580" marR="68580" marT="0" marB="0"/>
                </a:tc>
                <a:tc>
                  <a:txBody>
                    <a:bodyPr/>
                    <a:lstStyle/>
                    <a:p>
                      <a:pPr>
                        <a:lnSpc>
                          <a:spcPct val="107000"/>
                        </a:lnSpc>
                        <a:spcAft>
                          <a:spcPts val="800"/>
                        </a:spcAft>
                      </a:pPr>
                      <a:r>
                        <a:rPr lang="fr-FR" sz="1400" kern="1200" dirty="0">
                          <a:solidFill>
                            <a:schemeClr val="dk1"/>
                          </a:solidFill>
                          <a:effectLst/>
                          <a:latin typeface="Open Sans"/>
                          <a:ea typeface="Open Sans"/>
                          <a:cs typeface="Open Sans"/>
                        </a:rPr>
                        <a:t>sorgho, mil, maïs, blé, riz, pain/galette, beignets, farine, </a:t>
                      </a:r>
                      <a:r>
                        <a:rPr lang="fr-FR" sz="1400" kern="1200">
                          <a:solidFill>
                            <a:schemeClr val="dk1"/>
                          </a:solidFill>
                          <a:effectLst/>
                          <a:latin typeface="Open Sans"/>
                          <a:ea typeface="Open Sans"/>
                          <a:cs typeface="Open Sans"/>
                        </a:rPr>
                        <a:t>pâtes alimentaires</a:t>
                      </a:r>
                      <a:r>
                        <a:rPr lang="fr-FR" sz="1400" kern="1200" dirty="0">
                          <a:solidFill>
                            <a:schemeClr val="dk1"/>
                          </a:solidFill>
                          <a:effectLst/>
                          <a:latin typeface="Open Sans"/>
                          <a:ea typeface="Open Sans"/>
                          <a:cs typeface="Open Sans"/>
                        </a:rPr>
                        <a:t> et de produits similaires</a:t>
                      </a:r>
                      <a:endParaRPr lang="en-GB" sz="1400" kern="1200" dirty="0">
                        <a:solidFill>
                          <a:schemeClr val="dk1"/>
                        </a:solidFill>
                        <a:effectLst/>
                        <a:latin typeface="Open Sans"/>
                        <a:ea typeface="Open Sans"/>
                        <a:cs typeface="Open Sans"/>
                      </a:endParaRPr>
                    </a:p>
                  </a:txBody>
                  <a:tcPr marL="68580" marR="68580" marT="0" marB="0"/>
                </a:tc>
                <a:extLst>
                  <a:ext uri="{0D108BD9-81ED-4DB2-BD59-A6C34878D82A}">
                    <a16:rowId xmlns:a16="http://schemas.microsoft.com/office/drawing/2014/main" val="929458944"/>
                  </a:ext>
                </a:extLst>
              </a:tr>
              <a:tr h="707072">
                <a:tc>
                  <a:txBody>
                    <a:bodyPr/>
                    <a:lstStyle/>
                    <a:p>
                      <a:pPr>
                        <a:lnSpc>
                          <a:spcPct val="107000"/>
                        </a:lnSpc>
                        <a:spcAft>
                          <a:spcPts val="800"/>
                        </a:spcAft>
                      </a:pPr>
                      <a:r>
                        <a:rPr lang="en-GB" sz="1400" b="1" dirty="0">
                          <a:effectLst/>
                          <a:latin typeface="Open Sans" panose="020B0606030504020204" pitchFamily="34" charset="0"/>
                          <a:ea typeface="Open Sans" panose="020B0606030504020204" pitchFamily="34" charset="0"/>
                          <a:cs typeface="Open Sans" panose="020B0606030504020204" pitchFamily="34" charset="0"/>
                        </a:rPr>
                        <a:t>tubercules </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pommes de terre, les patates douces, le manioc, les plantains, les ignames, le taro</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789150821"/>
                  </a:ext>
                </a:extLst>
              </a:tr>
              <a:tr h="570091">
                <a:tc>
                  <a:txBody>
                    <a:bodyPr/>
                    <a:lstStyle/>
                    <a:p>
                      <a:pPr>
                        <a:lnSpc>
                          <a:spcPct val="107000"/>
                        </a:lnSpc>
                        <a:spcAft>
                          <a:spcPts val="800"/>
                        </a:spcAft>
                      </a:pPr>
                      <a:r>
                        <a:rPr lang="en-GB" sz="1400" b="1" err="1">
                          <a:effectLst/>
                          <a:latin typeface="Open Sans"/>
                          <a:ea typeface="Open Sans"/>
                          <a:cs typeface="Open Sans"/>
                        </a:rPr>
                        <a:t>légumineuses</a:t>
                      </a:r>
                      <a:r>
                        <a:rPr lang="en-GB" sz="1400" b="1" dirty="0">
                          <a:effectLst/>
                          <a:latin typeface="Open Sans"/>
                          <a:ea typeface="Open Sans"/>
                          <a:cs typeface="Open Sans"/>
                        </a:rPr>
                        <a:t> et </a:t>
                      </a:r>
                      <a:r>
                        <a:rPr lang="en-GB" sz="1400" b="1" err="1">
                          <a:effectLst/>
                          <a:latin typeface="Open Sans"/>
                          <a:ea typeface="Open Sans"/>
                          <a:cs typeface="Open Sans"/>
                        </a:rPr>
                        <a:t>noix</a:t>
                      </a:r>
                      <a:endParaRPr lang="es-419" sz="1400" b="1">
                        <a:effectLst/>
                        <a:latin typeface="Open Sans"/>
                        <a:ea typeface="Open Sans"/>
                        <a:cs typeface="Open Sans"/>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haricots, les pois, les lentilles, le niébé, les noix en coque ou décortiquées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797924422"/>
                  </a:ext>
                </a:extLst>
              </a:tr>
              <a:tr h="570091">
                <a:tc>
                  <a:txBody>
                    <a:bodyPr/>
                    <a:lstStyle/>
                    <a:p>
                      <a:pPr>
                        <a:lnSpc>
                          <a:spcPct val="107000"/>
                        </a:lnSpc>
                        <a:spcAft>
                          <a:spcPts val="800"/>
                        </a:spcAft>
                      </a:pPr>
                      <a:r>
                        <a:rPr lang="en-GB" sz="1400" b="1" err="1">
                          <a:effectLst/>
                          <a:latin typeface="Open Sans"/>
                          <a:ea typeface="Open Sans"/>
                          <a:cs typeface="Open Sans"/>
                        </a:rPr>
                        <a:t>légumes</a:t>
                      </a:r>
                      <a:r>
                        <a:rPr lang="en-GB" sz="1400" b="1" dirty="0">
                          <a:effectLst/>
                          <a:latin typeface="Open Sans"/>
                          <a:ea typeface="Open Sans"/>
                          <a:cs typeface="Open Sans"/>
                        </a:rPr>
                        <a:t> </a:t>
                      </a:r>
                      <a:endParaRPr lang="es-419" sz="1400" b="1" dirty="0">
                        <a:effectLst/>
                        <a:latin typeface="Open Sans"/>
                        <a:ea typeface="Open Sans"/>
                        <a:cs typeface="Open Sans"/>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légumes à feuilles vert foncé, des légumes orange et d'autres légumes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964965273"/>
                  </a:ext>
                </a:extLst>
              </a:tr>
              <a:tr h="414353">
                <a:tc>
                  <a:txBody>
                    <a:bodyPr/>
                    <a:lstStyle/>
                    <a:p>
                      <a:pPr>
                        <a:lnSpc>
                          <a:spcPct val="107000"/>
                        </a:lnSpc>
                        <a:spcAft>
                          <a:spcPts val="800"/>
                        </a:spcAft>
                      </a:pPr>
                      <a:r>
                        <a:rPr lang="en-GB" sz="1400" b="1">
                          <a:effectLst/>
                          <a:latin typeface="Open Sans" panose="020B0606030504020204" pitchFamily="34" charset="0"/>
                          <a:ea typeface="Open Sans" panose="020B0606030504020204" pitchFamily="34" charset="0"/>
                          <a:cs typeface="Open Sans" panose="020B0606030504020204" pitchFamily="34" charset="0"/>
                        </a:rPr>
                        <a:t>Fruits</a:t>
                      </a:r>
                      <a:endParaRPr lang="es-419" sz="1400" b="1">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fruits frais, congelés ou secs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739653069"/>
                  </a:ext>
                </a:extLst>
              </a:tr>
              <a:tr h="570091">
                <a:tc>
                  <a:txBody>
                    <a:bodyPr/>
                    <a:lstStyle/>
                    <a:p>
                      <a:pPr>
                        <a:lnSpc>
                          <a:spcPct val="107000"/>
                        </a:lnSpc>
                        <a:spcAft>
                          <a:spcPts val="800"/>
                        </a:spcAft>
                      </a:pPr>
                      <a:r>
                        <a:rPr lang="en-GB" sz="1400" b="1" err="1">
                          <a:effectLst/>
                          <a:latin typeface="Open Sans"/>
                          <a:ea typeface="Open Sans"/>
                          <a:cs typeface="Open Sans"/>
                        </a:rPr>
                        <a:t>viande</a:t>
                      </a:r>
                      <a:endParaRPr lang="es-419" sz="1400" b="1">
                        <a:effectLst/>
                        <a:latin typeface="Open Sans"/>
                        <a:ea typeface="Open Sans"/>
                        <a:cs typeface="Open Sans"/>
                      </a:endParaRPr>
                    </a:p>
                  </a:txBody>
                  <a:tcPr marL="68580" marR="68580" marT="0" marB="0"/>
                </a:tc>
                <a:tc>
                  <a:txBody>
                    <a:bodyPr/>
                    <a:lstStyle/>
                    <a:p>
                      <a:pPr>
                        <a:lnSpc>
                          <a:spcPct val="107000"/>
                        </a:lnSpc>
                        <a:spcAft>
                          <a:spcPts val="800"/>
                        </a:spcAft>
                      </a:pPr>
                      <a:r>
                        <a:rPr lang="fr-FR" sz="1400" err="1">
                          <a:effectLst/>
                          <a:latin typeface="Open Sans"/>
                          <a:ea typeface="Open Sans"/>
                          <a:cs typeface="Open Sans"/>
                        </a:rPr>
                        <a:t>Boeuf</a:t>
                      </a:r>
                      <a:r>
                        <a:rPr lang="fr-FR" sz="1400" dirty="0">
                          <a:effectLst/>
                          <a:latin typeface="Open Sans"/>
                          <a:ea typeface="Open Sans"/>
                          <a:cs typeface="Open Sans"/>
                        </a:rPr>
                        <a:t>, porc, </a:t>
                      </a:r>
                      <a:r>
                        <a:rPr lang="fr-FR" sz="1400" err="1">
                          <a:effectLst/>
                          <a:latin typeface="Open Sans"/>
                          <a:ea typeface="Open Sans"/>
                          <a:cs typeface="Open Sans"/>
                        </a:rPr>
                        <a:t>chevre</a:t>
                      </a:r>
                      <a:r>
                        <a:rPr lang="fr-FR" sz="1400" dirty="0">
                          <a:effectLst/>
                          <a:latin typeface="Open Sans"/>
                          <a:ea typeface="Open Sans"/>
                          <a:cs typeface="Open Sans"/>
                        </a:rPr>
                        <a:t>, poulet, viande de brousse, </a:t>
                      </a:r>
                      <a:r>
                        <a:rPr lang="fr-FR" sz="1400" err="1">
                          <a:effectLst/>
                          <a:latin typeface="Open Sans"/>
                          <a:ea typeface="Open Sans"/>
                          <a:cs typeface="Open Sans"/>
                        </a:rPr>
                        <a:t>etc</a:t>
                      </a:r>
                      <a:endParaRPr lang="es-419" sz="1400">
                        <a:effectLst/>
                        <a:latin typeface="Open Sans"/>
                        <a:ea typeface="Open Sans"/>
                        <a:cs typeface="Open Sans"/>
                      </a:endParaRPr>
                    </a:p>
                  </a:txBody>
                  <a:tcPr marL="68580" marR="68580" marT="0" marB="0"/>
                </a:tc>
                <a:extLst>
                  <a:ext uri="{0D108BD9-81ED-4DB2-BD59-A6C34878D82A}">
                    <a16:rowId xmlns:a16="http://schemas.microsoft.com/office/drawing/2014/main" val="2570297755"/>
                  </a:ext>
                </a:extLst>
              </a:tr>
              <a:tr h="467494">
                <a:tc>
                  <a:txBody>
                    <a:bodyPr/>
                    <a:lstStyle/>
                    <a:p>
                      <a:pPr>
                        <a:lnSpc>
                          <a:spcPct val="107000"/>
                        </a:lnSpc>
                        <a:spcAft>
                          <a:spcPts val="800"/>
                        </a:spcAft>
                      </a:pPr>
                      <a:r>
                        <a:rPr lang="es-419" sz="1400" b="1" dirty="0">
                          <a:effectLst/>
                          <a:latin typeface="Open Sans" panose="020B0606030504020204" pitchFamily="34" charset="0"/>
                          <a:ea typeface="Open Sans" panose="020B0606030504020204" pitchFamily="34" charset="0"/>
                          <a:cs typeface="Open Sans" panose="020B0606030504020204" pitchFamily="34" charset="0"/>
                        </a:rPr>
                        <a:t>Fish</a:t>
                      </a: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poisson frais et congelé ou d'autres fruits de mer</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1279447785"/>
                  </a:ext>
                </a:extLst>
              </a:tr>
            </a:tbl>
          </a:graphicData>
        </a:graphic>
      </p:graphicFrame>
      <p:graphicFrame>
        <p:nvGraphicFramePr>
          <p:cNvPr id="13" name="Table 12">
            <a:extLst>
              <a:ext uri="{FF2B5EF4-FFF2-40B4-BE49-F238E27FC236}">
                <a16:creationId xmlns:a16="http://schemas.microsoft.com/office/drawing/2014/main" id="{9A2955A7-1CB6-420F-99A0-E55E05A39E20}"/>
              </a:ext>
            </a:extLst>
          </p:cNvPr>
          <p:cNvGraphicFramePr>
            <a:graphicFrameLocks noGrp="1"/>
          </p:cNvGraphicFramePr>
          <p:nvPr>
            <p:extLst>
              <p:ext uri="{D42A27DB-BD31-4B8C-83A1-F6EECF244321}">
                <p14:modId xmlns:p14="http://schemas.microsoft.com/office/powerpoint/2010/main" val="3518574870"/>
              </p:ext>
            </p:extLst>
          </p:nvPr>
        </p:nvGraphicFramePr>
        <p:xfrm>
          <a:off x="6278302" y="786065"/>
          <a:ext cx="5913698" cy="5027758"/>
        </p:xfrm>
        <a:graphic>
          <a:graphicData uri="http://schemas.openxmlformats.org/drawingml/2006/table">
            <a:tbl>
              <a:tblPr firstRow="1" bandRow="1">
                <a:tableStyleId>{5C22544A-7EE6-4342-B048-85BDC9FD1C3A}</a:tableStyleId>
              </a:tblPr>
              <a:tblGrid>
                <a:gridCol w="2095189">
                  <a:extLst>
                    <a:ext uri="{9D8B030D-6E8A-4147-A177-3AD203B41FA5}">
                      <a16:colId xmlns:a16="http://schemas.microsoft.com/office/drawing/2014/main" val="2456680879"/>
                    </a:ext>
                  </a:extLst>
                </a:gridCol>
                <a:gridCol w="3818509">
                  <a:extLst>
                    <a:ext uri="{9D8B030D-6E8A-4147-A177-3AD203B41FA5}">
                      <a16:colId xmlns:a16="http://schemas.microsoft.com/office/drawing/2014/main" val="2071999887"/>
                    </a:ext>
                  </a:extLst>
                </a:gridCol>
              </a:tblGrid>
              <a:tr h="389728">
                <a:tc>
                  <a:txBody>
                    <a:bodyPr/>
                    <a:lstStyle/>
                    <a:p>
                      <a:r>
                        <a:rPr lang="en-GB" sz="1400" b="1" dirty="0">
                          <a:latin typeface="Open Sans"/>
                          <a:ea typeface="Open Sans"/>
                          <a:cs typeface="Open Sans"/>
                        </a:rPr>
                        <a:t>Food group</a:t>
                      </a:r>
                      <a:endParaRPr lang="es-419" sz="1400" b="1" dirty="0">
                        <a:latin typeface="Open Sans"/>
                        <a:ea typeface="Open Sans"/>
                        <a:cs typeface="Open Sans"/>
                      </a:endParaRPr>
                    </a:p>
                  </a:txBody>
                  <a:tcPr/>
                </a:tc>
                <a:tc>
                  <a:txBody>
                    <a:bodyPr/>
                    <a:lstStyle/>
                    <a:p>
                      <a:r>
                        <a:rPr lang="en-GB" sz="1400" dirty="0">
                          <a:latin typeface="Open Sans"/>
                          <a:ea typeface="Open Sans"/>
                          <a:cs typeface="Open Sans"/>
                        </a:rPr>
                        <a:t>Examples of items</a:t>
                      </a:r>
                      <a:endParaRPr lang="es-419" sz="1400" dirty="0">
                        <a:latin typeface="Open Sans"/>
                        <a:ea typeface="Open Sans"/>
                        <a:cs typeface="Open Sans"/>
                      </a:endParaRPr>
                    </a:p>
                  </a:txBody>
                  <a:tcPr/>
                </a:tc>
                <a:extLst>
                  <a:ext uri="{0D108BD9-81ED-4DB2-BD59-A6C34878D82A}">
                    <a16:rowId xmlns:a16="http://schemas.microsoft.com/office/drawing/2014/main" val="877705467"/>
                  </a:ext>
                </a:extLst>
              </a:tr>
              <a:tr h="468141">
                <a:tc>
                  <a:txBody>
                    <a:bodyPr/>
                    <a:lstStyle/>
                    <a:p>
                      <a:pPr>
                        <a:lnSpc>
                          <a:spcPct val="107000"/>
                        </a:lnSpc>
                        <a:spcAft>
                          <a:spcPts val="800"/>
                        </a:spcAft>
                      </a:pPr>
                      <a:r>
                        <a:rPr lang="en-GB" sz="1400" b="1" dirty="0">
                          <a:effectLst/>
                          <a:latin typeface="Open Sans" panose="020B0606030504020204" pitchFamily="34" charset="0"/>
                          <a:ea typeface="Open Sans" panose="020B0606030504020204" pitchFamily="34" charset="0"/>
                          <a:cs typeface="Open Sans" panose="020B0606030504020204" pitchFamily="34" charset="0"/>
                        </a:rPr>
                        <a:t>matières grasses</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a:ea typeface="Open Sans"/>
                          <a:cs typeface="Open Sans"/>
                        </a:rPr>
                        <a:t>huile végétale, le beurre, la margarine, l'huile de karité et autres gras/huile</a:t>
                      </a:r>
                      <a:endParaRPr lang="es-419" sz="1400" dirty="0">
                        <a:effectLst/>
                        <a:latin typeface="Open Sans"/>
                        <a:ea typeface="Open Sans"/>
                        <a:cs typeface="Open Sans"/>
                      </a:endParaRPr>
                    </a:p>
                  </a:txBody>
                  <a:tcPr marL="68580" marR="68580" marT="0" marB="0"/>
                </a:tc>
                <a:extLst>
                  <a:ext uri="{0D108BD9-81ED-4DB2-BD59-A6C34878D82A}">
                    <a16:rowId xmlns:a16="http://schemas.microsoft.com/office/drawing/2014/main" val="2532680819"/>
                  </a:ext>
                </a:extLst>
              </a:tr>
              <a:tr h="468141">
                <a:tc>
                  <a:txBody>
                    <a:bodyPr/>
                    <a:lstStyle/>
                    <a:p>
                      <a:pPr>
                        <a:lnSpc>
                          <a:spcPct val="107000"/>
                        </a:lnSpc>
                        <a:spcAft>
                          <a:spcPts val="800"/>
                        </a:spcAft>
                      </a:pPr>
                      <a:r>
                        <a:rPr lang="en-GB" sz="1400" b="1" dirty="0">
                          <a:effectLst/>
                          <a:latin typeface="Open Sans" panose="020B0606030504020204" pitchFamily="34" charset="0"/>
                          <a:ea typeface="Open Sans" panose="020B0606030504020204" pitchFamily="34" charset="0"/>
                          <a:cs typeface="Open Sans" panose="020B0606030504020204" pitchFamily="34" charset="0"/>
                        </a:rPr>
                        <a:t> lait/ </a:t>
                      </a:r>
                      <a:r>
                        <a:rPr lang="en-GB" sz="1400" b="1" dirty="0" err="1">
                          <a:effectLst/>
                          <a:latin typeface="Open Sans" panose="020B0606030504020204" pitchFamily="34" charset="0"/>
                          <a:ea typeface="Open Sans" panose="020B0606030504020204" pitchFamily="34" charset="0"/>
                          <a:cs typeface="Open Sans" panose="020B0606030504020204" pitchFamily="34" charset="0"/>
                        </a:rPr>
                        <a:t>produits</a:t>
                      </a:r>
                      <a:r>
                        <a:rPr lang="en-GB" sz="1400" b="1" dirty="0">
                          <a:effectLst/>
                          <a:latin typeface="Open Sans" panose="020B0606030504020204" pitchFamily="34" charset="0"/>
                          <a:ea typeface="Open Sans" panose="020B0606030504020204" pitchFamily="34" charset="0"/>
                          <a:cs typeface="Open Sans" panose="020B0606030504020204" pitchFamily="34" charset="0"/>
                        </a:rPr>
                        <a:t> </a:t>
                      </a:r>
                      <a:r>
                        <a:rPr lang="en-GB" sz="1400" b="1" dirty="0" err="1">
                          <a:effectLst/>
                          <a:latin typeface="Open Sans" panose="020B0606030504020204" pitchFamily="34" charset="0"/>
                          <a:ea typeface="Open Sans" panose="020B0606030504020204" pitchFamily="34" charset="0"/>
                          <a:cs typeface="Open Sans" panose="020B0606030504020204" pitchFamily="34" charset="0"/>
                        </a:rPr>
                        <a:t>laitiers</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œufs frais/aigri, le fromage, le yaourt, le lait en poudre et autres produits laitiers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086210925"/>
                  </a:ext>
                </a:extLst>
              </a:tr>
              <a:tr h="389728">
                <a:tc>
                  <a:txBody>
                    <a:bodyPr/>
                    <a:lstStyle/>
                    <a:p>
                      <a:pPr>
                        <a:lnSpc>
                          <a:spcPct val="107000"/>
                        </a:lnSpc>
                        <a:spcAft>
                          <a:spcPts val="800"/>
                        </a:spcAft>
                      </a:pPr>
                      <a:r>
                        <a:rPr lang="en-GB" sz="1400" b="1" dirty="0">
                          <a:effectLst/>
                          <a:latin typeface="Open Sans" panose="020B0606030504020204" pitchFamily="34" charset="0"/>
                          <a:ea typeface="Open Sans" panose="020B0606030504020204" pitchFamily="34" charset="0"/>
                          <a:cs typeface="Open Sans" panose="020B0606030504020204" pitchFamily="34" charset="0"/>
                        </a:rPr>
                        <a:t>Eggs</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400" dirty="0" err="1">
                          <a:effectLst/>
                          <a:latin typeface="Open Sans" panose="020B0606030504020204" pitchFamily="34" charset="0"/>
                          <a:ea typeface="Open Sans" panose="020B0606030504020204" pitchFamily="34" charset="0"/>
                          <a:cs typeface="Open Sans" panose="020B0606030504020204" pitchFamily="34" charset="0"/>
                        </a:rPr>
                        <a:t>œufs</a:t>
                      </a:r>
                      <a:r>
                        <a:rPr lang="en-GB" sz="1400" dirty="0">
                          <a:effectLst/>
                          <a:latin typeface="Open Sans" panose="020B0606030504020204" pitchFamily="34" charset="0"/>
                          <a:ea typeface="Open Sans" panose="020B0606030504020204" pitchFamily="34" charset="0"/>
                          <a:cs typeface="Open Sans" panose="020B0606030504020204" pitchFamily="34" charset="0"/>
                        </a:rPr>
                        <a:t> </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4005616343"/>
                  </a:ext>
                </a:extLst>
              </a:tr>
              <a:tr h="947960">
                <a:tc>
                  <a:txBody>
                    <a:bodyPr/>
                    <a:lstStyle/>
                    <a:p>
                      <a:pPr>
                        <a:lnSpc>
                          <a:spcPct val="107000"/>
                        </a:lnSpc>
                        <a:spcAft>
                          <a:spcPts val="800"/>
                        </a:spcAft>
                      </a:pPr>
                      <a:r>
                        <a:rPr lang="en-GB" sz="1400" b="1" dirty="0">
                          <a:effectLst/>
                          <a:latin typeface="Open Sans" panose="020B0606030504020204" pitchFamily="34" charset="0"/>
                          <a:ea typeface="Open Sans" panose="020B0606030504020204" pitchFamily="34" charset="0"/>
                          <a:cs typeface="Open Sans" panose="020B0606030504020204" pitchFamily="34" charset="0"/>
                        </a:rPr>
                        <a:t>sucre, confiseries et desserts</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le sucre(en poudre ou carreau), le miel, les confitures, beignets, bonbons, biscuits, </a:t>
                      </a:r>
                      <a:r>
                        <a:rPr lang="fr-FR" sz="1400" dirty="0" err="1">
                          <a:effectLst/>
                          <a:latin typeface="Open Sans" panose="020B0606030504020204" pitchFamily="34" charset="0"/>
                          <a:ea typeface="Open Sans" panose="020B0606030504020204" pitchFamily="34" charset="0"/>
                          <a:cs typeface="Open Sans" panose="020B0606030504020204" pitchFamily="34" charset="0"/>
                        </a:rPr>
                        <a:t>patisseries</a:t>
                      </a:r>
                      <a:r>
                        <a:rPr lang="fr-FR" sz="1400" dirty="0">
                          <a:effectLst/>
                          <a:latin typeface="Open Sans" panose="020B0606030504020204" pitchFamily="34" charset="0"/>
                          <a:ea typeface="Open Sans" panose="020B0606030504020204" pitchFamily="34" charset="0"/>
                          <a:cs typeface="Open Sans" panose="020B0606030504020204" pitchFamily="34" charset="0"/>
                        </a:rPr>
                        <a:t>, gâteaux et autres produits sucrés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323862488"/>
                  </a:ext>
                </a:extLst>
              </a:tr>
              <a:tr h="708050">
                <a:tc>
                  <a:txBody>
                    <a:bodyPr/>
                    <a:lstStyle/>
                    <a:p>
                      <a:pPr>
                        <a:lnSpc>
                          <a:spcPct val="107000"/>
                        </a:lnSpc>
                        <a:spcAft>
                          <a:spcPts val="800"/>
                        </a:spcAft>
                      </a:pPr>
                      <a:r>
                        <a:rPr lang="en-GB" sz="1400" b="1" dirty="0">
                          <a:effectLst/>
                          <a:latin typeface="Open Sans" panose="020B0606030504020204" pitchFamily="34" charset="0"/>
                          <a:ea typeface="Open Sans" panose="020B0606030504020204" pitchFamily="34" charset="0"/>
                          <a:cs typeface="Open Sans" panose="020B0606030504020204" pitchFamily="34" charset="0"/>
                        </a:rPr>
                        <a:t>condiment</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sel, ail, épices, levure/poudre à pâte, tomate/sauce piquante, petite quantité de lait pour le thé/café,  la poudre de poisson.</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651638096"/>
                  </a:ext>
                </a:extLst>
              </a:tr>
              <a:tr h="708050">
                <a:tc>
                  <a:txBody>
                    <a:bodyPr/>
                    <a:lstStyle/>
                    <a:p>
                      <a:pPr>
                        <a:lnSpc>
                          <a:spcPct val="107000"/>
                        </a:lnSpc>
                        <a:spcAft>
                          <a:spcPts val="800"/>
                        </a:spcAft>
                      </a:pPr>
                      <a:r>
                        <a:rPr lang="en-GB" sz="1400" b="1" dirty="0" err="1">
                          <a:effectLst/>
                          <a:latin typeface="Open Sans" panose="020B0606030504020204" pitchFamily="34" charset="0"/>
                          <a:ea typeface="Open Sans" panose="020B0606030504020204" pitchFamily="34" charset="0"/>
                          <a:cs typeface="Open Sans" panose="020B0606030504020204" pitchFamily="34" charset="0"/>
                        </a:rPr>
                        <a:t>boissons</a:t>
                      </a:r>
                      <a:r>
                        <a:rPr lang="en-GB" sz="1400" b="1" dirty="0">
                          <a:effectLst/>
                          <a:latin typeface="Open Sans" panose="020B0606030504020204" pitchFamily="34" charset="0"/>
                          <a:ea typeface="Open Sans" panose="020B0606030504020204" pitchFamily="34" charset="0"/>
                          <a:cs typeface="Open Sans" panose="020B0606030504020204" pitchFamily="34" charset="0"/>
                        </a:rPr>
                        <a:t> non </a:t>
                      </a:r>
                      <a:r>
                        <a:rPr lang="en-GB" sz="1400" b="1" dirty="0" err="1">
                          <a:effectLst/>
                          <a:latin typeface="Open Sans" panose="020B0606030504020204" pitchFamily="34" charset="0"/>
                          <a:ea typeface="Open Sans" panose="020B0606030504020204" pitchFamily="34" charset="0"/>
                          <a:cs typeface="Open Sans" panose="020B0606030504020204" pitchFamily="34" charset="0"/>
                        </a:rPr>
                        <a:t>alcoolisées</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du café, du thé, des infusions à base de plantes, de l'eau en bouteille, des boissons gazeuses, des jus de fruits.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1421582023"/>
                  </a:ext>
                </a:extLst>
              </a:tr>
              <a:tr h="947960">
                <a:tc>
                  <a:txBody>
                    <a:bodyPr/>
                    <a:lstStyle/>
                    <a:p>
                      <a:pPr>
                        <a:lnSpc>
                          <a:spcPct val="107000"/>
                        </a:lnSpc>
                        <a:spcAft>
                          <a:spcPts val="800"/>
                        </a:spcAft>
                      </a:pPr>
                      <a:r>
                        <a:rPr lang="fr-FR" sz="1400" b="1" dirty="0">
                          <a:effectLst/>
                          <a:latin typeface="Open Sans" panose="020B0606030504020204" pitchFamily="34" charset="0"/>
                          <a:ea typeface="Open Sans" panose="020B0606030504020204" pitchFamily="34" charset="0"/>
                          <a:cs typeface="Open Sans" panose="020B0606030504020204" pitchFamily="34" charset="0"/>
                        </a:rPr>
                        <a:t>collations et de repas préparés à l'extérieur de la maison</a:t>
                      </a:r>
                      <a:endParaRPr lang="es-419" sz="1400" b="1"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plats cuisinés et des collations préparés à l'extérieur de la maison, qu'ils soient consommés à l'intérieur ou à l'extérieur de la maison</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925488501"/>
                  </a:ext>
                </a:extLst>
              </a:tr>
            </a:tbl>
          </a:graphicData>
        </a:graphic>
      </p:graphicFrame>
      <p:grpSp>
        <p:nvGrpSpPr>
          <p:cNvPr id="3" name="Group 2">
            <a:extLst>
              <a:ext uri="{FF2B5EF4-FFF2-40B4-BE49-F238E27FC236}">
                <a16:creationId xmlns:a16="http://schemas.microsoft.com/office/drawing/2014/main" id="{0D4C8C84-D97A-F8C0-DC07-55CF3F2E9ABC}"/>
              </a:ext>
            </a:extLst>
          </p:cNvPr>
          <p:cNvGrpSpPr/>
          <p:nvPr/>
        </p:nvGrpSpPr>
        <p:grpSpPr>
          <a:xfrm>
            <a:off x="2532581" y="5745010"/>
            <a:ext cx="8855855" cy="1095315"/>
            <a:chOff x="5186680" y="6082"/>
            <a:chExt cx="9040683" cy="1095315"/>
          </a:xfrm>
        </p:grpSpPr>
        <p:sp>
          <p:nvSpPr>
            <p:cNvPr id="4" name="TextBox 3">
              <a:extLst>
                <a:ext uri="{FF2B5EF4-FFF2-40B4-BE49-F238E27FC236}">
                  <a16:creationId xmlns:a16="http://schemas.microsoft.com/office/drawing/2014/main" id="{3AC9CF40-7B59-26A2-2159-03E63F2EE455}"/>
                </a:ext>
              </a:extLst>
            </p:cNvPr>
            <p:cNvSpPr txBox="1"/>
            <p:nvPr/>
          </p:nvSpPr>
          <p:spPr>
            <a:xfrm>
              <a:off x="5658243" y="178067"/>
              <a:ext cx="8569120" cy="923330"/>
            </a:xfrm>
            <a:prstGeom prst="rect">
              <a:avLst/>
            </a:prstGeom>
            <a:solidFill>
              <a:schemeClr val="accent5"/>
            </a:solidFill>
            <a:ln>
              <a:solidFill>
                <a:schemeClr val="accent1"/>
              </a:solidFill>
            </a:ln>
          </p:spPr>
          <p:txBody>
            <a:bodyPr wrap="square" rtlCol="0">
              <a:spAutoFit/>
            </a:bodyPr>
            <a:lstStyle/>
            <a:p>
              <a:r>
                <a:rPr lang="fr-FR" sz="1800" dirty="0">
                  <a:solidFill>
                    <a:schemeClr val="accent2"/>
                  </a:solidFill>
                  <a:latin typeface="Calibri" panose="020F0502020204030204" pitchFamily="34" charset="0"/>
                  <a:cs typeface="Calibri" panose="020F0502020204030204" pitchFamily="34" charset="0"/>
                </a:rPr>
                <a:t>Notez qu'il existe de petites différences entre le sous-module des dépenses alimentaires et le module du score de consommation alimentaire (FCS) en ce qui concerne la manière dont les aliments sont catégorisés, par exemple les patates douces</a:t>
              </a:r>
              <a:endParaRPr lang="en-GB" sz="1800" dirty="0">
                <a:solidFill>
                  <a:schemeClr val="accent2"/>
                </a:solidFill>
                <a:latin typeface="Calibri" panose="020F0502020204030204" pitchFamily="34" charset="0"/>
                <a:cs typeface="Calibri" panose="020F0502020204030204" pitchFamily="34" charset="0"/>
              </a:endParaRPr>
            </a:p>
          </p:txBody>
        </p:sp>
        <p:pic>
          <p:nvPicPr>
            <p:cNvPr id="5" name="Graphic 4" descr="Warning with solid fill">
              <a:extLst>
                <a:ext uri="{FF2B5EF4-FFF2-40B4-BE49-F238E27FC236}">
                  <a16:creationId xmlns:a16="http://schemas.microsoft.com/office/drawing/2014/main" id="{FFC374FC-B02A-EC3F-6849-E578C7D052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86680" y="6082"/>
              <a:ext cx="579120" cy="579120"/>
            </a:xfrm>
            <a:prstGeom prst="rect">
              <a:avLst/>
            </a:prstGeom>
          </p:spPr>
        </p:pic>
      </p:grpSp>
    </p:spTree>
    <p:extLst>
      <p:ext uri="{BB962C8B-B14F-4D97-AF65-F5344CB8AC3E}">
        <p14:creationId xmlns:p14="http://schemas.microsoft.com/office/powerpoint/2010/main" val="286959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703200" y="2369285"/>
            <a:ext cx="8785600" cy="29123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gn="ct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gn="ctr">
              <a:lnSpc>
                <a:spcPts val="3920"/>
              </a:lnSpc>
            </a:pPr>
            <a:r>
              <a:rPr lang="en-GB" sz="4600" b="0" dirty="0">
                <a:solidFill>
                  <a:srgbClr val="FFFFFE"/>
                </a:solidFill>
                <a:latin typeface="HALDEN SOLID"/>
                <a:ea typeface="Open Sans Extrabold"/>
                <a:cs typeface="Open Sans Extrabold"/>
              </a:rPr>
              <a:t>A </a:t>
            </a:r>
            <a:r>
              <a:rPr lang="en-GB" sz="4600" b="0" dirty="0" err="1">
                <a:solidFill>
                  <a:srgbClr val="FFFFFE"/>
                </a:solidFill>
                <a:latin typeface="HALDEN SOLID"/>
                <a:ea typeface="Open Sans Extrabold"/>
                <a:cs typeface="Open Sans Extrabold"/>
              </a:rPr>
              <a:t>discuter</a:t>
            </a:r>
            <a:endParaRPr lang="en-GB" sz="4600" b="0" dirty="0">
              <a:solidFill>
                <a:srgbClr val="FFFFFE"/>
              </a:solidFill>
              <a:latin typeface="HALDEN SOLID"/>
              <a:ea typeface="Open Sans Extrabold"/>
              <a:cs typeface="Open Sans Extrabold"/>
            </a:endParaRPr>
          </a:p>
          <a:p>
            <a:pPr marL="0" indent="0" algn="ctr">
              <a:buNone/>
            </a:pPr>
            <a:r>
              <a:rPr lang="fr-FR" sz="3600" dirty="0">
                <a:solidFill>
                  <a:srgbClr val="FFFFFE"/>
                </a:solidFill>
              </a:rPr>
              <a:t>Y a-t-il des aliments locaux importants qui ne figurent pas dans la liste des exemples ?</a:t>
            </a:r>
            <a:r>
              <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 </a:t>
            </a:r>
            <a:endParaRPr lang="en-GB" sz="2900" b="0"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3" name="Graphic 2" descr="Badge Question Mark with solid fill">
            <a:extLst>
              <a:ext uri="{FF2B5EF4-FFF2-40B4-BE49-F238E27FC236}">
                <a16:creationId xmlns:a16="http://schemas.microsoft.com/office/drawing/2014/main" id="{933F6D21-FBFA-43EF-A0C0-3463B1B114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05901" y="1979186"/>
            <a:ext cx="780198" cy="780198"/>
          </a:xfrm>
          <a:prstGeom prst="rect">
            <a:avLst/>
          </a:prstGeom>
        </p:spPr>
      </p:pic>
      <p:sp>
        <p:nvSpPr>
          <p:cNvPr id="5" name="TextBox 4">
            <a:extLst>
              <a:ext uri="{FF2B5EF4-FFF2-40B4-BE49-F238E27FC236}">
                <a16:creationId xmlns:a16="http://schemas.microsoft.com/office/drawing/2014/main" id="{CE9F7C10-D2AF-EEBE-C51D-035BF6056D02}"/>
              </a:ext>
            </a:extLst>
          </p:cNvPr>
          <p:cNvSpPr txBox="1"/>
          <p:nvPr/>
        </p:nvSpPr>
        <p:spPr>
          <a:xfrm>
            <a:off x="2874209" y="5128669"/>
            <a:ext cx="6443581" cy="707886"/>
          </a:xfrm>
          <a:prstGeom prst="rect">
            <a:avLst/>
          </a:prstGeom>
          <a:noFill/>
        </p:spPr>
        <p:txBody>
          <a:bodyPr wrap="square">
            <a:spAutoFit/>
          </a:bodyPr>
          <a:lstStyle/>
          <a:p>
            <a:pPr algn="ctr"/>
            <a:r>
              <a:rPr lang="fr-FR" sz="2000" b="1" dirty="0">
                <a:solidFill>
                  <a:srgbClr val="FFFFFE"/>
                </a:solidFill>
                <a:latin typeface="Open Sans" panose="020B0606030504020204" pitchFamily="34" charset="0"/>
                <a:ea typeface="Open Sans" panose="020B0606030504020204" pitchFamily="34" charset="0"/>
                <a:cs typeface="Open Sans" panose="020B0606030504020204" pitchFamily="34" charset="0"/>
              </a:rPr>
              <a:t>Incluons-les (et supprimons ceux qui ne sont pas pertinents) !</a:t>
            </a:r>
            <a:endParaRPr lang="en-GB" sz="2000" b="1"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01490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928DBFE7-4531-9468-2D93-CF434F4C71BF}"/>
              </a:ext>
            </a:extLst>
          </p:cNvPr>
          <p:cNvSpPr txBox="1">
            <a:spLocks/>
          </p:cNvSpPr>
          <p:nvPr/>
        </p:nvSpPr>
        <p:spPr>
          <a:xfrm>
            <a:off x="642605" y="2231809"/>
            <a:ext cx="9472066" cy="3324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47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Module des dépenses</a:t>
            </a:r>
          </a:p>
          <a:p>
            <a:pPr marL="742950" indent="-742950">
              <a:lnSpc>
                <a:spcPts val="3920"/>
              </a:lnSpc>
              <a:buAutoNum type="arabicPeriod"/>
            </a:pPr>
            <a:r>
              <a:rPr lang="it-IT"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Dépenses alimentaires – 7jours</a:t>
            </a:r>
          </a:p>
          <a:p>
            <a:pPr marL="742950" indent="-742950">
              <a:lnSpc>
                <a:spcPts val="3920"/>
              </a:lnSpc>
              <a:buAutoNum type="arabicPeriod"/>
            </a:pPr>
            <a:r>
              <a:rPr lang="it-IT" sz="2800" b="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Dépenses non-alimentaires</a:t>
            </a:r>
          </a:p>
          <a:p>
            <a:pPr marL="1200150" lvl="1" indent="-742950">
              <a:lnSpc>
                <a:spcPts val="3920"/>
              </a:lnSpc>
              <a:buFont typeface="Wingdings" panose="05000000000000000000" pitchFamily="2" charset="2"/>
              <a:buChar char="§"/>
            </a:pPr>
            <a:r>
              <a:rPr lang="it-IT" sz="240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30 jours</a:t>
            </a:r>
          </a:p>
          <a:p>
            <a:pPr marL="1200150" lvl="1" indent="-742950">
              <a:lnSpc>
                <a:spcPts val="3920"/>
              </a:lnSpc>
              <a:buFont typeface="Wingdings" panose="05000000000000000000" pitchFamily="2" charset="2"/>
              <a:buChar char="§"/>
            </a:pPr>
            <a:r>
              <a:rPr lang="it-IT" sz="240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6 mois</a:t>
            </a:r>
          </a:p>
          <a:p>
            <a:pPr>
              <a:lnSpc>
                <a:spcPts val="3920"/>
              </a:lnSpc>
            </a:pPr>
            <a:endParaRPr lang="en-GB"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1286364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95D6D-3018-4974-A469-1F147A912234}"/>
              </a:ext>
            </a:extLst>
          </p:cNvPr>
          <p:cNvSpPr>
            <a:spLocks noGrp="1"/>
          </p:cNvSpPr>
          <p:nvPr>
            <p:ph type="title"/>
          </p:nvPr>
        </p:nvSpPr>
        <p:spPr>
          <a:xfrm>
            <a:off x="668511" y="296570"/>
            <a:ext cx="10542124" cy="115200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non-</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(30 </a:t>
            </a:r>
            <a:r>
              <a:rPr lang="en-GB" sz="3600" b="0" kern="1400" spc="230" dirty="0" err="1">
                <a:solidFill>
                  <a:schemeClr val="tx1"/>
                </a:solidFill>
                <a:latin typeface="HALDEN SOLID" pitchFamily="2" charset="0"/>
              </a:rPr>
              <a:t>jours</a:t>
            </a:r>
            <a:r>
              <a:rPr lang="en-GB" sz="3600" b="0" kern="1400" spc="230" dirty="0">
                <a:solidFill>
                  <a:schemeClr val="tx1"/>
                </a:solidFill>
                <a:latin typeface="HALDEN SOLID" pitchFamily="2" charset="0"/>
              </a:rPr>
              <a:t>) : aperçu</a:t>
            </a:r>
            <a:endParaRPr lang="es-419" sz="3600" b="0" kern="1400" spc="230" dirty="0">
              <a:solidFill>
                <a:schemeClr val="tx1"/>
              </a:solidFill>
              <a:latin typeface="HALDEN SOLID" pitchFamily="2" charset="0"/>
            </a:endParaRPr>
          </a:p>
        </p:txBody>
      </p:sp>
      <p:graphicFrame>
        <p:nvGraphicFramePr>
          <p:cNvPr id="3" name="Table 2">
            <a:extLst>
              <a:ext uri="{FF2B5EF4-FFF2-40B4-BE49-F238E27FC236}">
                <a16:creationId xmlns:a16="http://schemas.microsoft.com/office/drawing/2014/main" id="{782ED6E6-D3A0-744C-B2EF-D56052FB9AC5}"/>
              </a:ext>
            </a:extLst>
          </p:cNvPr>
          <p:cNvGraphicFramePr>
            <a:graphicFrameLocks noGrp="1"/>
          </p:cNvGraphicFramePr>
          <p:nvPr>
            <p:extLst>
              <p:ext uri="{D42A27DB-BD31-4B8C-83A1-F6EECF244321}">
                <p14:modId xmlns:p14="http://schemas.microsoft.com/office/powerpoint/2010/main" val="323580595"/>
              </p:ext>
            </p:extLst>
          </p:nvPr>
        </p:nvGraphicFramePr>
        <p:xfrm>
          <a:off x="0" y="842580"/>
          <a:ext cx="12192000" cy="6839332"/>
        </p:xfrm>
        <a:graphic>
          <a:graphicData uri="http://schemas.openxmlformats.org/drawingml/2006/table">
            <a:tbl>
              <a:tblPr firstRow="1" firstCol="1" bandRow="1">
                <a:tableStyleId>{5C22544A-7EE6-4342-B048-85BDC9FD1C3A}</a:tableStyleId>
              </a:tblPr>
              <a:tblGrid>
                <a:gridCol w="336072">
                  <a:extLst>
                    <a:ext uri="{9D8B030D-6E8A-4147-A177-3AD203B41FA5}">
                      <a16:colId xmlns:a16="http://schemas.microsoft.com/office/drawing/2014/main" val="740744063"/>
                    </a:ext>
                  </a:extLst>
                </a:gridCol>
                <a:gridCol w="1647586">
                  <a:extLst>
                    <a:ext uri="{9D8B030D-6E8A-4147-A177-3AD203B41FA5}">
                      <a16:colId xmlns:a16="http://schemas.microsoft.com/office/drawing/2014/main" val="3391947139"/>
                    </a:ext>
                  </a:extLst>
                </a:gridCol>
                <a:gridCol w="4433184">
                  <a:extLst>
                    <a:ext uri="{9D8B030D-6E8A-4147-A177-3AD203B41FA5}">
                      <a16:colId xmlns:a16="http://schemas.microsoft.com/office/drawing/2014/main" val="515807218"/>
                    </a:ext>
                  </a:extLst>
                </a:gridCol>
                <a:gridCol w="1042737">
                  <a:extLst>
                    <a:ext uri="{9D8B030D-6E8A-4147-A177-3AD203B41FA5}">
                      <a16:colId xmlns:a16="http://schemas.microsoft.com/office/drawing/2014/main" val="2841501061"/>
                    </a:ext>
                  </a:extLst>
                </a:gridCol>
                <a:gridCol w="1219200">
                  <a:extLst>
                    <a:ext uri="{9D8B030D-6E8A-4147-A177-3AD203B41FA5}">
                      <a16:colId xmlns:a16="http://schemas.microsoft.com/office/drawing/2014/main" val="2661770376"/>
                    </a:ext>
                  </a:extLst>
                </a:gridCol>
                <a:gridCol w="1219200">
                  <a:extLst>
                    <a:ext uri="{9D8B030D-6E8A-4147-A177-3AD203B41FA5}">
                      <a16:colId xmlns:a16="http://schemas.microsoft.com/office/drawing/2014/main" val="1159799302"/>
                    </a:ext>
                  </a:extLst>
                </a:gridCol>
                <a:gridCol w="1332370">
                  <a:extLst>
                    <a:ext uri="{9D8B030D-6E8A-4147-A177-3AD203B41FA5}">
                      <a16:colId xmlns:a16="http://schemas.microsoft.com/office/drawing/2014/main" val="3231457914"/>
                    </a:ext>
                  </a:extLst>
                </a:gridCol>
                <a:gridCol w="961651">
                  <a:extLst>
                    <a:ext uri="{9D8B030D-6E8A-4147-A177-3AD203B41FA5}">
                      <a16:colId xmlns:a16="http://schemas.microsoft.com/office/drawing/2014/main" val="323393328"/>
                    </a:ext>
                  </a:extLst>
                </a:gridCol>
              </a:tblGrid>
              <a:tr h="2756845">
                <a:tc>
                  <a:txBody>
                    <a:bodyPr/>
                    <a:lstStyle/>
                    <a:p>
                      <a:pPr>
                        <a:lnSpc>
                          <a:spcPct val="107000"/>
                        </a:lnSpc>
                        <a:spcAft>
                          <a:spcPts val="800"/>
                        </a:spcAft>
                      </a:pPr>
                      <a:r>
                        <a:rPr lang="en-GB" sz="1400" b="0">
                          <a:solidFill>
                            <a:srgbClr val="0C0C00"/>
                          </a:solidFill>
                          <a:effectLst/>
                        </a:rPr>
                        <a:t> </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Nom de </a:t>
                      </a:r>
                      <a:r>
                        <a:rPr lang="en-GB" sz="1400" b="0" dirty="0" err="1">
                          <a:solidFill>
                            <a:srgbClr val="0C0C00"/>
                          </a:solidFill>
                          <a:effectLst/>
                        </a:rPr>
                        <a:t>l'article</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err="1">
                          <a:solidFill>
                            <a:srgbClr val="0C0C00"/>
                          </a:solidFill>
                          <a:effectLst/>
                        </a:rPr>
                        <a:t>Exemple</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fr-FR" sz="1400" b="0" dirty="0">
                          <a:solidFill>
                            <a:srgbClr val="0C0C00"/>
                          </a:solidFill>
                          <a:effectLst/>
                        </a:rPr>
                        <a:t>Note : Avant de poser des questions oui/non relatives à un certain nom d'article, l'enquêteur doit lire : « Je vais maintenant vous interroger sur votre consommation et vos dépenses de [nom de l'article]. Cela comprend des articles tels que... [Exemple].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Nom de la variable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fr-FR" sz="1400" b="0" dirty="0">
                          <a:solidFill>
                            <a:srgbClr val="0C0C00"/>
                          </a:solidFill>
                          <a:effectLst/>
                        </a:rPr>
                        <a:t>Au cours des 30 derniers jours, votre ménage a-t-il </a:t>
                      </a:r>
                      <a:r>
                        <a:rPr lang="fr-FR" sz="1400" b="0" u="sng" dirty="0">
                          <a:solidFill>
                            <a:srgbClr val="0C0C00"/>
                          </a:solidFill>
                          <a:effectLst/>
                        </a:rPr>
                        <a:t>acheté</a:t>
                      </a:r>
                      <a:r>
                        <a:rPr lang="fr-FR" sz="1400" b="0" dirty="0">
                          <a:solidFill>
                            <a:srgbClr val="0C0C00"/>
                          </a:solidFill>
                          <a:effectLst/>
                        </a:rPr>
                        <a:t> des [articles], </a:t>
                      </a:r>
                      <a:r>
                        <a:rPr lang="fr-FR" sz="1400" b="0" u="sng" dirty="0">
                          <a:solidFill>
                            <a:srgbClr val="0C0C00"/>
                          </a:solidFill>
                          <a:effectLst/>
                        </a:rPr>
                        <a:t>en espèces ou à crédit </a:t>
                      </a:r>
                      <a:r>
                        <a:rPr lang="fr-FR" sz="1400" b="0" dirty="0">
                          <a:solidFill>
                            <a:srgbClr val="0C0C00"/>
                          </a:solidFill>
                          <a:effectLst/>
                        </a:rPr>
                        <a:t>? </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0=non -&gt; question </a:t>
                      </a:r>
                      <a:r>
                        <a:rPr lang="en-GB" sz="1400" b="0" dirty="0" err="1">
                          <a:solidFill>
                            <a:srgbClr val="0C0C00"/>
                          </a:solidFill>
                          <a:effectLst/>
                        </a:rPr>
                        <a:t>suivante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fr-FR" sz="1400" b="0" dirty="0">
                          <a:solidFill>
                            <a:srgbClr val="0C0C00"/>
                          </a:solidFill>
                          <a:effectLst/>
                        </a:rPr>
                        <a:t>En considérant à la fois les achats effectués </a:t>
                      </a:r>
                      <a:r>
                        <a:rPr lang="fr-FR" sz="1400" b="0" u="sng" dirty="0">
                          <a:solidFill>
                            <a:srgbClr val="0C0C00"/>
                          </a:solidFill>
                          <a:effectLst/>
                        </a:rPr>
                        <a:t>en espèces et à crédit, </a:t>
                      </a:r>
                      <a:r>
                        <a:rPr lang="fr-FR" sz="1400" b="0" dirty="0">
                          <a:solidFill>
                            <a:srgbClr val="0C0C00"/>
                          </a:solidFill>
                          <a:effectLst/>
                        </a:rPr>
                        <a:t>combien votre ménage a-t-il dépensé pour [article] au cours des 30 derniers jours ? </a:t>
                      </a:r>
                      <a:r>
                        <a:rPr lang="en-GB" sz="1400" b="0" dirty="0">
                          <a:solidFill>
                            <a:srgbClr val="0C0C00"/>
                          </a:solidFill>
                          <a:effectLst/>
                        </a:rPr>
                        <a:t> (</a:t>
                      </a:r>
                      <a:r>
                        <a:rPr lang="en-GB" sz="1400" b="0" dirty="0" err="1">
                          <a:solidFill>
                            <a:srgbClr val="0C0C00"/>
                          </a:solidFill>
                          <a:effectLst/>
                        </a:rPr>
                        <a:t>curr</a:t>
                      </a:r>
                      <a:r>
                        <a:rPr lang="en-GB" sz="1400" b="0" dirty="0">
                          <a:solidFill>
                            <a:srgbClr val="0C0C00"/>
                          </a:solidFill>
                          <a:effectLst/>
                        </a:rPr>
                        <a:t>.)</a:t>
                      </a:r>
                      <a:endParaRPr lang="fr-FR" sz="1400" b="0" dirty="0">
                        <a:solidFill>
                          <a:srgbClr val="0C0C00"/>
                        </a:solidFill>
                        <a:effectLst/>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Au cours des 30 derniers jours, votre ménage a-t-il </a:t>
                      </a:r>
                      <a:r>
                        <a:rPr lang="fr-FR" sz="1400" b="0" u="sng" dirty="0">
                          <a:solidFill>
                            <a:srgbClr val="0C0C00"/>
                          </a:solidFill>
                          <a:effectLst/>
                        </a:rPr>
                        <a:t>utilisé</a:t>
                      </a:r>
                      <a:r>
                        <a:rPr lang="fr-FR" sz="1400" b="0" dirty="0">
                          <a:solidFill>
                            <a:srgbClr val="0C0C00"/>
                          </a:solidFill>
                          <a:effectLst/>
                        </a:rPr>
                        <a:t> des [articles] provenant </a:t>
                      </a:r>
                      <a:r>
                        <a:rPr lang="fr-FR" sz="1400" b="0" u="sng" dirty="0">
                          <a:solidFill>
                            <a:srgbClr val="0C0C00"/>
                          </a:solidFill>
                          <a:effectLst/>
                        </a:rPr>
                        <a:t>de dons en nature ou d'une assistance en nature ?</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0=non -&gt; question </a:t>
                      </a:r>
                      <a:r>
                        <a:rPr lang="en-GB" sz="1400" b="0" dirty="0" err="1">
                          <a:solidFill>
                            <a:srgbClr val="0C0C00"/>
                          </a:solidFill>
                          <a:effectLst/>
                        </a:rPr>
                        <a:t>suivante</a:t>
                      </a: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Quelle serait la </a:t>
                      </a:r>
                      <a:r>
                        <a:rPr lang="fr-FR" sz="1400" b="0" u="sng" dirty="0">
                          <a:solidFill>
                            <a:srgbClr val="0C0C00"/>
                          </a:solidFill>
                          <a:effectLst/>
                        </a:rPr>
                        <a:t>valeur</a:t>
                      </a:r>
                      <a:r>
                        <a:rPr lang="fr-FR" sz="1400" b="0" dirty="0">
                          <a:solidFill>
                            <a:srgbClr val="0C0C00"/>
                          </a:solidFill>
                          <a:effectLst/>
                        </a:rPr>
                        <a:t> de [l'article] provenant de </a:t>
                      </a:r>
                      <a:r>
                        <a:rPr lang="fr-FR" sz="1400" b="0" u="sng" dirty="0">
                          <a:solidFill>
                            <a:srgbClr val="0C0C00"/>
                          </a:solidFill>
                          <a:effectLst/>
                        </a:rPr>
                        <a:t>dons en nature ou d'une assistance en nature </a:t>
                      </a:r>
                      <a:r>
                        <a:rPr lang="fr-FR" sz="1400" b="0" dirty="0">
                          <a:solidFill>
                            <a:srgbClr val="0C0C00"/>
                          </a:solidFill>
                          <a:effectLst/>
                        </a:rPr>
                        <a:t>si vous deviez le payer ?</a:t>
                      </a:r>
                    </a:p>
                    <a:p>
                      <a:r>
                        <a:rPr lang="en-GB" sz="1400" b="0" dirty="0">
                          <a:solidFill>
                            <a:srgbClr val="0C0C00"/>
                          </a:solidFill>
                          <a:effectLst/>
                        </a:rPr>
                        <a:t> </a:t>
                      </a:r>
                      <a:endParaRPr lang="fr-FR" sz="1400" b="0" dirty="0">
                        <a:solidFill>
                          <a:srgbClr val="0C0C00"/>
                        </a:solidFill>
                        <a:effectLst/>
                      </a:endParaRPr>
                    </a:p>
                    <a:p>
                      <a:r>
                        <a:rPr lang="en-GB" sz="1400" b="0" dirty="0">
                          <a:solidFill>
                            <a:srgbClr val="0C0C00"/>
                          </a:solidFill>
                          <a:effectLst/>
                        </a:rPr>
                        <a:t>(</a:t>
                      </a:r>
                      <a:r>
                        <a:rPr lang="en-GB" sz="1400" b="0" dirty="0" err="1">
                          <a:solidFill>
                            <a:srgbClr val="0C0C00"/>
                          </a:solidFill>
                          <a:effectLst/>
                        </a:rPr>
                        <a:t>curr</a:t>
                      </a:r>
                      <a:r>
                        <a:rPr lang="en-GB" sz="1400" b="0" dirty="0">
                          <a:solidFill>
                            <a:srgbClr val="0C0C00"/>
                          </a:solidFill>
                          <a:effectLst/>
                        </a:rPr>
                        <a:t>.)</a:t>
                      </a:r>
                      <a:endParaRPr lang="fr-FR" sz="1400" b="0" dirty="0">
                        <a:solidFill>
                          <a:srgbClr val="0C0C00"/>
                        </a:solidFill>
                        <a:effectLst/>
                        <a:latin typeface="Arial" panose="020B0604020202020204" pitchFamily="34" charset="0"/>
                        <a:ea typeface="Times New Roman" panose="02020603050405020304" pitchFamily="18"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extLst>
                  <a:ext uri="{0D108BD9-81ED-4DB2-BD59-A6C34878D82A}">
                    <a16:rowId xmlns:a16="http://schemas.microsoft.com/office/drawing/2014/main" val="3041037115"/>
                  </a:ext>
                </a:extLst>
              </a:tr>
              <a:tr h="496544">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nSpc>
                          <a:spcPct val="107000"/>
                        </a:lnSpc>
                        <a:spcAft>
                          <a:spcPts val="800"/>
                        </a:spcAft>
                      </a:pPr>
                      <a:r>
                        <a:rPr lang="en-GB" sz="1400" dirty="0">
                          <a:solidFill>
                            <a:srgbClr val="FFFFFE"/>
                          </a:solidFill>
                          <a:effectLst/>
                        </a:rPr>
                        <a:t>Articles non-</a:t>
                      </a:r>
                      <a:r>
                        <a:rPr lang="en-GB" sz="1400" dirty="0" err="1">
                          <a:solidFill>
                            <a:srgbClr val="FFFFFE"/>
                          </a:solidFill>
                          <a:effectLst/>
                        </a:rPr>
                        <a:t>alimentaires</a:t>
                      </a:r>
                      <a:endParaRPr lang="en-GB" sz="1400" dirty="0">
                        <a:solidFill>
                          <a:srgbClr val="FFFFFE"/>
                        </a:solidFill>
                        <a:effectLst/>
                      </a:endParaRPr>
                    </a:p>
                    <a:p>
                      <a:pPr>
                        <a:lnSpc>
                          <a:spcPct val="107000"/>
                        </a:lnSpc>
                        <a:spcAft>
                          <a:spcPts val="800"/>
                        </a:spcAft>
                      </a:pPr>
                      <a:r>
                        <a:rPr lang="en-GB" sz="1400" dirty="0">
                          <a:solidFill>
                            <a:srgbClr val="FFFFFE"/>
                          </a:solidFill>
                          <a:effectLst/>
                        </a:rPr>
                        <a:t>(30 </a:t>
                      </a:r>
                      <a:r>
                        <a:rPr lang="en-GB" sz="1400" dirty="0" err="1">
                          <a:solidFill>
                            <a:srgbClr val="FFFFFE"/>
                          </a:solidFill>
                          <a:effectLst/>
                        </a:rPr>
                        <a:t>jours</a:t>
                      </a:r>
                      <a:r>
                        <a:rPr lang="en-GB" sz="1400" dirty="0">
                          <a:solidFill>
                            <a:srgbClr val="FFFFFE"/>
                          </a:solidFill>
                          <a:effectLst/>
                        </a:rPr>
                        <a:t>)</a:t>
                      </a:r>
                      <a:endParaRPr lang="fr-FR" sz="140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_1M</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_CashCredYN</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_CashCred</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a:t>
                      </a:r>
                      <a:r>
                        <a:rPr lang="en-GB" sz="1400" err="1">
                          <a:solidFill>
                            <a:srgbClr val="FFFFFE"/>
                          </a:solidFill>
                          <a:effectLst/>
                        </a:rPr>
                        <a:t>GiftAidYN</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a:t>
                      </a:r>
                      <a:r>
                        <a:rPr lang="en-GB" sz="1400" err="1">
                          <a:solidFill>
                            <a:srgbClr val="FFFFFE"/>
                          </a:solidFill>
                          <a:effectLst/>
                        </a:rPr>
                        <a:t>GiftAid</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extLst>
                  <a:ext uri="{0D108BD9-81ED-4DB2-BD59-A6C34878D82A}">
                    <a16:rowId xmlns:a16="http://schemas.microsoft.com/office/drawing/2014/main" val="526041312"/>
                  </a:ext>
                </a:extLst>
              </a:tr>
              <a:tr h="197674">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dirty="0" err="1">
                          <a:solidFill>
                            <a:srgbClr val="FFFFFE"/>
                          </a:solidFill>
                          <a:effectLst/>
                        </a:rPr>
                        <a:t>soins</a:t>
                      </a:r>
                      <a:r>
                        <a:rPr lang="en-GB" sz="1400" dirty="0">
                          <a:solidFill>
                            <a:srgbClr val="FFFFFE"/>
                          </a:solidFill>
                          <a:effectLst/>
                        </a:rPr>
                        <a:t> personnels</a:t>
                      </a:r>
                      <a:endParaRPr lang="fr-FR" sz="140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extLst>
                  <a:ext uri="{0D108BD9-81ED-4DB2-BD59-A6C34878D82A}">
                    <a16:rowId xmlns:a16="http://schemas.microsoft.com/office/drawing/2014/main" val="1279672777"/>
                  </a:ext>
                </a:extLst>
              </a:tr>
              <a:tr h="404496">
                <a:tc>
                  <a:txBody>
                    <a:bodyPr/>
                    <a:lstStyle/>
                    <a:p>
                      <a:pPr>
                        <a:lnSpc>
                          <a:spcPct val="107000"/>
                        </a:lnSpc>
                        <a:spcAft>
                          <a:spcPts val="800"/>
                        </a:spcAft>
                      </a:pPr>
                      <a:r>
                        <a:rPr lang="en-GB" sz="1400">
                          <a:solidFill>
                            <a:srgbClr val="0C0C00"/>
                          </a:solidFill>
                          <a:effectLst/>
                        </a:rPr>
                        <a:t>1</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dirty="0">
                          <a:solidFill>
                            <a:srgbClr val="0C0C00"/>
                          </a:solidFill>
                          <a:effectLst/>
                        </a:rPr>
                        <a:t>Articles et services </a:t>
                      </a:r>
                      <a:r>
                        <a:rPr lang="en-GB" sz="1400" dirty="0" err="1">
                          <a:solidFill>
                            <a:srgbClr val="0C0C00"/>
                          </a:solidFill>
                          <a:effectLst/>
                        </a:rPr>
                        <a:t>d'hygiène</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Savon, brosse à dents, dentifrice, papier hygiénique, rasoirs, produits d'hygiène menstruelle, couches, détergents, insecticides, cosmétiques ; coiffeurs/barbiers, salons de beauté</a:t>
                      </a:r>
                      <a:endParaRPr lang="en-GB" sz="1400" dirty="0">
                        <a:solidFill>
                          <a:srgbClr val="0C0C00"/>
                        </a:solidFill>
                        <a:effectLst/>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err="1">
                          <a:solidFill>
                            <a:srgbClr val="0C0C00"/>
                          </a:solidFill>
                          <a:effectLst/>
                        </a:rPr>
                        <a:t>HHExpNFHyg</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extLst>
                  <a:ext uri="{0D108BD9-81ED-4DB2-BD59-A6C34878D82A}">
                    <a16:rowId xmlns:a16="http://schemas.microsoft.com/office/drawing/2014/main" val="2766681230"/>
                  </a:ext>
                </a:extLst>
              </a:tr>
              <a:tr h="197674">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Transport</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extLst>
                  <a:ext uri="{0D108BD9-81ED-4DB2-BD59-A6C34878D82A}">
                    <a16:rowId xmlns:a16="http://schemas.microsoft.com/office/drawing/2014/main" val="2039925507"/>
                  </a:ext>
                </a:extLst>
              </a:tr>
              <a:tr h="910187">
                <a:tc>
                  <a:txBody>
                    <a:bodyPr/>
                    <a:lstStyle/>
                    <a:p>
                      <a:pPr>
                        <a:lnSpc>
                          <a:spcPct val="107000"/>
                        </a:lnSpc>
                        <a:spcAft>
                          <a:spcPts val="800"/>
                        </a:spcAft>
                      </a:pPr>
                      <a:r>
                        <a:rPr lang="en-GB" sz="1400">
                          <a:solidFill>
                            <a:srgbClr val="0C0C00"/>
                          </a:solidFill>
                          <a:effectLst/>
                        </a:rPr>
                        <a:t>2</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Biens et services liés au transport</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Transports publics (bus, train, bateau, etc.), taxis, location de véhicules, entretien des véhicules utilisés pour le transport (y compris lubrifiants, pneus, pièces de rechange, frais de réparation, etc.)</a:t>
                      </a:r>
                    </a:p>
                    <a:p>
                      <a:pPr>
                        <a:lnSpc>
                          <a:spcPct val="107000"/>
                        </a:lnSpc>
                        <a:spcAft>
                          <a:spcPts val="800"/>
                        </a:spcAft>
                      </a:pPr>
                      <a:r>
                        <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rPr>
                        <a:t>NE COMPREND PAS L'ACHAT DE VÉHICULES ; NE COMPREND PAS LE CARBURANT</a:t>
                      </a: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a:solidFill>
                            <a:srgbClr val="0C0C00"/>
                          </a:solidFill>
                          <a:effectLst/>
                        </a:rPr>
                        <a:t>HHExpNFTransp</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|__|</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dirty="0">
                          <a:solidFill>
                            <a:srgbClr val="0C0C00"/>
                          </a:solidFill>
                          <a:effectLst/>
                        </a:rPr>
                        <a:t>|__|</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extLst>
                  <a:ext uri="{0D108BD9-81ED-4DB2-BD59-A6C34878D82A}">
                    <a16:rowId xmlns:a16="http://schemas.microsoft.com/office/drawing/2014/main" val="809528364"/>
                  </a:ext>
                </a:extLst>
              </a:tr>
            </a:tbl>
          </a:graphicData>
        </a:graphic>
      </p:graphicFrame>
    </p:spTree>
    <p:extLst>
      <p:ext uri="{BB962C8B-B14F-4D97-AF65-F5344CB8AC3E}">
        <p14:creationId xmlns:p14="http://schemas.microsoft.com/office/powerpoint/2010/main" val="1916392960"/>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95D6D-3018-4974-A469-1F147A912234}"/>
              </a:ext>
            </a:extLst>
          </p:cNvPr>
          <p:cNvSpPr>
            <a:spLocks noGrp="1"/>
          </p:cNvSpPr>
          <p:nvPr>
            <p:ph type="title"/>
          </p:nvPr>
        </p:nvSpPr>
        <p:spPr>
          <a:xfrm>
            <a:off x="706611" y="187668"/>
            <a:ext cx="10542124" cy="115200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 non-</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(6 </a:t>
            </a:r>
            <a:r>
              <a:rPr lang="en-GB" sz="3600" b="0" kern="1400" spc="230" dirty="0" err="1">
                <a:solidFill>
                  <a:schemeClr val="tx1"/>
                </a:solidFill>
                <a:latin typeface="HALDEN SOLID" pitchFamily="2" charset="0"/>
              </a:rPr>
              <a:t>mois</a:t>
            </a:r>
            <a:r>
              <a:rPr lang="en-GB" sz="3600" b="0" kern="1400" spc="230" dirty="0">
                <a:solidFill>
                  <a:schemeClr val="tx1"/>
                </a:solidFill>
                <a:latin typeface="HALDEN SOLID" pitchFamily="2" charset="0"/>
              </a:rPr>
              <a:t>) : aperçu</a:t>
            </a:r>
            <a:endParaRPr lang="es-419" sz="3600" b="0" kern="1400" spc="230" dirty="0">
              <a:solidFill>
                <a:schemeClr val="tx1"/>
              </a:solidFill>
              <a:latin typeface="HALDEN SOLID" pitchFamily="2" charset="0"/>
            </a:endParaRPr>
          </a:p>
        </p:txBody>
      </p:sp>
      <p:graphicFrame>
        <p:nvGraphicFramePr>
          <p:cNvPr id="3" name="Table 2">
            <a:extLst>
              <a:ext uri="{FF2B5EF4-FFF2-40B4-BE49-F238E27FC236}">
                <a16:creationId xmlns:a16="http://schemas.microsoft.com/office/drawing/2014/main" id="{F9FF9946-EE89-B550-41FD-7EE9F55F6FF6}"/>
              </a:ext>
            </a:extLst>
          </p:cNvPr>
          <p:cNvGraphicFramePr>
            <a:graphicFrameLocks noGrp="1"/>
          </p:cNvGraphicFramePr>
          <p:nvPr>
            <p:extLst>
              <p:ext uri="{D42A27DB-BD31-4B8C-83A1-F6EECF244321}">
                <p14:modId xmlns:p14="http://schemas.microsoft.com/office/powerpoint/2010/main" val="2143329073"/>
              </p:ext>
            </p:extLst>
          </p:nvPr>
        </p:nvGraphicFramePr>
        <p:xfrm>
          <a:off x="2" y="722571"/>
          <a:ext cx="12191998" cy="6271071"/>
        </p:xfrm>
        <a:graphic>
          <a:graphicData uri="http://schemas.openxmlformats.org/drawingml/2006/table">
            <a:tbl>
              <a:tblPr firstRow="1" firstCol="1" bandRow="1">
                <a:tableStyleId>{5C22544A-7EE6-4342-B048-85BDC9FD1C3A}</a:tableStyleId>
              </a:tblPr>
              <a:tblGrid>
                <a:gridCol w="339780">
                  <a:extLst>
                    <a:ext uri="{9D8B030D-6E8A-4147-A177-3AD203B41FA5}">
                      <a16:colId xmlns:a16="http://schemas.microsoft.com/office/drawing/2014/main" val="1903662910"/>
                    </a:ext>
                  </a:extLst>
                </a:gridCol>
                <a:gridCol w="1950684">
                  <a:extLst>
                    <a:ext uri="{9D8B030D-6E8A-4147-A177-3AD203B41FA5}">
                      <a16:colId xmlns:a16="http://schemas.microsoft.com/office/drawing/2014/main" val="1808492131"/>
                    </a:ext>
                  </a:extLst>
                </a:gridCol>
                <a:gridCol w="3461748">
                  <a:extLst>
                    <a:ext uri="{9D8B030D-6E8A-4147-A177-3AD203B41FA5}">
                      <a16:colId xmlns:a16="http://schemas.microsoft.com/office/drawing/2014/main" val="2978052918"/>
                    </a:ext>
                  </a:extLst>
                </a:gridCol>
                <a:gridCol w="1004186">
                  <a:extLst>
                    <a:ext uri="{9D8B030D-6E8A-4147-A177-3AD203B41FA5}">
                      <a16:colId xmlns:a16="http://schemas.microsoft.com/office/drawing/2014/main" val="2138049715"/>
                    </a:ext>
                  </a:extLst>
                </a:gridCol>
                <a:gridCol w="1224943">
                  <a:extLst>
                    <a:ext uri="{9D8B030D-6E8A-4147-A177-3AD203B41FA5}">
                      <a16:colId xmlns:a16="http://schemas.microsoft.com/office/drawing/2014/main" val="4212387504"/>
                    </a:ext>
                  </a:extLst>
                </a:gridCol>
                <a:gridCol w="1713710">
                  <a:extLst>
                    <a:ext uri="{9D8B030D-6E8A-4147-A177-3AD203B41FA5}">
                      <a16:colId xmlns:a16="http://schemas.microsoft.com/office/drawing/2014/main" val="2115403164"/>
                    </a:ext>
                  </a:extLst>
                </a:gridCol>
                <a:gridCol w="1422719">
                  <a:extLst>
                    <a:ext uri="{9D8B030D-6E8A-4147-A177-3AD203B41FA5}">
                      <a16:colId xmlns:a16="http://schemas.microsoft.com/office/drawing/2014/main" val="2569812132"/>
                    </a:ext>
                  </a:extLst>
                </a:gridCol>
                <a:gridCol w="1074228">
                  <a:extLst>
                    <a:ext uri="{9D8B030D-6E8A-4147-A177-3AD203B41FA5}">
                      <a16:colId xmlns:a16="http://schemas.microsoft.com/office/drawing/2014/main" val="596875402"/>
                    </a:ext>
                  </a:extLst>
                </a:gridCol>
              </a:tblGrid>
              <a:tr h="2576448">
                <a:tc>
                  <a:txBody>
                    <a:bodyPr/>
                    <a:lstStyle/>
                    <a:p>
                      <a:pPr>
                        <a:lnSpc>
                          <a:spcPct val="107000"/>
                        </a:lnSpc>
                        <a:spcAft>
                          <a:spcPts val="800"/>
                        </a:spcAft>
                      </a:pPr>
                      <a:r>
                        <a:rPr lang="en-GB" sz="1400" b="0">
                          <a:solidFill>
                            <a:srgbClr val="0C0C00"/>
                          </a:solidFill>
                          <a:effectLst/>
                        </a:rPr>
                        <a:t> </a:t>
                      </a:r>
                      <a:endParaRPr lang="fr-FR" sz="1400" b="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Nom de </a:t>
                      </a:r>
                      <a:r>
                        <a:rPr lang="en-GB" sz="1400" b="0" dirty="0" err="1">
                          <a:solidFill>
                            <a:srgbClr val="0C0C00"/>
                          </a:solidFill>
                          <a:effectLst/>
                        </a:rPr>
                        <a:t>l'article</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err="1">
                          <a:solidFill>
                            <a:srgbClr val="0C0C00"/>
                          </a:solidFill>
                          <a:effectLst/>
                        </a:rPr>
                        <a:t>Exemple</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fr-FR" sz="1400" b="0" dirty="0">
                          <a:solidFill>
                            <a:srgbClr val="0C0C00"/>
                          </a:solidFill>
                          <a:effectLst/>
                        </a:rPr>
                        <a:t>Note : Avant de poser des questions oui/non relatives à un certain nom d'article, l'enquêteur doit lire : « Je vais maintenant vous interroger sur votre consommation et vos dépenses de [nom de l'article]. Cela comprend des articles tels que... [Exemple].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en-GB" sz="1400" b="0" dirty="0">
                          <a:solidFill>
                            <a:srgbClr val="0C0C00"/>
                          </a:solidFill>
                          <a:effectLst/>
                        </a:rPr>
                        <a:t>Nom de la variable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fr-FR" sz="1400" b="0" dirty="0">
                          <a:solidFill>
                            <a:srgbClr val="0C0C00"/>
                          </a:solidFill>
                          <a:effectLst/>
                        </a:rPr>
                        <a:t>Au cours des 6 derniers mois, votre ménage a-t-il </a:t>
                      </a:r>
                      <a:r>
                        <a:rPr lang="fr-FR" sz="1400" b="0" u="sng" dirty="0">
                          <a:solidFill>
                            <a:srgbClr val="0C0C00"/>
                          </a:solidFill>
                          <a:effectLst/>
                        </a:rPr>
                        <a:t>acheté</a:t>
                      </a:r>
                      <a:r>
                        <a:rPr lang="fr-FR" sz="1400" b="0" dirty="0">
                          <a:solidFill>
                            <a:srgbClr val="0C0C00"/>
                          </a:solidFill>
                          <a:effectLst/>
                        </a:rPr>
                        <a:t> des [articles], </a:t>
                      </a:r>
                      <a:r>
                        <a:rPr lang="fr-FR" sz="1400" b="0" u="sng" dirty="0">
                          <a:solidFill>
                            <a:srgbClr val="0C0C00"/>
                          </a:solidFill>
                          <a:effectLst/>
                        </a:rPr>
                        <a:t>en espèces ou à crédit </a:t>
                      </a:r>
                      <a:r>
                        <a:rPr lang="fr-FR" sz="1400" b="0" dirty="0">
                          <a:solidFill>
                            <a:srgbClr val="0C0C00"/>
                          </a:solidFill>
                          <a:effectLst/>
                        </a:rPr>
                        <a:t>? </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0=non -&gt; question </a:t>
                      </a:r>
                      <a:r>
                        <a:rPr lang="en-GB" sz="1400" b="0" dirty="0" err="1">
                          <a:solidFill>
                            <a:srgbClr val="0C0C00"/>
                          </a:solidFill>
                          <a:effectLst/>
                        </a:rPr>
                        <a:t>suivante</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pPr>
                        <a:lnSpc>
                          <a:spcPct val="107000"/>
                        </a:lnSpc>
                        <a:spcAft>
                          <a:spcPts val="800"/>
                        </a:spcAft>
                      </a:pPr>
                      <a:r>
                        <a:rPr lang="fr-FR" sz="1400" b="0" dirty="0">
                          <a:solidFill>
                            <a:srgbClr val="0C0C00"/>
                          </a:solidFill>
                          <a:effectLst/>
                        </a:rPr>
                        <a:t>En considérant à la fois les achats effectués </a:t>
                      </a:r>
                      <a:r>
                        <a:rPr lang="fr-FR" sz="1400" b="0" u="sng" dirty="0">
                          <a:solidFill>
                            <a:srgbClr val="0C0C00"/>
                          </a:solidFill>
                          <a:effectLst/>
                        </a:rPr>
                        <a:t>en espèces et à crédit, </a:t>
                      </a:r>
                      <a:r>
                        <a:rPr lang="fr-FR" sz="1400" b="0" dirty="0">
                          <a:solidFill>
                            <a:srgbClr val="0C0C00"/>
                          </a:solidFill>
                          <a:effectLst/>
                        </a:rPr>
                        <a:t>combien votre ménage a-t-il dépensé pour [article] au cours des 6 derniers mois ? </a:t>
                      </a:r>
                      <a:r>
                        <a:rPr lang="en-GB" sz="1400" b="0" dirty="0">
                          <a:solidFill>
                            <a:srgbClr val="0C0C00"/>
                          </a:solidFill>
                          <a:effectLst/>
                        </a:rPr>
                        <a:t> (</a:t>
                      </a:r>
                      <a:r>
                        <a:rPr lang="en-GB" sz="1400" b="0" dirty="0" err="1">
                          <a:solidFill>
                            <a:srgbClr val="0C0C00"/>
                          </a:solidFill>
                          <a:effectLst/>
                        </a:rPr>
                        <a:t>curr</a:t>
                      </a:r>
                      <a:r>
                        <a:rPr lang="en-GB" sz="1400" b="0" dirty="0">
                          <a:solidFill>
                            <a:srgbClr val="0C0C00"/>
                          </a:solidFill>
                          <a:effectLst/>
                        </a:rPr>
                        <a:t>.)</a:t>
                      </a:r>
                      <a:endParaRPr lang="fr-FR" sz="1400" b="0" dirty="0">
                        <a:solidFill>
                          <a:srgbClr val="0C0C00"/>
                        </a:solidFill>
                        <a:effectLst/>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Au cours des 6 derniers mois, votre ménage a-t-il </a:t>
                      </a:r>
                      <a:r>
                        <a:rPr lang="fr-FR" sz="1400" b="0" u="sng" dirty="0">
                          <a:solidFill>
                            <a:srgbClr val="0C0C00"/>
                          </a:solidFill>
                          <a:effectLst/>
                        </a:rPr>
                        <a:t>utilisé</a:t>
                      </a:r>
                      <a:r>
                        <a:rPr lang="fr-FR" sz="1400" b="0" dirty="0">
                          <a:solidFill>
                            <a:srgbClr val="0C0C00"/>
                          </a:solidFill>
                          <a:effectLst/>
                        </a:rPr>
                        <a:t> des [articles] provenant </a:t>
                      </a:r>
                      <a:r>
                        <a:rPr lang="fr-FR" sz="1400" b="0" u="sng" dirty="0">
                          <a:solidFill>
                            <a:srgbClr val="0C0C00"/>
                          </a:solidFill>
                          <a:effectLst/>
                        </a:rPr>
                        <a:t>de dons en nature ou d'une assistance en nature ?</a:t>
                      </a:r>
                      <a:r>
                        <a:rPr lang="en-GB" sz="1400" b="0" dirty="0">
                          <a:solidFill>
                            <a:srgbClr val="0C0C00"/>
                          </a:solidFill>
                          <a:effectLst/>
                        </a:rPr>
                        <a:t> </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1=</a:t>
                      </a:r>
                      <a:r>
                        <a:rPr lang="en-GB" sz="1400" b="0" dirty="0" err="1">
                          <a:solidFill>
                            <a:srgbClr val="0C0C00"/>
                          </a:solidFill>
                          <a:effectLst/>
                        </a:rPr>
                        <a:t>oui</a:t>
                      </a:r>
                      <a:r>
                        <a:rPr lang="en-GB" sz="1400" b="0" dirty="0">
                          <a:solidFill>
                            <a:srgbClr val="0C0C00"/>
                          </a:solidFill>
                          <a:effectLst/>
                        </a:rPr>
                        <a:t> -&gt;</a:t>
                      </a:r>
                      <a:endParaRPr lang="fr-FR" sz="1400" b="0" dirty="0">
                        <a:solidFill>
                          <a:srgbClr val="0C0C00"/>
                        </a:solidFill>
                        <a:effectLst/>
                      </a:endParaRPr>
                    </a:p>
                    <a:p>
                      <a:pPr>
                        <a:lnSpc>
                          <a:spcPct val="107000"/>
                        </a:lnSpc>
                        <a:spcAft>
                          <a:spcPts val="800"/>
                        </a:spcAft>
                      </a:pPr>
                      <a:r>
                        <a:rPr lang="en-GB" sz="1400" b="0" dirty="0">
                          <a:solidFill>
                            <a:srgbClr val="0C0C00"/>
                          </a:solidFill>
                          <a:effectLst/>
                        </a:rPr>
                        <a:t>0=non -&gt; question </a:t>
                      </a:r>
                      <a:r>
                        <a:rPr lang="en-GB" sz="1400" b="0" dirty="0" err="1">
                          <a:solidFill>
                            <a:srgbClr val="0C0C00"/>
                          </a:solidFill>
                          <a:effectLst/>
                        </a:rPr>
                        <a:t>suivante</a:t>
                      </a:r>
                      <a:r>
                        <a:rPr lang="en-GB" sz="1400" b="0" dirty="0">
                          <a:solidFill>
                            <a:srgbClr val="0C0C00"/>
                          </a:solidFill>
                          <a:effectLst/>
                        </a:rPr>
                        <a:t> </a:t>
                      </a:r>
                      <a:endParaRPr lang="fr-FR" sz="1400" b="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tc>
                  <a:txBody>
                    <a:bodyPr/>
                    <a:lstStyle/>
                    <a:p>
                      <a:r>
                        <a:rPr lang="fr-FR" sz="1400" b="0" dirty="0">
                          <a:solidFill>
                            <a:srgbClr val="0C0C00"/>
                          </a:solidFill>
                          <a:effectLst/>
                        </a:rPr>
                        <a:t>Quelle serait la </a:t>
                      </a:r>
                      <a:r>
                        <a:rPr lang="fr-FR" sz="1400" b="0" u="sng" dirty="0">
                          <a:solidFill>
                            <a:srgbClr val="0C0C00"/>
                          </a:solidFill>
                          <a:effectLst/>
                        </a:rPr>
                        <a:t>valeur</a:t>
                      </a:r>
                      <a:r>
                        <a:rPr lang="fr-FR" sz="1400" b="0" dirty="0">
                          <a:solidFill>
                            <a:srgbClr val="0C0C00"/>
                          </a:solidFill>
                          <a:effectLst/>
                        </a:rPr>
                        <a:t> de [l'article] provenant de </a:t>
                      </a:r>
                      <a:r>
                        <a:rPr lang="fr-FR" sz="1400" b="0" u="sng" dirty="0">
                          <a:solidFill>
                            <a:srgbClr val="0C0C00"/>
                          </a:solidFill>
                          <a:effectLst/>
                        </a:rPr>
                        <a:t>dons en nature ou d'une assistance en nature </a:t>
                      </a:r>
                      <a:r>
                        <a:rPr lang="fr-FR" sz="1400" b="0" dirty="0">
                          <a:solidFill>
                            <a:srgbClr val="0C0C00"/>
                          </a:solidFill>
                          <a:effectLst/>
                        </a:rPr>
                        <a:t>si vous deviez le payer ?</a:t>
                      </a:r>
                    </a:p>
                    <a:p>
                      <a:r>
                        <a:rPr lang="en-GB" sz="1400" b="0" dirty="0">
                          <a:solidFill>
                            <a:srgbClr val="0C0C00"/>
                          </a:solidFill>
                          <a:effectLst/>
                        </a:rPr>
                        <a:t> </a:t>
                      </a:r>
                      <a:endParaRPr lang="fr-FR" sz="1400" b="0" dirty="0">
                        <a:solidFill>
                          <a:srgbClr val="0C0C00"/>
                        </a:solidFill>
                        <a:effectLst/>
                      </a:endParaRPr>
                    </a:p>
                    <a:p>
                      <a:r>
                        <a:rPr lang="en-GB" sz="1400" b="0" dirty="0">
                          <a:solidFill>
                            <a:srgbClr val="0C0C00"/>
                          </a:solidFill>
                          <a:effectLst/>
                        </a:rPr>
                        <a:t>(</a:t>
                      </a:r>
                      <a:r>
                        <a:rPr lang="en-GB" sz="1400" b="0" dirty="0" err="1">
                          <a:solidFill>
                            <a:srgbClr val="0C0C00"/>
                          </a:solidFill>
                          <a:effectLst/>
                        </a:rPr>
                        <a:t>curr</a:t>
                      </a:r>
                      <a:r>
                        <a:rPr lang="en-GB" sz="1400" b="0" dirty="0">
                          <a:solidFill>
                            <a:srgbClr val="0C0C00"/>
                          </a:solidFill>
                          <a:effectLst/>
                        </a:rPr>
                        <a:t>.)</a:t>
                      </a:r>
                      <a:endParaRPr lang="fr-FR" sz="1400" b="0" dirty="0">
                        <a:solidFill>
                          <a:srgbClr val="0C0C00"/>
                        </a:solidFill>
                        <a:effectLst/>
                        <a:latin typeface="Arial" panose="020B0604020202020204" pitchFamily="34" charset="0"/>
                        <a:ea typeface="Times New Roman" panose="02020603050405020304" pitchFamily="18" charset="0"/>
                        <a:cs typeface="Arial" panose="020B0604020202020204" pitchFamily="34" charset="0"/>
                      </a:endParaRPr>
                    </a:p>
                  </a:txBody>
                  <a:tcPr marL="47376" marR="47376"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D9D9D9"/>
                    </a:solidFill>
                  </a:tcPr>
                </a:tc>
                <a:extLst>
                  <a:ext uri="{0D108BD9-81ED-4DB2-BD59-A6C34878D82A}">
                    <a16:rowId xmlns:a16="http://schemas.microsoft.com/office/drawing/2014/main" val="2935790980"/>
                  </a:ext>
                </a:extLst>
              </a:tr>
              <a:tr h="288798">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dirty="0">
                          <a:solidFill>
                            <a:srgbClr val="FFFFFE"/>
                          </a:solidFill>
                          <a:effectLst/>
                        </a:rPr>
                        <a:t>Articles non-</a:t>
                      </a:r>
                      <a:r>
                        <a:rPr lang="en-GB" sz="1400" dirty="0" err="1">
                          <a:solidFill>
                            <a:srgbClr val="FFFFFE"/>
                          </a:solidFill>
                          <a:effectLst/>
                        </a:rPr>
                        <a:t>alimentaires</a:t>
                      </a:r>
                      <a:r>
                        <a:rPr lang="en-GB" sz="1400" dirty="0">
                          <a:solidFill>
                            <a:srgbClr val="FFFFFE"/>
                          </a:solidFill>
                          <a:effectLst/>
                        </a:rPr>
                        <a:t> (6 </a:t>
                      </a:r>
                      <a:r>
                        <a:rPr lang="en-GB" sz="1400" dirty="0" err="1">
                          <a:solidFill>
                            <a:srgbClr val="FFFFFE"/>
                          </a:solidFill>
                          <a:effectLst/>
                        </a:rPr>
                        <a:t>moins</a:t>
                      </a:r>
                      <a:r>
                        <a:rPr lang="en-GB" sz="1400" dirty="0">
                          <a:solidFill>
                            <a:srgbClr val="FFFFFE"/>
                          </a:solidFill>
                          <a:effectLst/>
                        </a:rPr>
                        <a:t>)</a:t>
                      </a:r>
                      <a:endParaRPr lang="fr-FR" sz="140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_6M</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_CashCredYN</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gn="ctr">
                        <a:lnSpc>
                          <a:spcPct val="107000"/>
                        </a:lnSpc>
                        <a:spcAft>
                          <a:spcPts val="800"/>
                        </a:spcAft>
                      </a:pPr>
                      <a:r>
                        <a:rPr lang="en-GB" sz="1400">
                          <a:solidFill>
                            <a:srgbClr val="FFFFFE"/>
                          </a:solidFill>
                          <a:effectLst/>
                        </a:rPr>
                        <a:t>_CashCred</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nSpc>
                          <a:spcPct val="107000"/>
                        </a:lnSpc>
                        <a:spcAft>
                          <a:spcPts val="800"/>
                        </a:spcAft>
                      </a:pPr>
                      <a:r>
                        <a:rPr lang="en-GB" sz="1400">
                          <a:solidFill>
                            <a:srgbClr val="FFFFFE"/>
                          </a:solidFill>
                          <a:effectLst/>
                        </a:rPr>
                        <a:t>_GiftAidYN</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tc>
                  <a:txBody>
                    <a:bodyPr/>
                    <a:lstStyle/>
                    <a:p>
                      <a:pPr>
                        <a:lnSpc>
                          <a:spcPct val="107000"/>
                        </a:lnSpc>
                        <a:spcAft>
                          <a:spcPts val="800"/>
                        </a:spcAft>
                      </a:pPr>
                      <a:r>
                        <a:rPr lang="en-GB" sz="1400">
                          <a:solidFill>
                            <a:srgbClr val="FFFFFE"/>
                          </a:solidFill>
                          <a:effectLst/>
                        </a:rPr>
                        <a:t>_</a:t>
                      </a:r>
                      <a:r>
                        <a:rPr lang="en-GB" sz="1400" err="1">
                          <a:solidFill>
                            <a:srgbClr val="FFFFFE"/>
                          </a:solidFill>
                          <a:effectLst/>
                        </a:rPr>
                        <a:t>GiftAid</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0C0C00"/>
                    </a:solidFill>
                  </a:tcPr>
                </a:tc>
                <a:extLst>
                  <a:ext uri="{0D108BD9-81ED-4DB2-BD59-A6C34878D82A}">
                    <a16:rowId xmlns:a16="http://schemas.microsoft.com/office/drawing/2014/main" val="3521495177"/>
                  </a:ext>
                </a:extLst>
              </a:tr>
              <a:tr h="194694">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dirty="0" err="1">
                          <a:solidFill>
                            <a:srgbClr val="FFFFFE"/>
                          </a:solidFill>
                          <a:effectLst/>
                        </a:rPr>
                        <a:t>Santé</a:t>
                      </a:r>
                      <a:endParaRPr lang="fr-FR" sz="140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extLst>
                  <a:ext uri="{0D108BD9-81ED-4DB2-BD59-A6C34878D82A}">
                    <a16:rowId xmlns:a16="http://schemas.microsoft.com/office/drawing/2014/main" val="2392181890"/>
                  </a:ext>
                </a:extLst>
              </a:tr>
              <a:tr h="398397">
                <a:tc>
                  <a:txBody>
                    <a:bodyPr/>
                    <a:lstStyle/>
                    <a:p>
                      <a:pPr>
                        <a:lnSpc>
                          <a:spcPct val="107000"/>
                        </a:lnSpc>
                        <a:spcAft>
                          <a:spcPts val="800"/>
                        </a:spcAft>
                      </a:pPr>
                      <a:r>
                        <a:rPr lang="en-GB" sz="1400">
                          <a:solidFill>
                            <a:srgbClr val="0C0C00"/>
                          </a:solidFill>
                          <a:effectLst/>
                        </a:rPr>
                        <a:t>1</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dirty="0">
                          <a:solidFill>
                            <a:srgbClr val="0C0C00"/>
                          </a:solidFill>
                          <a:effectLst/>
                        </a:rPr>
                        <a:t>Services de </a:t>
                      </a:r>
                      <a:r>
                        <a:rPr lang="en-GB" sz="1400" dirty="0" err="1">
                          <a:solidFill>
                            <a:srgbClr val="0C0C00"/>
                          </a:solidFill>
                          <a:effectLst/>
                        </a:rPr>
                        <a:t>santé</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Services ambulatoires et hospitaliers, honoraires des médecins, guérison traditionnelle</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a:solidFill>
                            <a:srgbClr val="0C0C00"/>
                          </a:solidFill>
                          <a:effectLst/>
                        </a:rPr>
                        <a:t>HHExpNFMedServ</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extLst>
                  <a:ext uri="{0D108BD9-81ED-4DB2-BD59-A6C34878D82A}">
                    <a16:rowId xmlns:a16="http://schemas.microsoft.com/office/drawing/2014/main" val="437383228"/>
                  </a:ext>
                </a:extLst>
              </a:tr>
              <a:tr h="602100">
                <a:tc>
                  <a:txBody>
                    <a:bodyPr/>
                    <a:lstStyle/>
                    <a:p>
                      <a:pPr>
                        <a:lnSpc>
                          <a:spcPct val="107000"/>
                        </a:lnSpc>
                        <a:spcAft>
                          <a:spcPts val="800"/>
                        </a:spcAft>
                      </a:pPr>
                      <a:r>
                        <a:rPr lang="en-GB" sz="1400">
                          <a:solidFill>
                            <a:srgbClr val="0C0C00"/>
                          </a:solidFill>
                          <a:effectLst/>
                        </a:rPr>
                        <a:t>2</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Médicaments et produits de santé</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Médicaments, autres produits et équipements médicaux tels que lunettes, seringues, béquilles, etc.</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err="1">
                          <a:solidFill>
                            <a:srgbClr val="0C0C00"/>
                          </a:solidFill>
                          <a:effectLst/>
                        </a:rPr>
                        <a:t>HHExpNFMedGood</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extLst>
                  <a:ext uri="{0D108BD9-81ED-4DB2-BD59-A6C34878D82A}">
                    <a16:rowId xmlns:a16="http://schemas.microsoft.com/office/drawing/2014/main" val="441307644"/>
                  </a:ext>
                </a:extLst>
              </a:tr>
              <a:tr h="194694">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fr-FR" sz="1400" dirty="0">
                          <a:solidFill>
                            <a:srgbClr val="0C0C00"/>
                          </a:solidFill>
                          <a:effectLst/>
                        </a:rPr>
                        <a:t>Vêtements</a:t>
                      </a:r>
                      <a:endParaRPr lang="fr-FR" sz="1400" dirty="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tc>
                  <a:txBody>
                    <a:bodyPr/>
                    <a:lstStyle/>
                    <a:p>
                      <a:pPr algn="ctr">
                        <a:lnSpc>
                          <a:spcPct val="107000"/>
                        </a:lnSpc>
                        <a:spcAft>
                          <a:spcPts val="800"/>
                        </a:spcAft>
                      </a:pPr>
                      <a:r>
                        <a:rPr lang="en-GB" sz="1400">
                          <a:solidFill>
                            <a:srgbClr val="FFFFFE"/>
                          </a:solidFill>
                          <a:effectLst/>
                        </a:rPr>
                        <a:t> </a:t>
                      </a:r>
                      <a:endParaRPr lang="fr-FR" sz="1400">
                        <a:solidFill>
                          <a:srgbClr val="FFFFF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595959"/>
                    </a:solidFill>
                  </a:tcPr>
                </a:tc>
                <a:extLst>
                  <a:ext uri="{0D108BD9-81ED-4DB2-BD59-A6C34878D82A}">
                    <a16:rowId xmlns:a16="http://schemas.microsoft.com/office/drawing/2014/main" val="4098728523"/>
                  </a:ext>
                </a:extLst>
              </a:tr>
              <a:tr h="896464">
                <a:tc>
                  <a:txBody>
                    <a:bodyPr/>
                    <a:lstStyle/>
                    <a:p>
                      <a:pPr>
                        <a:lnSpc>
                          <a:spcPct val="107000"/>
                        </a:lnSpc>
                        <a:spcAft>
                          <a:spcPts val="800"/>
                        </a:spcAft>
                      </a:pPr>
                      <a:r>
                        <a:rPr lang="en-GB" sz="1400">
                          <a:solidFill>
                            <a:srgbClr val="0C0C00"/>
                          </a:solidFill>
                          <a:effectLst/>
                        </a:rPr>
                        <a:t>3 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dirty="0" err="1">
                          <a:solidFill>
                            <a:srgbClr val="0C0C00"/>
                          </a:solidFill>
                          <a:effectLst/>
                        </a:rPr>
                        <a:t>Vêtements</a:t>
                      </a:r>
                      <a:r>
                        <a:rPr lang="en-GB" sz="1400" dirty="0">
                          <a:solidFill>
                            <a:srgbClr val="0C0C00"/>
                          </a:solidFill>
                          <a:effectLst/>
                        </a:rPr>
                        <a:t> et chaussures</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fr-FR" sz="1400" dirty="0">
                          <a:solidFill>
                            <a:srgbClr val="0C0C00"/>
                          </a:solidFill>
                          <a:effectLst/>
                        </a:rPr>
                        <a:t>Vêtements, chaussures et services de réparation, de tailleur et de blanchisserie</a:t>
                      </a:r>
                    </a:p>
                    <a:p>
                      <a:pPr>
                        <a:lnSpc>
                          <a:spcPct val="107000"/>
                        </a:lnSpc>
                        <a:spcAft>
                          <a:spcPts val="800"/>
                        </a:spcAft>
                      </a:pPr>
                      <a:r>
                        <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rPr>
                        <a:t>NE COMPREND PAS LES UNIFORMES SCOLAIRES</a:t>
                      </a: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nSpc>
                          <a:spcPct val="107000"/>
                        </a:lnSpc>
                        <a:spcAft>
                          <a:spcPts val="800"/>
                        </a:spcAft>
                      </a:pPr>
                      <a:r>
                        <a:rPr lang="en-GB" sz="1400">
                          <a:solidFill>
                            <a:srgbClr val="0C0C00"/>
                          </a:solidFill>
                          <a:effectLst/>
                        </a:rPr>
                        <a:t>HHExpNFCloth</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a:solidFill>
                            <a:srgbClr val="0C0C00"/>
                          </a:solidFill>
                          <a:effectLst/>
                        </a:rPr>
                        <a:t> </a:t>
                      </a:r>
                      <a:endParaRPr lang="fr-FR" sz="140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tc>
                  <a:txBody>
                    <a:bodyPr/>
                    <a:lstStyle/>
                    <a:p>
                      <a:pPr algn="ctr">
                        <a:lnSpc>
                          <a:spcPct val="107000"/>
                        </a:lnSpc>
                        <a:spcAft>
                          <a:spcPts val="800"/>
                        </a:spcAft>
                      </a:pPr>
                      <a:r>
                        <a:rPr lang="en-GB" sz="1400" dirty="0">
                          <a:solidFill>
                            <a:srgbClr val="0C0C00"/>
                          </a:solidFill>
                          <a:effectLst/>
                        </a:rPr>
                        <a:t> </a:t>
                      </a:r>
                      <a:endParaRPr lang="fr-FR" sz="1400" dirty="0">
                        <a:solidFill>
                          <a:srgbClr val="0C0C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C0C00"/>
                      </a:solidFill>
                      <a:prstDash val="solid"/>
                      <a:round/>
                      <a:headEnd type="none" w="med" len="med"/>
                      <a:tailEnd type="none" w="med" len="med"/>
                    </a:lnL>
                    <a:lnR w="12700" cap="flat" cmpd="sng" algn="ctr">
                      <a:solidFill>
                        <a:srgbClr val="0C0C00"/>
                      </a:solidFill>
                      <a:prstDash val="solid"/>
                      <a:round/>
                      <a:headEnd type="none" w="med" len="med"/>
                      <a:tailEnd type="none" w="med" len="med"/>
                    </a:lnR>
                    <a:lnT w="12700" cap="flat" cmpd="sng" algn="ctr">
                      <a:solidFill>
                        <a:srgbClr val="0C0C00"/>
                      </a:solidFill>
                      <a:prstDash val="solid"/>
                      <a:round/>
                      <a:headEnd type="none" w="med" len="med"/>
                      <a:tailEnd type="none" w="med" len="med"/>
                    </a:lnT>
                    <a:lnB w="12700" cap="flat" cmpd="sng" algn="ctr">
                      <a:solidFill>
                        <a:srgbClr val="0C0C00"/>
                      </a:solidFill>
                      <a:prstDash val="solid"/>
                      <a:round/>
                      <a:headEnd type="none" w="med" len="med"/>
                      <a:tailEnd type="none" w="med" len="med"/>
                    </a:lnB>
                    <a:solidFill>
                      <a:srgbClr val="FFFFFE"/>
                    </a:solidFill>
                  </a:tcPr>
                </a:tc>
                <a:extLst>
                  <a:ext uri="{0D108BD9-81ED-4DB2-BD59-A6C34878D82A}">
                    <a16:rowId xmlns:a16="http://schemas.microsoft.com/office/drawing/2014/main" val="3478667712"/>
                  </a:ext>
                </a:extLst>
              </a:tr>
            </a:tbl>
          </a:graphicData>
        </a:graphic>
      </p:graphicFrame>
      <p:sp>
        <p:nvSpPr>
          <p:cNvPr id="4" name="Rectangle 1">
            <a:extLst>
              <a:ext uri="{FF2B5EF4-FFF2-40B4-BE49-F238E27FC236}">
                <a16:creationId xmlns:a16="http://schemas.microsoft.com/office/drawing/2014/main" id="{1801F7B0-15FE-AF8B-2728-A56028649E60}"/>
              </a:ext>
            </a:extLst>
          </p:cNvPr>
          <p:cNvSpPr>
            <a:spLocks noChangeArrowheads="1"/>
          </p:cNvSpPr>
          <p:nvPr/>
        </p:nvSpPr>
        <p:spPr bwMode="auto">
          <a:xfrm>
            <a:off x="1863725" y="2085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00BBCD17-1F47-8593-C3A5-03874D87C94C}"/>
              </a:ext>
            </a:extLst>
          </p:cNvPr>
          <p:cNvSpPr>
            <a:spLocks noChangeArrowheads="1"/>
          </p:cNvSpPr>
          <p:nvPr/>
        </p:nvSpPr>
        <p:spPr bwMode="auto">
          <a:xfrm>
            <a:off x="1863725" y="2213203"/>
            <a:ext cx="21031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fr-FR" sz="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a:t>
            </a:r>
            <a:endParaRPr kumimoji="0" lang="en-GB"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9199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p:txBody>
          <a:bodyPr vert="horz" lIns="91440" tIns="45720" rIns="91440" bIns="45720" rtlCol="0" anchor="t" anchorCtr="0">
            <a:noAutofit/>
          </a:bodyPr>
          <a:lstStyle/>
          <a:p>
            <a:r>
              <a:rPr lang="en-GB" sz="3600" b="0" kern="1400" spc="230" dirty="0">
                <a:solidFill>
                  <a:schemeClr val="tx1"/>
                </a:solidFill>
                <a:latin typeface="HALDEN SOLID" pitchFamily="2" charset="0"/>
              </a:rPr>
              <a:t>Sous-modules non-</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important</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pPr marL="514350" indent="-514350">
              <a:buFont typeface="+mj-lt"/>
              <a:buAutoNum type="arabicPeriod"/>
            </a:pPr>
            <a:r>
              <a:rPr lang="fr-FR" sz="1800" dirty="0"/>
              <a:t>Avant de commencer : assurez-vous que le sous-module est administré au membre du ménage qui connaît le mieux les dépenses non alimentaires (souvent le chef de ménage).</a:t>
            </a:r>
          </a:p>
          <a:p>
            <a:pPr marL="514350" indent="-514350">
              <a:buFont typeface="+mj-lt"/>
              <a:buAutoNum type="arabicPeriod"/>
            </a:pPr>
            <a:r>
              <a:rPr lang="fr-FR" sz="1800" dirty="0"/>
              <a:t>Avant de poser des questions sur un groupe d'articles non alimentaires : lisez la liste d'exemples d'articles appartenant à ce groupe (par exemple, les « produits d'hygiène » comprennent le savon, le dentifrice, le papier hygiénique, etc.) ; indiquez également au répondant ce qu'il doit exclure -&gt; Il est important de rafraîchir la mémoire du répondant !</a:t>
            </a:r>
          </a:p>
          <a:p>
            <a:pPr marL="514350" indent="-514350">
              <a:buFont typeface="+mj-lt"/>
              <a:buAutoNum type="arabicPeriod"/>
            </a:pPr>
            <a:r>
              <a:rPr lang="fr-FR" sz="1800" dirty="0">
                <a:sym typeface="Wingdings" panose="05000000000000000000" pitchFamily="2" charset="2"/>
              </a:rPr>
              <a:t>Pour chaque catégorie, vous poserez deux questions de type oui/non. Les réponses « oui » donnent suite à des questions complémentaires</a:t>
            </a:r>
            <a:endParaRPr lang="en-GB" sz="1800" dirty="0">
              <a:sym typeface="Wingdings" panose="05000000000000000000" pitchFamily="2" charset="2"/>
            </a:endParaRPr>
          </a:p>
          <a:p>
            <a:endParaRPr lang="en-GB" sz="1800" dirty="0"/>
          </a:p>
          <a:p>
            <a:endParaRPr lang="es-419" sz="1800" dirty="0"/>
          </a:p>
        </p:txBody>
      </p:sp>
    </p:spTree>
    <p:extLst>
      <p:ext uri="{BB962C8B-B14F-4D97-AF65-F5344CB8AC3E}">
        <p14:creationId xmlns:p14="http://schemas.microsoft.com/office/powerpoint/2010/main" val="452507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a:xfrm>
            <a:off x="846312" y="550885"/>
            <a:ext cx="10542124" cy="115200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Non-</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a:t>
            </a:r>
            <a:r>
              <a:rPr lang="fr-FR" sz="3600" b="0" kern="1400" spc="230" dirty="0">
                <a:solidFill>
                  <a:schemeClr val="tx1"/>
                </a:solidFill>
                <a:latin typeface="HALDEN SOLID" pitchFamily="2" charset="0"/>
              </a:rPr>
              <a:t>en espèces ou à crédit </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endParaRPr lang="en-GB">
              <a:sym typeface="Wingdings" panose="05000000000000000000" pitchFamily="2" charset="2"/>
            </a:endParaRPr>
          </a:p>
          <a:p>
            <a:endParaRPr lang="en-GB"/>
          </a:p>
          <a:p>
            <a:endParaRPr lang="es-419"/>
          </a:p>
        </p:txBody>
      </p:sp>
      <p:graphicFrame>
        <p:nvGraphicFramePr>
          <p:cNvPr id="8" name="Table 8">
            <a:extLst>
              <a:ext uri="{FF2B5EF4-FFF2-40B4-BE49-F238E27FC236}">
                <a16:creationId xmlns:a16="http://schemas.microsoft.com/office/drawing/2014/main" id="{049A55DE-E5FC-4DDE-B5BB-1BC53C19AB6A}"/>
              </a:ext>
            </a:extLst>
          </p:cNvPr>
          <p:cNvGraphicFramePr>
            <a:graphicFrameLocks noGrp="1"/>
          </p:cNvGraphicFramePr>
          <p:nvPr>
            <p:extLst>
              <p:ext uri="{D42A27DB-BD31-4B8C-83A1-F6EECF244321}">
                <p14:modId xmlns:p14="http://schemas.microsoft.com/office/powerpoint/2010/main" val="1046126416"/>
              </p:ext>
            </p:extLst>
          </p:nvPr>
        </p:nvGraphicFramePr>
        <p:xfrm>
          <a:off x="1081268" y="1485829"/>
          <a:ext cx="9373938" cy="4175201"/>
        </p:xfrm>
        <a:graphic>
          <a:graphicData uri="http://schemas.openxmlformats.org/drawingml/2006/table">
            <a:tbl>
              <a:tblPr firstRow="1" bandRow="1">
                <a:tableStyleId>{5C22544A-7EE6-4342-B048-85BDC9FD1C3A}</a:tableStyleId>
              </a:tblPr>
              <a:tblGrid>
                <a:gridCol w="2183826">
                  <a:extLst>
                    <a:ext uri="{9D8B030D-6E8A-4147-A177-3AD203B41FA5}">
                      <a16:colId xmlns:a16="http://schemas.microsoft.com/office/drawing/2014/main" val="1922137545"/>
                    </a:ext>
                  </a:extLst>
                </a:gridCol>
                <a:gridCol w="7190112">
                  <a:extLst>
                    <a:ext uri="{9D8B030D-6E8A-4147-A177-3AD203B41FA5}">
                      <a16:colId xmlns:a16="http://schemas.microsoft.com/office/drawing/2014/main" val="1669966504"/>
                    </a:ext>
                  </a:extLst>
                </a:gridCol>
              </a:tblGrid>
              <a:tr h="470293">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63674307"/>
                  </a:ext>
                </a:extLst>
              </a:tr>
              <a:tr h="990006">
                <a:tc>
                  <a:txBody>
                    <a:bodyPr/>
                    <a:lstStyle/>
                    <a:p>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Au cours des </a:t>
                      </a:r>
                      <a:r>
                        <a:rPr lang="fr-FR" sz="1400" b="1"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30 derniers jours /  6 derniers mois</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votre ménage a-t-il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acheté/payé pour</a:t>
                      </a:r>
                      <a:r>
                        <a:rPr lang="fr-FR" sz="1400"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en-GB" sz="1400" dirty="0">
                          <a:effectLst/>
                          <a:latin typeface="Open Sans" panose="020B0606030504020204" pitchFamily="34" charset="0"/>
                          <a:ea typeface="Open Sans" panose="020B0606030504020204" pitchFamily="34" charset="0"/>
                          <a:cs typeface="Open Sans" panose="020B0606030504020204" pitchFamily="34" charset="0"/>
                        </a:rPr>
                        <a:t>[…]</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en </a:t>
                      </a:r>
                      <a:r>
                        <a:rPr lang="fr-FR" sz="1400" b="1" u="sng"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espèces ou à crédit</a:t>
                      </a:r>
                      <a:r>
                        <a:rPr lang="fr-FR"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1400" kern="1200" noProof="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si quelque chose est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acheté</a:t>
                      </a:r>
                      <a:r>
                        <a:rPr lang="fr-FR"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rPr>
                        <a:t>, indépendamment du fait qu'il soit effectivement consommé ou non</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Espèces : comprend également les bons de valeur ; la source des espèces n'a pas d'importance (par exemple, pas de traitement différent des achats effectués avec une assistance en espèces).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Crédit : lorsque le ménage achète quelque chose maintenant mais le rembourse plus tard.</a:t>
                      </a:r>
                      <a:endParaRPr lang="es-419"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1655302256"/>
                  </a:ext>
                </a:extLst>
              </a:tr>
              <a:tr h="990006">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En considérant à la fois les achats effectués </a:t>
                      </a:r>
                      <a:r>
                        <a:rPr lang="fr-FR" sz="1400" b="1" u="sng" dirty="0">
                          <a:effectLst/>
                          <a:latin typeface="Open Sans" panose="020B0606030504020204" pitchFamily="34" charset="0"/>
                          <a:ea typeface="Open Sans" panose="020B0606030504020204" pitchFamily="34" charset="0"/>
                          <a:cs typeface="Open Sans" panose="020B0606030504020204" pitchFamily="34" charset="0"/>
                        </a:rPr>
                        <a:t>en espèces et à crédit</a:t>
                      </a:r>
                      <a:r>
                        <a:rPr lang="fr-FR" sz="1400" dirty="0">
                          <a:effectLst/>
                          <a:latin typeface="Open Sans" panose="020B0606030504020204" pitchFamily="34" charset="0"/>
                          <a:ea typeface="Open Sans" panose="020B0606030504020204" pitchFamily="34" charset="0"/>
                          <a:cs typeface="Open Sans" panose="020B0606030504020204" pitchFamily="34" charset="0"/>
                        </a:rPr>
                        <a:t>, combien votre ménage a-t-il dépensé en […] au cours des </a:t>
                      </a:r>
                      <a:r>
                        <a:rPr lang="fr-FR" sz="1400" b="1" dirty="0">
                          <a:effectLst/>
                          <a:latin typeface="Open Sans" panose="020B0606030504020204" pitchFamily="34" charset="0"/>
                          <a:ea typeface="Open Sans" panose="020B0606030504020204" pitchFamily="34" charset="0"/>
                          <a:cs typeface="Open Sans" panose="020B0606030504020204" pitchFamily="34" charset="0"/>
                        </a:rPr>
                        <a:t>30 derniers jours/ 6 derniers mois </a:t>
                      </a:r>
                      <a:r>
                        <a:rPr lang="fr-FR" sz="1400" dirty="0">
                          <a:effectLst/>
                          <a:latin typeface="Open Sans" panose="020B0606030504020204" pitchFamily="34" charset="0"/>
                          <a:ea typeface="Open Sans" panose="020B0606030504020204" pitchFamily="34" charset="0"/>
                          <a:cs typeface="Open Sans" panose="020B0606030504020204" pitchFamily="34" charset="0"/>
                        </a:rPr>
                        <a:t>?</a:t>
                      </a:r>
                      <a:endParaRPr lang="es-419" sz="2000" dirty="0">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ce qui a été réellement dépensé pour l'achat, indépendamment de la quantité consommée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Pour les achats effectués à crédit, indiquez la somme que le ménage devra rembourser à l'avenir -&gt; N'indiquez pas zéro !</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3646143298"/>
                  </a:ext>
                </a:extLst>
              </a:tr>
            </a:tbl>
          </a:graphicData>
        </a:graphic>
      </p:graphicFrame>
    </p:spTree>
    <p:extLst>
      <p:ext uri="{BB962C8B-B14F-4D97-AF65-F5344CB8AC3E}">
        <p14:creationId xmlns:p14="http://schemas.microsoft.com/office/powerpoint/2010/main" val="2274997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BE66-BD04-4DF7-A330-7DA4F777BFC9}"/>
              </a:ext>
            </a:extLst>
          </p:cNvPr>
          <p:cNvSpPr>
            <a:spLocks noGrp="1"/>
          </p:cNvSpPr>
          <p:nvPr>
            <p:ph type="title"/>
          </p:nvPr>
        </p:nvSpPr>
        <p:spPr/>
        <p:txBody>
          <a:bodyPr vert="horz" lIns="91440" tIns="45720" rIns="91440" bIns="45720" rtlCol="0" anchor="t" anchorCtr="0">
            <a:noAutofit/>
          </a:bodyPr>
          <a:lstStyle/>
          <a:p>
            <a:r>
              <a:rPr lang="en-GB" sz="3600" b="0" kern="1400" spc="230" dirty="0">
                <a:solidFill>
                  <a:schemeClr val="tx1"/>
                </a:solidFill>
                <a:latin typeface="HALDEN SOLID" pitchFamily="2" charset="0"/>
              </a:rPr>
              <a:t>Non-</a:t>
            </a:r>
            <a:r>
              <a:rPr lang="en-GB" sz="3600" b="0" kern="1400" spc="230" dirty="0" err="1">
                <a:solidFill>
                  <a:schemeClr val="tx1"/>
                </a:solidFill>
                <a:latin typeface="HALDEN SOLID" pitchFamily="2" charset="0"/>
              </a:rPr>
              <a:t>alimentaire</a:t>
            </a:r>
            <a:r>
              <a:rPr lang="en-GB" sz="3600" b="0" kern="1400" spc="230" dirty="0">
                <a:solidFill>
                  <a:schemeClr val="tx1"/>
                </a:solidFill>
                <a:latin typeface="HALDEN SOLID" pitchFamily="2" charset="0"/>
              </a:rPr>
              <a:t>: </a:t>
            </a:r>
            <a:r>
              <a:rPr lang="fr-FR" sz="3600" b="0" kern="1400" spc="230" dirty="0">
                <a:solidFill>
                  <a:schemeClr val="tx1"/>
                </a:solidFill>
                <a:latin typeface="HALDEN SOLID" pitchFamily="2" charset="0"/>
              </a:rPr>
              <a:t>assistance/dons en nature </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228EE08-DF41-49BC-89A3-063FC91A447F}"/>
              </a:ext>
            </a:extLst>
          </p:cNvPr>
          <p:cNvSpPr>
            <a:spLocks noGrp="1"/>
          </p:cNvSpPr>
          <p:nvPr>
            <p:ph idx="1"/>
          </p:nvPr>
        </p:nvSpPr>
        <p:spPr/>
        <p:txBody>
          <a:bodyPr/>
          <a:lstStyle/>
          <a:p>
            <a:endParaRPr lang="en-GB">
              <a:sym typeface="Wingdings" panose="05000000000000000000" pitchFamily="2" charset="2"/>
            </a:endParaRPr>
          </a:p>
          <a:p>
            <a:endParaRPr lang="en-GB"/>
          </a:p>
          <a:p>
            <a:endParaRPr lang="es-419"/>
          </a:p>
        </p:txBody>
      </p:sp>
      <p:graphicFrame>
        <p:nvGraphicFramePr>
          <p:cNvPr id="8" name="Table 8">
            <a:extLst>
              <a:ext uri="{FF2B5EF4-FFF2-40B4-BE49-F238E27FC236}">
                <a16:creationId xmlns:a16="http://schemas.microsoft.com/office/drawing/2014/main" id="{049A55DE-E5FC-4DDE-B5BB-1BC53C19AB6A}"/>
              </a:ext>
            </a:extLst>
          </p:cNvPr>
          <p:cNvGraphicFramePr>
            <a:graphicFrameLocks noGrp="1"/>
          </p:cNvGraphicFramePr>
          <p:nvPr>
            <p:extLst>
              <p:ext uri="{D42A27DB-BD31-4B8C-83A1-F6EECF244321}">
                <p14:modId xmlns:p14="http://schemas.microsoft.com/office/powerpoint/2010/main" val="305599155"/>
              </p:ext>
            </p:extLst>
          </p:nvPr>
        </p:nvGraphicFramePr>
        <p:xfrm>
          <a:off x="1049184" y="1690688"/>
          <a:ext cx="9373938" cy="4432693"/>
        </p:xfrm>
        <a:graphic>
          <a:graphicData uri="http://schemas.openxmlformats.org/drawingml/2006/table">
            <a:tbl>
              <a:tblPr firstRow="1" bandRow="1">
                <a:tableStyleId>{5C22544A-7EE6-4342-B048-85BDC9FD1C3A}</a:tableStyleId>
              </a:tblPr>
              <a:tblGrid>
                <a:gridCol w="2183826">
                  <a:extLst>
                    <a:ext uri="{9D8B030D-6E8A-4147-A177-3AD203B41FA5}">
                      <a16:colId xmlns:a16="http://schemas.microsoft.com/office/drawing/2014/main" val="1922137545"/>
                    </a:ext>
                  </a:extLst>
                </a:gridCol>
                <a:gridCol w="7190112">
                  <a:extLst>
                    <a:ext uri="{9D8B030D-6E8A-4147-A177-3AD203B41FA5}">
                      <a16:colId xmlns:a16="http://schemas.microsoft.com/office/drawing/2014/main" val="1669966504"/>
                    </a:ext>
                  </a:extLst>
                </a:gridCol>
              </a:tblGrid>
              <a:tr h="470293">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63674307"/>
                  </a:ext>
                </a:extLst>
              </a:tr>
              <a:tr h="990006">
                <a:tc>
                  <a:txBody>
                    <a:bodyPr/>
                    <a:lstStyle/>
                    <a:p>
                      <a:r>
                        <a:rPr lang="fr-FR" sz="1400" u="none"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a:t>
                      </a:r>
                      <a:r>
                        <a:rPr lang="fr-FR" sz="1400" b="1" u="none"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30 derniers jours/6 derniers mois</a:t>
                      </a:r>
                      <a:r>
                        <a:rPr lang="fr-FR" sz="1400" u="none"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votre ménage a-t-il utilisé/bénéficié de </a:t>
                      </a:r>
                      <a:r>
                        <a:rPr lang="en-GB"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GB" sz="1400" b="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u="none"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provenant </a:t>
                      </a:r>
                      <a:r>
                        <a:rPr lang="fr-FR" sz="1400" b="1" u="sng"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 dons en nature ou d'une assistance en nature </a:t>
                      </a:r>
                      <a:r>
                        <a:rPr lang="fr-FR" sz="1400" u="none"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endParaRPr lang="en-GB" sz="1400" u="none"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endParaRPr lang="es-419" sz="2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Ici, nous voulons savoir si le ménage a </a:t>
                      </a:r>
                      <a:r>
                        <a:rPr lang="fr-FR" sz="1400" b="1"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consommé</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quelque chose provenant de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dons ou d’une assistance en nature</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r>
                        <a:rPr lang="fr-FR"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rPr>
                        <a:t>et non s'il l'a simplement reçu !</a:t>
                      </a:r>
                      <a:endParaRPr lang="en-GB" sz="1400" b="1" u="sng" kern="1200" dirty="0">
                        <a:solidFill>
                          <a:schemeClr val="accent2"/>
                        </a:solidFill>
                        <a:effectLst/>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L'assistance et les dons en nature</a:t>
                      </a:r>
                      <a:r>
                        <a:rPr lang="fr-FR" sz="1400" b="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comprennent l'aide des ONG, des agences des Nations unies, du gouvernement, des autorités religieuses, les dons et les emprunts de la famille et des amis, ainsi que la nourriture obtenue par la mendicité.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Rappelez-vous que nous ne </a:t>
                      </a:r>
                      <a:r>
                        <a:rPr lang="fr-FR" sz="1400"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considérons que l’assistance en nature et les dons en nature</a:t>
                      </a: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et non si le foyer a consommé quelque chose provenant de l'argent reçu sous forme d'aide ou de don.</a:t>
                      </a:r>
                      <a:endParaRPr lang="es-419" sz="1400" dirty="0">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400" i="0" u="sng"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buFont typeface="Arial" panose="020B0604020202020204" pitchFamily="34" charset="0"/>
                        <a:buNone/>
                      </a:pP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1655302256"/>
                  </a:ext>
                </a:extLst>
              </a:tr>
              <a:tr h="990006">
                <a:tc>
                  <a:txBody>
                    <a:bodyPr/>
                    <a:lstStyle/>
                    <a:p>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Quelle serait la </a:t>
                      </a:r>
                      <a:r>
                        <a:rPr lang="fr-FR" sz="1400" b="1" u="sng"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valeur</a:t>
                      </a: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de [...] provenant de </a:t>
                      </a:r>
                      <a:r>
                        <a:rPr lang="fr-FR" sz="1400" b="1" u="sng"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dons en nature ou d'assistance en nature </a:t>
                      </a: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si vous deviez la payer ?</a:t>
                      </a:r>
                      <a:endParaRPr lang="en-GB"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endParaRPr lang="es-419" sz="2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Le répondant doit fournir une estimation du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coût d'achat s'il devait acheter les biens reçus qu'il a consommés.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Si un article spécifique n'existe pas sur le marché local, il </a:t>
                      </a:r>
                      <a:r>
                        <a:rPr lang="fr-FR" sz="14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faut l'estimer sur la base de la valeur d'articles comparables.</a:t>
                      </a:r>
                      <a:endParaRPr lang="es-419" sz="1400" b="1" dirty="0">
                        <a:latin typeface="Open Sans" panose="020B0606030504020204" pitchFamily="34" charset="0"/>
                        <a:ea typeface="Open Sans" panose="020B0606030504020204" pitchFamily="34" charset="0"/>
                        <a:cs typeface="Open Sans" panose="020B0606030504020204" pitchFamily="34" charset="0"/>
                      </a:endParaRPr>
                    </a:p>
                    <a:p>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3646143298"/>
                  </a:ext>
                </a:extLst>
              </a:tr>
            </a:tbl>
          </a:graphicData>
        </a:graphic>
      </p:graphicFrame>
    </p:spTree>
    <p:extLst>
      <p:ext uri="{BB962C8B-B14F-4D97-AF65-F5344CB8AC3E}">
        <p14:creationId xmlns:p14="http://schemas.microsoft.com/office/powerpoint/2010/main" val="3178603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D817-3366-462F-A336-BFC1884668EB}"/>
              </a:ext>
            </a:extLst>
          </p:cNvPr>
          <p:cNvSpPr>
            <a:spLocks noGrp="1"/>
          </p:cNvSpPr>
          <p:nvPr>
            <p:ph type="title"/>
          </p:nvPr>
        </p:nvSpPr>
        <p:spPr/>
        <p:txBody>
          <a:bodyPr vert="horz" lIns="91440" tIns="45720" rIns="91440" bIns="45720" rtlCol="0" anchor="t" anchorCtr="0">
            <a:noAutofit/>
          </a:bodyPr>
          <a:lstStyle/>
          <a:p>
            <a:r>
              <a:rPr lang="fr-FR" sz="3600" b="0" kern="1400" spc="230" dirty="0">
                <a:solidFill>
                  <a:schemeClr val="tx1"/>
                </a:solidFill>
                <a:latin typeface="HALDEN SOLID" pitchFamily="2" charset="0"/>
              </a:rPr>
              <a:t>Sous-module non alimentaire (30 jours) : groupes</a:t>
            </a:r>
            <a:endParaRPr lang="es-419" sz="3600" b="0" kern="1400" spc="230" dirty="0">
              <a:solidFill>
                <a:schemeClr val="tx1"/>
              </a:solidFill>
              <a:latin typeface="HALDEN SOLID" pitchFamily="2" charset="0"/>
            </a:endParaRPr>
          </a:p>
        </p:txBody>
      </p:sp>
      <p:graphicFrame>
        <p:nvGraphicFramePr>
          <p:cNvPr id="12" name="Table 12">
            <a:extLst>
              <a:ext uri="{FF2B5EF4-FFF2-40B4-BE49-F238E27FC236}">
                <a16:creationId xmlns:a16="http://schemas.microsoft.com/office/drawing/2014/main" id="{A82371B2-C643-4CE2-8140-A730710AD368}"/>
              </a:ext>
            </a:extLst>
          </p:cNvPr>
          <p:cNvGraphicFramePr>
            <a:graphicFrameLocks noGrp="1"/>
          </p:cNvGraphicFramePr>
          <p:nvPr>
            <p:ph idx="1"/>
            <p:extLst>
              <p:ext uri="{D42A27DB-BD31-4B8C-83A1-F6EECF244321}">
                <p14:modId xmlns:p14="http://schemas.microsoft.com/office/powerpoint/2010/main" val="779895344"/>
              </p:ext>
            </p:extLst>
          </p:nvPr>
        </p:nvGraphicFramePr>
        <p:xfrm>
          <a:off x="830089" y="1513389"/>
          <a:ext cx="10515600" cy="4399342"/>
        </p:xfrm>
        <a:graphic>
          <a:graphicData uri="http://schemas.openxmlformats.org/drawingml/2006/table">
            <a:tbl>
              <a:tblPr firstRow="1" bandRow="1">
                <a:tableStyleId>{5C22544A-7EE6-4342-B048-85BDC9FD1C3A}</a:tableStyleId>
              </a:tblPr>
              <a:tblGrid>
                <a:gridCol w="2190135">
                  <a:extLst>
                    <a:ext uri="{9D8B030D-6E8A-4147-A177-3AD203B41FA5}">
                      <a16:colId xmlns:a16="http://schemas.microsoft.com/office/drawing/2014/main" val="763633207"/>
                    </a:ext>
                  </a:extLst>
                </a:gridCol>
                <a:gridCol w="8325465">
                  <a:extLst>
                    <a:ext uri="{9D8B030D-6E8A-4147-A177-3AD203B41FA5}">
                      <a16:colId xmlns:a16="http://schemas.microsoft.com/office/drawing/2014/main" val="2505313927"/>
                    </a:ext>
                  </a:extLst>
                </a:gridCol>
              </a:tblGrid>
              <a:tr h="417011">
                <a:tc>
                  <a:txBody>
                    <a:bodyPr/>
                    <a:lstStyle/>
                    <a:p>
                      <a:r>
                        <a:rPr lang="en-GB" sz="1400" dirty="0">
                          <a:latin typeface="Open Sans" panose="020B0606030504020204" pitchFamily="34" charset="0"/>
                          <a:ea typeface="Open Sans" panose="020B0606030504020204" pitchFamily="34" charset="0"/>
                          <a:cs typeface="Open Sans" panose="020B0606030504020204" pitchFamily="34" charset="0"/>
                        </a:rPr>
                        <a:t>Groupe</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dirty="0" err="1">
                          <a:latin typeface="Open Sans" panose="020B0606030504020204" pitchFamily="34" charset="0"/>
                          <a:ea typeface="Open Sans" panose="020B0606030504020204" pitchFamily="34" charset="0"/>
                          <a:cs typeface="Open Sans" panose="020B0606030504020204" pitchFamily="34" charset="0"/>
                        </a:rPr>
                        <a:t>Exemples</a:t>
                      </a:r>
                      <a:r>
                        <a:rPr lang="en-GB" sz="1400" dirty="0">
                          <a:latin typeface="Open Sans" panose="020B0606030504020204" pitchFamily="34" charset="0"/>
                          <a:ea typeface="Open Sans" panose="020B0606030504020204" pitchFamily="34" charset="0"/>
                          <a:cs typeface="Open Sans" panose="020B0606030504020204" pitchFamily="34" charset="0"/>
                        </a:rPr>
                        <a:t> des articles</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401874929"/>
                  </a:ext>
                </a:extLst>
              </a:tr>
              <a:tr h="477006">
                <a:tc>
                  <a:txBody>
                    <a:bodyPr/>
                    <a:lstStyle/>
                    <a:p>
                      <a:pPr>
                        <a:lnSpc>
                          <a:spcPct val="107000"/>
                        </a:lnSpc>
                        <a:spcAft>
                          <a:spcPts val="800"/>
                        </a:spcAft>
                      </a:pPr>
                      <a:r>
                        <a:rPr lang="en-GB" sz="1400" dirty="0">
                          <a:effectLst/>
                          <a:latin typeface="Open Sans" panose="020B0606030504020204" pitchFamily="34" charset="0"/>
                          <a:ea typeface="Open Sans" panose="020B0606030504020204" pitchFamily="34" charset="0"/>
                          <a:cs typeface="Open Sans" panose="020B0606030504020204" pitchFamily="34" charset="0"/>
                        </a:rPr>
                        <a:t>Articles et services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d'hygiène</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Savon, brosse à dents, dentifrice, papier hygiénique, produits d'hygiène menstruelle, couches, rasoirs, détergents, insecticides, cosmétiques ; coiffeurs/barbiers, salons de beauté</a:t>
                      </a:r>
                    </a:p>
                  </a:txBody>
                  <a:tcPr marL="68580" marR="68580" marT="0" marB="0"/>
                </a:tc>
                <a:extLst>
                  <a:ext uri="{0D108BD9-81ED-4DB2-BD59-A6C34878D82A}">
                    <a16:rowId xmlns:a16="http://schemas.microsoft.com/office/drawing/2014/main" val="929458944"/>
                  </a:ext>
                </a:extLst>
              </a:tr>
              <a:tr h="984076">
                <a:tc>
                  <a:txBody>
                    <a:bodyPr/>
                    <a:lstStyle/>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Biens et services liés au transport</a:t>
                      </a:r>
                      <a:endParaRPr lang="es-419"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Transports publics (bus, train, bateau, etc.), taxis, location de véhicules, entretien des véhicules utilisés pour le transport (y compris lubrifiant, pneus, pièces de rechange, frais de réparation, etc.)</a:t>
                      </a:r>
                    </a:p>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NE COMPREND PAS L'ACHAT DE VÉHICULES ; EXCLUT LE CARBURANT</a:t>
                      </a:r>
                      <a:endParaRPr lang="es-419"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789150821"/>
                  </a:ext>
                </a:extLst>
              </a:tr>
              <a:tr h="1059860">
                <a:tc>
                  <a:txBody>
                    <a:bodyPr/>
                    <a:lstStyle/>
                    <a:p>
                      <a:pPr>
                        <a:lnSpc>
                          <a:spcPct val="107000"/>
                        </a:lnSpc>
                        <a:spcAft>
                          <a:spcPts val="800"/>
                        </a:spcAft>
                      </a:pPr>
                      <a:r>
                        <a:rPr lang="en-GB"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Carburant</a:t>
                      </a:r>
                      <a:endParaRPr lang="es-419"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Essence, diesel et tout autre carburant utilisé pour les véhicules</a:t>
                      </a:r>
                    </a:p>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NE COMPREND PAS LE CARBURANT UTILISÉ POUR LES VÉHICULES UTILISÉS EXCLUSIVEMENT À DES FINS PRODUCTIVES/PROFESSIONNELLES ; </a:t>
                      </a:r>
                    </a:p>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NE COMPREND PAS LE CARBURANT UTILISÉ À DES FINS AUTRES QUE LE TRANSPORT</a:t>
                      </a:r>
                      <a:endParaRPr lang="es-419"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797924422"/>
                  </a:ext>
                </a:extLst>
              </a:tr>
              <a:tr h="640696">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Approvisionnement en eau à usage domestique </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Eau destinée à l'approvisionnement domestique EXCLURE L'EAU POTABLE EN BOUTEILLE</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964965273"/>
                  </a:ext>
                </a:extLst>
              </a:tr>
              <a:tr h="573593">
                <a:tc>
                  <a:txBody>
                    <a:bodyPr/>
                    <a:lstStyle/>
                    <a:p>
                      <a:pPr>
                        <a:lnSpc>
                          <a:spcPct val="107000"/>
                        </a:lnSpc>
                        <a:spcAft>
                          <a:spcPts val="800"/>
                        </a:spcAft>
                      </a:pPr>
                      <a:r>
                        <a:rPr lang="en-GB" sz="1400" dirty="0" err="1">
                          <a:effectLst/>
                          <a:latin typeface="Open Sans" panose="020B0606030504020204" pitchFamily="34" charset="0"/>
                          <a:ea typeface="Open Sans" panose="020B0606030504020204" pitchFamily="34" charset="0"/>
                          <a:cs typeface="Open Sans" panose="020B0606030504020204" pitchFamily="34" charset="0"/>
                        </a:rPr>
                        <a:t>Électricité</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Électricité</a:t>
                      </a:r>
                    </a:p>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NE PAS INCLURE L'ÉLECTRICITÉ UTILISÉE À DES FINS PROFESSIONNELLES/PRODUCTIVES UNIQUEMENT</a:t>
                      </a:r>
                    </a:p>
                  </a:txBody>
                  <a:tcPr marL="68580" marR="68580" marT="0" marB="0"/>
                </a:tc>
                <a:extLst>
                  <a:ext uri="{0D108BD9-81ED-4DB2-BD59-A6C34878D82A}">
                    <a16:rowId xmlns:a16="http://schemas.microsoft.com/office/drawing/2014/main" val="3739653069"/>
                  </a:ext>
                </a:extLst>
              </a:tr>
            </a:tbl>
          </a:graphicData>
        </a:graphic>
      </p:graphicFrame>
    </p:spTree>
    <p:extLst>
      <p:ext uri="{BB962C8B-B14F-4D97-AF65-F5344CB8AC3E}">
        <p14:creationId xmlns:p14="http://schemas.microsoft.com/office/powerpoint/2010/main" val="1267939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D817-3366-462F-A336-BFC1884668EB}"/>
              </a:ext>
            </a:extLst>
          </p:cNvPr>
          <p:cNvSpPr>
            <a:spLocks noGrp="1"/>
          </p:cNvSpPr>
          <p:nvPr>
            <p:ph type="title"/>
          </p:nvPr>
        </p:nvSpPr>
        <p:spPr/>
        <p:txBody>
          <a:bodyPr vert="horz" lIns="91440" tIns="45720" rIns="91440" bIns="45720" rtlCol="0" anchor="t" anchorCtr="0">
            <a:noAutofit/>
          </a:bodyPr>
          <a:lstStyle/>
          <a:p>
            <a:r>
              <a:rPr lang="fr-FR" sz="3600" b="0" kern="1400" spc="230" dirty="0">
                <a:solidFill>
                  <a:schemeClr val="tx1"/>
                </a:solidFill>
                <a:latin typeface="HALDEN SOLID" pitchFamily="2" charset="0"/>
              </a:rPr>
              <a:t>Sous-module non alimentaire (30 jours) : groupes</a:t>
            </a:r>
            <a:endParaRPr lang="es-419" sz="3600" b="0" kern="1400" spc="230" dirty="0">
              <a:solidFill>
                <a:schemeClr val="tx1"/>
              </a:solidFill>
              <a:latin typeface="HALDEN SOLID" pitchFamily="2" charset="0"/>
            </a:endParaRPr>
          </a:p>
        </p:txBody>
      </p:sp>
      <p:graphicFrame>
        <p:nvGraphicFramePr>
          <p:cNvPr id="13" name="Table 12">
            <a:extLst>
              <a:ext uri="{FF2B5EF4-FFF2-40B4-BE49-F238E27FC236}">
                <a16:creationId xmlns:a16="http://schemas.microsoft.com/office/drawing/2014/main" id="{9A2955A7-1CB6-420F-99A0-E55E05A39E20}"/>
              </a:ext>
            </a:extLst>
          </p:cNvPr>
          <p:cNvGraphicFramePr>
            <a:graphicFrameLocks noGrp="1"/>
          </p:cNvGraphicFramePr>
          <p:nvPr>
            <p:extLst>
              <p:ext uri="{D42A27DB-BD31-4B8C-83A1-F6EECF244321}">
                <p14:modId xmlns:p14="http://schemas.microsoft.com/office/powerpoint/2010/main" val="3649271236"/>
              </p:ext>
            </p:extLst>
          </p:nvPr>
        </p:nvGraphicFramePr>
        <p:xfrm>
          <a:off x="1138989" y="1523454"/>
          <a:ext cx="9865895" cy="4527869"/>
        </p:xfrm>
        <a:graphic>
          <a:graphicData uri="http://schemas.openxmlformats.org/drawingml/2006/table">
            <a:tbl>
              <a:tblPr firstRow="1" bandRow="1">
                <a:tableStyleId>{5C22544A-7EE6-4342-B048-85BDC9FD1C3A}</a:tableStyleId>
              </a:tblPr>
              <a:tblGrid>
                <a:gridCol w="3248811">
                  <a:extLst>
                    <a:ext uri="{9D8B030D-6E8A-4147-A177-3AD203B41FA5}">
                      <a16:colId xmlns:a16="http://schemas.microsoft.com/office/drawing/2014/main" val="2456680879"/>
                    </a:ext>
                  </a:extLst>
                </a:gridCol>
                <a:gridCol w="6617084">
                  <a:extLst>
                    <a:ext uri="{9D8B030D-6E8A-4147-A177-3AD203B41FA5}">
                      <a16:colId xmlns:a16="http://schemas.microsoft.com/office/drawing/2014/main" val="2071999887"/>
                    </a:ext>
                  </a:extLst>
                </a:gridCol>
              </a:tblGrid>
              <a:tr h="370840">
                <a:tc>
                  <a:txBody>
                    <a:bodyPr/>
                    <a:lstStyle/>
                    <a:p>
                      <a:r>
                        <a:rPr lang="en-GB" sz="1400" b="1" dirty="0">
                          <a:latin typeface="Open Sans" panose="020B0606030504020204" pitchFamily="34" charset="0"/>
                          <a:ea typeface="Open Sans" panose="020B0606030504020204" pitchFamily="34" charset="0"/>
                          <a:cs typeface="Open Sans" panose="020B0606030504020204" pitchFamily="34" charset="0"/>
                        </a:rPr>
                        <a:t>Groupe</a:t>
                      </a:r>
                      <a:endParaRPr lang="es-419" sz="1400" b="1"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dirty="0" err="1">
                          <a:latin typeface="Open Sans" panose="020B0606030504020204" pitchFamily="34" charset="0"/>
                          <a:ea typeface="Open Sans" panose="020B0606030504020204" pitchFamily="34" charset="0"/>
                          <a:cs typeface="Open Sans" panose="020B0606030504020204" pitchFamily="34" charset="0"/>
                        </a:rPr>
                        <a:t>Exemples</a:t>
                      </a:r>
                      <a:r>
                        <a:rPr lang="en-GB" sz="1400" dirty="0">
                          <a:latin typeface="Open Sans" panose="020B0606030504020204" pitchFamily="34" charset="0"/>
                          <a:ea typeface="Open Sans" panose="020B0606030504020204" pitchFamily="34" charset="0"/>
                          <a:cs typeface="Open Sans" panose="020B0606030504020204" pitchFamily="34" charset="0"/>
                        </a:rPr>
                        <a:t> des articles</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877705467"/>
                  </a:ext>
                </a:extLst>
              </a:tr>
              <a:tr h="370840">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Autres sources d'énergie pour la cuisine, le chauffage, l'éclairage, etc.</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Gaz, kérosène, autres combustibles liquides ; bois, charbon de bois, bougies, autres combustibles solides</a:t>
                      </a:r>
                    </a:p>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NE COMPREND PAS L'ÉLECTRICITÉ ;</a:t>
                      </a:r>
                    </a:p>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 NE COMPREND PAS LES CARBURANTS POUR LE TRANSPORT</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532680819"/>
                  </a:ext>
                </a:extLst>
              </a:tr>
              <a:tr h="370840">
                <a:tc>
                  <a:txBody>
                    <a:bodyPr/>
                    <a:lstStyle/>
                    <a:p>
                      <a:pPr>
                        <a:lnSpc>
                          <a:spcPct val="107000"/>
                        </a:lnSpc>
                        <a:spcAft>
                          <a:spcPts val="800"/>
                        </a:spcAft>
                      </a:pPr>
                      <a:r>
                        <a:rPr lang="en-GB" sz="1400" dirty="0">
                          <a:effectLst/>
                          <a:latin typeface="Open Sans" panose="020B0606030504020204" pitchFamily="34" charset="0"/>
                          <a:ea typeface="Open Sans" panose="020B0606030504020204" pitchFamily="34" charset="0"/>
                          <a:cs typeface="Open Sans" panose="020B0606030504020204" pitchFamily="34" charset="0"/>
                        </a:rPr>
                        <a:t>Services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liés</a:t>
                      </a:r>
                      <a:r>
                        <a:rPr lang="en-GB" sz="1400" dirty="0">
                          <a:effectLst/>
                          <a:latin typeface="Open Sans" panose="020B0606030504020204" pitchFamily="34" charset="0"/>
                          <a:ea typeface="Open Sans" panose="020B0606030504020204" pitchFamily="34" charset="0"/>
                          <a:cs typeface="Open Sans" panose="020B0606030504020204" pitchFamily="34" charset="0"/>
                        </a:rPr>
                        <a:t> au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logement</a:t>
                      </a:r>
                      <a:r>
                        <a:rPr lang="en-GB" sz="1400" dirty="0">
                          <a:effectLst/>
                          <a:latin typeface="Open Sans" panose="020B0606030504020204" pitchFamily="34" charset="0"/>
                          <a:ea typeface="Open Sans" panose="020B0606030504020204" pitchFamily="34" charset="0"/>
                          <a:cs typeface="Open Sans" panose="020B0606030504020204" pitchFamily="34" charset="0"/>
                        </a:rPr>
                        <a:t> </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Collecte des déchets, collecte des eaux usées, frais d'entretien des bâtiments collectifs, services de sécurité, salaires versés aux aides comme les femmes de ménage et les jardiniers.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922966440"/>
                  </a:ext>
                </a:extLst>
              </a:tr>
              <a:tr h="370840">
                <a:tc>
                  <a:txBody>
                    <a:bodyPr/>
                    <a:lstStyle/>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Biens et services liés à la communication</a:t>
                      </a:r>
                    </a:p>
                  </a:txBody>
                  <a:tcPr marL="68580" marR="68580" marT="0" marB="0"/>
                </a:tc>
                <a:tc>
                  <a:txBody>
                    <a:bodyPr/>
                    <a:lstStyle/>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Recharge de téléphone portable, internet, frais de téléphone fixe, services postaux.</a:t>
                      </a:r>
                    </a:p>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NE COMPREND PAS L'ACHAT D'APPAREILS COMME LES TÉLÉPHONES, LES RADIOS, LES ORDINATEURS, LES TÉLÉVISIONS...</a:t>
                      </a:r>
                      <a:endParaRPr lang="es-419"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086210925"/>
                  </a:ext>
                </a:extLst>
              </a:tr>
              <a:tr h="370840">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Biens et services liés aux loisirs, au sport et à la culture</a:t>
                      </a:r>
                    </a:p>
                  </a:txBody>
                  <a:tcPr marL="68580" marR="68580" marT="0" marB="0"/>
                </a:tc>
                <a:tc>
                  <a:txBody>
                    <a:bodyPr/>
                    <a:lstStyle/>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Divertissements, sports, loterie, jeux d'argent, journaux, magazines, livres, jouets, loisirs, hôtels</a:t>
                      </a:r>
                    </a:p>
                    <a:p>
                      <a:pPr>
                        <a:lnSpc>
                          <a:spcPct val="107000"/>
                        </a:lnSpc>
                        <a:spcAft>
                          <a:spcPts val="800"/>
                        </a:spcAft>
                      </a:pPr>
                      <a:r>
                        <a:rPr lang="fr-FR"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NE PAS INCLURE LES DÉPENSES POUR LES CÉRÉMONIES IMPORTANTES/SPÉCIALES COMME LES MARIAGES ET LES FUNÉRAILLES</a:t>
                      </a:r>
                      <a:endParaRPr lang="es-419" sz="14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4005616343"/>
                  </a:ext>
                </a:extLst>
              </a:tr>
              <a:tr h="370840">
                <a:tc>
                  <a:txBody>
                    <a:bodyPr/>
                    <a:lstStyle/>
                    <a:p>
                      <a:pPr>
                        <a:lnSpc>
                          <a:spcPct val="107000"/>
                        </a:lnSpc>
                        <a:spcAft>
                          <a:spcPts val="800"/>
                        </a:spcAft>
                      </a:pPr>
                      <a:r>
                        <a:rPr lang="en-GB" sz="1400" dirty="0" err="1">
                          <a:effectLst/>
                          <a:latin typeface="Open Sans" panose="020B0606030504020204" pitchFamily="34" charset="0"/>
                          <a:ea typeface="Open Sans" panose="020B0606030504020204" pitchFamily="34" charset="0"/>
                          <a:cs typeface="Open Sans" panose="020B0606030504020204" pitchFamily="34" charset="0"/>
                        </a:rPr>
                        <a:t>Alcool</a:t>
                      </a:r>
                      <a:r>
                        <a:rPr lang="en-GB" sz="1400" dirty="0">
                          <a:effectLst/>
                          <a:latin typeface="Open Sans" panose="020B0606030504020204" pitchFamily="34" charset="0"/>
                          <a:ea typeface="Open Sans" panose="020B0606030504020204" pitchFamily="34" charset="0"/>
                          <a:cs typeface="Open Sans" panose="020B0606030504020204" pitchFamily="34" charset="0"/>
                        </a:rPr>
                        <a:t>,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tabac</a:t>
                      </a:r>
                      <a:r>
                        <a:rPr lang="en-GB" sz="1400" dirty="0">
                          <a:effectLst/>
                          <a:latin typeface="Open Sans" panose="020B0606030504020204" pitchFamily="34" charset="0"/>
                          <a:ea typeface="Open Sans" panose="020B0606030504020204" pitchFamily="34" charset="0"/>
                          <a:cs typeface="Open Sans" panose="020B0606030504020204" pitchFamily="34" charset="0"/>
                        </a:rPr>
                        <a:t> </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323862488"/>
                  </a:ext>
                </a:extLst>
              </a:tr>
            </a:tbl>
          </a:graphicData>
        </a:graphic>
      </p:graphicFrame>
    </p:spTree>
    <p:extLst>
      <p:ext uri="{BB962C8B-B14F-4D97-AF65-F5344CB8AC3E}">
        <p14:creationId xmlns:p14="http://schemas.microsoft.com/office/powerpoint/2010/main" val="1767850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D817-3366-462F-A336-BFC1884668EB}"/>
              </a:ext>
            </a:extLst>
          </p:cNvPr>
          <p:cNvSpPr>
            <a:spLocks noGrp="1"/>
          </p:cNvSpPr>
          <p:nvPr>
            <p:ph type="title"/>
          </p:nvPr>
        </p:nvSpPr>
        <p:spPr>
          <a:xfrm>
            <a:off x="602849" y="461670"/>
            <a:ext cx="10542124" cy="1152000"/>
          </a:xfrm>
        </p:spPr>
        <p:txBody>
          <a:bodyPr/>
          <a:lstStyle/>
          <a:p>
            <a:r>
              <a:rPr lang="fr-FR" sz="3600" b="0" kern="1400" spc="230" dirty="0">
                <a:solidFill>
                  <a:schemeClr val="tx1"/>
                </a:solidFill>
                <a:latin typeface="HALDEN SOLID" pitchFamily="2" charset="0"/>
              </a:rPr>
              <a:t>Sous-module non alimentaire (6 mois) : groupes</a:t>
            </a:r>
            <a:endParaRPr lang="es-419" sz="3600" b="0" kern="1400" spc="230" dirty="0">
              <a:solidFill>
                <a:schemeClr val="tx1"/>
              </a:solidFill>
              <a:latin typeface="HALDEN SOLID" pitchFamily="2" charset="0"/>
            </a:endParaRPr>
          </a:p>
        </p:txBody>
      </p:sp>
      <p:graphicFrame>
        <p:nvGraphicFramePr>
          <p:cNvPr id="12" name="Table 12">
            <a:extLst>
              <a:ext uri="{FF2B5EF4-FFF2-40B4-BE49-F238E27FC236}">
                <a16:creationId xmlns:a16="http://schemas.microsoft.com/office/drawing/2014/main" id="{A82371B2-C643-4CE2-8140-A730710AD368}"/>
              </a:ext>
            </a:extLst>
          </p:cNvPr>
          <p:cNvGraphicFramePr>
            <a:graphicFrameLocks noGrp="1"/>
          </p:cNvGraphicFramePr>
          <p:nvPr>
            <p:ph idx="1"/>
            <p:extLst>
              <p:ext uri="{D42A27DB-BD31-4B8C-83A1-F6EECF244321}">
                <p14:modId xmlns:p14="http://schemas.microsoft.com/office/powerpoint/2010/main" val="4064119323"/>
              </p:ext>
            </p:extLst>
          </p:nvPr>
        </p:nvGraphicFramePr>
        <p:xfrm>
          <a:off x="602849" y="1523456"/>
          <a:ext cx="5493151" cy="4014852"/>
        </p:xfrm>
        <a:graphic>
          <a:graphicData uri="http://schemas.openxmlformats.org/drawingml/2006/table">
            <a:tbl>
              <a:tblPr firstRow="1" bandRow="1">
                <a:tableStyleId>{5C22544A-7EE6-4342-B048-85BDC9FD1C3A}</a:tableStyleId>
              </a:tblPr>
              <a:tblGrid>
                <a:gridCol w="1294777">
                  <a:extLst>
                    <a:ext uri="{9D8B030D-6E8A-4147-A177-3AD203B41FA5}">
                      <a16:colId xmlns:a16="http://schemas.microsoft.com/office/drawing/2014/main" val="763633207"/>
                    </a:ext>
                  </a:extLst>
                </a:gridCol>
                <a:gridCol w="4198374">
                  <a:extLst>
                    <a:ext uri="{9D8B030D-6E8A-4147-A177-3AD203B41FA5}">
                      <a16:colId xmlns:a16="http://schemas.microsoft.com/office/drawing/2014/main" val="2505313927"/>
                    </a:ext>
                  </a:extLst>
                </a:gridCol>
              </a:tblGrid>
              <a:tr h="315884">
                <a:tc>
                  <a:txBody>
                    <a:bodyPr/>
                    <a:lstStyle/>
                    <a:p>
                      <a:r>
                        <a:rPr lang="en-GB" sz="1400" dirty="0">
                          <a:latin typeface="Open Sans" panose="020B0606030504020204" pitchFamily="34" charset="0"/>
                          <a:ea typeface="Open Sans" panose="020B0606030504020204" pitchFamily="34" charset="0"/>
                          <a:cs typeface="Open Sans" panose="020B0606030504020204" pitchFamily="34" charset="0"/>
                        </a:rPr>
                        <a:t>Groupe</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dirty="0" err="1">
                          <a:latin typeface="Open Sans" panose="020B0606030504020204" pitchFamily="34" charset="0"/>
                          <a:ea typeface="Open Sans" panose="020B0606030504020204" pitchFamily="34" charset="0"/>
                          <a:cs typeface="Open Sans" panose="020B0606030504020204" pitchFamily="34" charset="0"/>
                        </a:rPr>
                        <a:t>Exemples</a:t>
                      </a:r>
                      <a:r>
                        <a:rPr lang="en-GB" sz="1400" dirty="0">
                          <a:latin typeface="Open Sans" panose="020B0606030504020204" pitchFamily="34" charset="0"/>
                          <a:ea typeface="Open Sans" panose="020B0606030504020204" pitchFamily="34" charset="0"/>
                          <a:cs typeface="Open Sans" panose="020B0606030504020204" pitchFamily="34" charset="0"/>
                        </a:rPr>
                        <a:t> des articles</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401874929"/>
                  </a:ext>
                </a:extLst>
              </a:tr>
              <a:tr h="480706">
                <a:tc>
                  <a:txBody>
                    <a:bodyPr/>
                    <a:lstStyle/>
                    <a:p>
                      <a:pPr>
                        <a:lnSpc>
                          <a:spcPct val="107000"/>
                        </a:lnSpc>
                        <a:spcAft>
                          <a:spcPts val="800"/>
                        </a:spcAft>
                      </a:pPr>
                      <a:r>
                        <a:rPr lang="en-GB" sz="1400" dirty="0">
                          <a:effectLst/>
                          <a:latin typeface="Open Sans" panose="020B0606030504020204" pitchFamily="34" charset="0"/>
                          <a:ea typeface="Open Sans" panose="020B0606030504020204" pitchFamily="34" charset="0"/>
                          <a:cs typeface="Open Sans" panose="020B0606030504020204" pitchFamily="34" charset="0"/>
                        </a:rPr>
                        <a:t>Services de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santé</a:t>
                      </a:r>
                      <a:endParaRPr lang="en-GB"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Services ambulatoires et hospitaliers, honoraires des médecins, guérison traditionnelle</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929458944"/>
                  </a:ext>
                </a:extLst>
              </a:tr>
              <a:tr h="993181">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Médicaments et produits de santé</a:t>
                      </a: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Médicaments, autres produits et équipements médicaux tels que lunettes, seringues, béquilles, etc.</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789150821"/>
                  </a:ext>
                </a:extLst>
              </a:tr>
              <a:tr h="993181">
                <a:tc>
                  <a:txBody>
                    <a:bodyPr/>
                    <a:lstStyle/>
                    <a:p>
                      <a:pPr>
                        <a:lnSpc>
                          <a:spcPct val="107000"/>
                        </a:lnSpc>
                        <a:spcAft>
                          <a:spcPts val="800"/>
                        </a:spcAft>
                      </a:pPr>
                      <a:r>
                        <a:rPr lang="en-GB" sz="1400" dirty="0" err="1">
                          <a:effectLst/>
                          <a:latin typeface="Open Sans" panose="020B0606030504020204" pitchFamily="34" charset="0"/>
                          <a:ea typeface="Open Sans" panose="020B0606030504020204" pitchFamily="34" charset="0"/>
                          <a:cs typeface="Open Sans" panose="020B0606030504020204" pitchFamily="34" charset="0"/>
                        </a:rPr>
                        <a:t>Vêtements</a:t>
                      </a:r>
                      <a:r>
                        <a:rPr lang="en-GB" sz="1400" dirty="0">
                          <a:effectLst/>
                          <a:latin typeface="Open Sans" panose="020B0606030504020204" pitchFamily="34" charset="0"/>
                          <a:ea typeface="Open Sans" panose="020B0606030504020204" pitchFamily="34" charset="0"/>
                          <a:cs typeface="Open Sans" panose="020B0606030504020204" pitchFamily="34" charset="0"/>
                        </a:rPr>
                        <a:t> et chaussures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Vêtements et chaussures, y compris l'achat, la réparation, les services de tailleur et de blanchisserie</a:t>
                      </a:r>
                    </a:p>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NE COMPRENNENT PAS LES UNIFORMES SCOLAIRES</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560268891"/>
                  </a:ext>
                </a:extLst>
              </a:tr>
              <a:tr h="993181">
                <a:tc>
                  <a:txBody>
                    <a:bodyPr/>
                    <a:lstStyle/>
                    <a:p>
                      <a:pPr>
                        <a:lnSpc>
                          <a:spcPct val="107000"/>
                        </a:lnSpc>
                        <a:spcAft>
                          <a:spcPts val="800"/>
                        </a:spcAft>
                      </a:pPr>
                      <a:r>
                        <a:rPr lang="en-GB" sz="1400" dirty="0">
                          <a:effectLst/>
                          <a:latin typeface="Open Sans" panose="020B0606030504020204" pitchFamily="34" charset="0"/>
                          <a:ea typeface="Open Sans" panose="020B0606030504020204" pitchFamily="34" charset="0"/>
                          <a:cs typeface="Open Sans" panose="020B0606030504020204" pitchFamily="34" charset="0"/>
                        </a:rPr>
                        <a:t>Services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d'éducation</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Frais de scolarité, Frais d'examen, Autres frais</a:t>
                      </a:r>
                    </a:p>
                    <a:p>
                      <a:pPr>
                        <a:lnSpc>
                          <a:spcPct val="107000"/>
                        </a:lnSpc>
                        <a:spcAft>
                          <a:spcPts val="800"/>
                        </a:spcAft>
                      </a:pPr>
                      <a:endParaRPr lang="fr-FR"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161818883"/>
                  </a:ext>
                </a:extLst>
              </a:tr>
            </a:tbl>
          </a:graphicData>
        </a:graphic>
      </p:graphicFrame>
      <p:graphicFrame>
        <p:nvGraphicFramePr>
          <p:cNvPr id="13" name="Table 12">
            <a:extLst>
              <a:ext uri="{FF2B5EF4-FFF2-40B4-BE49-F238E27FC236}">
                <a16:creationId xmlns:a16="http://schemas.microsoft.com/office/drawing/2014/main" id="{9A2955A7-1CB6-420F-99A0-E55E05A39E20}"/>
              </a:ext>
            </a:extLst>
          </p:cNvPr>
          <p:cNvGraphicFramePr>
            <a:graphicFrameLocks noGrp="1"/>
          </p:cNvGraphicFramePr>
          <p:nvPr>
            <p:extLst>
              <p:ext uri="{D42A27DB-BD31-4B8C-83A1-F6EECF244321}">
                <p14:modId xmlns:p14="http://schemas.microsoft.com/office/powerpoint/2010/main" val="302469313"/>
              </p:ext>
            </p:extLst>
          </p:nvPr>
        </p:nvGraphicFramePr>
        <p:xfrm>
          <a:off x="6197601" y="1523454"/>
          <a:ext cx="5913120" cy="4866958"/>
        </p:xfrm>
        <a:graphic>
          <a:graphicData uri="http://schemas.openxmlformats.org/drawingml/2006/table">
            <a:tbl>
              <a:tblPr firstRow="1" bandRow="1">
                <a:tableStyleId>{5C22544A-7EE6-4342-B048-85BDC9FD1C3A}</a:tableStyleId>
              </a:tblPr>
              <a:tblGrid>
                <a:gridCol w="1715273">
                  <a:extLst>
                    <a:ext uri="{9D8B030D-6E8A-4147-A177-3AD203B41FA5}">
                      <a16:colId xmlns:a16="http://schemas.microsoft.com/office/drawing/2014/main" val="2456680879"/>
                    </a:ext>
                  </a:extLst>
                </a:gridCol>
                <a:gridCol w="4197847">
                  <a:extLst>
                    <a:ext uri="{9D8B030D-6E8A-4147-A177-3AD203B41FA5}">
                      <a16:colId xmlns:a16="http://schemas.microsoft.com/office/drawing/2014/main" val="2071999887"/>
                    </a:ext>
                  </a:extLst>
                </a:gridCol>
              </a:tblGrid>
              <a:tr h="370840">
                <a:tc>
                  <a:txBody>
                    <a:bodyPr/>
                    <a:lstStyle/>
                    <a:p>
                      <a:r>
                        <a:rPr lang="en-GB" sz="1400" b="1" dirty="0">
                          <a:latin typeface="Open Sans" panose="020B0606030504020204" pitchFamily="34" charset="0"/>
                          <a:ea typeface="Open Sans" panose="020B0606030504020204" pitchFamily="34" charset="0"/>
                          <a:cs typeface="Open Sans" panose="020B0606030504020204" pitchFamily="34" charset="0"/>
                        </a:rPr>
                        <a:t>Groupe</a:t>
                      </a:r>
                      <a:endParaRPr lang="es-419" sz="1400" b="1"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dirty="0" err="1">
                          <a:latin typeface="Open Sans" panose="020B0606030504020204" pitchFamily="34" charset="0"/>
                          <a:ea typeface="Open Sans" panose="020B0606030504020204" pitchFamily="34" charset="0"/>
                          <a:cs typeface="Open Sans" panose="020B0606030504020204" pitchFamily="34" charset="0"/>
                        </a:rPr>
                        <a:t>Exemples</a:t>
                      </a:r>
                      <a:r>
                        <a:rPr lang="en-GB" sz="1400" dirty="0">
                          <a:latin typeface="Open Sans" panose="020B0606030504020204" pitchFamily="34" charset="0"/>
                          <a:ea typeface="Open Sans" panose="020B0606030504020204" pitchFamily="34" charset="0"/>
                          <a:cs typeface="Open Sans" panose="020B0606030504020204" pitchFamily="34" charset="0"/>
                        </a:rPr>
                        <a:t> des articles</a:t>
                      </a:r>
                      <a:endParaRPr lang="es-419"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877705467"/>
                  </a:ext>
                </a:extLst>
              </a:tr>
              <a:tr h="370840">
                <a:tc>
                  <a:txBody>
                    <a:bodyPr/>
                    <a:lstStyle/>
                    <a:p>
                      <a:pPr>
                        <a:lnSpc>
                          <a:spcPct val="107000"/>
                        </a:lnSpc>
                        <a:spcAft>
                          <a:spcPts val="800"/>
                        </a:spcAft>
                      </a:pPr>
                      <a:r>
                        <a:rPr lang="en-GB" sz="1400" dirty="0" err="1">
                          <a:effectLst/>
                          <a:latin typeface="Open Sans" panose="020B0606030504020204" pitchFamily="34" charset="0"/>
                          <a:ea typeface="Open Sans" panose="020B0606030504020204" pitchFamily="34" charset="0"/>
                          <a:cs typeface="Open Sans" panose="020B0606030504020204" pitchFamily="34" charset="0"/>
                        </a:rPr>
                        <a:t>Biens</a:t>
                      </a:r>
                      <a:r>
                        <a:rPr lang="en-GB" sz="1400" dirty="0">
                          <a:effectLst/>
                          <a:latin typeface="Open Sans" panose="020B0606030504020204" pitchFamily="34" charset="0"/>
                          <a:ea typeface="Open Sans" panose="020B0606030504020204" pitchFamily="34" charset="0"/>
                          <a:cs typeface="Open Sans" panose="020B0606030504020204" pitchFamily="34" charset="0"/>
                        </a:rPr>
                        <a:t> </a:t>
                      </a:r>
                      <a:r>
                        <a:rPr lang="en-GB" sz="1400" dirty="0" err="1">
                          <a:effectLst/>
                          <a:latin typeface="Open Sans" panose="020B0606030504020204" pitchFamily="34" charset="0"/>
                          <a:ea typeface="Open Sans" panose="020B0606030504020204" pitchFamily="34" charset="0"/>
                          <a:cs typeface="Open Sans" panose="020B0606030504020204" pitchFamily="34" charset="0"/>
                        </a:rPr>
                        <a:t>d'éducation</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Autres frais d'éducation, y compris les uniformes, les livres, la cantine, le transport et d'autres matériels d'éducation</a:t>
                      </a:r>
                    </a:p>
                  </a:txBody>
                  <a:tcPr marL="68580" marR="68580" marT="0" marB="0"/>
                </a:tc>
                <a:extLst>
                  <a:ext uri="{0D108BD9-81ED-4DB2-BD59-A6C34878D82A}">
                    <a16:rowId xmlns:a16="http://schemas.microsoft.com/office/drawing/2014/main" val="2532680819"/>
                  </a:ext>
                </a:extLst>
              </a:tr>
              <a:tr h="370840">
                <a:tc>
                  <a:txBody>
                    <a:bodyPr/>
                    <a:lstStyle/>
                    <a:p>
                      <a:pPr>
                        <a:lnSpc>
                          <a:spcPct val="107000"/>
                        </a:lnSpc>
                        <a:spcAft>
                          <a:spcPts val="800"/>
                        </a:spcAft>
                      </a:pPr>
                      <a:r>
                        <a:rPr lang="en-GB" sz="1400" dirty="0" err="1">
                          <a:effectLst/>
                          <a:latin typeface="Open Sans" panose="020B0606030504020204" pitchFamily="34" charset="0"/>
                          <a:ea typeface="Open Sans" panose="020B0606030504020204" pitchFamily="34" charset="0"/>
                          <a:cs typeface="Open Sans" panose="020B0606030504020204" pitchFamily="34" charset="0"/>
                        </a:rPr>
                        <a:t>Loyer</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Loyer payé pour le logement</a:t>
                      </a:r>
                    </a:p>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 NE PAS INCLURE LE LOYER PAYÉ POUR UN DOMAINE (agriculture = commerce)</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922966440"/>
                  </a:ext>
                </a:extLst>
              </a:tr>
              <a:tr h="370840">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Meubles et ustensiles de ménage non durables </a:t>
                      </a:r>
                      <a:r>
                        <a:rPr lang="en-GB" sz="1400" dirty="0">
                          <a:effectLst/>
                          <a:highlight>
                            <a:srgbClr val="00FF00"/>
                          </a:highlight>
                          <a:latin typeface="Open Sans" panose="020B0606030504020204" pitchFamily="34" charset="0"/>
                          <a:ea typeface="Open Sans" panose="020B0606030504020204" pitchFamily="34" charset="0"/>
                          <a:cs typeface="Open Sans" panose="020B0606030504020204" pitchFamily="34" charset="0"/>
                        </a:rPr>
                        <a:t> </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Textiles (draps, couvertures, oreillers, rideaux, tapis) et ustensiles (bols, assiettes, argenterie, casseroles, balais, brosses, parapluies, torches, lampes, ampoules, etc.) </a:t>
                      </a:r>
                    </a:p>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NE COMPREND PAS LES MEUBLES DURABLES, LES ÉQUIPEMENTS ET LES APPAREILS TELS QUE LES LITS, LES TABLES, LES CHAISES, LES RÉFRIGÉRATEURS, LES TÉLÉVISEURS, LES TÉLÉPHONES, LES VENTILATEURS, LES CUISINIÈRES, LES CUISINIÈRES À GAZ...</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086210925"/>
                  </a:ext>
                </a:extLst>
              </a:tr>
              <a:tr h="370840">
                <a:tc>
                  <a:txBody>
                    <a:bodyPr/>
                    <a:lstStyle/>
                    <a:p>
                      <a:pPr>
                        <a:lnSpc>
                          <a:spcPct val="107000"/>
                        </a:lnSpc>
                        <a:spcAft>
                          <a:spcPts val="800"/>
                        </a:spcAft>
                      </a:pPr>
                      <a:r>
                        <a:rPr lang="en-GB" sz="1400" dirty="0">
                          <a:effectLst/>
                          <a:latin typeface="Open Sans" panose="020B0606030504020204" pitchFamily="34" charset="0"/>
                          <a:ea typeface="Open Sans" panose="020B0606030504020204" pitchFamily="34" charset="0"/>
                          <a:cs typeface="Open Sans" panose="020B0606030504020204" pitchFamily="34" charset="0"/>
                        </a:rPr>
                        <a:t>Entretien courant du ménage</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fr-FR" sz="1400" dirty="0">
                          <a:effectLst/>
                          <a:latin typeface="Open Sans" panose="020B0606030504020204" pitchFamily="34" charset="0"/>
                          <a:ea typeface="Open Sans" panose="020B0606030504020204" pitchFamily="34" charset="0"/>
                          <a:cs typeface="Open Sans" panose="020B0606030504020204" pitchFamily="34" charset="0"/>
                        </a:rPr>
                        <a:t>Biens et services pour l'entretien courant du foyer (comme les réparations du logement, les réparations des appareils et du mobilier, etc.)</a:t>
                      </a:r>
                      <a:endParaRPr lang="es-419" sz="140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4005616343"/>
                  </a:ext>
                </a:extLst>
              </a:tr>
            </a:tbl>
          </a:graphicData>
        </a:graphic>
      </p:graphicFrame>
    </p:spTree>
    <p:extLst>
      <p:ext uri="{BB962C8B-B14F-4D97-AF65-F5344CB8AC3E}">
        <p14:creationId xmlns:p14="http://schemas.microsoft.com/office/powerpoint/2010/main" val="2638264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ALDEN SOLID" pitchFamily="2" charset="0"/>
            </a:endParaRPr>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b="0" dirty="0">
              <a:solidFill>
                <a:srgbClr val="FFFFFE"/>
              </a:solidFill>
              <a:latin typeface="HALDEN SOLID" pitchFamily="2" charset="0"/>
              <a:ea typeface="Open Sans Extrabold" panose="020B0606030504020204" pitchFamily="34" charset="0"/>
              <a:cs typeface="Open Sans Extrabold" panose="020B0606030504020204" pitchFamily="34" charset="0"/>
            </a:endParaRPr>
          </a:p>
          <a:p>
            <a:pPr>
              <a:lnSpc>
                <a:spcPts val="3920"/>
              </a:lnSpc>
            </a:pPr>
            <a:r>
              <a:rPr lang="fr-FR" b="0" dirty="0">
                <a:solidFill>
                  <a:srgbClr val="FFFFFE"/>
                </a:solidFill>
                <a:latin typeface="HALDEN SOLID" pitchFamily="2" charset="0"/>
                <a:ea typeface="Open Sans Extrabold" panose="020B0606030504020204" pitchFamily="34" charset="0"/>
                <a:cs typeface="Open Sans Extrabold" panose="020B0606030504020204" pitchFamily="34" charset="0"/>
              </a:rPr>
              <a:t>Considérations sur l'administration du module</a:t>
            </a:r>
          </a:p>
          <a:p>
            <a:pPr>
              <a:lnSpc>
                <a:spcPts val="3920"/>
              </a:lnSpc>
            </a:pPr>
            <a:r>
              <a:rPr lang="fr-FR" sz="2000" b="0" dirty="0">
                <a:latin typeface="HALDEN SOLID" pitchFamily="2" charset="0"/>
              </a:rPr>
              <a:t>Conseils pour la mise en œuvre</a:t>
            </a:r>
            <a:endParaRPr lang="en-GB" sz="2900" b="0"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72667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D817-3366-462F-A336-BFC1884668EB}"/>
              </a:ext>
            </a:extLst>
          </p:cNvPr>
          <p:cNvSpPr>
            <a:spLocks noGrp="1"/>
          </p:cNvSpPr>
          <p:nvPr>
            <p:ph type="title"/>
          </p:nvPr>
        </p:nvSpPr>
        <p:spPr>
          <a:xfrm>
            <a:off x="846310" y="664870"/>
            <a:ext cx="11345689" cy="1152000"/>
          </a:xfrm>
        </p:spPr>
        <p:txBody>
          <a:bodyPr vert="horz" lIns="91440" tIns="45720" rIns="91440" bIns="45720" rtlCol="0" anchor="ctr">
            <a:noAutofit/>
          </a:bodyPr>
          <a:lstStyle/>
          <a:p>
            <a:r>
              <a:rPr lang="fr-FR" sz="3600" b="0" kern="1400" spc="230" dirty="0">
                <a:solidFill>
                  <a:schemeClr val="tx1"/>
                </a:solidFill>
                <a:latin typeface="HALDEN SOLID" pitchFamily="2" charset="0"/>
              </a:rPr>
              <a:t>Groupes non alimentaires : considérations générales</a:t>
            </a:r>
            <a:endParaRPr lang="es-419" sz="3600" b="0" kern="1400" spc="230" dirty="0">
              <a:solidFill>
                <a:schemeClr val="tx1"/>
              </a:solidFill>
              <a:latin typeface="HALDEN SOLID" pitchFamily="2" charset="0"/>
            </a:endParaRPr>
          </a:p>
        </p:txBody>
      </p:sp>
      <p:sp>
        <p:nvSpPr>
          <p:cNvPr id="4" name="Content Placeholder 3">
            <a:extLst>
              <a:ext uri="{FF2B5EF4-FFF2-40B4-BE49-F238E27FC236}">
                <a16:creationId xmlns:a16="http://schemas.microsoft.com/office/drawing/2014/main" id="{50CDABED-64CA-409D-947E-9E4ECEDC0F21}"/>
              </a:ext>
            </a:extLst>
          </p:cNvPr>
          <p:cNvSpPr>
            <a:spLocks noGrp="1"/>
          </p:cNvSpPr>
          <p:nvPr>
            <p:ph idx="1"/>
          </p:nvPr>
        </p:nvSpPr>
        <p:spPr/>
        <p:txBody>
          <a:bodyPr>
            <a:normAutofit/>
          </a:bodyPr>
          <a:lstStyle/>
          <a:p>
            <a:r>
              <a:rPr lang="fr-FR" sz="1600" dirty="0"/>
              <a:t>N'oubliez pas que nous ne posons pas seulement des questions sur les </a:t>
            </a:r>
            <a:r>
              <a:rPr lang="fr-FR" sz="1600" b="1" dirty="0"/>
              <a:t>biens, mais aussi sur les services </a:t>
            </a:r>
            <a:r>
              <a:rPr lang="fr-FR" sz="1600" dirty="0"/>
              <a:t>; si les personnes interrogées semblent ne déclarer que des biens, posez des questions sur les services.</a:t>
            </a:r>
          </a:p>
          <a:p>
            <a:r>
              <a:rPr lang="fr-FR" sz="1600" dirty="0"/>
              <a:t>Pour les groupes non alimentaires, il est important de s'assurer que les répondants </a:t>
            </a:r>
            <a:r>
              <a:rPr lang="fr-FR" sz="1600" b="1" dirty="0"/>
              <a:t>ne déclarent pas deux fois la même dépense sous des groupes différents </a:t>
            </a:r>
            <a:r>
              <a:rPr lang="fr-FR" sz="1600" dirty="0"/>
              <a:t>(par exemple, « carburant » sous « biens et services liés au transport » ou sous « autres sources d'énergie pour la cuisine, le chauffage, l'éclairage, etc.</a:t>
            </a:r>
          </a:p>
          <a:p>
            <a:r>
              <a:rPr lang="fr-FR" sz="1600" dirty="0"/>
              <a:t>Comme indiqué dans le questionnaire, il est très important </a:t>
            </a:r>
            <a:r>
              <a:rPr lang="fr-FR" sz="1600" b="1" u="sng" dirty="0"/>
              <a:t>que les dépenses importantes ne soient pas incluses </a:t>
            </a:r>
            <a:r>
              <a:rPr lang="fr-FR" sz="1600" dirty="0"/>
              <a:t>(par exemple, l'achat de véhicules, de téléphones, de gros meubles, d'appareils électroménagers...).</a:t>
            </a:r>
          </a:p>
          <a:p>
            <a:r>
              <a:rPr lang="fr-FR" sz="1600" dirty="0"/>
              <a:t>Assurez-vous que les </a:t>
            </a:r>
            <a:r>
              <a:rPr lang="fr-FR" sz="1600" b="1" dirty="0"/>
              <a:t>répondants ne déclarent pas les dépenses effectuées pour les intrants et les investissements de l'entreprise</a:t>
            </a:r>
            <a:r>
              <a:rPr lang="fr-FR" sz="1600" dirty="0"/>
              <a:t> (cela inclut le loyer payé pour les champs agricoles, même s'ils sont utilisés pour la production propre).</a:t>
            </a:r>
            <a:endParaRPr lang="en-GB" sz="1600" dirty="0"/>
          </a:p>
          <a:p>
            <a:pPr marL="0" indent="0">
              <a:buNone/>
            </a:pPr>
            <a:endParaRPr lang="en-GB" sz="1600" dirty="0"/>
          </a:p>
        </p:txBody>
      </p:sp>
      <p:pic>
        <p:nvPicPr>
          <p:cNvPr id="3" name="Graphic 2" descr="Warning with solid fill">
            <a:extLst>
              <a:ext uri="{FF2B5EF4-FFF2-40B4-BE49-F238E27FC236}">
                <a16:creationId xmlns:a16="http://schemas.microsoft.com/office/drawing/2014/main" id="{FAE9F2D1-262A-2231-76D9-2ED2819061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62048" y="4462011"/>
            <a:ext cx="567280" cy="579120"/>
          </a:xfrm>
          <a:prstGeom prst="rect">
            <a:avLst/>
          </a:prstGeom>
        </p:spPr>
      </p:pic>
    </p:spTree>
    <p:extLst>
      <p:ext uri="{BB962C8B-B14F-4D97-AF65-F5344CB8AC3E}">
        <p14:creationId xmlns:p14="http://schemas.microsoft.com/office/powerpoint/2010/main" val="2004035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9C8B-1CA7-44DD-95CE-71D19628CCCF}"/>
              </a:ext>
            </a:extLst>
          </p:cNvPr>
          <p:cNvSpPr>
            <a:spLocks noGrp="1"/>
          </p:cNvSpPr>
          <p:nvPr>
            <p:ph type="title"/>
          </p:nvPr>
        </p:nvSpPr>
        <p:spPr>
          <a:xfrm>
            <a:off x="846311" y="664870"/>
            <a:ext cx="10542124" cy="715356"/>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rappel!</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19B72B6D-FE1D-4106-85C0-F6F48EA13ABB}"/>
              </a:ext>
            </a:extLst>
          </p:cNvPr>
          <p:cNvSpPr>
            <a:spLocks noGrp="1"/>
          </p:cNvSpPr>
          <p:nvPr>
            <p:ph idx="1"/>
          </p:nvPr>
        </p:nvSpPr>
        <p:spPr>
          <a:xfrm>
            <a:off x="713178" y="1406765"/>
            <a:ext cx="10920022" cy="3246515"/>
          </a:xfrm>
        </p:spPr>
        <p:txBody>
          <a:bodyPr>
            <a:normAutofit/>
          </a:bodyPr>
          <a:lstStyle/>
          <a:p>
            <a:r>
              <a:rPr lang="fr-FR" sz="1800" dirty="0"/>
              <a:t>Pour les produits alimentaires et non alimentaires, nous commençons par demander : « Au cours des [XX] derniers jours, votre ménage a-t-il </a:t>
            </a:r>
            <a:r>
              <a:rPr lang="fr-FR" sz="1800" b="1" dirty="0"/>
              <a:t>acheté</a:t>
            </a:r>
            <a:r>
              <a:rPr lang="fr-FR" sz="1800" dirty="0"/>
              <a:t> un article en espèces ou à crédit ? </a:t>
            </a:r>
          </a:p>
          <a:p>
            <a:pPr lvl="1"/>
            <a:r>
              <a:rPr lang="fr-FR" dirty="0"/>
              <a:t>Si oui, nous demandons la valeur.</a:t>
            </a:r>
          </a:p>
          <a:p>
            <a:r>
              <a:rPr lang="fr-FR" sz="1800" dirty="0"/>
              <a:t>Nous posons ensuite des questions sur </a:t>
            </a:r>
            <a:r>
              <a:rPr lang="fr-FR" sz="1800" b="1" dirty="0"/>
              <a:t>l'utilisation</a:t>
            </a:r>
            <a:r>
              <a:rPr lang="fr-FR" sz="1800" dirty="0"/>
              <a:t> d'articles (produits et services) provenant de dons ou d'assistance en nature. </a:t>
            </a:r>
          </a:p>
          <a:p>
            <a:r>
              <a:rPr lang="fr-FR" sz="1800" dirty="0"/>
              <a:t>Ce n'est qu'ici que nous demandons d'estimer la valeur des articles qui ont été </a:t>
            </a:r>
            <a:r>
              <a:rPr lang="fr-FR" sz="1800" b="1" dirty="0"/>
              <a:t>« utilisés » mais non achetés</a:t>
            </a:r>
            <a:r>
              <a:rPr lang="fr-FR" sz="1800" dirty="0"/>
              <a:t> -&gt; uniquement lorsqu'ils ont été reçus sous forme de cadeaux ou d'assistance en nature</a:t>
            </a:r>
            <a:r>
              <a:rPr lang="fr-FR" dirty="0"/>
              <a:t>. </a:t>
            </a:r>
            <a:endParaRPr lang="en-GB" dirty="0"/>
          </a:p>
          <a:p>
            <a:pPr lvl="1"/>
            <a:endParaRPr lang="es-419"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24345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1D97-EAA3-3A09-2412-EF2079119F1D}"/>
              </a:ext>
            </a:extLst>
          </p:cNvPr>
          <p:cNvSpPr>
            <a:spLocks noGrp="1"/>
          </p:cNvSpPr>
          <p:nvPr>
            <p:ph type="title"/>
          </p:nvPr>
        </p:nvSpPr>
        <p:spPr>
          <a:xfrm>
            <a:off x="308756" y="-252842"/>
            <a:ext cx="10542124" cy="1152000"/>
          </a:xfrm>
        </p:spPr>
        <p:txBody>
          <a:bodyPr/>
          <a:lstStyle/>
          <a:p>
            <a:r>
              <a:rPr lang="en-GB" sz="3200" b="0" kern="1400" spc="230" dirty="0" err="1">
                <a:solidFill>
                  <a:schemeClr val="tx1"/>
                </a:solidFill>
                <a:latin typeface="HALDEN SOLID" pitchFamily="2" charset="0"/>
              </a:rPr>
              <a:t>Précisions</a:t>
            </a:r>
            <a:endParaRPr lang="en-GB" dirty="0"/>
          </a:p>
        </p:txBody>
      </p:sp>
      <p:graphicFrame>
        <p:nvGraphicFramePr>
          <p:cNvPr id="4" name="Table 4">
            <a:extLst>
              <a:ext uri="{FF2B5EF4-FFF2-40B4-BE49-F238E27FC236}">
                <a16:creationId xmlns:a16="http://schemas.microsoft.com/office/drawing/2014/main" id="{FF381F9A-3660-3DAB-034E-6364296DD215}"/>
              </a:ext>
            </a:extLst>
          </p:cNvPr>
          <p:cNvGraphicFramePr>
            <a:graphicFrameLocks noGrp="1"/>
          </p:cNvGraphicFramePr>
          <p:nvPr>
            <p:ph idx="1"/>
            <p:extLst>
              <p:ext uri="{D42A27DB-BD31-4B8C-83A1-F6EECF244321}">
                <p14:modId xmlns:p14="http://schemas.microsoft.com/office/powerpoint/2010/main" val="443480907"/>
              </p:ext>
            </p:extLst>
          </p:nvPr>
        </p:nvGraphicFramePr>
        <p:xfrm>
          <a:off x="493986" y="657727"/>
          <a:ext cx="11552209" cy="5825551"/>
        </p:xfrm>
        <a:graphic>
          <a:graphicData uri="http://schemas.openxmlformats.org/drawingml/2006/table">
            <a:tbl>
              <a:tblPr firstRow="1" bandRow="1">
                <a:tableStyleId>{5C22544A-7EE6-4342-B048-85BDC9FD1C3A}</a:tableStyleId>
              </a:tblPr>
              <a:tblGrid>
                <a:gridCol w="1270744">
                  <a:extLst>
                    <a:ext uri="{9D8B030D-6E8A-4147-A177-3AD203B41FA5}">
                      <a16:colId xmlns:a16="http://schemas.microsoft.com/office/drawing/2014/main" val="126957414"/>
                    </a:ext>
                  </a:extLst>
                </a:gridCol>
                <a:gridCol w="5065584">
                  <a:extLst>
                    <a:ext uri="{9D8B030D-6E8A-4147-A177-3AD203B41FA5}">
                      <a16:colId xmlns:a16="http://schemas.microsoft.com/office/drawing/2014/main" val="415420481"/>
                    </a:ext>
                  </a:extLst>
                </a:gridCol>
                <a:gridCol w="5215881">
                  <a:extLst>
                    <a:ext uri="{9D8B030D-6E8A-4147-A177-3AD203B41FA5}">
                      <a16:colId xmlns:a16="http://schemas.microsoft.com/office/drawing/2014/main" val="4149162347"/>
                    </a:ext>
                  </a:extLst>
                </a:gridCol>
              </a:tblGrid>
              <a:tr h="422677">
                <a:tc>
                  <a:txBody>
                    <a:bodyPr/>
                    <a:lstStyle/>
                    <a:p>
                      <a:r>
                        <a:rPr lang="en-GB" sz="1400">
                          <a:latin typeface="Open Sans"/>
                          <a:ea typeface="Open Sans"/>
                          <a:cs typeface="Open Sans"/>
                        </a:rPr>
                        <a:t>Source</a:t>
                      </a:r>
                    </a:p>
                  </a:txBody>
                  <a:tcPr/>
                </a:tc>
                <a:tc>
                  <a:txBody>
                    <a:bodyPr/>
                    <a:lstStyle/>
                    <a:p>
                      <a:r>
                        <a:rPr lang="en-GB" sz="1400" dirty="0">
                          <a:latin typeface="Open Sans"/>
                          <a:ea typeface="Open Sans"/>
                          <a:cs typeface="Open Sans"/>
                        </a:rPr>
                        <a:t>À </a:t>
                      </a:r>
                      <a:r>
                        <a:rPr lang="en-GB" sz="1400" dirty="0" err="1">
                          <a:latin typeface="Open Sans"/>
                          <a:ea typeface="Open Sans"/>
                          <a:cs typeface="Open Sans"/>
                        </a:rPr>
                        <a:t>comptabiliser</a:t>
                      </a:r>
                      <a:endParaRPr lang="en-GB" sz="1400" dirty="0">
                        <a:latin typeface="Open Sans"/>
                        <a:ea typeface="Open Sans"/>
                        <a:cs typeface="Open Sans"/>
                      </a:endParaRPr>
                    </a:p>
                  </a:txBody>
                  <a:tcPr/>
                </a:tc>
                <a:tc>
                  <a:txBody>
                    <a:bodyPr/>
                    <a:lstStyle/>
                    <a:p>
                      <a:r>
                        <a:rPr lang="en-GB" sz="1400" dirty="0">
                          <a:latin typeface="Open Sans"/>
                          <a:ea typeface="Open Sans"/>
                          <a:cs typeface="Open Sans"/>
                        </a:rPr>
                        <a:t>A ne pas </a:t>
                      </a:r>
                      <a:r>
                        <a:rPr lang="en-GB" sz="1400" dirty="0" err="1">
                          <a:latin typeface="Open Sans"/>
                          <a:ea typeface="Open Sans"/>
                          <a:cs typeface="Open Sans"/>
                        </a:rPr>
                        <a:t>comptabiliser</a:t>
                      </a:r>
                      <a:endParaRPr lang="en-GB" sz="1400" dirty="0">
                        <a:latin typeface="Open Sans"/>
                        <a:ea typeface="Open Sans"/>
                        <a:cs typeface="Open Sans"/>
                      </a:endParaRPr>
                    </a:p>
                  </a:txBody>
                  <a:tcPr/>
                </a:tc>
                <a:extLst>
                  <a:ext uri="{0D108BD9-81ED-4DB2-BD59-A6C34878D82A}">
                    <a16:rowId xmlns:a16="http://schemas.microsoft.com/office/drawing/2014/main" val="3579747738"/>
                  </a:ext>
                </a:extLst>
              </a:tr>
              <a:tr h="1751594">
                <a:tc>
                  <a:txBody>
                    <a:bodyPr/>
                    <a:lstStyle/>
                    <a:p>
                      <a:r>
                        <a:rPr lang="fr-FR" sz="1400" b="1" dirty="0">
                          <a:latin typeface="Open Sans"/>
                          <a:ea typeface="Open Sans"/>
                          <a:cs typeface="Open Sans"/>
                        </a:rPr>
                        <a:t>Achats (en espèces et à crédit)</a:t>
                      </a:r>
                      <a:endParaRPr lang="en-GB" sz="1400" b="1" dirty="0">
                        <a:latin typeface="Open Sans"/>
                        <a:ea typeface="Open Sans"/>
                        <a:cs typeface="Open Sans"/>
                      </a:endParaRPr>
                    </a:p>
                  </a:txBody>
                  <a:tcPr/>
                </a:tc>
                <a:tc>
                  <a:txBody>
                    <a:bodyPr/>
                    <a:lstStyle/>
                    <a:p>
                      <a:pPr marL="104775" lvl="1" indent="0">
                        <a:buFont typeface="Arial" panose="020B0604020202020204" pitchFamily="34" charset="0"/>
                        <a:buNone/>
                      </a:pPr>
                      <a:r>
                        <a:rPr lang="fr-FR" sz="1400" dirty="0">
                          <a:latin typeface="Open Sans"/>
                          <a:ea typeface="Open Sans"/>
                          <a:cs typeface="Open Sans"/>
                        </a:rPr>
                        <a:t>Si un ménage a </a:t>
                      </a:r>
                      <a:r>
                        <a:rPr lang="fr-FR" sz="1400" u="sng" dirty="0">
                          <a:latin typeface="Open Sans"/>
                          <a:ea typeface="Open Sans"/>
                          <a:cs typeface="Open Sans"/>
                        </a:rPr>
                        <a:t>acheté</a:t>
                      </a:r>
                      <a:r>
                        <a:rPr lang="fr-FR" sz="1400" dirty="0">
                          <a:latin typeface="Open Sans"/>
                          <a:ea typeface="Open Sans"/>
                          <a:cs typeface="Open Sans"/>
                        </a:rPr>
                        <a:t> de la nourriture au cours des </a:t>
                      </a:r>
                      <a:r>
                        <a:rPr lang="fr-FR" sz="1400" u="sng" dirty="0">
                          <a:latin typeface="Open Sans"/>
                          <a:ea typeface="Open Sans"/>
                          <a:cs typeface="Open Sans"/>
                        </a:rPr>
                        <a:t>sept derniers jours</a:t>
                      </a:r>
                      <a:r>
                        <a:rPr lang="fr-FR" sz="1400" dirty="0">
                          <a:latin typeface="Open Sans"/>
                          <a:ea typeface="Open Sans"/>
                          <a:cs typeface="Open Sans"/>
                        </a:rPr>
                        <a:t>, le coût du produit doit être pris en compte. </a:t>
                      </a:r>
                    </a:p>
                  </a:txBody>
                  <a:tcPr/>
                </a:tc>
                <a:tc>
                  <a:txBody>
                    <a:bodyPr/>
                    <a:lstStyle/>
                    <a:p>
                      <a:pPr marL="104775" lvl="1" indent="0">
                        <a:buFont typeface="Arial" panose="020B0604020202020204" pitchFamily="34" charset="0"/>
                        <a:buNone/>
                      </a:pPr>
                      <a:r>
                        <a:rPr lang="fr-FR" sz="1400" dirty="0">
                          <a:latin typeface="Open Sans" panose="020B0606030504020204" pitchFamily="34" charset="0"/>
                          <a:ea typeface="Open Sans" panose="020B0606030504020204" pitchFamily="34" charset="0"/>
                          <a:cs typeface="Open Sans" panose="020B0606030504020204" pitchFamily="34" charset="0"/>
                        </a:rPr>
                        <a:t>Si un ménage a </a:t>
                      </a:r>
                      <a:r>
                        <a:rPr lang="fr-FR" sz="1400" u="sng" dirty="0">
                          <a:latin typeface="Open Sans" panose="020B0606030504020204" pitchFamily="34" charset="0"/>
                          <a:ea typeface="Open Sans" panose="020B0606030504020204" pitchFamily="34" charset="0"/>
                          <a:cs typeface="Open Sans" panose="020B0606030504020204" pitchFamily="34" charset="0"/>
                        </a:rPr>
                        <a:t>acheté</a:t>
                      </a:r>
                      <a:r>
                        <a:rPr lang="fr-FR" sz="1400" dirty="0">
                          <a:latin typeface="Open Sans" panose="020B0606030504020204" pitchFamily="34" charset="0"/>
                          <a:ea typeface="Open Sans" panose="020B0606030504020204" pitchFamily="34" charset="0"/>
                          <a:cs typeface="Open Sans" panose="020B0606030504020204" pitchFamily="34" charset="0"/>
                        </a:rPr>
                        <a:t> de la nourriture il y a </a:t>
                      </a:r>
                      <a:r>
                        <a:rPr lang="fr-FR" sz="14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plus de 7 jours</a:t>
                      </a:r>
                      <a:r>
                        <a:rPr lang="fr-FR" sz="1400" dirty="0">
                          <a:latin typeface="Open Sans" panose="020B0606030504020204" pitchFamily="34" charset="0"/>
                          <a:ea typeface="Open Sans" panose="020B0606030504020204" pitchFamily="34" charset="0"/>
                          <a:cs typeface="Open Sans" panose="020B0606030504020204" pitchFamily="34" charset="0"/>
                        </a:rPr>
                        <a:t>, mais qu'il l'utilise encore, </a:t>
                      </a:r>
                      <a:r>
                        <a:rPr lang="fr-FR" sz="14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nous ne la comptons pas </a:t>
                      </a:r>
                      <a:r>
                        <a:rPr lang="fr-FR" sz="1400" dirty="0">
                          <a:latin typeface="Open Sans" panose="020B0606030504020204" pitchFamily="34" charset="0"/>
                          <a:ea typeface="Open Sans" panose="020B0606030504020204" pitchFamily="34" charset="0"/>
                          <a:cs typeface="Open Sans" panose="020B0606030504020204" pitchFamily="34" charset="0"/>
                        </a:rPr>
                        <a:t>! (Nous ne nous intéressons qu'à </a:t>
                      </a:r>
                      <a:r>
                        <a:rPr lang="fr-FR" sz="1400" u="sng" dirty="0">
                          <a:latin typeface="Open Sans" panose="020B0606030504020204" pitchFamily="34" charset="0"/>
                          <a:ea typeface="Open Sans" panose="020B0606030504020204" pitchFamily="34" charset="0"/>
                          <a:cs typeface="Open Sans" panose="020B0606030504020204" pitchFamily="34" charset="0"/>
                        </a:rPr>
                        <a:t>l'évaluation des achats </a:t>
                      </a:r>
                      <a:r>
                        <a:rPr lang="fr-FR" sz="1400" dirty="0">
                          <a:latin typeface="Open Sans" panose="020B0606030504020204" pitchFamily="34" charset="0"/>
                          <a:ea typeface="Open Sans" panose="020B0606030504020204" pitchFamily="34" charset="0"/>
                          <a:cs typeface="Open Sans" panose="020B0606030504020204" pitchFamily="34" charset="0"/>
                        </a:rPr>
                        <a:t>effectués au cours de la période mentionnée par catégorie).</a:t>
                      </a:r>
                      <a:endParaRPr lang="en-GB"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400" dirty="0">
                        <a:latin typeface="Open Sans" panose="020B0606030504020204" pitchFamily="34" charset="0"/>
                        <a:ea typeface="Open Sans" panose="020B0606030504020204" pitchFamily="34" charset="0"/>
                        <a:cs typeface="Open Sans" panose="020B0606030504020204" pitchFamily="34" charset="0"/>
                      </a:endParaRPr>
                    </a:p>
                    <a:p>
                      <a:endParaRPr lang="en-GB"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76042217"/>
                  </a:ext>
                </a:extLst>
              </a:tr>
              <a:tr h="1899686">
                <a:tc>
                  <a:txBody>
                    <a:bodyPr/>
                    <a:lstStyle/>
                    <a:p>
                      <a:r>
                        <a:rPr lang="fr-FR" sz="1400" b="1" dirty="0">
                          <a:latin typeface="Open Sans"/>
                          <a:ea typeface="Open Sans"/>
                          <a:cs typeface="Open Sans"/>
                        </a:rPr>
                        <a:t>Assistance ou dons en nature</a:t>
                      </a:r>
                      <a:endParaRPr lang="en-GB" sz="1400" b="1" dirty="0">
                        <a:latin typeface="Open Sans"/>
                        <a:ea typeface="Open Sans"/>
                        <a:cs typeface="Open Sans"/>
                      </a:endParaRPr>
                    </a:p>
                  </a:txBody>
                  <a:tcPr/>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fr-FR" sz="1400" dirty="0">
                          <a:latin typeface="Open Sans"/>
                          <a:ea typeface="Open Sans"/>
                          <a:cs typeface="Open Sans"/>
                        </a:rPr>
                        <a:t>Si un ménage consomme des aliments reçus sous forme d'un panier alimentaire (assistance en nature), quelle que soit la date à laquelle il les a reçus (</a:t>
                      </a:r>
                      <a:r>
                        <a:rPr lang="fr-FR" sz="1400" u="sng" dirty="0">
                          <a:latin typeface="Open Sans"/>
                          <a:ea typeface="Open Sans"/>
                          <a:cs typeface="Open Sans"/>
                        </a:rPr>
                        <a:t>au cours ou au-delà des sept derniers jours</a:t>
                      </a:r>
                      <a:r>
                        <a:rPr lang="fr-FR" sz="1400" dirty="0">
                          <a:latin typeface="Open Sans"/>
                          <a:ea typeface="Open Sans"/>
                          <a:cs typeface="Open Sans"/>
                        </a:rPr>
                        <a:t>), une valeur estimée doit être fournie. </a:t>
                      </a:r>
                      <a:endParaRPr lang="en-GB"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fr-FR" sz="1400" dirty="0">
                          <a:latin typeface="Open Sans" panose="020B0606030504020204" pitchFamily="34" charset="0"/>
                          <a:ea typeface="Open Sans" panose="020B0606030504020204" pitchFamily="34" charset="0"/>
                          <a:cs typeface="Open Sans" panose="020B0606030504020204" pitchFamily="34" charset="0"/>
                        </a:rPr>
                        <a:t>Si un ménage </a:t>
                      </a:r>
                      <a:r>
                        <a:rPr lang="fr-FR" sz="1400" u="sng" dirty="0">
                          <a:latin typeface="Open Sans" panose="020B0606030504020204" pitchFamily="34" charset="0"/>
                          <a:ea typeface="Open Sans" panose="020B0606030504020204" pitchFamily="34" charset="0"/>
                          <a:cs typeface="Open Sans" panose="020B0606030504020204" pitchFamily="34" charset="0"/>
                        </a:rPr>
                        <a:t>a reçu </a:t>
                      </a:r>
                      <a:r>
                        <a:rPr lang="fr-FR" sz="1400" dirty="0">
                          <a:latin typeface="Open Sans" panose="020B0606030504020204" pitchFamily="34" charset="0"/>
                          <a:ea typeface="Open Sans" panose="020B0606030504020204" pitchFamily="34" charset="0"/>
                          <a:cs typeface="Open Sans" panose="020B0606030504020204" pitchFamily="34" charset="0"/>
                        </a:rPr>
                        <a:t>de la nourriture sous forme de panier alimentaire (assistance en nature) au cours des 7 derniers jours, </a:t>
                      </a:r>
                      <a:r>
                        <a:rPr lang="fr-FR" sz="1400" u="sng" dirty="0">
                          <a:solidFill>
                            <a:schemeClr val="accent2"/>
                          </a:solidFill>
                          <a:latin typeface="Open Sans" panose="020B0606030504020204" pitchFamily="34" charset="0"/>
                          <a:ea typeface="Open Sans" panose="020B0606030504020204" pitchFamily="34" charset="0"/>
                          <a:cs typeface="Open Sans" panose="020B0606030504020204" pitchFamily="34" charset="0"/>
                        </a:rPr>
                        <a:t>mais n'a pas encore commencé à la consommer</a:t>
                      </a:r>
                      <a:r>
                        <a:rPr lang="fr-FR" sz="1400" dirty="0">
                          <a:latin typeface="Open Sans" panose="020B0606030504020204" pitchFamily="34" charset="0"/>
                          <a:ea typeface="Open Sans" panose="020B0606030504020204" pitchFamily="34" charset="0"/>
                          <a:cs typeface="Open Sans" panose="020B0606030504020204" pitchFamily="34" charset="0"/>
                        </a:rPr>
                        <a:t>, nous ne la comptons pas. </a:t>
                      </a:r>
                      <a:endParaRPr lang="en-GB"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647556952"/>
                  </a:ext>
                </a:extLst>
              </a:tr>
              <a:tr h="1751594">
                <a:tc>
                  <a:txBody>
                    <a:bodyPr/>
                    <a:lstStyle/>
                    <a:p>
                      <a:r>
                        <a:rPr lang="fr-FR" sz="1400" b="1" dirty="0">
                          <a:latin typeface="Open Sans"/>
                          <a:ea typeface="Open Sans"/>
                          <a:cs typeface="Open Sans"/>
                        </a:rPr>
                        <a:t>Production propre (uniquement pour les denrées alimentaires*)</a:t>
                      </a:r>
                      <a:endParaRPr lang="en-GB" sz="1400" b="1" dirty="0">
                        <a:latin typeface="Open Sans"/>
                        <a:ea typeface="Open Sans"/>
                        <a:cs typeface="Open Sans"/>
                      </a:endParaRP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fr-FR" sz="1400" dirty="0">
                          <a:latin typeface="Open Sans"/>
                          <a:ea typeface="Open Sans"/>
                          <a:cs typeface="Open Sans"/>
                        </a:rPr>
                        <a:t>Si un ménage a consommé </a:t>
                      </a:r>
                      <a:r>
                        <a:rPr lang="fr-FR" sz="1400" u="sng" dirty="0">
                          <a:latin typeface="Open Sans"/>
                          <a:ea typeface="Open Sans"/>
                          <a:cs typeface="Open Sans"/>
                        </a:rPr>
                        <a:t>au cours des sept derniers jours </a:t>
                      </a:r>
                      <a:r>
                        <a:rPr lang="fr-FR" sz="1400" dirty="0">
                          <a:latin typeface="Open Sans"/>
                          <a:ea typeface="Open Sans"/>
                          <a:cs typeface="Open Sans"/>
                        </a:rPr>
                        <a:t>des denrées alimentaires </a:t>
                      </a:r>
                      <a:r>
                        <a:rPr lang="fr-FR" sz="1400" u="sng" dirty="0">
                          <a:latin typeface="Open Sans"/>
                          <a:ea typeface="Open Sans"/>
                          <a:cs typeface="Open Sans"/>
                        </a:rPr>
                        <a:t>qu'il a produites </a:t>
                      </a:r>
                      <a:r>
                        <a:rPr lang="fr-FR" sz="1400" dirty="0">
                          <a:latin typeface="Open Sans"/>
                          <a:ea typeface="Open Sans"/>
                          <a:cs typeface="Open Sans"/>
                        </a:rPr>
                        <a:t>(à un moment donné), une valeur estimée doit être fournie (quel que soit le moment où il les a produites). </a:t>
                      </a:r>
                      <a:endParaRPr lang="en-GB"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104775" lvl="1" indent="0">
                        <a:buFont typeface="Arial" panose="020B0604020202020204" pitchFamily="34" charset="0"/>
                        <a:buNone/>
                      </a:pPr>
                      <a:r>
                        <a:rPr lang="fr-FR" sz="1400" dirty="0">
                          <a:latin typeface="Open Sans"/>
                          <a:ea typeface="Open Sans"/>
                          <a:cs typeface="Open Sans"/>
                        </a:rPr>
                        <a:t>Si un ménage a </a:t>
                      </a:r>
                      <a:r>
                        <a:rPr lang="fr-FR" sz="1400" u="sng" dirty="0">
                          <a:latin typeface="Open Sans"/>
                          <a:ea typeface="Open Sans"/>
                          <a:cs typeface="Open Sans"/>
                        </a:rPr>
                        <a:t>produit de la nourriture </a:t>
                      </a:r>
                      <a:r>
                        <a:rPr lang="fr-FR" sz="1400" dirty="0">
                          <a:latin typeface="Open Sans"/>
                          <a:ea typeface="Open Sans"/>
                          <a:cs typeface="Open Sans"/>
                        </a:rPr>
                        <a:t>au cours des sept derniers jours, </a:t>
                      </a:r>
                      <a:r>
                        <a:rPr lang="fr-FR" sz="1400" u="sng" dirty="0">
                          <a:solidFill>
                            <a:schemeClr val="accent2"/>
                          </a:solidFill>
                          <a:latin typeface="Open Sans"/>
                          <a:ea typeface="Open Sans"/>
                          <a:cs typeface="Open Sans"/>
                        </a:rPr>
                        <a:t>mais ne l'a pas encore consommée</a:t>
                      </a:r>
                      <a:r>
                        <a:rPr lang="fr-FR" sz="1400" dirty="0">
                          <a:latin typeface="Open Sans"/>
                          <a:ea typeface="Open Sans"/>
                          <a:cs typeface="Open Sans"/>
                        </a:rPr>
                        <a:t>, cette production ne sera pas prise en compte. </a:t>
                      </a:r>
                    </a:p>
                  </a:txBody>
                  <a:tcPr/>
                </a:tc>
                <a:extLst>
                  <a:ext uri="{0D108BD9-81ED-4DB2-BD59-A6C34878D82A}">
                    <a16:rowId xmlns:a16="http://schemas.microsoft.com/office/drawing/2014/main" val="4163742486"/>
                  </a:ext>
                </a:extLst>
              </a:tr>
            </a:tbl>
          </a:graphicData>
        </a:graphic>
      </p:graphicFrame>
      <p:grpSp>
        <p:nvGrpSpPr>
          <p:cNvPr id="10" name="Group 9">
            <a:extLst>
              <a:ext uri="{FF2B5EF4-FFF2-40B4-BE49-F238E27FC236}">
                <a16:creationId xmlns:a16="http://schemas.microsoft.com/office/drawing/2014/main" id="{7371C248-B9E1-3989-6DF7-912E153F5D3F}"/>
              </a:ext>
            </a:extLst>
          </p:cNvPr>
          <p:cNvGrpSpPr/>
          <p:nvPr/>
        </p:nvGrpSpPr>
        <p:grpSpPr>
          <a:xfrm>
            <a:off x="4520518" y="3849397"/>
            <a:ext cx="7525668" cy="923330"/>
            <a:chOff x="4866403" y="-174857"/>
            <a:chExt cx="6283820" cy="923330"/>
          </a:xfrm>
        </p:grpSpPr>
        <p:sp>
          <p:nvSpPr>
            <p:cNvPr id="7" name="TextBox 6">
              <a:extLst>
                <a:ext uri="{FF2B5EF4-FFF2-40B4-BE49-F238E27FC236}">
                  <a16:creationId xmlns:a16="http://schemas.microsoft.com/office/drawing/2014/main" id="{CC094609-37D1-8049-FBD0-C58A18BA34CD}"/>
                </a:ext>
              </a:extLst>
            </p:cNvPr>
            <p:cNvSpPr txBox="1"/>
            <p:nvPr/>
          </p:nvSpPr>
          <p:spPr>
            <a:xfrm>
              <a:off x="5333511" y="-174857"/>
              <a:ext cx="5816712" cy="923330"/>
            </a:xfrm>
            <a:prstGeom prst="rect">
              <a:avLst/>
            </a:prstGeom>
            <a:solidFill>
              <a:schemeClr val="accent5"/>
            </a:solidFill>
            <a:ln>
              <a:solidFill>
                <a:schemeClr val="accent1"/>
              </a:solidFill>
            </a:ln>
          </p:spPr>
          <p:txBody>
            <a:bodyPr wrap="square" rtlCol="0">
              <a:spAutoFit/>
            </a:bodyPr>
            <a:lstStyle/>
            <a:p>
              <a:r>
                <a:rPr lang="fr-FR" sz="1800" dirty="0">
                  <a:solidFill>
                    <a:srgbClr val="982B56"/>
                  </a:solidFill>
                  <a:latin typeface="Calibri" panose="020F0502020204030204" pitchFamily="34" charset="0"/>
                  <a:cs typeface="Calibri" panose="020F0502020204030204" pitchFamily="34" charset="0"/>
                </a:rPr>
                <a:t>Pour </a:t>
              </a:r>
              <a:r>
                <a:rPr lang="fr-FR" sz="1800" b="1" dirty="0">
                  <a:solidFill>
                    <a:srgbClr val="982B56"/>
                  </a:solidFill>
                  <a:latin typeface="Calibri" panose="020F0502020204030204" pitchFamily="34" charset="0"/>
                  <a:cs typeface="Calibri" panose="020F0502020204030204" pitchFamily="34" charset="0"/>
                </a:rPr>
                <a:t>l'assistance en nature</a:t>
              </a:r>
              <a:r>
                <a:rPr lang="fr-FR" sz="1800" dirty="0">
                  <a:solidFill>
                    <a:srgbClr val="982B56"/>
                  </a:solidFill>
                  <a:latin typeface="Calibri" panose="020F0502020204030204" pitchFamily="34" charset="0"/>
                  <a:cs typeface="Calibri" panose="020F0502020204030204" pitchFamily="34" charset="0"/>
                </a:rPr>
                <a:t>, le jour de la réception n'a pas d'importance. Nous ne comptons que la </a:t>
              </a:r>
              <a:r>
                <a:rPr lang="fr-FR" sz="1800" u="sng" dirty="0">
                  <a:solidFill>
                    <a:srgbClr val="982B56"/>
                  </a:solidFill>
                  <a:latin typeface="Calibri" panose="020F0502020204030204" pitchFamily="34" charset="0"/>
                  <a:cs typeface="Calibri" panose="020F0502020204030204" pitchFamily="34" charset="0"/>
                </a:rPr>
                <a:t>consommation</a:t>
              </a:r>
              <a:r>
                <a:rPr lang="fr-FR" sz="1800" dirty="0">
                  <a:solidFill>
                    <a:srgbClr val="982B56"/>
                  </a:solidFill>
                  <a:latin typeface="Calibri" panose="020F0502020204030204" pitchFamily="34" charset="0"/>
                  <a:cs typeface="Calibri" panose="020F0502020204030204" pitchFamily="34" charset="0"/>
                </a:rPr>
                <a:t> des produits reçus au cours de la période concernée. </a:t>
              </a:r>
              <a:endParaRPr lang="en-GB" sz="1800" dirty="0">
                <a:solidFill>
                  <a:srgbClr val="982B56"/>
                </a:solidFill>
                <a:latin typeface="Calibri" panose="020F0502020204030204" pitchFamily="34" charset="0"/>
                <a:cs typeface="Calibri" panose="020F0502020204030204" pitchFamily="34" charset="0"/>
              </a:endParaRPr>
            </a:p>
          </p:txBody>
        </p:sp>
        <p:pic>
          <p:nvPicPr>
            <p:cNvPr id="9" name="Graphic 8" descr="Warning with solid fill">
              <a:extLst>
                <a:ext uri="{FF2B5EF4-FFF2-40B4-BE49-F238E27FC236}">
                  <a16:creationId xmlns:a16="http://schemas.microsoft.com/office/drawing/2014/main" id="{5DB5290F-4846-00CA-4535-BDC2919495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6403" y="95550"/>
              <a:ext cx="481235" cy="500967"/>
            </a:xfrm>
            <a:prstGeom prst="rect">
              <a:avLst/>
            </a:prstGeom>
          </p:spPr>
        </p:pic>
      </p:grpSp>
      <p:grpSp>
        <p:nvGrpSpPr>
          <p:cNvPr id="11" name="Group 10">
            <a:extLst>
              <a:ext uri="{FF2B5EF4-FFF2-40B4-BE49-F238E27FC236}">
                <a16:creationId xmlns:a16="http://schemas.microsoft.com/office/drawing/2014/main" id="{3EE28841-5EC1-5E5B-EE52-8BFBD31B66C3}"/>
              </a:ext>
            </a:extLst>
          </p:cNvPr>
          <p:cNvGrpSpPr/>
          <p:nvPr/>
        </p:nvGrpSpPr>
        <p:grpSpPr>
          <a:xfrm>
            <a:off x="4947971" y="2165663"/>
            <a:ext cx="7265317" cy="646331"/>
            <a:chOff x="5257961" y="-94647"/>
            <a:chExt cx="7416951" cy="646331"/>
          </a:xfrm>
        </p:grpSpPr>
        <p:sp>
          <p:nvSpPr>
            <p:cNvPr id="12" name="TextBox 11">
              <a:extLst>
                <a:ext uri="{FF2B5EF4-FFF2-40B4-BE49-F238E27FC236}">
                  <a16:creationId xmlns:a16="http://schemas.microsoft.com/office/drawing/2014/main" id="{ACA529DA-77CA-1087-FEAF-EF6FC41AE8B9}"/>
                </a:ext>
              </a:extLst>
            </p:cNvPr>
            <p:cNvSpPr txBox="1"/>
            <p:nvPr/>
          </p:nvSpPr>
          <p:spPr>
            <a:xfrm>
              <a:off x="5658243" y="-94647"/>
              <a:ext cx="7016669" cy="646331"/>
            </a:xfrm>
            <a:prstGeom prst="rect">
              <a:avLst/>
            </a:prstGeom>
            <a:solidFill>
              <a:schemeClr val="accent5"/>
            </a:solidFill>
            <a:ln>
              <a:solidFill>
                <a:schemeClr val="accent1"/>
              </a:solidFill>
            </a:ln>
          </p:spPr>
          <p:txBody>
            <a:bodyPr wrap="square" rtlCol="0">
              <a:spAutoFit/>
            </a:bodyPr>
            <a:lstStyle/>
            <a:p>
              <a:r>
                <a:rPr lang="fr-FR" sz="1800" dirty="0">
                  <a:solidFill>
                    <a:srgbClr val="982B56"/>
                  </a:solidFill>
                  <a:latin typeface="Calibri" panose="020F0502020204030204" pitchFamily="34" charset="0"/>
                  <a:cs typeface="Calibri" panose="020F0502020204030204" pitchFamily="34" charset="0"/>
                </a:rPr>
                <a:t>Pour les </a:t>
              </a:r>
              <a:r>
                <a:rPr lang="fr-FR" sz="1800" b="1" dirty="0">
                  <a:solidFill>
                    <a:srgbClr val="982B56"/>
                  </a:solidFill>
                  <a:latin typeface="Calibri" panose="020F0502020204030204" pitchFamily="34" charset="0"/>
                  <a:cs typeface="Calibri" panose="020F0502020204030204" pitchFamily="34" charset="0"/>
                </a:rPr>
                <a:t>achats</a:t>
              </a:r>
              <a:r>
                <a:rPr lang="fr-FR" sz="1800" dirty="0">
                  <a:solidFill>
                    <a:srgbClr val="982B56"/>
                  </a:solidFill>
                  <a:latin typeface="Calibri" panose="020F0502020204030204" pitchFamily="34" charset="0"/>
                  <a:cs typeface="Calibri" panose="020F0502020204030204" pitchFamily="34" charset="0"/>
                </a:rPr>
                <a:t>, la consommation n'est pas pertinente. Nous ne comptons que ce qui a été </a:t>
              </a:r>
              <a:r>
                <a:rPr lang="fr-FR" sz="1800" u="sng" dirty="0">
                  <a:solidFill>
                    <a:srgbClr val="982B56"/>
                  </a:solidFill>
                  <a:latin typeface="Calibri" panose="020F0502020204030204" pitchFamily="34" charset="0"/>
                  <a:cs typeface="Calibri" panose="020F0502020204030204" pitchFamily="34" charset="0"/>
                </a:rPr>
                <a:t>acheté</a:t>
              </a:r>
              <a:r>
                <a:rPr lang="fr-FR" sz="1800" dirty="0">
                  <a:solidFill>
                    <a:srgbClr val="982B56"/>
                  </a:solidFill>
                  <a:latin typeface="Calibri" panose="020F0502020204030204" pitchFamily="34" charset="0"/>
                  <a:cs typeface="Calibri" panose="020F0502020204030204" pitchFamily="34" charset="0"/>
                </a:rPr>
                <a:t>, au cours de la période concernée.</a:t>
              </a:r>
              <a:endParaRPr lang="en-GB" sz="1800" dirty="0">
                <a:solidFill>
                  <a:srgbClr val="982B56"/>
                </a:solidFill>
                <a:latin typeface="Calibri" panose="020F0502020204030204" pitchFamily="34" charset="0"/>
                <a:cs typeface="Calibri" panose="020F0502020204030204" pitchFamily="34" charset="0"/>
              </a:endParaRPr>
            </a:p>
          </p:txBody>
        </p:sp>
        <p:pic>
          <p:nvPicPr>
            <p:cNvPr id="13" name="Graphic 12" descr="Warning with solid fill">
              <a:extLst>
                <a:ext uri="{FF2B5EF4-FFF2-40B4-BE49-F238E27FC236}">
                  <a16:creationId xmlns:a16="http://schemas.microsoft.com/office/drawing/2014/main" id="{614A7B7B-87FC-C7B7-BDE3-FA569E1C2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7961" y="59969"/>
              <a:ext cx="489362" cy="491197"/>
            </a:xfrm>
            <a:prstGeom prst="rect">
              <a:avLst/>
            </a:prstGeom>
          </p:spPr>
        </p:pic>
      </p:grpSp>
      <p:grpSp>
        <p:nvGrpSpPr>
          <p:cNvPr id="14" name="Group 13">
            <a:extLst>
              <a:ext uri="{FF2B5EF4-FFF2-40B4-BE49-F238E27FC236}">
                <a16:creationId xmlns:a16="http://schemas.microsoft.com/office/drawing/2014/main" id="{B5539EF2-CA8C-1C7B-2173-25403F9DDA9F}"/>
              </a:ext>
            </a:extLst>
          </p:cNvPr>
          <p:cNvGrpSpPr/>
          <p:nvPr/>
        </p:nvGrpSpPr>
        <p:grpSpPr>
          <a:xfrm>
            <a:off x="4775138" y="5853527"/>
            <a:ext cx="7271053" cy="923330"/>
            <a:chOff x="5079006" y="178067"/>
            <a:chExt cx="6071217" cy="923330"/>
          </a:xfrm>
        </p:grpSpPr>
        <p:sp>
          <p:nvSpPr>
            <p:cNvPr id="15" name="TextBox 14">
              <a:extLst>
                <a:ext uri="{FF2B5EF4-FFF2-40B4-BE49-F238E27FC236}">
                  <a16:creationId xmlns:a16="http://schemas.microsoft.com/office/drawing/2014/main" id="{790A7C51-6643-6F32-D84C-D5A378C3497E}"/>
                </a:ext>
              </a:extLst>
            </p:cNvPr>
            <p:cNvSpPr txBox="1"/>
            <p:nvPr/>
          </p:nvSpPr>
          <p:spPr>
            <a:xfrm>
              <a:off x="5623575" y="178067"/>
              <a:ext cx="5526648" cy="923330"/>
            </a:xfrm>
            <a:prstGeom prst="rect">
              <a:avLst/>
            </a:prstGeom>
            <a:solidFill>
              <a:schemeClr val="accent5"/>
            </a:solidFill>
            <a:ln>
              <a:solidFill>
                <a:schemeClr val="accent1"/>
              </a:solidFill>
            </a:ln>
          </p:spPr>
          <p:txBody>
            <a:bodyPr wrap="square" rtlCol="0">
              <a:spAutoFit/>
            </a:bodyPr>
            <a:lstStyle/>
            <a:p>
              <a:r>
                <a:rPr lang="fr-FR" sz="1800" dirty="0">
                  <a:solidFill>
                    <a:srgbClr val="982B56"/>
                  </a:solidFill>
                  <a:latin typeface="Calibri" panose="020F0502020204030204" pitchFamily="34" charset="0"/>
                  <a:cs typeface="Calibri" panose="020F0502020204030204" pitchFamily="34" charset="0"/>
                </a:rPr>
                <a:t>Pour la </a:t>
              </a:r>
              <a:r>
                <a:rPr lang="fr-FR" sz="1800" b="1" dirty="0">
                  <a:solidFill>
                    <a:srgbClr val="982B56"/>
                  </a:solidFill>
                  <a:latin typeface="Calibri" panose="020F0502020204030204" pitchFamily="34" charset="0"/>
                  <a:cs typeface="Calibri" panose="020F0502020204030204" pitchFamily="34" charset="0"/>
                </a:rPr>
                <a:t>production propre</a:t>
              </a:r>
              <a:r>
                <a:rPr lang="fr-FR" sz="1800" dirty="0">
                  <a:solidFill>
                    <a:srgbClr val="982B56"/>
                  </a:solidFill>
                  <a:latin typeface="Calibri" panose="020F0502020204030204" pitchFamily="34" charset="0"/>
                  <a:cs typeface="Calibri" panose="020F0502020204030204" pitchFamily="34" charset="0"/>
                </a:rPr>
                <a:t>, le moment de la production n'est pas pertinent. Seule la </a:t>
              </a:r>
              <a:r>
                <a:rPr lang="fr-FR" sz="1800" u="sng" dirty="0">
                  <a:solidFill>
                    <a:srgbClr val="982B56"/>
                  </a:solidFill>
                  <a:latin typeface="Calibri" panose="020F0502020204030204" pitchFamily="34" charset="0"/>
                  <a:cs typeface="Calibri" panose="020F0502020204030204" pitchFamily="34" charset="0"/>
                </a:rPr>
                <a:t>consommation</a:t>
              </a:r>
              <a:r>
                <a:rPr lang="fr-FR" sz="1800" dirty="0">
                  <a:solidFill>
                    <a:srgbClr val="982B56"/>
                  </a:solidFill>
                  <a:latin typeface="Calibri" panose="020F0502020204030204" pitchFamily="34" charset="0"/>
                  <a:cs typeface="Calibri" panose="020F0502020204030204" pitchFamily="34" charset="0"/>
                </a:rPr>
                <a:t> des denrées produites au cours de la période concernée est prise en compte.</a:t>
              </a:r>
              <a:endParaRPr lang="en-GB" sz="1800" dirty="0">
                <a:solidFill>
                  <a:srgbClr val="982B56"/>
                </a:solidFill>
                <a:latin typeface="Calibri" panose="020F0502020204030204" pitchFamily="34" charset="0"/>
                <a:cs typeface="Calibri" panose="020F0502020204030204" pitchFamily="34" charset="0"/>
              </a:endParaRPr>
            </a:p>
          </p:txBody>
        </p:sp>
        <p:pic>
          <p:nvPicPr>
            <p:cNvPr id="16" name="Graphic 15" descr="Warning with solid fill">
              <a:extLst>
                <a:ext uri="{FF2B5EF4-FFF2-40B4-BE49-F238E27FC236}">
                  <a16:creationId xmlns:a16="http://schemas.microsoft.com/office/drawing/2014/main" id="{D229A1E9-2383-5941-5FD5-343F779DE1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79006" y="445697"/>
              <a:ext cx="448606" cy="452120"/>
            </a:xfrm>
            <a:prstGeom prst="rect">
              <a:avLst/>
            </a:prstGeom>
          </p:spPr>
        </p:pic>
      </p:grpSp>
    </p:spTree>
    <p:extLst>
      <p:ext uri="{BB962C8B-B14F-4D97-AF65-F5344CB8AC3E}">
        <p14:creationId xmlns:p14="http://schemas.microsoft.com/office/powerpoint/2010/main" val="1757198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3B28-5BF3-4EBC-BBD0-DDEC553DB8F3}"/>
              </a:ext>
            </a:extLst>
          </p:cNvPr>
          <p:cNvSpPr>
            <a:spLocks noGrp="1"/>
          </p:cNvSpPr>
          <p:nvPr>
            <p:ph type="title"/>
          </p:nvPr>
        </p:nvSpPr>
        <p:spPr/>
        <p:txBody>
          <a:bodyPr vert="horz" lIns="91440" tIns="45720" rIns="91440" bIns="45720" rtlCol="0" anchor="t" anchorCtr="0">
            <a:noAutofit/>
          </a:bodyPr>
          <a:lstStyle/>
          <a:p>
            <a:r>
              <a:rPr lang="en-GB" sz="3600" b="0" kern="1400" spc="230" dirty="0" err="1">
                <a:solidFill>
                  <a:schemeClr val="tx1"/>
                </a:solidFill>
                <a:latin typeface="HALDEN SOLID" pitchFamily="2" charset="0"/>
              </a:rPr>
              <a:t>Considérations</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générales</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2032BBB5-5747-42E0-81FF-AA1BF4BC9A38}"/>
              </a:ext>
            </a:extLst>
          </p:cNvPr>
          <p:cNvSpPr>
            <a:spLocks noGrp="1"/>
          </p:cNvSpPr>
          <p:nvPr>
            <p:ph idx="1"/>
          </p:nvPr>
        </p:nvSpPr>
        <p:spPr>
          <a:xfrm>
            <a:off x="846311" y="1584661"/>
            <a:ext cx="10542124" cy="4100053"/>
          </a:xfrm>
        </p:spPr>
        <p:txBody>
          <a:bodyPr vert="horz" lIns="91440" tIns="45720" rIns="91440" bIns="45720" rtlCol="0" anchor="t">
            <a:normAutofit/>
          </a:bodyPr>
          <a:lstStyle/>
          <a:p>
            <a:r>
              <a:rPr lang="fr-FR" sz="1800" dirty="0"/>
              <a:t>Accorder une attention particulière aux différentes périodes de rappel des sous-modules (7 jours, 30 jours, 6 mois).</a:t>
            </a:r>
          </a:p>
          <a:p>
            <a:r>
              <a:rPr lang="fr-FR" sz="1800" dirty="0"/>
              <a:t>Assurez-vous que les répondants comprennent qu'ils sont censés déclarer au nom de l'ensemble du ménage.</a:t>
            </a:r>
          </a:p>
          <a:p>
            <a:r>
              <a:rPr lang="fr-FR" sz="1800" dirty="0"/>
              <a:t>Peu importe qui a effectué les achats, toutes les dépenses du ménage doivent être déclarées.</a:t>
            </a:r>
          </a:p>
          <a:p>
            <a:r>
              <a:rPr lang="fr-FR" sz="1800" dirty="0"/>
              <a:t>Faites particulièrement attention aux zéros lorsque vous saisissez des valeurs (par exemple, veillez à ne pas écrire 1 000 au lieu de 10 000 !), et aux 8 au lieu des zéros.</a:t>
            </a:r>
          </a:p>
          <a:p>
            <a:r>
              <a:rPr lang="fr-FR" sz="1800" dirty="0">
                <a:latin typeface="Open Sans"/>
                <a:ea typeface="Open Sans"/>
                <a:cs typeface="Open Sans"/>
              </a:rPr>
              <a:t>Assurez-vous que les valeurs sont exprimées dans la monnaie appropriée au contexte.</a:t>
            </a:r>
          </a:p>
          <a:p>
            <a:r>
              <a:rPr lang="fr-FR" sz="1800" dirty="0"/>
              <a:t>Sondez !</a:t>
            </a:r>
            <a:endParaRPr lang="en-GB" sz="1800" dirty="0"/>
          </a:p>
        </p:txBody>
      </p:sp>
    </p:spTree>
    <p:extLst>
      <p:ext uri="{BB962C8B-B14F-4D97-AF65-F5344CB8AC3E}">
        <p14:creationId xmlns:p14="http://schemas.microsoft.com/office/powerpoint/2010/main" val="3122708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BFD7-E30B-4C7A-9ABD-E2F9A06E596C}"/>
              </a:ext>
            </a:extLst>
          </p:cNvPr>
          <p:cNvSpPr>
            <a:spLocks noGrp="1"/>
          </p:cNvSpPr>
          <p:nvPr>
            <p:ph type="title"/>
          </p:nvPr>
        </p:nvSpPr>
        <p:spPr>
          <a:xfrm>
            <a:off x="806206" y="664870"/>
            <a:ext cx="10542124" cy="720869"/>
          </a:xfrm>
        </p:spPr>
        <p:txBody>
          <a:bodyPr vert="horz" lIns="91440" tIns="45720" rIns="91440" bIns="45720" rtlCol="0" anchor="t" anchorCtr="0">
            <a:noAutofit/>
          </a:bodyPr>
          <a:lstStyle/>
          <a:p>
            <a:r>
              <a:rPr lang="en-GB" sz="3600" b="0" kern="1400" spc="230" dirty="0" err="1">
                <a:solidFill>
                  <a:schemeClr val="tx1"/>
                </a:solidFill>
                <a:latin typeface="HALDEN SOLID"/>
                <a:ea typeface="Open Sans Extrabold"/>
                <a:cs typeface="Open Sans Extrabold"/>
              </a:rPr>
              <a:t>quand</a:t>
            </a:r>
            <a:r>
              <a:rPr lang="en-GB" sz="3600" b="0" kern="1400" spc="230" dirty="0">
                <a:solidFill>
                  <a:schemeClr val="tx1"/>
                </a:solidFill>
                <a:latin typeface="HALDEN SOLID"/>
                <a:ea typeface="Open Sans Extrabold"/>
                <a:cs typeface="Open Sans Extrabold"/>
              </a:rPr>
              <a:t> poser des questions </a:t>
            </a:r>
            <a:r>
              <a:rPr lang="en-GB" sz="3600" b="0" kern="1400" spc="230" dirty="0" err="1">
                <a:solidFill>
                  <a:schemeClr val="tx1"/>
                </a:solidFill>
                <a:latin typeface="HALDEN SOLID"/>
                <a:ea typeface="Open Sans Extrabold"/>
                <a:cs typeface="Open Sans Extrabold"/>
              </a:rPr>
              <a:t>d'approfondissement</a:t>
            </a:r>
            <a:r>
              <a:rPr lang="en-GB" sz="3600" b="0" kern="1400" spc="230" dirty="0">
                <a:solidFill>
                  <a:schemeClr val="tx1"/>
                </a:solidFill>
                <a:latin typeface="HALDEN SOLID"/>
                <a:ea typeface="Open Sans Extrabold"/>
                <a:cs typeface="Open Sans Extrabold"/>
              </a:rPr>
              <a:t>?</a:t>
            </a:r>
            <a:endParaRPr lang="es-419" sz="3600" b="0" kern="1400" spc="230" dirty="0">
              <a:solidFill>
                <a:schemeClr val="tx1"/>
              </a:solidFill>
              <a:latin typeface="HALDEN SOLID"/>
              <a:ea typeface="Open Sans Extrabold"/>
              <a:cs typeface="Open Sans Extrabold"/>
            </a:endParaRPr>
          </a:p>
        </p:txBody>
      </p:sp>
      <p:sp>
        <p:nvSpPr>
          <p:cNvPr id="3" name="Content Placeholder 2">
            <a:extLst>
              <a:ext uri="{FF2B5EF4-FFF2-40B4-BE49-F238E27FC236}">
                <a16:creationId xmlns:a16="http://schemas.microsoft.com/office/drawing/2014/main" id="{6B26E0D7-8382-4465-8F88-E9E7514D1BA8}"/>
              </a:ext>
            </a:extLst>
          </p:cNvPr>
          <p:cNvSpPr>
            <a:spLocks noGrp="1"/>
          </p:cNvSpPr>
          <p:nvPr>
            <p:ph idx="1"/>
          </p:nvPr>
        </p:nvSpPr>
        <p:spPr>
          <a:xfrm>
            <a:off x="803565" y="1584661"/>
            <a:ext cx="10542124" cy="4100053"/>
          </a:xfrm>
        </p:spPr>
        <p:txBody>
          <a:bodyPr>
            <a:normAutofit/>
          </a:bodyPr>
          <a:lstStyle/>
          <a:p>
            <a:r>
              <a:rPr lang="fr-FR" dirty="0"/>
              <a:t>Le ménage déclare ne rien dépenser/consommer dans des catégories de consommation très courantes (par exemple, céréales, tubercules, articles d'hygiène, vêtements...)</a:t>
            </a:r>
          </a:p>
          <a:p>
            <a:r>
              <a:rPr lang="fr-FR" dirty="0"/>
              <a:t>Dépenses/consommation qui semblent excessivement faibles ou élevées, notamment par rapport à...</a:t>
            </a:r>
          </a:p>
          <a:p>
            <a:pPr lvl="1"/>
            <a:r>
              <a:rPr lang="fr-FR" dirty="0"/>
              <a:t>La taille du ménage</a:t>
            </a:r>
          </a:p>
          <a:p>
            <a:pPr lvl="1"/>
            <a:r>
              <a:rPr lang="fr-FR" dirty="0"/>
              <a:t>Revenu déclaré (lorsqu'il a été collecté)</a:t>
            </a:r>
          </a:p>
          <a:p>
            <a:pPr lvl="1"/>
            <a:r>
              <a:rPr lang="fr-FR" dirty="0"/>
              <a:t>Type de moyens de subsistance</a:t>
            </a:r>
          </a:p>
          <a:p>
            <a:pPr lvl="1"/>
            <a:r>
              <a:rPr lang="fr-FR" dirty="0"/>
              <a:t>Consommation alimentaire (par exemple, les ménages ne déclarent pas consommer de viande dans le module FCS mais déclarent des dépenses pour la viande)</a:t>
            </a:r>
          </a:p>
          <a:p>
            <a:pPr lvl="1"/>
            <a:r>
              <a:rPr lang="fr-FR" dirty="0"/>
              <a:t>Statut du logement</a:t>
            </a:r>
            <a:endParaRPr lang="en-GB"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buNone/>
            </a:pPr>
            <a:endParaRPr lang="es-419"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s-419" sz="1800" dirty="0"/>
          </a:p>
        </p:txBody>
      </p:sp>
    </p:spTree>
    <p:extLst>
      <p:ext uri="{BB962C8B-B14F-4D97-AF65-F5344CB8AC3E}">
        <p14:creationId xmlns:p14="http://schemas.microsoft.com/office/powerpoint/2010/main" val="213528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CA7A-38EA-4609-B0D5-F25B4B662A2A}"/>
              </a:ext>
            </a:extLst>
          </p:cNvPr>
          <p:cNvSpPr>
            <a:spLocks noGrp="1"/>
          </p:cNvSpPr>
          <p:nvPr>
            <p:ph type="title"/>
          </p:nvPr>
        </p:nvSpPr>
        <p:spPr>
          <a:xfrm>
            <a:off x="846311" y="664870"/>
            <a:ext cx="10542124" cy="690790"/>
          </a:xfrm>
        </p:spPr>
        <p:txBody>
          <a:bodyPr vert="horz" lIns="91440" tIns="45720" rIns="91440" bIns="45720" rtlCol="0" anchor="t" anchorCtr="0">
            <a:noAutofit/>
          </a:bodyPr>
          <a:lstStyle/>
          <a:p>
            <a:r>
              <a:rPr lang="en-GB" sz="3600" b="0" kern="1400" spc="230" dirty="0">
                <a:solidFill>
                  <a:schemeClr val="tx1"/>
                </a:solidFill>
                <a:latin typeface="HALDEN SOLID" pitchFamily="2" charset="0"/>
              </a:rPr>
              <a:t>Comment sonder ?</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CC424478-E055-48DC-A858-64522C01DF85}"/>
              </a:ext>
            </a:extLst>
          </p:cNvPr>
          <p:cNvSpPr>
            <a:spLocks noGrp="1"/>
          </p:cNvSpPr>
          <p:nvPr>
            <p:ph idx="1"/>
          </p:nvPr>
        </p:nvSpPr>
        <p:spPr>
          <a:xfrm>
            <a:off x="846312" y="1636295"/>
            <a:ext cx="10542124" cy="4383699"/>
          </a:xfrm>
        </p:spPr>
        <p:txBody>
          <a:bodyPr vert="horz" lIns="91440" tIns="45720" rIns="91440" bIns="45720" rtlCol="0" anchor="t">
            <a:normAutofit/>
          </a:bodyPr>
          <a:lstStyle/>
          <a:p>
            <a:r>
              <a:rPr lang="fr-FR" dirty="0"/>
              <a:t>Si les dépenses/valeurs de consommation déclarées sont trop élevées ou trop faibles :</a:t>
            </a:r>
          </a:p>
          <a:p>
            <a:pPr lvl="1"/>
            <a:r>
              <a:rPr lang="fr-FR" dirty="0">
                <a:latin typeface="Open Sans"/>
                <a:ea typeface="Open Sans"/>
                <a:cs typeface="Open Sans"/>
              </a:rPr>
              <a:t>Assurez-vous que le répondant ait compris la période de référence (par exemple, en passant d'un sous-module à l'autre avec des périodes de rappel différentes).</a:t>
            </a:r>
          </a:p>
          <a:p>
            <a:pPr lvl="1"/>
            <a:r>
              <a:rPr lang="fr-FR" dirty="0">
                <a:latin typeface="Open Sans"/>
                <a:ea typeface="Open Sans"/>
                <a:cs typeface="Open Sans"/>
              </a:rPr>
              <a:t>Assurez-vous que la personne interrogée ait compris ce qui est inclus dans le groupe alimentaire -&gt; Relisez les exemples de chaque groupe si nécessaire.</a:t>
            </a:r>
          </a:p>
          <a:p>
            <a:pPr lvl="1"/>
            <a:r>
              <a:rPr lang="fr-FR" dirty="0">
                <a:latin typeface="Open Sans"/>
                <a:ea typeface="Open Sans"/>
                <a:cs typeface="Open Sans"/>
              </a:rPr>
              <a:t>Assurez-vous que la personne interrogée utilise la monnaie requise - si elle ne peut pas le faire, aidez-la à faire les conversions.</a:t>
            </a:r>
          </a:p>
          <a:p>
            <a:pPr lvl="1"/>
            <a:r>
              <a:rPr lang="fr-FR" dirty="0"/>
              <a:t>Demandez à la personne interrogée quels sont les articles exacts achetés/consommés : posez-lui ensuite des questions sur les quantités et les prix pour comprendre si l'estimation faite par la personne interrogée est réaliste.</a:t>
            </a:r>
            <a:endParaRPr lang="en-GB" dirty="0"/>
          </a:p>
        </p:txBody>
      </p:sp>
    </p:spTree>
    <p:extLst>
      <p:ext uri="{BB962C8B-B14F-4D97-AF65-F5344CB8AC3E}">
        <p14:creationId xmlns:p14="http://schemas.microsoft.com/office/powerpoint/2010/main" val="7983375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2E427-834F-4A8A-BDFF-8D55B26AB5B8}"/>
              </a:ext>
            </a:extLst>
          </p:cNvPr>
          <p:cNvSpPr>
            <a:spLocks noGrp="1"/>
          </p:cNvSpPr>
          <p:nvPr>
            <p:ph type="title"/>
          </p:nvPr>
        </p:nvSpPr>
        <p:spPr>
          <a:xfrm>
            <a:off x="846311" y="664870"/>
            <a:ext cx="10542124" cy="640658"/>
          </a:xfrm>
        </p:spPr>
        <p:txBody>
          <a:bodyPr vert="horz" lIns="91440" tIns="45720" rIns="91440" bIns="45720" rtlCol="0" anchor="t" anchorCtr="0">
            <a:noAutofit/>
          </a:bodyPr>
          <a:lstStyle/>
          <a:p>
            <a:r>
              <a:rPr lang="en-GB" sz="3600" b="0" kern="1400" spc="230" dirty="0" err="1">
                <a:solidFill>
                  <a:schemeClr val="tx1"/>
                </a:solidFill>
                <a:latin typeface="HALDEN SOLID" pitchFamily="2" charset="0"/>
              </a:rPr>
              <a:t>Difficultés</a:t>
            </a:r>
            <a:r>
              <a:rPr lang="en-GB" sz="3600" b="0" kern="1400" spc="230" dirty="0">
                <a:solidFill>
                  <a:schemeClr val="tx1"/>
                </a:solidFill>
                <a:latin typeface="HALDEN SOLID" pitchFamily="2" charset="0"/>
              </a:rPr>
              <a:t> à se souvenir</a:t>
            </a:r>
            <a:endParaRPr lang="es-419"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7BC5360B-F2B1-4880-A888-21B2A1ECCE3D}"/>
              </a:ext>
            </a:extLst>
          </p:cNvPr>
          <p:cNvSpPr>
            <a:spLocks noGrp="1"/>
          </p:cNvSpPr>
          <p:nvPr>
            <p:ph idx="1"/>
          </p:nvPr>
        </p:nvSpPr>
        <p:spPr>
          <a:xfrm>
            <a:off x="639278" y="1716426"/>
            <a:ext cx="10542124" cy="4100053"/>
          </a:xfrm>
        </p:spPr>
        <p:txBody>
          <a:bodyPr>
            <a:normAutofit/>
          </a:bodyPr>
          <a:lstStyle/>
          <a:p>
            <a:r>
              <a:rPr lang="fr-FR" dirty="0"/>
              <a:t>Les personnes interrogées peuvent avoir du mal à se souvenir de ce qu'elles ont dépensé/consommé pour les raisons suivantes :</a:t>
            </a:r>
          </a:p>
          <a:p>
            <a:pPr lvl="1"/>
            <a:r>
              <a:rPr lang="fr-FR" dirty="0"/>
              <a:t>Ils ne se souviennent pas des articles qu'ils ont consommés parmi ceux qui font partie d'un certain groupe (par exemple, ils ne se souviennent pas de tous les produits qui font partie des « céréales » ou des « articles d'hygiène »)</a:t>
            </a:r>
          </a:p>
          <a:p>
            <a:pPr lvl="1"/>
            <a:r>
              <a:rPr lang="fr-FR" dirty="0"/>
              <a:t>Ils ne se souviennent pas du montant qu'ils ont dépensé ou consommé pour ces produits.</a:t>
            </a:r>
            <a:endParaRPr lang="en-GB" sz="1400" dirty="0"/>
          </a:p>
        </p:txBody>
      </p:sp>
    </p:spTree>
    <p:extLst>
      <p:ext uri="{BB962C8B-B14F-4D97-AF65-F5344CB8AC3E}">
        <p14:creationId xmlns:p14="http://schemas.microsoft.com/office/powerpoint/2010/main" val="2399915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1E97-DCF5-696E-2F2F-26A8204020CE}"/>
              </a:ext>
            </a:extLst>
          </p:cNvPr>
          <p:cNvSpPr>
            <a:spLocks noGrp="1"/>
          </p:cNvSpPr>
          <p:nvPr>
            <p:ph type="title"/>
          </p:nvPr>
        </p:nvSpPr>
        <p:spPr>
          <a:xfrm>
            <a:off x="846311" y="846396"/>
            <a:ext cx="10542124" cy="1152000"/>
          </a:xfrm>
        </p:spPr>
        <p:txBody>
          <a:bodyPr vert="horz" lIns="91440" tIns="45720" rIns="91440" bIns="45720" rtlCol="0" anchor="t" anchorCtr="0">
            <a:noAutofit/>
          </a:bodyPr>
          <a:lstStyle/>
          <a:p>
            <a:r>
              <a:rPr lang="fr-FR" sz="3600" b="0" kern="1400" spc="230" dirty="0">
                <a:solidFill>
                  <a:schemeClr val="tx1"/>
                </a:solidFill>
                <a:latin typeface="HALDEN SOLID" pitchFamily="2" charset="0"/>
              </a:rPr>
              <a:t>Stratégies pour faciliter le rappel</a:t>
            </a:r>
            <a:endParaRPr lang="en-GB" sz="3600" b="0" kern="1400" spc="230" dirty="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006A26BD-0A20-A8F0-9664-774DA1F209E4}"/>
              </a:ext>
            </a:extLst>
          </p:cNvPr>
          <p:cNvSpPr>
            <a:spLocks noGrp="1"/>
          </p:cNvSpPr>
          <p:nvPr>
            <p:ph idx="1"/>
          </p:nvPr>
        </p:nvSpPr>
        <p:spPr>
          <a:xfrm>
            <a:off x="846312" y="1544021"/>
            <a:ext cx="10542124" cy="4100053"/>
          </a:xfrm>
        </p:spPr>
        <p:txBody>
          <a:bodyPr/>
          <a:lstStyle/>
          <a:p>
            <a:pPr marL="0" indent="0">
              <a:buNone/>
            </a:pPr>
            <a:endParaRPr lang="en-GB" sz="2400" dirty="0"/>
          </a:p>
          <a:p>
            <a:pPr marL="538163" lvl="1"/>
            <a:r>
              <a:rPr lang="fr-FR" sz="2000" b="1" dirty="0"/>
              <a:t>Décomposer la catégorie </a:t>
            </a:r>
            <a:r>
              <a:rPr lang="fr-FR" sz="2000" dirty="0"/>
              <a:t>: pour les articles les plus importants qui font partie d'un groupe (par exemple, demander les achats de riz, de maïs, de pâtes, de pain, de farine au sein du groupe « céréales »).</a:t>
            </a:r>
          </a:p>
          <a:p>
            <a:pPr marL="538163" lvl="1"/>
            <a:r>
              <a:rPr lang="fr-FR" sz="2000" b="1" dirty="0"/>
              <a:t>Décomposer la période de rappel </a:t>
            </a:r>
            <a:r>
              <a:rPr lang="fr-FR" sz="2000" dirty="0"/>
              <a:t>: par exemple, pour un rappel de 30 jours, poser des questions sur les 7 derniers jours seulement - puis sur les 2 dernières semaines et ainsi de suite.</a:t>
            </a:r>
          </a:p>
          <a:p>
            <a:pPr marL="538163" lvl="1"/>
            <a:r>
              <a:rPr lang="fr-FR" sz="2000" dirty="0"/>
              <a:t>Si les deux stratégies ci-dessus ne fonctionnent pas, essayez d'obtenir une estimation de ce qu'ils consommeraient/dépenseraient « </a:t>
            </a:r>
            <a:r>
              <a:rPr lang="fr-FR" sz="2000" b="1" dirty="0"/>
              <a:t>habituellement</a:t>
            </a:r>
            <a:r>
              <a:rPr lang="fr-FR" sz="2000" dirty="0"/>
              <a:t> » au cours d'une certaine période - puis déterminez si les 7/30 derniers jours sont différents de la situation habituelle et ajustez en conséquence.</a:t>
            </a:r>
            <a:endParaRPr lang="en-GB" dirty="0"/>
          </a:p>
        </p:txBody>
      </p:sp>
      <p:grpSp>
        <p:nvGrpSpPr>
          <p:cNvPr id="4" name="Group 3">
            <a:extLst>
              <a:ext uri="{FF2B5EF4-FFF2-40B4-BE49-F238E27FC236}">
                <a16:creationId xmlns:a16="http://schemas.microsoft.com/office/drawing/2014/main" id="{1567AAA0-3FA3-0E90-15A7-B7F1537EC1F5}"/>
              </a:ext>
            </a:extLst>
          </p:cNvPr>
          <p:cNvGrpSpPr/>
          <p:nvPr/>
        </p:nvGrpSpPr>
        <p:grpSpPr>
          <a:xfrm>
            <a:off x="5022568" y="5321945"/>
            <a:ext cx="7169432" cy="1477328"/>
            <a:chOff x="5658243" y="178067"/>
            <a:chExt cx="7319064" cy="1477328"/>
          </a:xfrm>
        </p:grpSpPr>
        <p:sp>
          <p:nvSpPr>
            <p:cNvPr id="5" name="TextBox 4">
              <a:extLst>
                <a:ext uri="{FF2B5EF4-FFF2-40B4-BE49-F238E27FC236}">
                  <a16:creationId xmlns:a16="http://schemas.microsoft.com/office/drawing/2014/main" id="{CFB919E1-8DCB-6A0C-E9D5-CB95FE1ADAC4}"/>
                </a:ext>
              </a:extLst>
            </p:cNvPr>
            <p:cNvSpPr txBox="1"/>
            <p:nvPr/>
          </p:nvSpPr>
          <p:spPr>
            <a:xfrm>
              <a:off x="5658243" y="178067"/>
              <a:ext cx="7016669" cy="1477328"/>
            </a:xfrm>
            <a:prstGeom prst="rect">
              <a:avLst/>
            </a:prstGeom>
            <a:solidFill>
              <a:schemeClr val="accent5"/>
            </a:solidFill>
            <a:ln>
              <a:solidFill>
                <a:schemeClr val="accent1"/>
              </a:solidFill>
            </a:ln>
          </p:spPr>
          <p:txBody>
            <a:bodyPr wrap="square" rtlCol="0">
              <a:spAutoFit/>
            </a:bodyPr>
            <a:lstStyle/>
            <a:p>
              <a:r>
                <a:rPr lang="fr-FR" sz="1800" dirty="0">
                  <a:solidFill>
                    <a:schemeClr val="accent2"/>
                  </a:solidFill>
                  <a:latin typeface="Open Sans" panose="020B0606030504020204" pitchFamily="34" charset="0"/>
                  <a:ea typeface="Open Sans" panose="020B0606030504020204" pitchFamily="34" charset="0"/>
                  <a:cs typeface="Open Sans" panose="020B0606030504020204" pitchFamily="34" charset="0"/>
                </a:rPr>
                <a:t>Quoi qu'il en soit, nous ne pouvons pas accepter les réponses « je ne sais pas ». Nous ne devrions donc jamais voir de 0 ou de réponses telles que 88, 99 ou 999. Dans tous les cas, faites de votre mieux pour travailler avec le ménage afin de fournir les meilleures estimations possibles des dépenses.</a:t>
              </a:r>
              <a:endParaRPr lang="en-GB"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6" name="Graphic 5" descr="Warning with solid fill">
              <a:extLst>
                <a:ext uri="{FF2B5EF4-FFF2-40B4-BE49-F238E27FC236}">
                  <a16:creationId xmlns:a16="http://schemas.microsoft.com/office/drawing/2014/main" id="{E4ABD44F-BD9C-51A6-5E88-9BC32BB7B7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98187" y="958582"/>
              <a:ext cx="579120" cy="579120"/>
            </a:xfrm>
            <a:prstGeom prst="rect">
              <a:avLst/>
            </a:prstGeom>
          </p:spPr>
        </p:pic>
      </p:grpSp>
    </p:spTree>
    <p:extLst>
      <p:ext uri="{BB962C8B-B14F-4D97-AF65-F5344CB8AC3E}">
        <p14:creationId xmlns:p14="http://schemas.microsoft.com/office/powerpoint/2010/main" val="1187563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7385659"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The Assistance (ena) module</a:t>
            </a:r>
            <a:endParaRPr lang="en-GB"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1039475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vert="horz" lIns="91440" tIns="45720" rIns="91440" bIns="45720" rtlCol="0" anchor="t">
            <a:noAutofit/>
          </a:bodyPr>
          <a:lstStyle/>
          <a:p>
            <a:pPr marL="0" indent="0">
              <a:lnSpc>
                <a:spcPts val="2700"/>
              </a:lnSpc>
              <a:buNone/>
            </a:pPr>
            <a:r>
              <a:rPr lang="en-US" spc="60"/>
              <a:t>This section presents the structure, logic and main elements of the standard “Assistance (ENA)” module. This module includes a number of questions on received cash assistance that are needed for the computation of the ECMEN.</a:t>
            </a:r>
          </a:p>
          <a:p>
            <a:pPr marL="0" indent="0">
              <a:lnSpc>
                <a:spcPts val="2700"/>
              </a:lnSpc>
              <a:buNone/>
            </a:pPr>
            <a:r>
              <a:rPr lang="en-US" spc="60"/>
              <a:t>Your questionnaire might combine these questions with more questions related to assistance (e.g. question related to in-kind assistance or more detailed questions on cash assistance). If so, please make sure to adapt these slides, or to use them within a broader presentation of your assistance module.</a:t>
            </a: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ECMEN: training instructions 3</a:t>
            </a:r>
          </a:p>
        </p:txBody>
      </p:sp>
    </p:spTree>
    <p:extLst>
      <p:ext uri="{BB962C8B-B14F-4D97-AF65-F5344CB8AC3E}">
        <p14:creationId xmlns:p14="http://schemas.microsoft.com/office/powerpoint/2010/main" val="2597761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6508-4DE5-1325-2C53-76949330ABBB}"/>
              </a:ext>
            </a:extLst>
          </p:cNvPr>
          <p:cNvSpPr>
            <a:spLocks noGrp="1"/>
          </p:cNvSpPr>
          <p:nvPr>
            <p:ph type="title"/>
          </p:nvPr>
        </p:nvSpPr>
        <p:spPr/>
        <p:txBody>
          <a:bodyPr/>
          <a:lstStyle/>
          <a:p>
            <a:r>
              <a:rPr lang="en-GB" sz="3200" b="0" kern="1400" spc="230">
                <a:solidFill>
                  <a:schemeClr val="tx1"/>
                </a:solidFill>
                <a:latin typeface="HALDEN SOLID" pitchFamily="2" charset="0"/>
              </a:rPr>
              <a:t>Overview of the assistance (ENA) module</a:t>
            </a:r>
            <a:endParaRPr lang="en-GB"/>
          </a:p>
        </p:txBody>
      </p:sp>
      <p:sp>
        <p:nvSpPr>
          <p:cNvPr id="7" name="Content Placeholder 6">
            <a:extLst>
              <a:ext uri="{FF2B5EF4-FFF2-40B4-BE49-F238E27FC236}">
                <a16:creationId xmlns:a16="http://schemas.microsoft.com/office/drawing/2014/main" id="{642CC027-C278-0B51-41B5-FA1AD4757A79}"/>
              </a:ext>
            </a:extLst>
          </p:cNvPr>
          <p:cNvSpPr>
            <a:spLocks noGrp="1"/>
          </p:cNvSpPr>
          <p:nvPr>
            <p:ph idx="1"/>
          </p:nvPr>
        </p:nvSpPr>
        <p:spPr/>
        <p:txBody>
          <a:bodyPr/>
          <a:lstStyle/>
          <a:p>
            <a:pPr>
              <a:spcBef>
                <a:spcPts val="1200"/>
              </a:spcBef>
            </a:pPr>
            <a:r>
              <a:rPr lang="en-GB" sz="2400"/>
              <a:t>The module includes questions on</a:t>
            </a:r>
          </a:p>
          <a:p>
            <a:pPr lvl="1">
              <a:spcBef>
                <a:spcPts val="1200"/>
              </a:spcBef>
              <a:buFont typeface="Courier New" panose="02070309020205020404" pitchFamily="49" charset="0"/>
              <a:buChar char="o"/>
            </a:pPr>
            <a:r>
              <a:rPr lang="en-GB" sz="2000"/>
              <a:t>Cash assistance received from </a:t>
            </a:r>
            <a:r>
              <a:rPr lang="en-GB" sz="2000" b="1">
                <a:solidFill>
                  <a:schemeClr val="accent2"/>
                </a:solidFill>
              </a:rPr>
              <a:t>WFP</a:t>
            </a:r>
          </a:p>
          <a:p>
            <a:pPr lvl="1">
              <a:spcBef>
                <a:spcPts val="1200"/>
              </a:spcBef>
              <a:buFont typeface="Courier New" panose="02070309020205020404" pitchFamily="49" charset="0"/>
              <a:buChar char="o"/>
            </a:pPr>
            <a:r>
              <a:rPr lang="en-GB" sz="2000"/>
              <a:t>Cash assistance received from </a:t>
            </a:r>
            <a:r>
              <a:rPr lang="en-GB" sz="2000" b="1">
                <a:solidFill>
                  <a:schemeClr val="accent2"/>
                </a:solidFill>
              </a:rPr>
              <a:t>other UN agencies and NGOs</a:t>
            </a:r>
          </a:p>
          <a:p>
            <a:pPr lvl="1">
              <a:spcBef>
                <a:spcPts val="1200"/>
              </a:spcBef>
              <a:buFont typeface="Courier New" panose="02070309020205020404" pitchFamily="49" charset="0"/>
              <a:buChar char="o"/>
            </a:pPr>
            <a:r>
              <a:rPr lang="en-GB" sz="2000"/>
              <a:t>Cash assistance received from </a:t>
            </a:r>
            <a:r>
              <a:rPr lang="en-GB" sz="2000" b="1">
                <a:solidFill>
                  <a:schemeClr val="accent2"/>
                </a:solidFill>
              </a:rPr>
              <a:t>other sources </a:t>
            </a:r>
            <a:r>
              <a:rPr lang="en-GB" sz="2000"/>
              <a:t>(optional questions)</a:t>
            </a:r>
          </a:p>
          <a:p>
            <a:pPr lvl="1">
              <a:spcBef>
                <a:spcPts val="1200"/>
              </a:spcBef>
              <a:buFont typeface="Courier New" panose="02070309020205020404" pitchFamily="49" charset="0"/>
              <a:buChar char="o"/>
            </a:pPr>
            <a:r>
              <a:rPr lang="en-GB" sz="2000"/>
              <a:t>Use of cash assistance</a:t>
            </a:r>
          </a:p>
        </p:txBody>
      </p:sp>
    </p:spTree>
    <p:extLst>
      <p:ext uri="{BB962C8B-B14F-4D97-AF65-F5344CB8AC3E}">
        <p14:creationId xmlns:p14="http://schemas.microsoft.com/office/powerpoint/2010/main" val="735551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6508-4DE5-1325-2C53-76949330ABBB}"/>
              </a:ext>
            </a:extLst>
          </p:cNvPr>
          <p:cNvSpPr>
            <a:spLocks noGrp="1"/>
          </p:cNvSpPr>
          <p:nvPr>
            <p:ph type="title"/>
          </p:nvPr>
        </p:nvSpPr>
        <p:spPr/>
        <p:txBody>
          <a:bodyPr/>
          <a:lstStyle/>
          <a:p>
            <a:r>
              <a:rPr lang="en-GB" sz="3200" b="0" kern="1400" spc="230">
                <a:solidFill>
                  <a:schemeClr val="tx1"/>
                </a:solidFill>
                <a:latin typeface="HALDEN SOLID" pitchFamily="2" charset="0"/>
              </a:rPr>
              <a:t>Cash received from </a:t>
            </a:r>
            <a:r>
              <a:rPr lang="en-GB" sz="3200" b="0" kern="1400" spc="230" err="1">
                <a:solidFill>
                  <a:schemeClr val="tx1"/>
                </a:solidFill>
                <a:latin typeface="HALDEN SOLID" pitchFamily="2" charset="0"/>
              </a:rPr>
              <a:t>wfp</a:t>
            </a:r>
            <a:r>
              <a:rPr lang="en-GB" sz="3200" b="0" kern="1400" spc="230">
                <a:solidFill>
                  <a:schemeClr val="tx1"/>
                </a:solidFill>
                <a:latin typeface="HALDEN SOLID" pitchFamily="2" charset="0"/>
              </a:rPr>
              <a:t>, un agencies and </a:t>
            </a:r>
            <a:r>
              <a:rPr lang="en-GB" sz="3200" b="0" kern="1400" spc="230" err="1">
                <a:solidFill>
                  <a:schemeClr val="tx1"/>
                </a:solidFill>
                <a:latin typeface="HALDEN SOLID" pitchFamily="2" charset="0"/>
              </a:rPr>
              <a:t>ngoS</a:t>
            </a:r>
            <a:endParaRPr lang="en-GB"/>
          </a:p>
        </p:txBody>
      </p:sp>
      <p:sp>
        <p:nvSpPr>
          <p:cNvPr id="6" name="Content Placeholder 5">
            <a:extLst>
              <a:ext uri="{FF2B5EF4-FFF2-40B4-BE49-F238E27FC236}">
                <a16:creationId xmlns:a16="http://schemas.microsoft.com/office/drawing/2014/main" id="{8C9AAB78-279B-C32C-55A1-9892479BBBF3}"/>
              </a:ext>
            </a:extLst>
          </p:cNvPr>
          <p:cNvSpPr>
            <a:spLocks noGrp="1"/>
          </p:cNvSpPr>
          <p:nvPr>
            <p:ph idx="1"/>
          </p:nvPr>
        </p:nvSpPr>
        <p:spPr/>
        <p:txBody>
          <a:bodyPr/>
          <a:lstStyle/>
          <a:p>
            <a:r>
              <a:rPr lang="en-GB"/>
              <a:t>For each of these sources, the module asks</a:t>
            </a:r>
          </a:p>
          <a:p>
            <a:pPr lvl="1"/>
            <a:endParaRPr lang="en-GB"/>
          </a:p>
        </p:txBody>
      </p:sp>
      <p:graphicFrame>
        <p:nvGraphicFramePr>
          <p:cNvPr id="3" name="Table 8">
            <a:extLst>
              <a:ext uri="{FF2B5EF4-FFF2-40B4-BE49-F238E27FC236}">
                <a16:creationId xmlns:a16="http://schemas.microsoft.com/office/drawing/2014/main" id="{8736D466-EDAD-F0B6-0FF3-ECCC12CE01DE}"/>
              </a:ext>
            </a:extLst>
          </p:cNvPr>
          <p:cNvGraphicFramePr>
            <a:graphicFrameLocks noGrp="1"/>
          </p:cNvGraphicFramePr>
          <p:nvPr>
            <p:extLst>
              <p:ext uri="{D42A27DB-BD31-4B8C-83A1-F6EECF244321}">
                <p14:modId xmlns:p14="http://schemas.microsoft.com/office/powerpoint/2010/main" val="2453619771"/>
              </p:ext>
            </p:extLst>
          </p:nvPr>
        </p:nvGraphicFramePr>
        <p:xfrm>
          <a:off x="846310" y="2417379"/>
          <a:ext cx="9196047" cy="3039869"/>
        </p:xfrm>
        <a:graphic>
          <a:graphicData uri="http://schemas.openxmlformats.org/drawingml/2006/table">
            <a:tbl>
              <a:tblPr firstRow="1" bandRow="1">
                <a:tableStyleId>{5C22544A-7EE6-4342-B048-85BDC9FD1C3A}</a:tableStyleId>
              </a:tblPr>
              <a:tblGrid>
                <a:gridCol w="2955669">
                  <a:extLst>
                    <a:ext uri="{9D8B030D-6E8A-4147-A177-3AD203B41FA5}">
                      <a16:colId xmlns:a16="http://schemas.microsoft.com/office/drawing/2014/main" val="1922137545"/>
                    </a:ext>
                  </a:extLst>
                </a:gridCol>
                <a:gridCol w="6240378">
                  <a:extLst>
                    <a:ext uri="{9D8B030D-6E8A-4147-A177-3AD203B41FA5}">
                      <a16:colId xmlns:a16="http://schemas.microsoft.com/office/drawing/2014/main" val="1669966504"/>
                    </a:ext>
                  </a:extLst>
                </a:gridCol>
              </a:tblGrid>
              <a:tr h="395961">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63674307"/>
                  </a:ext>
                </a:extLst>
              </a:tr>
              <a:tr h="1181144">
                <a:tc>
                  <a:txBody>
                    <a:bodyPr/>
                    <a:lstStyle/>
                    <a:p>
                      <a:r>
                        <a:rPr lang="en-GB" sz="1400" kern="1200" noProof="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Did your household receive cash assistance from [SOURCE] over the last 3 months?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Cash assistance includes cash as well as value vouchers, in paper or electronic;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If respondent answers simply “no”, probe regarding value vouchers.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1655302256"/>
                  </a:ext>
                </a:extLst>
              </a:tr>
              <a:tr h="14627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200" noProof="0">
                          <a:solidFill>
                            <a:schemeClr val="dk1"/>
                          </a:solidFill>
                          <a:effectLst/>
                          <a:latin typeface="Open Sans" panose="020B0606030504020204" pitchFamily="34" charset="0"/>
                          <a:ea typeface="Open Sans" panose="020B0606030504020204" pitchFamily="34" charset="0"/>
                          <a:cs typeface="Open Sans" panose="020B0606030504020204" pitchFamily="34" charset="0"/>
                        </a:rPr>
                        <a:t>How much cash assistance have you received from [SOURCE] over the last 3 months?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rPr>
                        <a:t>If the household reports having received cash assistance from a certain source in the previous question, then it asked to quantify how much they received</a:t>
                      </a:r>
                    </a:p>
                    <a:p>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3646143298"/>
                  </a:ext>
                </a:extLst>
              </a:tr>
            </a:tbl>
          </a:graphicData>
        </a:graphic>
      </p:graphicFrame>
    </p:spTree>
    <p:extLst>
      <p:ext uri="{BB962C8B-B14F-4D97-AF65-F5344CB8AC3E}">
        <p14:creationId xmlns:p14="http://schemas.microsoft.com/office/powerpoint/2010/main" val="2709959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6508-4DE5-1325-2C53-76949330ABBB}"/>
              </a:ext>
            </a:extLst>
          </p:cNvPr>
          <p:cNvSpPr>
            <a:spLocks noGrp="1"/>
          </p:cNvSpPr>
          <p:nvPr>
            <p:ph type="title"/>
          </p:nvPr>
        </p:nvSpPr>
        <p:spPr/>
        <p:txBody>
          <a:bodyPr/>
          <a:lstStyle/>
          <a:p>
            <a:r>
              <a:rPr lang="en-GB" sz="3200" b="0" kern="1400" spc="230">
                <a:solidFill>
                  <a:schemeClr val="tx1"/>
                </a:solidFill>
                <a:latin typeface="HALDEN SOLID" pitchFamily="2" charset="0"/>
              </a:rPr>
              <a:t>USE OF RECEIVED CASH ASSISTANCE</a:t>
            </a:r>
            <a:endParaRPr lang="en-GB"/>
          </a:p>
        </p:txBody>
      </p:sp>
      <p:sp>
        <p:nvSpPr>
          <p:cNvPr id="6" name="Content Placeholder 5">
            <a:extLst>
              <a:ext uri="{FF2B5EF4-FFF2-40B4-BE49-F238E27FC236}">
                <a16:creationId xmlns:a16="http://schemas.microsoft.com/office/drawing/2014/main" id="{8C9AAB78-279B-C32C-55A1-9892479BBBF3}"/>
              </a:ext>
            </a:extLst>
          </p:cNvPr>
          <p:cNvSpPr>
            <a:spLocks noGrp="1"/>
          </p:cNvSpPr>
          <p:nvPr>
            <p:ph idx="1"/>
          </p:nvPr>
        </p:nvSpPr>
        <p:spPr>
          <a:xfrm>
            <a:off x="824938" y="1688713"/>
            <a:ext cx="10542124" cy="4100053"/>
          </a:xfrm>
        </p:spPr>
        <p:txBody>
          <a:bodyPr/>
          <a:lstStyle/>
          <a:p>
            <a:pPr>
              <a:spcBef>
                <a:spcPts val="0"/>
              </a:spcBef>
            </a:pPr>
            <a:r>
              <a:rPr lang="en-GB"/>
              <a:t>At the end of the module, if the household reported having received assistance from any source, it is asked:</a:t>
            </a:r>
          </a:p>
          <a:p>
            <a:pPr>
              <a:spcBef>
                <a:spcPts val="0"/>
              </a:spcBef>
            </a:pPr>
            <a:endParaRPr lang="en-GB" i="1"/>
          </a:p>
        </p:txBody>
      </p:sp>
      <p:graphicFrame>
        <p:nvGraphicFramePr>
          <p:cNvPr id="3" name="Table 2">
            <a:extLst>
              <a:ext uri="{FF2B5EF4-FFF2-40B4-BE49-F238E27FC236}">
                <a16:creationId xmlns:a16="http://schemas.microsoft.com/office/drawing/2014/main" id="{81914693-9F0F-4FF3-1EC1-4FDDC32513C7}"/>
              </a:ext>
            </a:extLst>
          </p:cNvPr>
          <p:cNvGraphicFramePr>
            <a:graphicFrameLocks noGrp="1"/>
          </p:cNvGraphicFramePr>
          <p:nvPr>
            <p:extLst>
              <p:ext uri="{D42A27DB-BD31-4B8C-83A1-F6EECF244321}">
                <p14:modId xmlns:p14="http://schemas.microsoft.com/office/powerpoint/2010/main" val="2055436418"/>
              </p:ext>
            </p:extLst>
          </p:nvPr>
        </p:nvGraphicFramePr>
        <p:xfrm>
          <a:off x="596173" y="2546231"/>
          <a:ext cx="11042400" cy="3754552"/>
        </p:xfrm>
        <a:graphic>
          <a:graphicData uri="http://schemas.openxmlformats.org/drawingml/2006/table">
            <a:tbl>
              <a:tblPr firstRow="1" bandRow="1">
                <a:tableStyleId>{5C22544A-7EE6-4342-B048-85BDC9FD1C3A}</a:tableStyleId>
              </a:tblPr>
              <a:tblGrid>
                <a:gridCol w="5583910">
                  <a:extLst>
                    <a:ext uri="{9D8B030D-6E8A-4147-A177-3AD203B41FA5}">
                      <a16:colId xmlns:a16="http://schemas.microsoft.com/office/drawing/2014/main" val="2335250051"/>
                    </a:ext>
                  </a:extLst>
                </a:gridCol>
                <a:gridCol w="5458490">
                  <a:extLst>
                    <a:ext uri="{9D8B030D-6E8A-4147-A177-3AD203B41FA5}">
                      <a16:colId xmlns:a16="http://schemas.microsoft.com/office/drawing/2014/main" val="3939781470"/>
                    </a:ext>
                  </a:extLst>
                </a:gridCol>
              </a:tblGrid>
              <a:tr h="449217">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Question</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400">
                          <a:latin typeface="Open Sans" panose="020B0606030504020204" pitchFamily="34" charset="0"/>
                          <a:ea typeface="Open Sans" panose="020B0606030504020204" pitchFamily="34" charset="0"/>
                          <a:cs typeface="Open Sans" panose="020B0606030504020204" pitchFamily="34" charset="0"/>
                        </a:rPr>
                        <a:t>Clarifications</a:t>
                      </a:r>
                      <a:endParaRPr lang="es-419" sz="140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335300799"/>
                  </a:ext>
                </a:extLst>
              </a:tr>
              <a:tr h="3305335">
                <a:tc>
                  <a:txBody>
                    <a:bodyPr/>
                    <a:lstStyle/>
                    <a:p>
                      <a:pPr>
                        <a:spcBef>
                          <a:spcPts val="0"/>
                        </a:spcBef>
                      </a:pPr>
                      <a:r>
                        <a:rPr lang="en-GB" sz="1400" i="0">
                          <a:latin typeface="Open Sans" panose="020B0606030504020204" pitchFamily="34" charset="0"/>
                          <a:ea typeface="Open Sans" panose="020B0606030504020204" pitchFamily="34" charset="0"/>
                          <a:cs typeface="Open Sans" panose="020B0606030504020204" pitchFamily="34" charset="0"/>
                        </a:rPr>
                        <a:t>Thinking only of the </a:t>
                      </a:r>
                      <a:r>
                        <a:rPr lang="en-GB" sz="1400" b="1" i="0">
                          <a:latin typeface="Open Sans" panose="020B0606030504020204" pitchFamily="34" charset="0"/>
                          <a:ea typeface="Open Sans" panose="020B0606030504020204" pitchFamily="34" charset="0"/>
                          <a:cs typeface="Open Sans" panose="020B0606030504020204" pitchFamily="34" charset="0"/>
                        </a:rPr>
                        <a:t>last time </a:t>
                      </a:r>
                      <a:r>
                        <a:rPr lang="en-GB" sz="1400" i="0">
                          <a:latin typeface="Open Sans" panose="020B0606030504020204" pitchFamily="34" charset="0"/>
                          <a:ea typeface="Open Sans" panose="020B0606030504020204" pitchFamily="34" charset="0"/>
                          <a:cs typeface="Open Sans" panose="020B0606030504020204" pitchFamily="34" charset="0"/>
                        </a:rPr>
                        <a:t>that you received cash assistance, </a:t>
                      </a:r>
                      <a:r>
                        <a:rPr lang="en-GB" sz="1400" b="1" i="0">
                          <a:latin typeface="Open Sans" panose="020B0606030504020204" pitchFamily="34" charset="0"/>
                          <a:ea typeface="Open Sans" panose="020B0606030504020204" pitchFamily="34" charset="0"/>
                          <a:cs typeface="Open Sans" panose="020B0606030504020204" pitchFamily="34" charset="0"/>
                        </a:rPr>
                        <a:t>approximately, which share</a:t>
                      </a:r>
                      <a:r>
                        <a:rPr lang="en-GB" sz="1400" b="0" i="0">
                          <a:latin typeface="Open Sans" panose="020B0606030504020204" pitchFamily="34" charset="0"/>
                          <a:ea typeface="Open Sans" panose="020B0606030504020204" pitchFamily="34" charset="0"/>
                          <a:cs typeface="Open Sans" panose="020B0606030504020204" pitchFamily="34" charset="0"/>
                        </a:rPr>
                        <a:t> did your household use for purchasing food and non-food goods and services intended for the regular household consumption? Please exclude the cash used to:</a:t>
                      </a:r>
                    </a:p>
                    <a:p>
                      <a:pPr>
                        <a:spcBef>
                          <a:spcPts val="0"/>
                        </a:spcBef>
                      </a:pPr>
                      <a:endParaRPr lang="en-GB" sz="1400" b="0" i="0">
                        <a:latin typeface="Open Sans" panose="020B0606030504020204" pitchFamily="34" charset="0"/>
                        <a:ea typeface="Open Sans" panose="020B0606030504020204" pitchFamily="34" charset="0"/>
                        <a:cs typeface="Open Sans" panose="020B0606030504020204" pitchFamily="34" charset="0"/>
                      </a:endParaRPr>
                    </a:p>
                    <a:p>
                      <a:pPr marL="742950" lvl="1" indent="-285750">
                        <a:spcBef>
                          <a:spcPts val="0"/>
                        </a:spcBef>
                        <a:buFont typeface="Arial" panose="020B0604020202020204" pitchFamily="34" charset="0"/>
                        <a:buChar char="•"/>
                      </a:pPr>
                      <a:r>
                        <a:rPr lang="en-GB" sz="1400" i="0">
                          <a:latin typeface="Open Sans" panose="020B0606030504020204" pitchFamily="34" charset="0"/>
                          <a:ea typeface="Open Sans" panose="020B0606030504020204" pitchFamily="34" charset="0"/>
                          <a:cs typeface="Open Sans" panose="020B0606030504020204" pitchFamily="34" charset="0"/>
                        </a:rPr>
                        <a:t>purchasing inputs, assets, and hired labour for productive activities like farming and family businesses</a:t>
                      </a:r>
                    </a:p>
                    <a:p>
                      <a:pPr marL="742950" lvl="1" indent="-285750">
                        <a:spcBef>
                          <a:spcPts val="0"/>
                        </a:spcBef>
                        <a:buFont typeface="Arial" panose="020B0604020202020204" pitchFamily="34" charset="0"/>
                        <a:buChar char="•"/>
                      </a:pPr>
                      <a:r>
                        <a:rPr lang="en-GB" sz="1400" i="0">
                          <a:latin typeface="Open Sans" panose="020B0606030504020204" pitchFamily="34" charset="0"/>
                          <a:ea typeface="Open Sans" panose="020B0606030504020204" pitchFamily="34" charset="0"/>
                          <a:cs typeface="Open Sans" panose="020B0606030504020204" pitchFamily="34" charset="0"/>
                        </a:rPr>
                        <a:t>sending cash or giving gifts to other households</a:t>
                      </a:r>
                    </a:p>
                    <a:p>
                      <a:pPr marL="742950" lvl="1" indent="-285750">
                        <a:spcBef>
                          <a:spcPts val="0"/>
                        </a:spcBef>
                        <a:buFont typeface="Arial" panose="020B0604020202020204" pitchFamily="34" charset="0"/>
                        <a:buChar char="•"/>
                      </a:pPr>
                      <a:r>
                        <a:rPr lang="en-GB" sz="1400" i="0">
                          <a:latin typeface="Open Sans" panose="020B0606030504020204" pitchFamily="34" charset="0"/>
                          <a:ea typeface="Open Sans" panose="020B0606030504020204" pitchFamily="34" charset="0"/>
                          <a:cs typeface="Open Sans" panose="020B0606030504020204" pitchFamily="34" charset="0"/>
                        </a:rPr>
                        <a:t>repaying debts or putting aside for future needs</a:t>
                      </a:r>
                    </a:p>
                    <a:p>
                      <a:pPr marL="742950" lvl="1" indent="-285750">
                        <a:spcBef>
                          <a:spcPts val="0"/>
                        </a:spcBef>
                        <a:buFont typeface="Arial" panose="020B0604020202020204" pitchFamily="34" charset="0"/>
                        <a:buChar char="•"/>
                      </a:pPr>
                      <a:r>
                        <a:rPr lang="en-GB" sz="1400" i="0">
                          <a:latin typeface="Open Sans" panose="020B0606030504020204" pitchFamily="34" charset="0"/>
                          <a:ea typeface="Open Sans" panose="020B0606030504020204" pitchFamily="34" charset="0"/>
                          <a:cs typeface="Open Sans" panose="020B0606030504020204" pitchFamily="34" charset="0"/>
                        </a:rPr>
                        <a:t>paying for ceremonies, vehicles, big furniture or other large expenditures</a:t>
                      </a:r>
                    </a:p>
                    <a:p>
                      <a:pPr marL="742950" lvl="1" indent="-285750">
                        <a:spcBef>
                          <a:spcPts val="0"/>
                        </a:spcBef>
                        <a:buFont typeface="Arial" panose="020B0604020202020204" pitchFamily="34" charset="0"/>
                        <a:buChar char="•"/>
                      </a:pPr>
                      <a:r>
                        <a:rPr lang="en-GB" sz="1400" i="0">
                          <a:latin typeface="Open Sans" panose="020B0606030504020204" pitchFamily="34" charset="0"/>
                          <a:ea typeface="Open Sans" panose="020B0606030504020204" pitchFamily="34" charset="0"/>
                          <a:cs typeface="Open Sans" panose="020B0606030504020204" pitchFamily="34" charset="0"/>
                        </a:rPr>
                        <a:t>paying taxes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latin typeface="Open Sans" panose="020B0606030504020204" pitchFamily="34" charset="0"/>
                          <a:ea typeface="Open Sans" panose="020B0606030504020204" pitchFamily="34" charset="0"/>
                          <a:cs typeface="Open Sans" panose="020B0606030504020204" pitchFamily="34" charset="0"/>
                        </a:rPr>
                        <a:t>In short, we want to know which rough proportion of the cash assistance households received was used for purchasing consumption items (i.e., any good/services that are not part of the list of excluded items)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latin typeface="Open Sans" panose="020B0606030504020204" pitchFamily="34" charset="0"/>
                          <a:ea typeface="Open Sans" panose="020B0606030504020204" pitchFamily="34" charset="0"/>
                          <a:cs typeface="Open Sans" panose="020B0606030504020204" pitchFamily="34" charset="0"/>
                        </a:rPr>
                        <a:t>The respondent should indicate a share between 0 and 100 percent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latin typeface="Open Sans" panose="020B0606030504020204" pitchFamily="34" charset="0"/>
                          <a:ea typeface="Open Sans" panose="020B0606030504020204" pitchFamily="34" charset="0"/>
                          <a:cs typeface="Open Sans" panose="020B0606030504020204" pitchFamily="34" charset="0"/>
                        </a:rPr>
                        <a:t>This should refer only to the last time they received assistance – this should ease recalling!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latin typeface="Open Sans" panose="020B0606030504020204" pitchFamily="34" charset="0"/>
                          <a:ea typeface="Open Sans" panose="020B0606030504020204" pitchFamily="34" charset="0"/>
                          <a:cs typeface="Open Sans" panose="020B0606030504020204" pitchFamily="34" charset="0"/>
                        </a:rPr>
                        <a:t>If the respondent has difficulties providing the share, the enumerator can prompt: All of it? Most of it? About half? A small part of it? None of it? And then “convert” it to an approximate percentage (e.g., most of it = 75%)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latin typeface="Open Sans" panose="020B0606030504020204" pitchFamily="34" charset="0"/>
                          <a:ea typeface="Open Sans" panose="020B0606030504020204" pitchFamily="34" charset="0"/>
                          <a:cs typeface="Open Sans" panose="020B0606030504020204" pitchFamily="34" charset="0"/>
                        </a:rPr>
                        <a:t>If the respondent struggles to remember about the last time they received assistance, they can refer to the “usual/typical” situation when they receive cash assistance</a:t>
                      </a:r>
                    </a:p>
                  </a:txBody>
                  <a:tcPr/>
                </a:tc>
                <a:extLst>
                  <a:ext uri="{0D108BD9-81ED-4DB2-BD59-A6C34878D82A}">
                    <a16:rowId xmlns:a16="http://schemas.microsoft.com/office/drawing/2014/main" val="3041832147"/>
                  </a:ext>
                </a:extLst>
              </a:tr>
            </a:tbl>
          </a:graphicData>
        </a:graphic>
      </p:graphicFrame>
    </p:spTree>
    <p:extLst>
      <p:ext uri="{BB962C8B-B14F-4D97-AF65-F5344CB8AC3E}">
        <p14:creationId xmlns:p14="http://schemas.microsoft.com/office/powerpoint/2010/main" val="2805000997"/>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9839CD-245B-4691-9FE6-A7FA05054360}">
  <ds:schemaRefs>
    <ds:schemaRef ds:uri="3940b711-dc1d-4235-b0a5-48d487f0d3b9"/>
    <ds:schemaRef ds:uri="49256dcf-74b5-4e0f-b2ab-e17546be8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A5DBA7-A7F9-4F32-A2C8-A4CF12BF9F10}">
  <ds:schemaRefs>
    <ds:schemaRef ds:uri="http://schemas.microsoft.com/sharepoint/v3/contenttype/forms"/>
  </ds:schemaRefs>
</ds:datastoreItem>
</file>

<file path=customXml/itemProps3.xml><?xml version="1.0" encoding="utf-8"?>
<ds:datastoreItem xmlns:ds="http://schemas.openxmlformats.org/officeDocument/2006/customXml" ds:itemID="{F1AB3E84-84BB-45B7-B8D9-B0D190189002}"/>
</file>

<file path=docProps/app.xml><?xml version="1.0" encoding="utf-8"?>
<Properties xmlns="http://schemas.openxmlformats.org/officeDocument/2006/extended-properties" xmlns:vt="http://schemas.openxmlformats.org/officeDocument/2006/docPropsVTypes">
  <Template/>
  <TotalTime>6638</TotalTime>
  <Words>5816</Words>
  <Application>Microsoft Office PowerPoint</Application>
  <PresentationFormat>Widescreen</PresentationFormat>
  <Paragraphs>522</Paragraphs>
  <Slides>36</Slides>
  <Notes>22</Notes>
  <HiddenSlides>1</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Theme2</vt:lpstr>
      <vt:lpstr>PowerPoint Presentation</vt:lpstr>
      <vt:lpstr>PowerPoint Presentation</vt:lpstr>
      <vt:lpstr>Aperçu du module des dépenses</vt:lpstr>
      <vt:lpstr>précision importante</vt:lpstr>
      <vt:lpstr>PowerPoint Presentation</vt:lpstr>
      <vt:lpstr>PowerPoint Presentation</vt:lpstr>
      <vt:lpstr>Sous-module alimentaire : aperçu</vt:lpstr>
      <vt:lpstr>Sous-module alimentaire: important</vt:lpstr>
      <vt:lpstr>Sous-module alimentaire: en espèces ou à crédit </vt:lpstr>
      <vt:lpstr>Sous-module alimentaire: assistance/dons en nature </vt:lpstr>
      <vt:lpstr>Sous-module alimentaire: production propre </vt:lpstr>
      <vt:lpstr>Food submodule: consumption groups</vt:lpstr>
      <vt:lpstr>PowerPoint Presentation</vt:lpstr>
      <vt:lpstr>PowerPoint Presentation</vt:lpstr>
      <vt:lpstr>Sous-module non-alimentaire (30 jours) : aperçu</vt:lpstr>
      <vt:lpstr>Sous-module non-alimentaire (6 mois) : aperçu</vt:lpstr>
      <vt:lpstr>Sous-modules non-alimentaire: important</vt:lpstr>
      <vt:lpstr>Non-alimentaire: en espèces ou à crédit </vt:lpstr>
      <vt:lpstr>Non-alimentaire: assistance/dons en nature </vt:lpstr>
      <vt:lpstr>Sous-module non alimentaire (30 jours) : groupes</vt:lpstr>
      <vt:lpstr>Sous-module non alimentaire (30 jours) : groupes</vt:lpstr>
      <vt:lpstr>Sous-module non alimentaire (6 mois) : groupes</vt:lpstr>
      <vt:lpstr>PowerPoint Presentation</vt:lpstr>
      <vt:lpstr>Groupes non alimentaires : considérations générales</vt:lpstr>
      <vt:lpstr>rappel!</vt:lpstr>
      <vt:lpstr>Précisions</vt:lpstr>
      <vt:lpstr>Considérations générales</vt:lpstr>
      <vt:lpstr>quand poser des questions d'approfondissement?</vt:lpstr>
      <vt:lpstr>Comment sonder ?</vt:lpstr>
      <vt:lpstr>Difficultés à se souvenir</vt:lpstr>
      <vt:lpstr>Stratégies pour faciliter le rappel</vt:lpstr>
      <vt:lpstr>PowerPoint Presentation</vt:lpstr>
      <vt:lpstr>ECMEN: training instructions 3</vt:lpstr>
      <vt:lpstr>Overview of the assistance (ENA) module</vt:lpstr>
      <vt:lpstr>Cash received from wfp, un agencies and ngoS</vt:lpstr>
      <vt:lpstr>USE OF RECEIVED CASH ASSISTANCE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Jonas DEMEYER</cp:lastModifiedBy>
  <cp:revision>59</cp:revision>
  <dcterms:created xsi:type="dcterms:W3CDTF">2018-08-20T09:35:59Z</dcterms:created>
  <dcterms:modified xsi:type="dcterms:W3CDTF">2024-09-26T11:12:29Z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