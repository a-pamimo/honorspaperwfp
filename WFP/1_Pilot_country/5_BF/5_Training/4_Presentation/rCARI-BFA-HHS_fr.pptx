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5" r:id="rId4"/>
  </p:sldMasterIdLst>
  <p:notesMasterIdLst>
    <p:notesMasterId r:id="rId21"/>
  </p:notesMasterIdLst>
  <p:handoutMasterIdLst>
    <p:handoutMasterId r:id="rId22"/>
  </p:handoutMasterIdLst>
  <p:sldIdLst>
    <p:sldId id="261" r:id="rId5"/>
    <p:sldId id="387" r:id="rId6"/>
    <p:sldId id="268" r:id="rId7"/>
    <p:sldId id="383" r:id="rId8"/>
    <p:sldId id="292" r:id="rId9"/>
    <p:sldId id="398" r:id="rId10"/>
    <p:sldId id="399" r:id="rId11"/>
    <p:sldId id="388" r:id="rId12"/>
    <p:sldId id="338" r:id="rId13"/>
    <p:sldId id="391" r:id="rId14"/>
    <p:sldId id="389" r:id="rId15"/>
    <p:sldId id="392" r:id="rId16"/>
    <p:sldId id="390" r:id="rId17"/>
    <p:sldId id="394" r:id="rId18"/>
    <p:sldId id="393" r:id="rId19"/>
    <p:sldId id="333" r:id="rId20"/>
  </p:sldIdLst>
  <p:sldSz cx="12192000" cy="6858000"/>
  <p:notesSz cx="6858000" cy="9144000"/>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32216101-4936-4465-91C6-7E1AB5A4B7C8}">
          <p14:sldIdLst>
            <p14:sldId id="261"/>
            <p14:sldId id="387"/>
          </p14:sldIdLst>
        </p14:section>
        <p14:section name="Relevance: both" id="{71027F9D-3AB5-4CD0-ABC4-83576DA9BA56}">
          <p14:sldIdLst>
            <p14:sldId id="268"/>
            <p14:sldId id="383"/>
            <p14:sldId id="292"/>
            <p14:sldId id="398"/>
            <p14:sldId id="399"/>
            <p14:sldId id="388"/>
            <p14:sldId id="338"/>
            <p14:sldId id="391"/>
            <p14:sldId id="389"/>
            <p14:sldId id="392"/>
            <p14:sldId id="390"/>
            <p14:sldId id="394"/>
            <p14:sldId id="393"/>
          </p14:sldIdLst>
        </p14:section>
        <p14:section name="Relevance: both" id="{C4E5C8C1-942B-43B4-BB14-91179D714B55}">
          <p14:sldIdLst>
            <p14:sldId id="333"/>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B2E1C0B-D5E6-00FA-FBDB-BA138CF7CDBF}" name="Marianne JENSBY" initials="MJ" userId="S::marianne.jensby@wfp.org::138ee585-774f-4d33-910f-eb8f633c7eea" providerId="AD"/>
  <p188:author id="{267EE71F-E4CF-2640-16B2-A6A6650BB44B}" name="Cassandra WALKER" initials="CW" userId="S::cassandra.walker@wfp.org::7d551a76-2a3b-46ce-9612-27f9694a0380" providerId="AD"/>
  <p188:author id="{48B76E41-EE3A-55C5-FA23-E4EF01351F8D}" name="WFP-RAM-N" initials="RAMN" userId="WFP-RAM-N" providerId="None"/>
  <p188:author id="{6A52989B-2D3B-6FC0-BBC3-D88A3726BC0B}" name="Mohamed SALEM" initials="MS" userId="S::mohamed.salem@wfp.org::13f12703-f1ce-4b8b-924c-fe401988a08b" providerId="AD"/>
  <p188:author id="{46429D9C-8177-114B-BEF0-D76BAE32C891}" name="Isra WISHAH" initials="IW" userId="S::isra.wishah@wfp.org::72089144-da43-4082-a6aa-d77401d50df3"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D6EB"/>
    <a:srgbClr val="C1759D"/>
    <a:srgbClr val="810054"/>
    <a:srgbClr val="FFFFFE"/>
    <a:srgbClr val="38101F"/>
    <a:srgbClr val="AD3163"/>
    <a:srgbClr val="C93F77"/>
    <a:srgbClr val="960068"/>
    <a:srgbClr val="86254B"/>
    <a:srgbClr val="B2B2B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06A841B-54D7-9E22-CADA-AC1CDFB71D94}" v="14" dt="2024-09-26T11:13:24.58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6527" autoAdjust="0"/>
  </p:normalViewPr>
  <p:slideViewPr>
    <p:cSldViewPr snapToGrid="0">
      <p:cViewPr varScale="1">
        <p:scale>
          <a:sx n="60" d="100"/>
          <a:sy n="60" d="100"/>
        </p:scale>
        <p:origin x="78" y="900"/>
      </p:cViewPr>
      <p:guideLst>
        <p:guide orient="horz" pos="2160"/>
        <p:guide pos="3840"/>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handoutMaster" Target="handoutMasters/handoutMaster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nas DEMEYER" userId="S::jonas.demeyer@wfp.org::1c45f721-f288-4a8d-8f07-b4395c318810" providerId="AD" clId="Web-{706A841B-54D7-9E22-CADA-AC1CDFB71D94}"/>
    <pc:docChg chg="modSld">
      <pc:chgData name="Jonas DEMEYER" userId="S::jonas.demeyer@wfp.org::1c45f721-f288-4a8d-8f07-b4395c318810" providerId="AD" clId="Web-{706A841B-54D7-9E22-CADA-AC1CDFB71D94}" dt="2024-09-26T11:13:22.941" v="10" actId="20577"/>
      <pc:docMkLst>
        <pc:docMk/>
      </pc:docMkLst>
      <pc:sldChg chg="modSp">
        <pc:chgData name="Jonas DEMEYER" userId="S::jonas.demeyer@wfp.org::1c45f721-f288-4a8d-8f07-b4395c318810" providerId="AD" clId="Web-{706A841B-54D7-9E22-CADA-AC1CDFB71D94}" dt="2024-09-26T11:13:10.691" v="4" actId="20577"/>
        <pc:sldMkLst>
          <pc:docMk/>
          <pc:sldMk cId="1525060327" sldId="388"/>
        </pc:sldMkLst>
        <pc:spChg chg="mod">
          <ac:chgData name="Jonas DEMEYER" userId="S::jonas.demeyer@wfp.org::1c45f721-f288-4a8d-8f07-b4395c318810" providerId="AD" clId="Web-{706A841B-54D7-9E22-CADA-AC1CDFB71D94}" dt="2024-09-26T11:13:10.691" v="4" actId="20577"/>
          <ac:spMkLst>
            <pc:docMk/>
            <pc:sldMk cId="1525060327" sldId="388"/>
            <ac:spMk id="8" creationId="{BB642E77-5AC9-D346-BC1E-D93A00D9631D}"/>
          </ac:spMkLst>
        </pc:spChg>
      </pc:sldChg>
      <pc:sldChg chg="modSp">
        <pc:chgData name="Jonas DEMEYER" userId="S::jonas.demeyer@wfp.org::1c45f721-f288-4a8d-8f07-b4395c318810" providerId="AD" clId="Web-{706A841B-54D7-9E22-CADA-AC1CDFB71D94}" dt="2024-09-26T11:13:16.113" v="7" actId="20577"/>
        <pc:sldMkLst>
          <pc:docMk/>
          <pc:sldMk cId="2396476623" sldId="391"/>
        </pc:sldMkLst>
        <pc:spChg chg="mod">
          <ac:chgData name="Jonas DEMEYER" userId="S::jonas.demeyer@wfp.org::1c45f721-f288-4a8d-8f07-b4395c318810" providerId="AD" clId="Web-{706A841B-54D7-9E22-CADA-AC1CDFB71D94}" dt="2024-09-26T11:13:16.113" v="7" actId="20577"/>
          <ac:spMkLst>
            <pc:docMk/>
            <pc:sldMk cId="2396476623" sldId="391"/>
            <ac:spMk id="8" creationId="{BB642E77-5AC9-D346-BC1E-D93A00D9631D}"/>
          </ac:spMkLst>
        </pc:spChg>
      </pc:sldChg>
      <pc:sldChg chg="modSp">
        <pc:chgData name="Jonas DEMEYER" userId="S::jonas.demeyer@wfp.org::1c45f721-f288-4a8d-8f07-b4395c318810" providerId="AD" clId="Web-{706A841B-54D7-9E22-CADA-AC1CDFB71D94}" dt="2024-09-26T11:13:22.941" v="10" actId="20577"/>
        <pc:sldMkLst>
          <pc:docMk/>
          <pc:sldMk cId="1563437207" sldId="392"/>
        </pc:sldMkLst>
        <pc:spChg chg="mod">
          <ac:chgData name="Jonas DEMEYER" userId="S::jonas.demeyer@wfp.org::1c45f721-f288-4a8d-8f07-b4395c318810" providerId="AD" clId="Web-{706A841B-54D7-9E22-CADA-AC1CDFB71D94}" dt="2024-09-26T11:13:22.941" v="10" actId="20577"/>
          <ac:spMkLst>
            <pc:docMk/>
            <pc:sldMk cId="1563437207" sldId="392"/>
            <ac:spMk id="8" creationId="{BB642E77-5AC9-D346-BC1E-D93A00D9631D}"/>
          </ac:spMkLst>
        </pc:spChg>
      </pc:sldChg>
    </pc:docChg>
  </pc:docChgLst>
  <pc:docChgLst>
    <pc:chgData name="Ndeye Fatou DIEME" userId="S::ndeyefatou.dieme@wfp.org::fcd7c9ff-0ca7-4b50-a3f5-34a106a66dea" providerId="AD" clId="Web-{B1CE3CA2-C433-FFAC-28EC-CC4C913453DA}"/>
    <pc:docChg chg="modSld">
      <pc:chgData name="Ndeye Fatou DIEME" userId="S::ndeyefatou.dieme@wfp.org::fcd7c9ff-0ca7-4b50-a3f5-34a106a66dea" providerId="AD" clId="Web-{B1CE3CA2-C433-FFAC-28EC-CC4C913453DA}" dt="2024-09-05T15:41:10.079" v="38" actId="1076"/>
      <pc:docMkLst>
        <pc:docMk/>
      </pc:docMkLst>
      <pc:sldChg chg="modSp">
        <pc:chgData name="Ndeye Fatou DIEME" userId="S::ndeyefatou.dieme@wfp.org::fcd7c9ff-0ca7-4b50-a3f5-34a106a66dea" providerId="AD" clId="Web-{B1CE3CA2-C433-FFAC-28EC-CC4C913453DA}" dt="2024-09-05T15:30:19.984" v="13" actId="20577"/>
        <pc:sldMkLst>
          <pc:docMk/>
          <pc:sldMk cId="2063935322" sldId="268"/>
        </pc:sldMkLst>
        <pc:spChg chg="mod">
          <ac:chgData name="Ndeye Fatou DIEME" userId="S::ndeyefatou.dieme@wfp.org::fcd7c9ff-0ca7-4b50-a3f5-34a106a66dea" providerId="AD" clId="Web-{B1CE3CA2-C433-FFAC-28EC-CC4C913453DA}" dt="2024-09-05T15:30:19.984" v="13" actId="20577"/>
          <ac:spMkLst>
            <pc:docMk/>
            <pc:sldMk cId="2063935322" sldId="268"/>
            <ac:spMk id="3" creationId="{00000000-0000-0000-0000-000000000000}"/>
          </ac:spMkLst>
        </pc:spChg>
        <pc:spChg chg="mod">
          <ac:chgData name="Ndeye Fatou DIEME" userId="S::ndeyefatou.dieme@wfp.org::fcd7c9ff-0ca7-4b50-a3f5-34a106a66dea" providerId="AD" clId="Web-{B1CE3CA2-C433-FFAC-28EC-CC4C913453DA}" dt="2024-09-05T15:27:39.120" v="7" actId="20577"/>
          <ac:spMkLst>
            <pc:docMk/>
            <pc:sldMk cId="2063935322" sldId="268"/>
            <ac:spMk id="8" creationId="{BB642E77-5AC9-D346-BC1E-D93A00D9631D}"/>
          </ac:spMkLst>
        </pc:spChg>
      </pc:sldChg>
      <pc:sldChg chg="modSp">
        <pc:chgData name="Ndeye Fatou DIEME" userId="S::ndeyefatou.dieme@wfp.org::fcd7c9ff-0ca7-4b50-a3f5-34a106a66dea" providerId="AD" clId="Web-{B1CE3CA2-C433-FFAC-28EC-CC4C913453DA}" dt="2024-09-05T15:32:26.534" v="28" actId="20577"/>
        <pc:sldMkLst>
          <pc:docMk/>
          <pc:sldMk cId="771532027" sldId="292"/>
        </pc:sldMkLst>
        <pc:spChg chg="mod">
          <ac:chgData name="Ndeye Fatou DIEME" userId="S::ndeyefatou.dieme@wfp.org::fcd7c9ff-0ca7-4b50-a3f5-34a106a66dea" providerId="AD" clId="Web-{B1CE3CA2-C433-FFAC-28EC-CC4C913453DA}" dt="2024-09-05T15:32:26.534" v="28" actId="20577"/>
          <ac:spMkLst>
            <pc:docMk/>
            <pc:sldMk cId="771532027" sldId="292"/>
            <ac:spMk id="8" creationId="{BB642E77-5AC9-D346-BC1E-D93A00D9631D}"/>
          </ac:spMkLst>
        </pc:spChg>
      </pc:sldChg>
      <pc:sldChg chg="modSp">
        <pc:chgData name="Ndeye Fatou DIEME" userId="S::ndeyefatou.dieme@wfp.org::fcd7c9ff-0ca7-4b50-a3f5-34a106a66dea" providerId="AD" clId="Web-{B1CE3CA2-C433-FFAC-28EC-CC4C913453DA}" dt="2024-09-05T15:32:06.440" v="25" actId="20577"/>
        <pc:sldMkLst>
          <pc:docMk/>
          <pc:sldMk cId="2097946562" sldId="383"/>
        </pc:sldMkLst>
        <pc:spChg chg="mod">
          <ac:chgData name="Ndeye Fatou DIEME" userId="S::ndeyefatou.dieme@wfp.org::fcd7c9ff-0ca7-4b50-a3f5-34a106a66dea" providerId="AD" clId="Web-{B1CE3CA2-C433-FFAC-28EC-CC4C913453DA}" dt="2024-09-05T15:32:06.440" v="25" actId="20577"/>
          <ac:spMkLst>
            <pc:docMk/>
            <pc:sldMk cId="2097946562" sldId="383"/>
            <ac:spMk id="3" creationId="{00000000-0000-0000-0000-000000000000}"/>
          </ac:spMkLst>
        </pc:spChg>
        <pc:spChg chg="mod">
          <ac:chgData name="Ndeye Fatou DIEME" userId="S::ndeyefatou.dieme@wfp.org::fcd7c9ff-0ca7-4b50-a3f5-34a106a66dea" providerId="AD" clId="Web-{B1CE3CA2-C433-FFAC-28EC-CC4C913453DA}" dt="2024-09-05T15:31:06.157" v="23" actId="20577"/>
          <ac:spMkLst>
            <pc:docMk/>
            <pc:sldMk cId="2097946562" sldId="383"/>
            <ac:spMk id="8" creationId="{BB642E77-5AC9-D346-BC1E-D93A00D9631D}"/>
          </ac:spMkLst>
        </pc:spChg>
      </pc:sldChg>
      <pc:sldChg chg="modSp">
        <pc:chgData name="Ndeye Fatou DIEME" userId="S::ndeyefatou.dieme@wfp.org::fcd7c9ff-0ca7-4b50-a3f5-34a106a66dea" providerId="AD" clId="Web-{B1CE3CA2-C433-FFAC-28EC-CC4C913453DA}" dt="2024-09-05T15:41:10.079" v="38" actId="1076"/>
        <pc:sldMkLst>
          <pc:docMk/>
          <pc:sldMk cId="2630545371" sldId="399"/>
        </pc:sldMkLst>
        <pc:spChg chg="mod">
          <ac:chgData name="Ndeye Fatou DIEME" userId="S::ndeyefatou.dieme@wfp.org::fcd7c9ff-0ca7-4b50-a3f5-34a106a66dea" providerId="AD" clId="Web-{B1CE3CA2-C433-FFAC-28EC-CC4C913453DA}" dt="2024-09-05T15:41:00.453" v="37" actId="20577"/>
          <ac:spMkLst>
            <pc:docMk/>
            <pc:sldMk cId="2630545371" sldId="399"/>
            <ac:spMk id="7" creationId="{2B99E350-640F-80DD-DA31-B2F471F6A598}"/>
          </ac:spMkLst>
        </pc:spChg>
        <pc:spChg chg="mod">
          <ac:chgData name="Ndeye Fatou DIEME" userId="S::ndeyefatou.dieme@wfp.org::fcd7c9ff-0ca7-4b50-a3f5-34a106a66dea" providerId="AD" clId="Web-{B1CE3CA2-C433-FFAC-28EC-CC4C913453DA}" dt="2024-09-05T15:41:10.079" v="38" actId="1076"/>
          <ac:spMkLst>
            <pc:docMk/>
            <pc:sldMk cId="2630545371" sldId="399"/>
            <ac:spMk id="9" creationId="{AB298BB9-AF5C-6E29-AB32-55A6DBE8E0CC}"/>
          </ac:spMkLst>
        </pc:spChg>
      </pc:sldChg>
    </pc:docChg>
  </pc:docChgLst>
  <pc:docChgLst>
    <pc:chgData name="Jonas DEMEYER" userId="S::jonas.demeyer@wfp.org::1c45f721-f288-4a8d-8f07-b4395c318810" providerId="AD" clId="Web-{ACB8C4A8-FA3C-7768-B7FD-596BE01A7D6D}"/>
    <pc:docChg chg="modSld">
      <pc:chgData name="Jonas DEMEYER" userId="S::jonas.demeyer@wfp.org::1c45f721-f288-4a8d-8f07-b4395c318810" providerId="AD" clId="Web-{ACB8C4A8-FA3C-7768-B7FD-596BE01A7D6D}" dt="2024-09-06T13:48:32.858" v="19"/>
      <pc:docMkLst>
        <pc:docMk/>
      </pc:docMkLst>
      <pc:sldChg chg="modSp">
        <pc:chgData name="Jonas DEMEYER" userId="S::jonas.demeyer@wfp.org::1c45f721-f288-4a8d-8f07-b4395c318810" providerId="AD" clId="Web-{ACB8C4A8-FA3C-7768-B7FD-596BE01A7D6D}" dt="2024-09-06T13:48:32.858" v="19"/>
        <pc:sldMkLst>
          <pc:docMk/>
          <pc:sldMk cId="1235862969" sldId="398"/>
        </pc:sldMkLst>
        <pc:graphicFrameChg chg="mod modGraphic">
          <ac:chgData name="Jonas DEMEYER" userId="S::jonas.demeyer@wfp.org::1c45f721-f288-4a8d-8f07-b4395c318810" providerId="AD" clId="Web-{ACB8C4A8-FA3C-7768-B7FD-596BE01A7D6D}" dt="2024-09-06T13:48:32.858" v="19"/>
          <ac:graphicFrameMkLst>
            <pc:docMk/>
            <pc:sldMk cId="1235862969" sldId="398"/>
            <ac:graphicFrameMk id="2" creationId="{3364FE98-3928-674A-229D-93319112A520}"/>
          </ac:graphicFrameMkLst>
        </pc:graphicFrame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it-IT"/>
          </a:p>
        </p:txBody>
      </p:sp>
      <p:sp>
        <p:nvSpPr>
          <p:cNvPr id="3" name="Segnaposto data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6FFAB1A-079C-564C-A3B2-E630BC843578}" type="datetimeFigureOut">
              <a:rPr lang="it-IT" smtClean="0"/>
              <a:t>26/09/2024</a:t>
            </a:fld>
            <a:endParaRPr lang="it-IT"/>
          </a:p>
        </p:txBody>
      </p:sp>
      <p:sp>
        <p:nvSpPr>
          <p:cNvPr id="4" name="Segnaposto piè di pagina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it-IT"/>
          </a:p>
        </p:txBody>
      </p:sp>
      <p:sp>
        <p:nvSpPr>
          <p:cNvPr id="5" name="Segnaposto numero diapositiva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A900685-03CC-EF47-A6B6-8CB07CAC109C}" type="slidenum">
              <a:rPr lang="it-IT" smtClean="0"/>
              <a:t>‹#›</a:t>
            </a:fld>
            <a:endParaRPr lang="it-IT"/>
          </a:p>
        </p:txBody>
      </p:sp>
    </p:spTree>
    <p:extLst>
      <p:ext uri="{BB962C8B-B14F-4D97-AF65-F5344CB8AC3E}">
        <p14:creationId xmlns:p14="http://schemas.microsoft.com/office/powerpoint/2010/main" val="150666134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it-IT"/>
          </a:p>
        </p:txBody>
      </p:sp>
      <p:sp>
        <p:nvSpPr>
          <p:cNvPr id="3" name="Segnaposto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FB21A65-5E85-7243-A45D-5622BE4ACE07}" type="datetimeFigureOut">
              <a:rPr lang="it-IT" smtClean="0"/>
              <a:t>26/09/2024</a:t>
            </a:fld>
            <a:endParaRPr lang="it-IT"/>
          </a:p>
        </p:txBody>
      </p:sp>
      <p:sp>
        <p:nvSpPr>
          <p:cNvPr id="4" name="Segnaposto immagin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it-IT"/>
          </a:p>
        </p:txBody>
      </p:sp>
      <p:sp>
        <p:nvSpPr>
          <p:cNvPr id="5" name="Segnaposto note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6" name="Segnaposto piè di pa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it-IT"/>
          </a:p>
        </p:txBody>
      </p:sp>
      <p:sp>
        <p:nvSpPr>
          <p:cNvPr id="7" name="Segnaposto numero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227884D-8063-894A-9B96-2E8B250142EB}" type="slidenum">
              <a:rPr lang="it-IT" smtClean="0"/>
              <a:t>‹#›</a:t>
            </a:fld>
            <a:endParaRPr lang="it-IT"/>
          </a:p>
        </p:txBody>
      </p:sp>
    </p:spTree>
    <p:extLst>
      <p:ext uri="{BB962C8B-B14F-4D97-AF65-F5344CB8AC3E}">
        <p14:creationId xmlns:p14="http://schemas.microsoft.com/office/powerpoint/2010/main" val="15193428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C227884D-8063-894A-9B96-2E8B250142EB}" type="slidenum">
              <a:rPr lang="it-IT" smtClean="0"/>
              <a:t>1</a:t>
            </a:fld>
            <a:endParaRPr lang="it-IT"/>
          </a:p>
        </p:txBody>
      </p:sp>
    </p:spTree>
    <p:extLst>
      <p:ext uri="{BB962C8B-B14F-4D97-AF65-F5344CB8AC3E}">
        <p14:creationId xmlns:p14="http://schemas.microsoft.com/office/powerpoint/2010/main" val="9739912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227884D-8063-894A-9B96-2E8B250142EB}" type="slidenum">
              <a:rPr lang="it-IT" smtClean="0"/>
              <a:t>4</a:t>
            </a:fld>
            <a:endParaRPr lang="it-IT"/>
          </a:p>
        </p:txBody>
      </p:sp>
    </p:spTree>
    <p:extLst>
      <p:ext uri="{BB962C8B-B14F-4D97-AF65-F5344CB8AC3E}">
        <p14:creationId xmlns:p14="http://schemas.microsoft.com/office/powerpoint/2010/main" val="13477548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227884D-8063-894A-9B96-2E8B250142EB}" type="slidenum">
              <a:rPr lang="it-IT" smtClean="0"/>
              <a:t>5</a:t>
            </a:fld>
            <a:endParaRPr lang="it-IT"/>
          </a:p>
        </p:txBody>
      </p:sp>
    </p:spTree>
    <p:extLst>
      <p:ext uri="{BB962C8B-B14F-4D97-AF65-F5344CB8AC3E}">
        <p14:creationId xmlns:p14="http://schemas.microsoft.com/office/powerpoint/2010/main" val="5990072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individual questions are explained in further detail on the following slides. </a:t>
            </a:r>
          </a:p>
        </p:txBody>
      </p:sp>
      <p:sp>
        <p:nvSpPr>
          <p:cNvPr id="4" name="Slide Number Placeholder 3"/>
          <p:cNvSpPr>
            <a:spLocks noGrp="1"/>
          </p:cNvSpPr>
          <p:nvPr>
            <p:ph type="sldNum" sz="quarter" idx="5"/>
          </p:nvPr>
        </p:nvSpPr>
        <p:spPr/>
        <p:txBody>
          <a:bodyPr/>
          <a:lstStyle/>
          <a:p>
            <a:fld id="{C227884D-8063-894A-9B96-2E8B250142EB}" type="slidenum">
              <a:rPr lang="it-IT" smtClean="0"/>
              <a:t>6</a:t>
            </a:fld>
            <a:endParaRPr lang="it-IT"/>
          </a:p>
        </p:txBody>
      </p:sp>
    </p:spTree>
    <p:extLst>
      <p:ext uri="{BB962C8B-B14F-4D97-AF65-F5344CB8AC3E}">
        <p14:creationId xmlns:p14="http://schemas.microsoft.com/office/powerpoint/2010/main" val="28918450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individual questions are explained in further detail on the following slides. </a:t>
            </a:r>
          </a:p>
        </p:txBody>
      </p:sp>
      <p:sp>
        <p:nvSpPr>
          <p:cNvPr id="4" name="Slide Number Placeholder 3"/>
          <p:cNvSpPr>
            <a:spLocks noGrp="1"/>
          </p:cNvSpPr>
          <p:nvPr>
            <p:ph type="sldNum" sz="quarter" idx="5"/>
          </p:nvPr>
        </p:nvSpPr>
        <p:spPr/>
        <p:txBody>
          <a:bodyPr/>
          <a:lstStyle/>
          <a:p>
            <a:fld id="{C227884D-8063-894A-9B96-2E8B250142EB}" type="slidenum">
              <a:rPr lang="it-IT" smtClean="0"/>
              <a:t>7</a:t>
            </a:fld>
            <a:endParaRPr lang="it-IT"/>
          </a:p>
        </p:txBody>
      </p:sp>
    </p:spTree>
    <p:extLst>
      <p:ext uri="{BB962C8B-B14F-4D97-AF65-F5344CB8AC3E}">
        <p14:creationId xmlns:p14="http://schemas.microsoft.com/office/powerpoint/2010/main" val="401282713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227884D-8063-894A-9B96-2E8B250142EB}" type="slidenum">
              <a:rPr lang="it-IT" smtClean="0"/>
              <a:t>8</a:t>
            </a:fld>
            <a:endParaRPr lang="it-IT"/>
          </a:p>
        </p:txBody>
      </p:sp>
    </p:spTree>
    <p:extLst>
      <p:ext uri="{BB962C8B-B14F-4D97-AF65-F5344CB8AC3E}">
        <p14:creationId xmlns:p14="http://schemas.microsoft.com/office/powerpoint/2010/main" val="142330991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227884D-8063-894A-9B96-2E8B250142EB}" type="slidenum">
              <a:rPr lang="it-IT" smtClean="0"/>
              <a:t>9</a:t>
            </a:fld>
            <a:endParaRPr lang="it-IT"/>
          </a:p>
        </p:txBody>
      </p:sp>
    </p:spTree>
    <p:extLst>
      <p:ext uri="{BB962C8B-B14F-4D97-AF65-F5344CB8AC3E}">
        <p14:creationId xmlns:p14="http://schemas.microsoft.com/office/powerpoint/2010/main" val="69162409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227884D-8063-894A-9B96-2E8B250142EB}" type="slidenum">
              <a:rPr lang="it-IT" smtClean="0"/>
              <a:t>10</a:t>
            </a:fld>
            <a:endParaRPr lang="it-IT"/>
          </a:p>
        </p:txBody>
      </p:sp>
    </p:spTree>
    <p:extLst>
      <p:ext uri="{BB962C8B-B14F-4D97-AF65-F5344CB8AC3E}">
        <p14:creationId xmlns:p14="http://schemas.microsoft.com/office/powerpoint/2010/main" val="248499749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227884D-8063-894A-9B96-2E8B250142EB}" type="slidenum">
              <a:rPr lang="it-IT" smtClean="0"/>
              <a:t>11</a:t>
            </a:fld>
            <a:endParaRPr lang="it-IT"/>
          </a:p>
        </p:txBody>
      </p:sp>
    </p:spTree>
    <p:extLst>
      <p:ext uri="{BB962C8B-B14F-4D97-AF65-F5344CB8AC3E}">
        <p14:creationId xmlns:p14="http://schemas.microsoft.com/office/powerpoint/2010/main" val="265470104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227884D-8063-894A-9B96-2E8B250142EB}" type="slidenum">
              <a:rPr lang="it-IT" smtClean="0"/>
              <a:t>12</a:t>
            </a:fld>
            <a:endParaRPr lang="it-IT"/>
          </a:p>
        </p:txBody>
      </p:sp>
    </p:spTree>
    <p:extLst>
      <p:ext uri="{BB962C8B-B14F-4D97-AF65-F5344CB8AC3E}">
        <p14:creationId xmlns:p14="http://schemas.microsoft.com/office/powerpoint/2010/main" val="143313547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227884D-8063-894A-9B96-2E8B250142EB}" type="slidenum">
              <a:rPr lang="it-IT" smtClean="0"/>
              <a:t>13</a:t>
            </a:fld>
            <a:endParaRPr lang="it-IT"/>
          </a:p>
        </p:txBody>
      </p:sp>
    </p:spTree>
    <p:extLst>
      <p:ext uri="{BB962C8B-B14F-4D97-AF65-F5344CB8AC3E}">
        <p14:creationId xmlns:p14="http://schemas.microsoft.com/office/powerpoint/2010/main" val="337234532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227884D-8063-894A-9B96-2E8B250142EB}" type="slidenum">
              <a:rPr lang="it-IT" smtClean="0"/>
              <a:t>14</a:t>
            </a:fld>
            <a:endParaRPr lang="it-IT"/>
          </a:p>
        </p:txBody>
      </p:sp>
    </p:spTree>
    <p:extLst>
      <p:ext uri="{BB962C8B-B14F-4D97-AF65-F5344CB8AC3E}">
        <p14:creationId xmlns:p14="http://schemas.microsoft.com/office/powerpoint/2010/main" val="318969871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C227884D-8063-894A-9B96-2E8B250142EB}" type="slidenum">
              <a:rPr lang="it-IT" smtClean="0"/>
              <a:t>15</a:t>
            </a:fld>
            <a:endParaRPr lang="it-IT"/>
          </a:p>
        </p:txBody>
      </p:sp>
    </p:spTree>
    <p:extLst>
      <p:ext uri="{BB962C8B-B14F-4D97-AF65-F5344CB8AC3E}">
        <p14:creationId xmlns:p14="http://schemas.microsoft.com/office/powerpoint/2010/main" val="380923672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Section Divider">
    <p:spTree>
      <p:nvGrpSpPr>
        <p:cNvPr id="1" name=""/>
        <p:cNvGrpSpPr/>
        <p:nvPr/>
      </p:nvGrpSpPr>
      <p:grpSpPr>
        <a:xfrm>
          <a:off x="0" y="0"/>
          <a:ext cx="0" cy="0"/>
          <a:chOff x="0" y="0"/>
          <a:chExt cx="0" cy="0"/>
        </a:xfrm>
      </p:grpSpPr>
      <p:pic>
        <p:nvPicPr>
          <p:cNvPr id="4" name="Picture 3" descr="Logo&#10;&#10;Description automatically generated">
            <a:extLst>
              <a:ext uri="{FF2B5EF4-FFF2-40B4-BE49-F238E27FC236}">
                <a16:creationId xmlns:a16="http://schemas.microsoft.com/office/drawing/2014/main" id="{763591BB-DB01-D043-A519-067963333EAA}"/>
              </a:ext>
            </a:extLst>
          </p:cNvPr>
          <p:cNvPicPr>
            <a:picLocks noChangeAspect="1"/>
          </p:cNvPicPr>
          <p:nvPr userDrawn="1"/>
        </p:nvPicPr>
        <p:blipFill>
          <a:blip r:embed="rId2"/>
          <a:stretch>
            <a:fillRect/>
          </a:stretch>
        </p:blipFill>
        <p:spPr>
          <a:xfrm>
            <a:off x="10480232" y="643259"/>
            <a:ext cx="991329" cy="2648265"/>
          </a:xfrm>
          <a:prstGeom prst="rect">
            <a:avLst/>
          </a:prstGeom>
        </p:spPr>
      </p:pic>
    </p:spTree>
    <p:extLst>
      <p:ext uri="{BB962C8B-B14F-4D97-AF65-F5344CB8AC3E}">
        <p14:creationId xmlns:p14="http://schemas.microsoft.com/office/powerpoint/2010/main" val="15369674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olo 1"/>
          <p:cNvSpPr>
            <a:spLocks noGrp="1"/>
          </p:cNvSpPr>
          <p:nvPr>
            <p:ph type="title" hasCustomPrompt="1"/>
          </p:nvPr>
        </p:nvSpPr>
        <p:spPr>
          <a:xfrm>
            <a:off x="846311" y="664870"/>
            <a:ext cx="10542124" cy="1152000"/>
          </a:xfrm>
          <a:prstGeom prst="rect">
            <a:avLst/>
          </a:prstGeom>
        </p:spPr>
        <p:txBody>
          <a:bodyPr>
            <a:noAutofit/>
          </a:bodyPr>
          <a:lstStyle>
            <a:lvl1pPr marL="0" marR="0" indent="0" algn="l" defTabSz="914400" rtl="0" eaLnBrk="1" fontAlgn="auto" latinLnBrk="0" hangingPunct="1">
              <a:lnSpc>
                <a:spcPct val="90000"/>
              </a:lnSpc>
              <a:spcBef>
                <a:spcPct val="0"/>
              </a:spcBef>
              <a:spcAft>
                <a:spcPts val="0"/>
              </a:spcAft>
              <a:buClrTx/>
              <a:buSzTx/>
              <a:buFontTx/>
              <a:buNone/>
              <a:tabLst/>
              <a:defRPr b="1" i="0">
                <a:latin typeface="Open Sans Extrabold" panose="020B0606030504020204" pitchFamily="34" charset="0"/>
                <a:ea typeface="Open Sans Extrabold" panose="020B0606030504020204" pitchFamily="34" charset="0"/>
                <a:cs typeface="Open Sans Extrabold" panose="020B0606030504020204" pitchFamily="34" charset="0"/>
              </a:defRPr>
            </a:lvl1pPr>
          </a:lstStyle>
          <a:p>
            <a:r>
              <a:rPr lang="it-IT"/>
              <a:t>Click to </a:t>
            </a:r>
            <a:r>
              <a:rPr lang="it-IT" err="1"/>
              <a:t>insert</a:t>
            </a:r>
            <a:r>
              <a:rPr lang="it-IT"/>
              <a:t> </a:t>
            </a:r>
            <a:r>
              <a:rPr lang="it-IT" err="1"/>
              <a:t>title</a:t>
            </a:r>
            <a:endParaRPr lang="it-IT"/>
          </a:p>
        </p:txBody>
      </p:sp>
      <p:sp>
        <p:nvSpPr>
          <p:cNvPr id="3" name="Segnaposto contenuto 2"/>
          <p:cNvSpPr>
            <a:spLocks noGrp="1"/>
          </p:cNvSpPr>
          <p:nvPr>
            <p:ph idx="1" hasCustomPrompt="1"/>
          </p:nvPr>
        </p:nvSpPr>
        <p:spPr>
          <a:xfrm>
            <a:off x="846312" y="1919941"/>
            <a:ext cx="10542124" cy="4100053"/>
          </a:xfrm>
        </p:spPr>
        <p:txBody>
          <a:bodyPr>
            <a:noAutofit/>
          </a:bodyPr>
          <a:lstStyle>
            <a:lvl1pPr marL="342900" indent="-342900">
              <a:lnSpc>
                <a:spcPct val="100000"/>
              </a:lnSpc>
              <a:buClr>
                <a:srgbClr val="0070BA"/>
              </a:buClr>
              <a:buFont typeface="Arial" charset="0"/>
              <a:buChar char="•"/>
              <a:defRPr baseline="0"/>
            </a:lvl1pPr>
            <a:lvl2pPr marL="742950" indent="-285750">
              <a:lnSpc>
                <a:spcPct val="100000"/>
              </a:lnSpc>
              <a:buClr>
                <a:srgbClr val="0070BA"/>
              </a:buClr>
              <a:buFont typeface="Arial" charset="0"/>
              <a:buChar char="•"/>
              <a:defRPr baseline="0"/>
            </a:lvl2pPr>
            <a:lvl3pPr marL="1200150" indent="-285750">
              <a:lnSpc>
                <a:spcPct val="100000"/>
              </a:lnSpc>
              <a:buClr>
                <a:srgbClr val="0070BA"/>
              </a:buClr>
              <a:buFont typeface="Arial" charset="0"/>
              <a:buChar char="•"/>
              <a:defRPr baseline="0"/>
            </a:lvl3pPr>
            <a:lvl4pPr marL="1657350" indent="-285750">
              <a:lnSpc>
                <a:spcPct val="100000"/>
              </a:lnSpc>
              <a:buClr>
                <a:srgbClr val="0070BA"/>
              </a:buClr>
              <a:buFont typeface="Arial" charset="0"/>
              <a:buChar char="•"/>
              <a:defRPr/>
            </a:lvl4pPr>
            <a:lvl5pPr marL="2114550" indent="-285750">
              <a:lnSpc>
                <a:spcPct val="100000"/>
              </a:lnSpc>
              <a:buClr>
                <a:srgbClr val="0070BA"/>
              </a:buClr>
              <a:buFont typeface="Arial" charset="0"/>
              <a:buChar char="•"/>
              <a:defRPr/>
            </a:lvl5pPr>
          </a:lstStyle>
          <a:p>
            <a:pPr lvl="0"/>
            <a:r>
              <a:rPr lang="it-IT"/>
              <a:t>Click to </a:t>
            </a:r>
            <a:r>
              <a:rPr lang="it-IT" err="1"/>
              <a:t>insert</a:t>
            </a:r>
            <a:r>
              <a:rPr lang="it-IT"/>
              <a:t> </a:t>
            </a:r>
            <a:r>
              <a:rPr lang="it-IT" err="1"/>
              <a:t>tex</a:t>
            </a:r>
            <a:endParaRPr lang="it-IT"/>
          </a:p>
          <a:p>
            <a:pPr lvl="1"/>
            <a:r>
              <a:rPr lang="it-IT"/>
              <a:t>Second </a:t>
            </a:r>
            <a:r>
              <a:rPr lang="it-IT" err="1"/>
              <a:t>level</a:t>
            </a:r>
            <a:endParaRPr lang="it-IT"/>
          </a:p>
          <a:p>
            <a:pPr lvl="2"/>
            <a:r>
              <a:rPr lang="it-IT"/>
              <a:t>Third </a:t>
            </a:r>
            <a:r>
              <a:rPr lang="it-IT" err="1"/>
              <a:t>level</a:t>
            </a:r>
            <a:endParaRPr lang="it-IT"/>
          </a:p>
          <a:p>
            <a:pPr lvl="3"/>
            <a:r>
              <a:rPr lang="it-IT" err="1"/>
              <a:t>Fourth</a:t>
            </a:r>
            <a:r>
              <a:rPr lang="it-IT"/>
              <a:t> </a:t>
            </a:r>
            <a:r>
              <a:rPr lang="it-IT" err="1"/>
              <a:t>level</a:t>
            </a:r>
            <a:endParaRPr lang="it-IT"/>
          </a:p>
          <a:p>
            <a:pPr lvl="4"/>
            <a:r>
              <a:rPr lang="it-IT" err="1"/>
              <a:t>Fifth</a:t>
            </a:r>
            <a:r>
              <a:rPr lang="it-IT"/>
              <a:t> </a:t>
            </a:r>
            <a:r>
              <a:rPr lang="it-IT" err="1"/>
              <a:t>level</a:t>
            </a:r>
            <a:endParaRPr lang="it-IT"/>
          </a:p>
        </p:txBody>
      </p:sp>
      <p:sp>
        <p:nvSpPr>
          <p:cNvPr id="6" name="Segnaposto numero diapositiva 5"/>
          <p:cNvSpPr>
            <a:spLocks noGrp="1"/>
          </p:cNvSpPr>
          <p:nvPr>
            <p:ph type="sldNum" sz="quarter" idx="12"/>
          </p:nvPr>
        </p:nvSpPr>
        <p:spPr>
          <a:xfrm>
            <a:off x="10398482" y="6055012"/>
            <a:ext cx="1027267" cy="365125"/>
          </a:xfrm>
        </p:spPr>
        <p:txBody>
          <a:bodyPr/>
          <a:lstStyle/>
          <a:p>
            <a:fld id="{2026EB2A-1F26-4143-92A6-3B752CD465DB}" type="slidenum">
              <a:rPr lang="it-IT" smtClean="0"/>
              <a:t>‹#›</a:t>
            </a:fld>
            <a:endParaRPr lang="it-IT"/>
          </a:p>
        </p:txBody>
      </p:sp>
      <p:pic>
        <p:nvPicPr>
          <p:cNvPr id="7" name="Immagine 6"/>
          <p:cNvPicPr>
            <a:picLocks noChangeAspect="1"/>
          </p:cNvPicPr>
          <p:nvPr/>
        </p:nvPicPr>
        <p:blipFill>
          <a:blip r:embed="rId2"/>
          <a:srcRect/>
          <a:stretch/>
        </p:blipFill>
        <p:spPr>
          <a:xfrm>
            <a:off x="503066" y="5663048"/>
            <a:ext cx="1625642" cy="797675"/>
          </a:xfrm>
          <a:prstGeom prst="rect">
            <a:avLst/>
          </a:prstGeom>
        </p:spPr>
      </p:pic>
    </p:spTree>
    <p:extLst>
      <p:ext uri="{BB962C8B-B14F-4D97-AF65-F5344CB8AC3E}">
        <p14:creationId xmlns:p14="http://schemas.microsoft.com/office/powerpoint/2010/main" val="21454210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olo e contenuto">
    <p:spTree>
      <p:nvGrpSpPr>
        <p:cNvPr id="1" name=""/>
        <p:cNvGrpSpPr/>
        <p:nvPr/>
      </p:nvGrpSpPr>
      <p:grpSpPr>
        <a:xfrm>
          <a:off x="0" y="0"/>
          <a:ext cx="0" cy="0"/>
          <a:chOff x="0" y="0"/>
          <a:chExt cx="0" cy="0"/>
        </a:xfrm>
      </p:grpSpPr>
      <p:sp>
        <p:nvSpPr>
          <p:cNvPr id="6" name="Segnaposto numero diapositiva 5"/>
          <p:cNvSpPr>
            <a:spLocks noGrp="1"/>
          </p:cNvSpPr>
          <p:nvPr>
            <p:ph type="sldNum" sz="quarter" idx="12"/>
          </p:nvPr>
        </p:nvSpPr>
        <p:spPr>
          <a:xfrm>
            <a:off x="10398482" y="6055012"/>
            <a:ext cx="1027267" cy="365125"/>
          </a:xfrm>
        </p:spPr>
        <p:txBody>
          <a:bodyPr/>
          <a:lstStyle/>
          <a:p>
            <a:fld id="{2026EB2A-1F26-4143-92A6-3B752CD465DB}" type="slidenum">
              <a:rPr lang="it-IT" smtClean="0"/>
              <a:t>‹#›</a:t>
            </a:fld>
            <a:endParaRPr lang="it-IT"/>
          </a:p>
        </p:txBody>
      </p:sp>
      <p:pic>
        <p:nvPicPr>
          <p:cNvPr id="7" name="Immagine 6"/>
          <p:cNvPicPr>
            <a:picLocks noChangeAspect="1"/>
          </p:cNvPicPr>
          <p:nvPr/>
        </p:nvPicPr>
        <p:blipFill>
          <a:blip r:embed="rId2"/>
          <a:srcRect/>
          <a:stretch/>
        </p:blipFill>
        <p:spPr>
          <a:xfrm>
            <a:off x="503066" y="5663048"/>
            <a:ext cx="1625642" cy="797675"/>
          </a:xfrm>
          <a:prstGeom prst="rect">
            <a:avLst/>
          </a:prstGeom>
        </p:spPr>
      </p:pic>
    </p:spTree>
    <p:extLst>
      <p:ext uri="{BB962C8B-B14F-4D97-AF65-F5344CB8AC3E}">
        <p14:creationId xmlns:p14="http://schemas.microsoft.com/office/powerpoint/2010/main" val="34070996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ue contenuti">
    <p:spTree>
      <p:nvGrpSpPr>
        <p:cNvPr id="1" name=""/>
        <p:cNvGrpSpPr/>
        <p:nvPr/>
      </p:nvGrpSpPr>
      <p:grpSpPr>
        <a:xfrm>
          <a:off x="0" y="0"/>
          <a:ext cx="0" cy="0"/>
          <a:chOff x="0" y="0"/>
          <a:chExt cx="0" cy="0"/>
        </a:xfrm>
      </p:grpSpPr>
      <p:sp>
        <p:nvSpPr>
          <p:cNvPr id="3" name="Segnaposto contenuto 2"/>
          <p:cNvSpPr>
            <a:spLocks noGrp="1"/>
          </p:cNvSpPr>
          <p:nvPr>
            <p:ph sz="half" idx="1" hasCustomPrompt="1"/>
          </p:nvPr>
        </p:nvSpPr>
        <p:spPr>
          <a:xfrm>
            <a:off x="539999" y="1795071"/>
            <a:ext cx="5460945" cy="4100053"/>
          </a:xfrm>
        </p:spPr>
        <p:txBody>
          <a:bodyPr>
            <a:noAutofit/>
          </a:bodyPr>
          <a:lstStyle>
            <a:lvl1pPr marL="228600" indent="-228600">
              <a:lnSpc>
                <a:spcPct val="100000"/>
              </a:lnSpc>
              <a:buClr>
                <a:srgbClr val="0070BA"/>
              </a:buClr>
              <a:buFont typeface="Arial" charset="0"/>
              <a:buChar char="•"/>
              <a:defRPr sz="1800" spc="60" baseline="0"/>
            </a:lvl1pPr>
            <a:lvl2pPr marL="685800" indent="-228600">
              <a:lnSpc>
                <a:spcPct val="100000"/>
              </a:lnSpc>
              <a:buClr>
                <a:srgbClr val="0070BA"/>
              </a:buClr>
              <a:buFont typeface="Arial" charset="0"/>
              <a:buChar char="•"/>
              <a:defRPr sz="1600" spc="60" baseline="0"/>
            </a:lvl2pPr>
            <a:lvl3pPr marL="1143000" indent="-228600">
              <a:lnSpc>
                <a:spcPct val="100000"/>
              </a:lnSpc>
              <a:buClr>
                <a:srgbClr val="0070BA"/>
              </a:buClr>
              <a:buFont typeface="Arial" charset="0"/>
              <a:buChar char="•"/>
              <a:defRPr sz="1400" spc="60" baseline="0"/>
            </a:lvl3pPr>
            <a:lvl4pPr marL="1600200" indent="-228600">
              <a:lnSpc>
                <a:spcPct val="100000"/>
              </a:lnSpc>
              <a:buClr>
                <a:srgbClr val="0070BA"/>
              </a:buClr>
              <a:buFont typeface="Arial" charset="0"/>
              <a:buChar char="•"/>
              <a:defRPr sz="1200" spc="60" baseline="0"/>
            </a:lvl4pPr>
            <a:lvl5pPr marL="2057400" indent="-228600">
              <a:lnSpc>
                <a:spcPct val="100000"/>
              </a:lnSpc>
              <a:buClr>
                <a:srgbClr val="0070BA"/>
              </a:buClr>
              <a:buFont typeface="Arial" charset="0"/>
              <a:buChar char="•"/>
              <a:defRPr sz="1200" spc="60" baseline="0"/>
            </a:lvl5pPr>
          </a:lstStyle>
          <a:p>
            <a:pPr lvl="0"/>
            <a:r>
              <a:rPr lang="it-IT"/>
              <a:t>Click to </a:t>
            </a:r>
            <a:r>
              <a:rPr lang="it-IT" err="1"/>
              <a:t>insert</a:t>
            </a:r>
            <a:r>
              <a:rPr lang="it-IT"/>
              <a:t> </a:t>
            </a:r>
            <a:r>
              <a:rPr lang="it-IT" err="1"/>
              <a:t>tex</a:t>
            </a:r>
            <a:endParaRPr lang="it-IT"/>
          </a:p>
          <a:p>
            <a:pPr lvl="1"/>
            <a:r>
              <a:rPr lang="it-IT"/>
              <a:t>Second </a:t>
            </a:r>
            <a:r>
              <a:rPr lang="it-IT" err="1"/>
              <a:t>level</a:t>
            </a:r>
            <a:endParaRPr lang="it-IT"/>
          </a:p>
          <a:p>
            <a:pPr lvl="2"/>
            <a:r>
              <a:rPr lang="it-IT"/>
              <a:t>Third </a:t>
            </a:r>
            <a:r>
              <a:rPr lang="it-IT" err="1"/>
              <a:t>level</a:t>
            </a:r>
            <a:endParaRPr lang="it-IT"/>
          </a:p>
          <a:p>
            <a:pPr lvl="3"/>
            <a:r>
              <a:rPr lang="it-IT" err="1"/>
              <a:t>Fourth</a:t>
            </a:r>
            <a:r>
              <a:rPr lang="it-IT"/>
              <a:t> </a:t>
            </a:r>
            <a:r>
              <a:rPr lang="it-IT" err="1"/>
              <a:t>level</a:t>
            </a:r>
            <a:endParaRPr lang="it-IT"/>
          </a:p>
          <a:p>
            <a:pPr lvl="4"/>
            <a:r>
              <a:rPr lang="it-IT" err="1"/>
              <a:t>Fifth</a:t>
            </a:r>
            <a:r>
              <a:rPr lang="it-IT"/>
              <a:t> </a:t>
            </a:r>
            <a:r>
              <a:rPr lang="it-IT" err="1"/>
              <a:t>level</a:t>
            </a:r>
            <a:endParaRPr lang="it-IT"/>
          </a:p>
        </p:txBody>
      </p:sp>
      <p:sp>
        <p:nvSpPr>
          <p:cNvPr id="4" name="Segnaposto contenuto 3"/>
          <p:cNvSpPr>
            <a:spLocks noGrp="1"/>
          </p:cNvSpPr>
          <p:nvPr>
            <p:ph sz="half" idx="2" hasCustomPrompt="1"/>
          </p:nvPr>
        </p:nvSpPr>
        <p:spPr>
          <a:xfrm>
            <a:off x="6078019" y="1795071"/>
            <a:ext cx="5513982" cy="4100053"/>
          </a:xfrm>
        </p:spPr>
        <p:txBody>
          <a:bodyPr>
            <a:noAutofit/>
          </a:bodyPr>
          <a:lstStyle>
            <a:lvl1pPr marL="228600" indent="-228600">
              <a:lnSpc>
                <a:spcPct val="100000"/>
              </a:lnSpc>
              <a:buClr>
                <a:srgbClr val="0070BA"/>
              </a:buClr>
              <a:buFont typeface="Arial" charset="0"/>
              <a:buChar char="•"/>
              <a:defRPr/>
            </a:lvl1pPr>
            <a:lvl2pPr marL="685800" indent="-228600">
              <a:lnSpc>
                <a:spcPct val="100000"/>
              </a:lnSpc>
              <a:buClr>
                <a:srgbClr val="0070BA"/>
              </a:buClr>
              <a:buFont typeface="Arial" charset="0"/>
              <a:buChar char="•"/>
              <a:defRPr/>
            </a:lvl2pPr>
            <a:lvl3pPr marL="1143000" indent="-228600">
              <a:lnSpc>
                <a:spcPct val="100000"/>
              </a:lnSpc>
              <a:buClr>
                <a:srgbClr val="0070BA"/>
              </a:buClr>
              <a:buFont typeface="Arial" charset="0"/>
              <a:buChar char="•"/>
              <a:defRPr/>
            </a:lvl3pPr>
            <a:lvl4pPr marL="1600200" indent="-228600">
              <a:lnSpc>
                <a:spcPct val="100000"/>
              </a:lnSpc>
              <a:buClr>
                <a:srgbClr val="0070BA"/>
              </a:buClr>
              <a:buFont typeface="Arial" charset="0"/>
              <a:buChar char="•"/>
              <a:defRPr/>
            </a:lvl4pPr>
            <a:lvl5pPr marL="2057400" indent="-228600">
              <a:lnSpc>
                <a:spcPct val="100000"/>
              </a:lnSpc>
              <a:buClr>
                <a:srgbClr val="0070BA"/>
              </a:buClr>
              <a:buFont typeface="Arial" charset="0"/>
              <a:buChar char="•"/>
              <a:defRPr/>
            </a:lvl5pPr>
          </a:lstStyle>
          <a:p>
            <a:pPr lvl="0"/>
            <a:r>
              <a:rPr lang="it-IT"/>
              <a:t>Click to </a:t>
            </a:r>
            <a:r>
              <a:rPr lang="it-IT" err="1"/>
              <a:t>insert</a:t>
            </a:r>
            <a:r>
              <a:rPr lang="it-IT"/>
              <a:t> </a:t>
            </a:r>
            <a:r>
              <a:rPr lang="it-IT" err="1"/>
              <a:t>tex</a:t>
            </a:r>
            <a:endParaRPr lang="it-IT"/>
          </a:p>
          <a:p>
            <a:pPr lvl="1"/>
            <a:r>
              <a:rPr lang="it-IT"/>
              <a:t>Second </a:t>
            </a:r>
            <a:r>
              <a:rPr lang="it-IT" err="1"/>
              <a:t>level</a:t>
            </a:r>
            <a:endParaRPr lang="it-IT"/>
          </a:p>
          <a:p>
            <a:pPr lvl="2"/>
            <a:r>
              <a:rPr lang="it-IT"/>
              <a:t>Third </a:t>
            </a:r>
            <a:r>
              <a:rPr lang="it-IT" err="1"/>
              <a:t>level</a:t>
            </a:r>
            <a:endParaRPr lang="it-IT"/>
          </a:p>
          <a:p>
            <a:pPr lvl="3"/>
            <a:r>
              <a:rPr lang="it-IT" err="1"/>
              <a:t>Fourth</a:t>
            </a:r>
            <a:r>
              <a:rPr lang="it-IT"/>
              <a:t> </a:t>
            </a:r>
            <a:r>
              <a:rPr lang="it-IT" err="1"/>
              <a:t>level</a:t>
            </a:r>
            <a:endParaRPr lang="it-IT"/>
          </a:p>
          <a:p>
            <a:pPr lvl="4"/>
            <a:r>
              <a:rPr lang="it-IT" err="1"/>
              <a:t>Fifth</a:t>
            </a:r>
            <a:r>
              <a:rPr lang="it-IT"/>
              <a:t> </a:t>
            </a:r>
            <a:r>
              <a:rPr lang="it-IT" err="1"/>
              <a:t>level</a:t>
            </a:r>
            <a:endParaRPr lang="it-IT"/>
          </a:p>
        </p:txBody>
      </p:sp>
      <p:sp>
        <p:nvSpPr>
          <p:cNvPr id="8" name="Segnaposto numero diapositiva 5">
            <a:extLst>
              <a:ext uri="{FF2B5EF4-FFF2-40B4-BE49-F238E27FC236}">
                <a16:creationId xmlns:a16="http://schemas.microsoft.com/office/drawing/2014/main" id="{423F2EF9-E3A7-7C43-99DB-3D909AA2C805}"/>
              </a:ext>
            </a:extLst>
          </p:cNvPr>
          <p:cNvSpPr>
            <a:spLocks noGrp="1"/>
          </p:cNvSpPr>
          <p:nvPr>
            <p:ph type="sldNum" sz="quarter" idx="12"/>
          </p:nvPr>
        </p:nvSpPr>
        <p:spPr>
          <a:xfrm>
            <a:off x="10398482" y="6055012"/>
            <a:ext cx="1027267" cy="365125"/>
          </a:xfrm>
        </p:spPr>
        <p:txBody>
          <a:bodyPr/>
          <a:lstStyle/>
          <a:p>
            <a:fld id="{2026EB2A-1F26-4143-92A6-3B752CD465DB}" type="slidenum">
              <a:rPr lang="it-IT" smtClean="0"/>
              <a:t>‹#›</a:t>
            </a:fld>
            <a:endParaRPr lang="it-IT"/>
          </a:p>
        </p:txBody>
      </p:sp>
      <p:pic>
        <p:nvPicPr>
          <p:cNvPr id="10" name="Immagine 6">
            <a:extLst>
              <a:ext uri="{FF2B5EF4-FFF2-40B4-BE49-F238E27FC236}">
                <a16:creationId xmlns:a16="http://schemas.microsoft.com/office/drawing/2014/main" id="{C72777E0-737A-CE4D-97A6-44B3AB1E5235}"/>
              </a:ext>
            </a:extLst>
          </p:cNvPr>
          <p:cNvPicPr>
            <a:picLocks noChangeAspect="1"/>
          </p:cNvPicPr>
          <p:nvPr userDrawn="1"/>
        </p:nvPicPr>
        <p:blipFill>
          <a:blip r:embed="rId2"/>
          <a:srcRect/>
          <a:stretch/>
        </p:blipFill>
        <p:spPr>
          <a:xfrm>
            <a:off x="503066" y="5663048"/>
            <a:ext cx="1625642" cy="797675"/>
          </a:xfrm>
          <a:prstGeom prst="rect">
            <a:avLst/>
          </a:prstGeom>
        </p:spPr>
      </p:pic>
      <p:sp>
        <p:nvSpPr>
          <p:cNvPr id="7" name="Title 3">
            <a:extLst>
              <a:ext uri="{FF2B5EF4-FFF2-40B4-BE49-F238E27FC236}">
                <a16:creationId xmlns:a16="http://schemas.microsoft.com/office/drawing/2014/main" id="{45E43B2A-AD48-1C47-BB21-AA2602857130}"/>
              </a:ext>
            </a:extLst>
          </p:cNvPr>
          <p:cNvSpPr txBox="1">
            <a:spLocks/>
          </p:cNvSpPr>
          <p:nvPr userDrawn="1"/>
        </p:nvSpPr>
        <p:spPr>
          <a:xfrm>
            <a:off x="717181" y="716415"/>
            <a:ext cx="11052002" cy="662558"/>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sz="3000" b="1" i="0" kern="1200" spc="60" baseline="0">
                <a:solidFill>
                  <a:srgbClr val="0070BA"/>
                </a:solidFill>
                <a:latin typeface="Open Sans Extrabold" panose="020B0606030504020204" pitchFamily="34" charset="0"/>
                <a:ea typeface="Open Sans Extrabold" panose="020B0606030504020204" pitchFamily="34" charset="0"/>
                <a:cs typeface="Open Sans Extrabold" panose="020B0606030504020204" pitchFamily="34" charset="0"/>
              </a:defRPr>
            </a:lvl1pPr>
          </a:lstStyle>
          <a:p>
            <a:r>
              <a:rPr lang="en-GB" sz="3600" b="0" kern="1400" spc="230">
                <a:solidFill>
                  <a:schemeClr val="tx1"/>
                </a:solidFill>
                <a:latin typeface="HALDEN SOLID" pitchFamily="2" charset="0"/>
              </a:rPr>
              <a:t>Slide title lorem ipsum </a:t>
            </a:r>
            <a:r>
              <a:rPr lang="en-GB" sz="3600" b="0" kern="1400" spc="230" err="1">
                <a:solidFill>
                  <a:schemeClr val="tx1"/>
                </a:solidFill>
                <a:latin typeface="HALDEN SOLID" pitchFamily="2" charset="0"/>
              </a:rPr>
              <a:t>dolor</a:t>
            </a:r>
            <a:endParaRPr lang="en-GB" sz="3600" b="0" kern="1400" spc="230">
              <a:solidFill>
                <a:schemeClr val="tx1"/>
              </a:solidFill>
              <a:latin typeface="HALDEN SOLID" pitchFamily="2" charset="0"/>
            </a:endParaRPr>
          </a:p>
        </p:txBody>
      </p:sp>
    </p:spTree>
    <p:extLst>
      <p:ext uri="{BB962C8B-B14F-4D97-AF65-F5344CB8AC3E}">
        <p14:creationId xmlns:p14="http://schemas.microsoft.com/office/powerpoint/2010/main" val="921107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Due contenuti">
    <p:spTree>
      <p:nvGrpSpPr>
        <p:cNvPr id="1" name=""/>
        <p:cNvGrpSpPr/>
        <p:nvPr/>
      </p:nvGrpSpPr>
      <p:grpSpPr>
        <a:xfrm>
          <a:off x="0" y="0"/>
          <a:ext cx="0" cy="0"/>
          <a:chOff x="0" y="0"/>
          <a:chExt cx="0" cy="0"/>
        </a:xfrm>
      </p:grpSpPr>
      <p:sp>
        <p:nvSpPr>
          <p:cNvPr id="3" name="Segnaposto contenuto 2"/>
          <p:cNvSpPr>
            <a:spLocks noGrp="1"/>
          </p:cNvSpPr>
          <p:nvPr>
            <p:ph sz="half" idx="1" hasCustomPrompt="1"/>
          </p:nvPr>
        </p:nvSpPr>
        <p:spPr>
          <a:xfrm>
            <a:off x="539999" y="1795071"/>
            <a:ext cx="5460945" cy="4100053"/>
          </a:xfrm>
        </p:spPr>
        <p:txBody>
          <a:bodyPr>
            <a:noAutofit/>
          </a:bodyPr>
          <a:lstStyle>
            <a:lvl1pPr marL="228600" indent="-228600">
              <a:lnSpc>
                <a:spcPct val="100000"/>
              </a:lnSpc>
              <a:buClr>
                <a:srgbClr val="0070BA"/>
              </a:buClr>
              <a:buFont typeface="Arial" charset="0"/>
              <a:buChar char="•"/>
              <a:defRPr sz="1800" spc="60" baseline="0"/>
            </a:lvl1pPr>
            <a:lvl2pPr marL="685800" indent="-228600">
              <a:lnSpc>
                <a:spcPct val="100000"/>
              </a:lnSpc>
              <a:buClr>
                <a:srgbClr val="0070BA"/>
              </a:buClr>
              <a:buFont typeface="Arial" charset="0"/>
              <a:buChar char="•"/>
              <a:defRPr sz="1600" spc="60" baseline="0"/>
            </a:lvl2pPr>
            <a:lvl3pPr marL="1143000" indent="-228600">
              <a:lnSpc>
                <a:spcPct val="100000"/>
              </a:lnSpc>
              <a:buClr>
                <a:srgbClr val="0070BA"/>
              </a:buClr>
              <a:buFont typeface="Arial" charset="0"/>
              <a:buChar char="•"/>
              <a:defRPr sz="1400" spc="60" baseline="0"/>
            </a:lvl3pPr>
            <a:lvl4pPr marL="1600200" indent="-228600">
              <a:lnSpc>
                <a:spcPct val="100000"/>
              </a:lnSpc>
              <a:buClr>
                <a:srgbClr val="0070BA"/>
              </a:buClr>
              <a:buFont typeface="Arial" charset="0"/>
              <a:buChar char="•"/>
              <a:defRPr sz="1200" spc="60" baseline="0"/>
            </a:lvl4pPr>
            <a:lvl5pPr marL="2057400" indent="-228600">
              <a:lnSpc>
                <a:spcPct val="100000"/>
              </a:lnSpc>
              <a:buClr>
                <a:srgbClr val="0070BA"/>
              </a:buClr>
              <a:buFont typeface="Arial" charset="0"/>
              <a:buChar char="•"/>
              <a:defRPr sz="1200" spc="60" baseline="0"/>
            </a:lvl5pPr>
          </a:lstStyle>
          <a:p>
            <a:pPr lvl="0"/>
            <a:r>
              <a:rPr lang="it-IT"/>
              <a:t>Click to </a:t>
            </a:r>
            <a:r>
              <a:rPr lang="it-IT" err="1"/>
              <a:t>insert</a:t>
            </a:r>
            <a:r>
              <a:rPr lang="it-IT"/>
              <a:t> </a:t>
            </a:r>
            <a:r>
              <a:rPr lang="it-IT" err="1"/>
              <a:t>tex</a:t>
            </a:r>
            <a:endParaRPr lang="it-IT"/>
          </a:p>
          <a:p>
            <a:pPr lvl="1"/>
            <a:r>
              <a:rPr lang="it-IT"/>
              <a:t>Second </a:t>
            </a:r>
            <a:r>
              <a:rPr lang="it-IT" err="1"/>
              <a:t>level</a:t>
            </a:r>
            <a:endParaRPr lang="it-IT"/>
          </a:p>
          <a:p>
            <a:pPr lvl="2"/>
            <a:r>
              <a:rPr lang="it-IT"/>
              <a:t>Third </a:t>
            </a:r>
            <a:r>
              <a:rPr lang="it-IT" err="1"/>
              <a:t>level</a:t>
            </a:r>
            <a:endParaRPr lang="it-IT"/>
          </a:p>
          <a:p>
            <a:pPr lvl="3"/>
            <a:r>
              <a:rPr lang="it-IT" err="1"/>
              <a:t>Fourth</a:t>
            </a:r>
            <a:r>
              <a:rPr lang="it-IT"/>
              <a:t> </a:t>
            </a:r>
            <a:r>
              <a:rPr lang="it-IT" err="1"/>
              <a:t>level</a:t>
            </a:r>
            <a:endParaRPr lang="it-IT"/>
          </a:p>
          <a:p>
            <a:pPr lvl="4"/>
            <a:r>
              <a:rPr lang="it-IT" err="1"/>
              <a:t>Fifth</a:t>
            </a:r>
            <a:r>
              <a:rPr lang="it-IT"/>
              <a:t> </a:t>
            </a:r>
            <a:r>
              <a:rPr lang="it-IT" err="1"/>
              <a:t>level</a:t>
            </a:r>
            <a:endParaRPr lang="it-IT"/>
          </a:p>
        </p:txBody>
      </p:sp>
      <p:sp>
        <p:nvSpPr>
          <p:cNvPr id="5" name="Picture Placeholder 4">
            <a:extLst>
              <a:ext uri="{FF2B5EF4-FFF2-40B4-BE49-F238E27FC236}">
                <a16:creationId xmlns:a16="http://schemas.microsoft.com/office/drawing/2014/main" id="{D29D93D5-8F53-3444-8F3E-BBF377575DA2}"/>
              </a:ext>
            </a:extLst>
          </p:cNvPr>
          <p:cNvSpPr>
            <a:spLocks noGrp="1"/>
          </p:cNvSpPr>
          <p:nvPr>
            <p:ph type="pic" sz="quarter" idx="13"/>
          </p:nvPr>
        </p:nvSpPr>
        <p:spPr>
          <a:xfrm>
            <a:off x="6194425" y="1795463"/>
            <a:ext cx="5397500" cy="4098925"/>
          </a:xfrm>
        </p:spPr>
        <p:txBody>
          <a:bodyPr/>
          <a:lstStyle/>
          <a:p>
            <a:r>
              <a:rPr lang="en-GB"/>
              <a:t>Click icon to add picture</a:t>
            </a:r>
            <a:endParaRPr lang="it-IT"/>
          </a:p>
        </p:txBody>
      </p:sp>
      <p:sp>
        <p:nvSpPr>
          <p:cNvPr id="8" name="Segnaposto numero diapositiva 5">
            <a:extLst>
              <a:ext uri="{FF2B5EF4-FFF2-40B4-BE49-F238E27FC236}">
                <a16:creationId xmlns:a16="http://schemas.microsoft.com/office/drawing/2014/main" id="{592D85CC-EB0C-D645-85D6-3DB77E029306}"/>
              </a:ext>
            </a:extLst>
          </p:cNvPr>
          <p:cNvSpPr>
            <a:spLocks noGrp="1"/>
          </p:cNvSpPr>
          <p:nvPr>
            <p:ph type="sldNum" sz="quarter" idx="12"/>
          </p:nvPr>
        </p:nvSpPr>
        <p:spPr>
          <a:xfrm>
            <a:off x="10398482" y="6055012"/>
            <a:ext cx="1027267" cy="365125"/>
          </a:xfrm>
        </p:spPr>
        <p:txBody>
          <a:bodyPr/>
          <a:lstStyle/>
          <a:p>
            <a:fld id="{2026EB2A-1F26-4143-92A6-3B752CD465DB}" type="slidenum">
              <a:rPr lang="it-IT" smtClean="0"/>
              <a:t>‹#›</a:t>
            </a:fld>
            <a:endParaRPr lang="it-IT"/>
          </a:p>
        </p:txBody>
      </p:sp>
      <p:pic>
        <p:nvPicPr>
          <p:cNvPr id="10" name="Immagine 6">
            <a:extLst>
              <a:ext uri="{FF2B5EF4-FFF2-40B4-BE49-F238E27FC236}">
                <a16:creationId xmlns:a16="http://schemas.microsoft.com/office/drawing/2014/main" id="{EE9D2174-1656-564C-9C34-210AF0606E51}"/>
              </a:ext>
            </a:extLst>
          </p:cNvPr>
          <p:cNvPicPr>
            <a:picLocks noChangeAspect="1"/>
          </p:cNvPicPr>
          <p:nvPr userDrawn="1"/>
        </p:nvPicPr>
        <p:blipFill>
          <a:blip r:embed="rId2"/>
          <a:srcRect/>
          <a:stretch/>
        </p:blipFill>
        <p:spPr>
          <a:xfrm>
            <a:off x="503066" y="5663048"/>
            <a:ext cx="1625642" cy="797675"/>
          </a:xfrm>
          <a:prstGeom prst="rect">
            <a:avLst/>
          </a:prstGeom>
        </p:spPr>
      </p:pic>
      <p:sp>
        <p:nvSpPr>
          <p:cNvPr id="7" name="Title 3">
            <a:extLst>
              <a:ext uri="{FF2B5EF4-FFF2-40B4-BE49-F238E27FC236}">
                <a16:creationId xmlns:a16="http://schemas.microsoft.com/office/drawing/2014/main" id="{622D786E-D5DB-B346-B2FA-981C681ADAA2}"/>
              </a:ext>
            </a:extLst>
          </p:cNvPr>
          <p:cNvSpPr txBox="1">
            <a:spLocks/>
          </p:cNvSpPr>
          <p:nvPr userDrawn="1"/>
        </p:nvSpPr>
        <p:spPr>
          <a:xfrm>
            <a:off x="717181" y="716415"/>
            <a:ext cx="11052002" cy="662558"/>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sz="3000" b="1" i="0" kern="1200" spc="60" baseline="0">
                <a:solidFill>
                  <a:srgbClr val="0070BA"/>
                </a:solidFill>
                <a:latin typeface="Open Sans Extrabold" panose="020B0606030504020204" pitchFamily="34" charset="0"/>
                <a:ea typeface="Open Sans Extrabold" panose="020B0606030504020204" pitchFamily="34" charset="0"/>
                <a:cs typeface="Open Sans Extrabold" panose="020B0606030504020204" pitchFamily="34" charset="0"/>
              </a:defRPr>
            </a:lvl1pPr>
          </a:lstStyle>
          <a:p>
            <a:r>
              <a:rPr lang="en-GB" sz="3600" b="0" kern="1400" spc="230">
                <a:solidFill>
                  <a:schemeClr val="tx1"/>
                </a:solidFill>
                <a:latin typeface="HALDEN SOLID" pitchFamily="2" charset="0"/>
              </a:rPr>
              <a:t>Slide title lorem ipsum </a:t>
            </a:r>
            <a:r>
              <a:rPr lang="en-GB" sz="3600" b="0" kern="1400" spc="230" err="1">
                <a:solidFill>
                  <a:schemeClr val="tx1"/>
                </a:solidFill>
                <a:latin typeface="HALDEN SOLID" pitchFamily="2" charset="0"/>
              </a:rPr>
              <a:t>dolor</a:t>
            </a:r>
            <a:endParaRPr lang="en-GB" sz="3600" b="0" kern="1400" spc="230">
              <a:solidFill>
                <a:schemeClr val="tx1"/>
              </a:solidFill>
              <a:latin typeface="HALDEN SOLID" pitchFamily="2" charset="0"/>
            </a:endParaRPr>
          </a:p>
        </p:txBody>
      </p:sp>
    </p:spTree>
    <p:extLst>
      <p:ext uri="{BB962C8B-B14F-4D97-AF65-F5344CB8AC3E}">
        <p14:creationId xmlns:p14="http://schemas.microsoft.com/office/powerpoint/2010/main" val="313574272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3" name="Segnaposto testo 2"/>
          <p:cNvSpPr>
            <a:spLocks noGrp="1"/>
          </p:cNvSpPr>
          <p:nvPr>
            <p:ph type="body" idx="1"/>
          </p:nvPr>
        </p:nvSpPr>
        <p:spPr>
          <a:xfrm>
            <a:off x="973394" y="1732935"/>
            <a:ext cx="10667744" cy="4444027"/>
          </a:xfrm>
          <a:prstGeom prst="rect">
            <a:avLst/>
          </a:prstGeom>
        </p:spPr>
        <p:txBody>
          <a:bodyPr vert="horz" lIns="91440" tIns="45720" rIns="91440" bIns="45720" rtlCol="0">
            <a:normAutofit/>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p:cNvSpPr>
            <a:spLocks noGrp="1"/>
          </p:cNvSpPr>
          <p:nvPr>
            <p:ph type="dt" sz="half" idx="2"/>
          </p:nvPr>
        </p:nvSpPr>
        <p:spPr>
          <a:xfrm>
            <a:off x="7637761" y="6227991"/>
            <a:ext cx="2743200" cy="365125"/>
          </a:xfrm>
          <a:prstGeom prst="rect">
            <a:avLst/>
          </a:prstGeom>
        </p:spPr>
        <p:txBody>
          <a:bodyPr vert="horz" lIns="91440" tIns="45720" rIns="91440" bIns="45720" rtlCol="0" anchor="t"/>
          <a:lstStyle>
            <a:lvl1pPr algn="r">
              <a:defRPr sz="1200" b="0" i="0">
                <a:solidFill>
                  <a:srgbClr val="0070BA"/>
                </a:solidFill>
                <a:latin typeface="Open Sans" charset="0"/>
                <a:ea typeface="Open Sans" charset="0"/>
                <a:cs typeface="Open Sans" charset="0"/>
              </a:defRPr>
            </a:lvl1pPr>
          </a:lstStyle>
          <a:p>
            <a:r>
              <a:rPr lang="it-IT"/>
              <a:t>Year Month</a:t>
            </a:r>
          </a:p>
        </p:txBody>
      </p:sp>
      <p:sp>
        <p:nvSpPr>
          <p:cNvPr id="6" name="Segnaposto numero diapositiva 5"/>
          <p:cNvSpPr>
            <a:spLocks noGrp="1"/>
          </p:cNvSpPr>
          <p:nvPr>
            <p:ph type="sldNum" sz="quarter" idx="4"/>
          </p:nvPr>
        </p:nvSpPr>
        <p:spPr>
          <a:xfrm>
            <a:off x="10711542" y="6227991"/>
            <a:ext cx="1027267" cy="365125"/>
          </a:xfrm>
          <a:prstGeom prst="rect">
            <a:avLst/>
          </a:prstGeom>
        </p:spPr>
        <p:txBody>
          <a:bodyPr vert="horz" lIns="91440" tIns="45720" rIns="91440" bIns="45720" rtlCol="0" anchor="t"/>
          <a:lstStyle>
            <a:lvl1pPr algn="r">
              <a:defRPr sz="1200" b="1" i="0">
                <a:solidFill>
                  <a:srgbClr val="0070BA"/>
                </a:solidFill>
                <a:latin typeface="Open Sans" charset="0"/>
                <a:ea typeface="Open Sans" charset="0"/>
                <a:cs typeface="Open Sans" charset="0"/>
              </a:defRPr>
            </a:lvl1pPr>
          </a:lstStyle>
          <a:p>
            <a:fld id="{2026EB2A-1F26-4143-92A6-3B752CD465DB}" type="slidenum">
              <a:rPr lang="it-IT" smtClean="0"/>
              <a:pPr/>
              <a:t>‹#›</a:t>
            </a:fld>
            <a:endParaRPr lang="it-IT"/>
          </a:p>
        </p:txBody>
      </p:sp>
      <p:sp>
        <p:nvSpPr>
          <p:cNvPr id="5" name="Title Placeholder 4"/>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Tree>
    <p:extLst>
      <p:ext uri="{BB962C8B-B14F-4D97-AF65-F5344CB8AC3E}">
        <p14:creationId xmlns:p14="http://schemas.microsoft.com/office/powerpoint/2010/main" val="818424624"/>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4" r:id="rId3"/>
    <p:sldLayoutId id="2147483672" r:id="rId4"/>
    <p:sldLayoutId id="2147483673" r:id="rId5"/>
  </p:sldLayoutIdLst>
  <p:hf sldNum="0" hdr="0" ftr="0"/>
  <p:txStyles>
    <p:titleStyle>
      <a:lvl1pPr algn="l" defTabSz="914400" rtl="0" eaLnBrk="1" latinLnBrk="0" hangingPunct="1">
        <a:lnSpc>
          <a:spcPct val="90000"/>
        </a:lnSpc>
        <a:spcBef>
          <a:spcPct val="0"/>
        </a:spcBef>
        <a:buNone/>
        <a:defRPr sz="3000" b="1" i="0" kern="1200">
          <a:solidFill>
            <a:srgbClr val="0070BA"/>
          </a:solidFill>
          <a:latin typeface="Open Sans" charset="0"/>
          <a:ea typeface="Open Sans" charset="0"/>
          <a:cs typeface="Open Sans" charset="0"/>
        </a:defRPr>
      </a:lvl1pPr>
    </p:titleStyle>
    <p:bodyStyle>
      <a:lvl1pPr marL="228600" indent="-228600" algn="l" defTabSz="914400" rtl="0" eaLnBrk="1" latinLnBrk="0" hangingPunct="1">
        <a:lnSpc>
          <a:spcPct val="90000"/>
        </a:lnSpc>
        <a:spcBef>
          <a:spcPts val="1000"/>
        </a:spcBef>
        <a:buFont typeface="Arial"/>
        <a:buChar char="•"/>
        <a:defRPr sz="2000" b="0" i="0" kern="1200">
          <a:solidFill>
            <a:schemeClr val="tx1"/>
          </a:solidFill>
          <a:latin typeface="Open Sans" charset="0"/>
          <a:ea typeface="Open Sans" charset="0"/>
          <a:cs typeface="Open Sans" charset="0"/>
        </a:defRPr>
      </a:lvl1pPr>
      <a:lvl2pPr marL="685800" indent="-228600" algn="l" defTabSz="914400" rtl="0" eaLnBrk="1" latinLnBrk="0" hangingPunct="1">
        <a:lnSpc>
          <a:spcPct val="90000"/>
        </a:lnSpc>
        <a:spcBef>
          <a:spcPts val="500"/>
        </a:spcBef>
        <a:buFont typeface="Arial"/>
        <a:buChar char="•"/>
        <a:defRPr sz="1800" b="0" i="0" kern="1200">
          <a:solidFill>
            <a:schemeClr val="tx1"/>
          </a:solidFill>
          <a:latin typeface="Open Sans" charset="0"/>
          <a:ea typeface="Open Sans" charset="0"/>
          <a:cs typeface="Open Sans" charset="0"/>
        </a:defRPr>
      </a:lvl2pPr>
      <a:lvl3pPr marL="1143000" indent="-228600" algn="l" defTabSz="914400" rtl="0" eaLnBrk="1" latinLnBrk="0" hangingPunct="1">
        <a:lnSpc>
          <a:spcPct val="90000"/>
        </a:lnSpc>
        <a:spcBef>
          <a:spcPts val="500"/>
        </a:spcBef>
        <a:buFont typeface="Arial"/>
        <a:buChar char="•"/>
        <a:defRPr sz="1600" b="0" i="0" kern="1200">
          <a:solidFill>
            <a:schemeClr val="tx1"/>
          </a:solidFill>
          <a:latin typeface="Open Sans" charset="0"/>
          <a:ea typeface="Open Sans" charset="0"/>
          <a:cs typeface="Open Sans" charset="0"/>
        </a:defRPr>
      </a:lvl3pPr>
      <a:lvl4pPr marL="1600200" indent="-228600" algn="l" defTabSz="914400" rtl="0" eaLnBrk="1" latinLnBrk="0" hangingPunct="1">
        <a:lnSpc>
          <a:spcPct val="90000"/>
        </a:lnSpc>
        <a:spcBef>
          <a:spcPts val="500"/>
        </a:spcBef>
        <a:buFont typeface="Arial"/>
        <a:buChar char="•"/>
        <a:defRPr sz="1400" b="0" i="0" kern="1200">
          <a:solidFill>
            <a:schemeClr val="tx1"/>
          </a:solidFill>
          <a:latin typeface="Open Sans" charset="0"/>
          <a:ea typeface="Open Sans" charset="0"/>
          <a:cs typeface="Open Sans" charset="0"/>
        </a:defRPr>
      </a:lvl4pPr>
      <a:lvl5pPr marL="2057400" indent="-228600" algn="l" defTabSz="914400" rtl="0" eaLnBrk="1" latinLnBrk="0" hangingPunct="1">
        <a:lnSpc>
          <a:spcPct val="90000"/>
        </a:lnSpc>
        <a:spcBef>
          <a:spcPts val="500"/>
        </a:spcBef>
        <a:buFont typeface="Arial"/>
        <a:buChar char="•"/>
        <a:defRPr sz="1400" b="0" i="0" kern="1200">
          <a:solidFill>
            <a:schemeClr val="tx1"/>
          </a:solidFill>
          <a:latin typeface="Open Sans" charset="0"/>
          <a:ea typeface="Open Sans" charset="0"/>
          <a:cs typeface="Open Sans"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974">
          <p15:clr>
            <a:srgbClr val="F26B43"/>
          </p15:clr>
        </p15:guide>
        <p15:guide id="2" pos="7333">
          <p15:clr>
            <a:srgbClr val="F26B43"/>
          </p15:clr>
        </p15:guide>
        <p15:guide id="3" pos="688">
          <p15:clr>
            <a:srgbClr val="F26B43"/>
          </p15:clr>
        </p15:guide>
        <p15:guide id="4" orient="horz" pos="334">
          <p15:clr>
            <a:srgbClr val="F26B43"/>
          </p15:clr>
        </p15:guide>
        <p15:guide id="5" orient="horz" pos="1139">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453C7A2-7F49-F0B5-F9A4-BDDF8E3F0FFA}"/>
              </a:ext>
            </a:extLst>
          </p:cNvPr>
          <p:cNvPicPr>
            <a:picLocks noChangeAspect="1"/>
          </p:cNvPicPr>
          <p:nvPr/>
        </p:nvPicPr>
        <p:blipFill>
          <a:blip r:embed="rId3"/>
          <a:srcRect t="19785" b="19785"/>
          <a:stretch/>
        </p:blipFill>
        <p:spPr>
          <a:xfrm>
            <a:off x="0" y="0"/>
            <a:ext cx="12192000" cy="4908666"/>
          </a:xfrm>
          <a:prstGeom prst="rect">
            <a:avLst/>
          </a:prstGeom>
        </p:spPr>
      </p:pic>
      <p:sp>
        <p:nvSpPr>
          <p:cNvPr id="9" name="Titolo 1">
            <a:extLst>
              <a:ext uri="{FF2B5EF4-FFF2-40B4-BE49-F238E27FC236}">
                <a16:creationId xmlns:a16="http://schemas.microsoft.com/office/drawing/2014/main" id="{1A015D9C-C9D3-D64F-ADA5-742B12AEEA7C}"/>
              </a:ext>
            </a:extLst>
          </p:cNvPr>
          <p:cNvSpPr txBox="1">
            <a:spLocks/>
          </p:cNvSpPr>
          <p:nvPr/>
        </p:nvSpPr>
        <p:spPr>
          <a:xfrm>
            <a:off x="659230" y="5127641"/>
            <a:ext cx="8235387" cy="1006409"/>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600" b="1" i="0" kern="1200">
                <a:solidFill>
                  <a:srgbClr val="0070BA"/>
                </a:solidFill>
                <a:latin typeface="Open Sans" charset="0"/>
                <a:ea typeface="Open Sans" charset="0"/>
                <a:cs typeface="Open Sans" charset="0"/>
              </a:defRPr>
            </a:lvl1pPr>
          </a:lstStyle>
          <a:p>
            <a:r>
              <a:rPr lang="en-GB" sz="3400" dirty="0" err="1">
                <a:solidFill>
                  <a:schemeClr val="tx1"/>
                </a:solidFill>
                <a:latin typeface="Open Sans Extrabold"/>
                <a:ea typeface="Open Sans Extrabold"/>
                <a:cs typeface="Open Sans Extrabold"/>
              </a:rPr>
              <a:t>Échelle</a:t>
            </a:r>
            <a:r>
              <a:rPr lang="en-GB" sz="3400" dirty="0">
                <a:solidFill>
                  <a:schemeClr val="tx1"/>
                </a:solidFill>
                <a:latin typeface="Open Sans Extrabold"/>
                <a:ea typeface="Open Sans Extrabold"/>
                <a:cs typeface="Open Sans Extrabold"/>
              </a:rPr>
              <a:t> de la </a:t>
            </a:r>
            <a:r>
              <a:rPr lang="en-GB" sz="3400" dirty="0" err="1">
                <a:solidFill>
                  <a:schemeClr val="tx1"/>
                </a:solidFill>
                <a:latin typeface="Open Sans Extrabold"/>
                <a:ea typeface="Open Sans Extrabold"/>
                <a:cs typeface="Open Sans Extrabold"/>
              </a:rPr>
              <a:t>faim</a:t>
            </a:r>
            <a:r>
              <a:rPr lang="en-GB" sz="3400" dirty="0">
                <a:solidFill>
                  <a:schemeClr val="tx1"/>
                </a:solidFill>
                <a:latin typeface="Open Sans Extrabold"/>
                <a:ea typeface="Open Sans Extrabold"/>
                <a:cs typeface="Open Sans Extrabold"/>
              </a:rPr>
              <a:t> (HHS) </a:t>
            </a:r>
          </a:p>
        </p:txBody>
      </p:sp>
      <p:sp>
        <p:nvSpPr>
          <p:cNvPr id="12" name="Date Placeholder 4">
            <a:extLst>
              <a:ext uri="{FF2B5EF4-FFF2-40B4-BE49-F238E27FC236}">
                <a16:creationId xmlns:a16="http://schemas.microsoft.com/office/drawing/2014/main" id="{52D83F10-A12A-DC43-92D2-9708578359F6}"/>
              </a:ext>
            </a:extLst>
          </p:cNvPr>
          <p:cNvSpPr txBox="1">
            <a:spLocks/>
          </p:cNvSpPr>
          <p:nvPr/>
        </p:nvSpPr>
        <p:spPr>
          <a:xfrm>
            <a:off x="659231" y="6149794"/>
            <a:ext cx="2743200" cy="365125"/>
          </a:xfrm>
          <a:prstGeom prst="rect">
            <a:avLst/>
          </a:prstGeom>
        </p:spPr>
        <p:txBody>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sz="1600" b="1" dirty="0">
                <a:latin typeface="Open Sans" panose="020B0606030504020204" pitchFamily="34" charset="0"/>
                <a:ea typeface="Open Sans" panose="020B0606030504020204" pitchFamily="34" charset="0"/>
                <a:cs typeface="Open Sans" panose="020B0606030504020204" pitchFamily="34" charset="0"/>
              </a:rPr>
              <a:t>2024</a:t>
            </a:r>
          </a:p>
        </p:txBody>
      </p:sp>
      <p:sp>
        <p:nvSpPr>
          <p:cNvPr id="2" name="TextBox 1">
            <a:extLst>
              <a:ext uri="{FF2B5EF4-FFF2-40B4-BE49-F238E27FC236}">
                <a16:creationId xmlns:a16="http://schemas.microsoft.com/office/drawing/2014/main" id="{3641F83A-257E-A72A-B920-90CDA2321532}"/>
              </a:ext>
            </a:extLst>
          </p:cNvPr>
          <p:cNvSpPr txBox="1"/>
          <p:nvPr/>
        </p:nvSpPr>
        <p:spPr>
          <a:xfrm>
            <a:off x="0" y="3649870"/>
            <a:ext cx="353943" cy="1252907"/>
          </a:xfrm>
          <a:prstGeom prst="rect">
            <a:avLst/>
          </a:prstGeom>
          <a:noFill/>
        </p:spPr>
        <p:txBody>
          <a:bodyPr vert="vert270" wrap="none" rtlCol="0">
            <a:spAutoFit/>
          </a:bodyPr>
          <a:lstStyle/>
          <a:p>
            <a:r>
              <a:rPr lang="en-GB" sz="1100">
                <a:solidFill>
                  <a:srgbClr val="FFFFFE"/>
                </a:solidFill>
              </a:rPr>
              <a:t>© WFP/Kabir </a:t>
            </a:r>
            <a:r>
              <a:rPr lang="en-GB" sz="1100" err="1">
                <a:solidFill>
                  <a:srgbClr val="FFFFFE"/>
                </a:solidFill>
              </a:rPr>
              <a:t>Dhanji</a:t>
            </a:r>
            <a:endParaRPr lang="en-GB" sz="1100">
              <a:solidFill>
                <a:srgbClr val="FFFFFE"/>
              </a:solidFill>
            </a:endParaRPr>
          </a:p>
        </p:txBody>
      </p:sp>
    </p:spTree>
    <p:extLst>
      <p:ext uri="{BB962C8B-B14F-4D97-AF65-F5344CB8AC3E}">
        <p14:creationId xmlns:p14="http://schemas.microsoft.com/office/powerpoint/2010/main" val="14729558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B814BA3-6E03-D042-910F-DC8CF162B335}"/>
              </a:ext>
            </a:extLst>
          </p:cNvPr>
          <p:cNvSpPr/>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olo 1">
            <a:extLst>
              <a:ext uri="{FF2B5EF4-FFF2-40B4-BE49-F238E27FC236}">
                <a16:creationId xmlns:a16="http://schemas.microsoft.com/office/drawing/2014/main" id="{37488CCE-91B8-894E-A02C-7215AD7A0490}"/>
              </a:ext>
            </a:extLst>
          </p:cNvPr>
          <p:cNvSpPr txBox="1">
            <a:spLocks/>
          </p:cNvSpPr>
          <p:nvPr/>
        </p:nvSpPr>
        <p:spPr>
          <a:xfrm>
            <a:off x="642604" y="2231809"/>
            <a:ext cx="9242175" cy="2119429"/>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600" b="1" i="0" kern="1200">
                <a:solidFill>
                  <a:srgbClr val="0070BA"/>
                </a:solidFill>
                <a:latin typeface="Open Sans" charset="0"/>
                <a:ea typeface="Open Sans" charset="0"/>
                <a:cs typeface="Open Sans" charset="0"/>
              </a:defRPr>
            </a:lvl1pPr>
          </a:lstStyle>
          <a:p>
            <a:pPr>
              <a:lnSpc>
                <a:spcPts val="3920"/>
              </a:lnSpc>
            </a:pPr>
            <a:endParaRPr lang="it-IT" sz="3400" b="0" dirty="0">
              <a:solidFill>
                <a:srgbClr val="FFFFFE"/>
              </a:solidFill>
              <a:latin typeface="Open Sans Extrabold" panose="020B0606030504020204" pitchFamily="34" charset="0"/>
              <a:ea typeface="Open Sans Extrabold" panose="020B0606030504020204" pitchFamily="34" charset="0"/>
              <a:cs typeface="Open Sans Extrabold" panose="020B0606030504020204" pitchFamily="34" charset="0"/>
            </a:endParaRPr>
          </a:p>
          <a:p>
            <a:pPr>
              <a:lnSpc>
                <a:spcPts val="3920"/>
              </a:lnSpc>
            </a:pPr>
            <a:r>
              <a:rPr lang="it-IT" b="0" dirty="0">
                <a:solidFill>
                  <a:srgbClr val="FFFFFE"/>
                </a:solidFill>
                <a:latin typeface="HALDEN SOLID"/>
                <a:ea typeface="Open Sans Extrabold"/>
                <a:cs typeface="Open Sans Extrabold"/>
              </a:rPr>
              <a:t>Introduction</a:t>
            </a:r>
            <a:endParaRPr lang="it-IT" b="0" dirty="0">
              <a:solidFill>
                <a:srgbClr val="FFFFFE"/>
              </a:solidFill>
              <a:latin typeface="HALDEN SOLID" pitchFamily="2" charset="0"/>
              <a:ea typeface="Open Sans Extrabold" panose="020B0606030504020204" pitchFamily="34" charset="0"/>
              <a:cs typeface="Open Sans Extrabold" panose="020B0606030504020204" pitchFamily="34" charset="0"/>
            </a:endParaRPr>
          </a:p>
        </p:txBody>
      </p:sp>
    </p:spTree>
    <p:extLst>
      <p:ext uri="{BB962C8B-B14F-4D97-AF65-F5344CB8AC3E}">
        <p14:creationId xmlns:p14="http://schemas.microsoft.com/office/powerpoint/2010/main" val="7917899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0">
  <p:cSld>
    <p:bg>
      <p:bgPr>
        <a:solidFill>
          <a:schemeClr val="accent4">
            <a:lumMod val="60000"/>
            <a:lumOff val="40000"/>
          </a:schemeClr>
        </a:soli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686809" y="1378973"/>
            <a:ext cx="11052000" cy="4100053"/>
          </a:xfrm>
        </p:spPr>
        <p:txBody>
          <a:bodyPr vert="horz" lIns="91440" tIns="45720" rIns="91440" bIns="45720" rtlCol="0" anchor="t">
            <a:noAutofit/>
          </a:bodyPr>
          <a:lstStyle/>
          <a:p>
            <a:pPr marL="0" indent="0">
              <a:lnSpc>
                <a:spcPts val="2700"/>
              </a:lnSpc>
              <a:buNone/>
            </a:pPr>
            <a:endParaRPr lang="en-US" spc="60"/>
          </a:p>
          <a:p>
            <a:pPr marL="0" indent="0">
              <a:lnSpc>
                <a:spcPts val="2700"/>
              </a:lnSpc>
              <a:buNone/>
            </a:pPr>
            <a:r>
              <a:rPr lang="en-US" sz="2400" spc="60" dirty="0" err="1">
                <a:latin typeface="Open Sans"/>
                <a:ea typeface="Open Sans"/>
                <a:cs typeface="Open Sans"/>
              </a:rPr>
              <a:t>Discuter</a:t>
            </a:r>
            <a:r>
              <a:rPr lang="en-US" sz="2400" spc="60" dirty="0">
                <a:latin typeface="Open Sans"/>
                <a:ea typeface="Open Sans"/>
                <a:cs typeface="Open Sans"/>
              </a:rPr>
              <a:t> des </a:t>
            </a:r>
            <a:r>
              <a:rPr lang="en-US" sz="2400" spc="60" dirty="0" err="1">
                <a:latin typeface="Open Sans"/>
                <a:ea typeface="Open Sans"/>
                <a:cs typeface="Open Sans"/>
              </a:rPr>
              <a:t>objectifs</a:t>
            </a:r>
            <a:r>
              <a:rPr lang="en-US" sz="2400" spc="60" dirty="0">
                <a:latin typeface="Open Sans"/>
                <a:ea typeface="Open Sans"/>
                <a:cs typeface="Open Sans"/>
              </a:rPr>
              <a:t> du module, </a:t>
            </a:r>
            <a:r>
              <a:rPr lang="en-US" sz="2400" spc="60" dirty="0" err="1">
                <a:latin typeface="Open Sans"/>
                <a:ea typeface="Open Sans"/>
                <a:cs typeface="Open Sans"/>
              </a:rPr>
              <a:t>c'est</a:t>
            </a:r>
            <a:r>
              <a:rPr lang="en-US" sz="2400" spc="60" dirty="0">
                <a:latin typeface="Open Sans"/>
                <a:ea typeface="Open Sans"/>
                <a:cs typeface="Open Sans"/>
              </a:rPr>
              <a:t>-à-dire </a:t>
            </a:r>
            <a:r>
              <a:rPr lang="en-US" sz="2400" spc="60" dirty="0" err="1">
                <a:latin typeface="Open Sans"/>
                <a:ea typeface="Open Sans"/>
                <a:cs typeface="Open Sans"/>
              </a:rPr>
              <a:t>obtenir</a:t>
            </a:r>
            <a:r>
              <a:rPr lang="en-US" sz="2400" spc="60" dirty="0">
                <a:latin typeface="Open Sans"/>
                <a:ea typeface="Open Sans"/>
                <a:cs typeface="Open Sans"/>
              </a:rPr>
              <a:t> des </a:t>
            </a:r>
            <a:r>
              <a:rPr lang="en-US" sz="2400" spc="60" dirty="0" err="1">
                <a:latin typeface="Open Sans"/>
                <a:ea typeface="Open Sans"/>
                <a:cs typeface="Open Sans"/>
              </a:rPr>
              <a:t>informations</a:t>
            </a:r>
            <a:r>
              <a:rPr lang="en-US" sz="2400" spc="60" dirty="0">
                <a:latin typeface="Open Sans"/>
                <a:ea typeface="Open Sans"/>
                <a:cs typeface="Open Sans"/>
              </a:rPr>
              <a:t> sur les </a:t>
            </a:r>
            <a:r>
              <a:rPr lang="en-US" sz="2400" spc="60" dirty="0" err="1">
                <a:latin typeface="Open Sans"/>
                <a:ea typeface="Open Sans"/>
                <a:cs typeface="Open Sans"/>
              </a:rPr>
              <a:t>comportements</a:t>
            </a:r>
            <a:r>
              <a:rPr lang="en-US" sz="2400" spc="60" dirty="0">
                <a:latin typeface="Open Sans"/>
                <a:ea typeface="Open Sans"/>
                <a:cs typeface="Open Sans"/>
              </a:rPr>
              <a:t> et </a:t>
            </a:r>
            <a:r>
              <a:rPr lang="en-US" sz="2400" spc="60" dirty="0" err="1">
                <a:latin typeface="Open Sans"/>
                <a:ea typeface="Open Sans"/>
                <a:cs typeface="Open Sans"/>
              </a:rPr>
              <a:t>expériences</a:t>
            </a:r>
            <a:r>
              <a:rPr lang="en-US" sz="2400" spc="60" dirty="0">
                <a:latin typeface="Open Sans"/>
                <a:ea typeface="Open Sans"/>
                <a:cs typeface="Open Sans"/>
              </a:rPr>
              <a:t> </a:t>
            </a:r>
            <a:r>
              <a:rPr lang="en-US" sz="2400" spc="60" dirty="0" err="1">
                <a:latin typeface="Open Sans"/>
                <a:ea typeface="Open Sans"/>
                <a:cs typeface="Open Sans"/>
              </a:rPr>
              <a:t>alimentaires</a:t>
            </a:r>
            <a:r>
              <a:rPr lang="en-US" sz="2400" spc="60" dirty="0">
                <a:latin typeface="Open Sans"/>
                <a:ea typeface="Open Sans"/>
                <a:cs typeface="Open Sans"/>
              </a:rPr>
              <a:t> </a:t>
            </a:r>
            <a:r>
              <a:rPr lang="en-US" sz="2400" spc="60" dirty="0" err="1">
                <a:latin typeface="Open Sans"/>
                <a:ea typeface="Open Sans"/>
                <a:cs typeface="Open Sans"/>
              </a:rPr>
              <a:t>associés</a:t>
            </a:r>
            <a:r>
              <a:rPr lang="en-US" sz="2400" spc="60" dirty="0">
                <a:latin typeface="Open Sans"/>
                <a:ea typeface="Open Sans"/>
                <a:cs typeface="Open Sans"/>
              </a:rPr>
              <a:t> aux </a:t>
            </a:r>
            <a:r>
              <a:rPr lang="en-US" sz="2400" spc="60" dirty="0" err="1">
                <a:latin typeface="Open Sans"/>
                <a:ea typeface="Open Sans"/>
                <a:cs typeface="Open Sans"/>
              </a:rPr>
              <a:t>difficultés</a:t>
            </a:r>
            <a:r>
              <a:rPr lang="en-US" sz="2400" spc="60" dirty="0">
                <a:latin typeface="Open Sans"/>
                <a:ea typeface="Open Sans"/>
                <a:cs typeface="Open Sans"/>
              </a:rPr>
              <a:t> </a:t>
            </a:r>
            <a:r>
              <a:rPr lang="en-US" sz="2400" spc="60" dirty="0" err="1">
                <a:latin typeface="Open Sans"/>
                <a:ea typeface="Open Sans"/>
                <a:cs typeface="Open Sans"/>
              </a:rPr>
              <a:t>d'accès</a:t>
            </a:r>
            <a:r>
              <a:rPr lang="en-US" sz="2400" spc="60" dirty="0">
                <a:latin typeface="Open Sans"/>
                <a:ea typeface="Open Sans"/>
                <a:cs typeface="Open Sans"/>
              </a:rPr>
              <a:t> à la </a:t>
            </a:r>
            <a:r>
              <a:rPr lang="en-US" sz="2400" spc="60" dirty="0" err="1">
                <a:latin typeface="Open Sans"/>
                <a:ea typeface="Open Sans"/>
                <a:cs typeface="Open Sans"/>
              </a:rPr>
              <a:t>nourriture</a:t>
            </a:r>
            <a:r>
              <a:rPr lang="en-US" sz="2400" spc="60" dirty="0">
                <a:latin typeface="Open Sans"/>
                <a:ea typeface="Open Sans"/>
                <a:cs typeface="Open Sans"/>
              </a:rPr>
              <a:t> chez la population </a:t>
            </a:r>
            <a:r>
              <a:rPr lang="en-US" sz="2400" spc="60" dirty="0" err="1">
                <a:latin typeface="Open Sans"/>
                <a:ea typeface="Open Sans"/>
                <a:cs typeface="Open Sans"/>
              </a:rPr>
              <a:t>ciblée</a:t>
            </a:r>
            <a:r>
              <a:rPr lang="en-US" sz="2400" spc="60" dirty="0">
                <a:latin typeface="Open Sans"/>
                <a:ea typeface="Open Sans"/>
                <a:cs typeface="Open Sans"/>
              </a:rPr>
              <a:t>, </a:t>
            </a:r>
            <a:r>
              <a:rPr lang="en-US" sz="2400" spc="60" dirty="0" err="1">
                <a:latin typeface="Open Sans"/>
                <a:ea typeface="Open Sans"/>
                <a:cs typeface="Open Sans"/>
              </a:rPr>
              <a:t>mesurer</a:t>
            </a:r>
            <a:r>
              <a:rPr lang="en-US" sz="2400" spc="60" dirty="0">
                <a:latin typeface="Open Sans"/>
                <a:ea typeface="Open Sans"/>
                <a:cs typeface="Open Sans"/>
              </a:rPr>
              <a:t> </a:t>
            </a:r>
            <a:r>
              <a:rPr lang="en-US" sz="2400" spc="60" dirty="0" err="1">
                <a:latin typeface="Open Sans"/>
                <a:ea typeface="Open Sans"/>
                <a:cs typeface="Open Sans"/>
              </a:rPr>
              <a:t>l'accès</a:t>
            </a:r>
            <a:r>
              <a:rPr lang="en-US" sz="2400" spc="60" dirty="0">
                <a:latin typeface="Open Sans"/>
                <a:ea typeface="Open Sans"/>
                <a:cs typeface="Open Sans"/>
              </a:rPr>
              <a:t> des ménages à la </a:t>
            </a:r>
            <a:r>
              <a:rPr lang="en-US" sz="2400" spc="60" dirty="0" err="1">
                <a:latin typeface="Open Sans"/>
                <a:ea typeface="Open Sans"/>
                <a:cs typeface="Open Sans"/>
              </a:rPr>
              <a:t>nourriture</a:t>
            </a:r>
            <a:r>
              <a:rPr lang="en-US" sz="2400" spc="60" dirty="0">
                <a:latin typeface="Open Sans"/>
                <a:ea typeface="Open Sans"/>
                <a:cs typeface="Open Sans"/>
              </a:rPr>
              <a:t>. </a:t>
            </a:r>
            <a:endParaRPr lang="en-GB" sz="2400" spc="60" dirty="0">
              <a:latin typeface="Open Sans"/>
              <a:ea typeface="Open Sans"/>
              <a:cs typeface="Open Sans"/>
            </a:endParaRPr>
          </a:p>
          <a:p>
            <a:pPr marL="0" indent="0">
              <a:lnSpc>
                <a:spcPct val="90000"/>
              </a:lnSpc>
              <a:buNone/>
            </a:pPr>
            <a:endParaRPr lang="en-US" sz="2400" spc="60">
              <a:latin typeface="Open Sans"/>
              <a:ea typeface="Open Sans"/>
              <a:cs typeface="Open Sans"/>
            </a:endParaRPr>
          </a:p>
          <a:p>
            <a:pPr marL="0" indent="0">
              <a:lnSpc>
                <a:spcPct val="90000"/>
              </a:lnSpc>
              <a:buNone/>
            </a:pPr>
            <a:r>
              <a:rPr lang="en-US" sz="2400" spc="60" dirty="0" err="1">
                <a:latin typeface="Open Sans"/>
                <a:ea typeface="Open Sans"/>
                <a:cs typeface="Open Sans"/>
              </a:rPr>
              <a:t>Expliquez</a:t>
            </a:r>
            <a:r>
              <a:rPr lang="en-US" sz="2400" spc="60" dirty="0">
                <a:latin typeface="Open Sans"/>
                <a:ea typeface="Open Sans"/>
                <a:cs typeface="Open Sans"/>
              </a:rPr>
              <a:t> le </a:t>
            </a:r>
            <a:r>
              <a:rPr lang="en-US" sz="2400" spc="60" dirty="0" err="1">
                <a:latin typeface="Open Sans"/>
                <a:ea typeface="Open Sans"/>
                <a:cs typeface="Open Sans"/>
              </a:rPr>
              <a:t>rôle</a:t>
            </a:r>
            <a:r>
              <a:rPr lang="en-US" sz="2400" spc="60" dirty="0">
                <a:latin typeface="Open Sans"/>
                <a:ea typeface="Open Sans"/>
                <a:cs typeface="Open Sans"/>
              </a:rPr>
              <a:t> de </a:t>
            </a:r>
            <a:r>
              <a:rPr lang="en-US" sz="2400" spc="60" dirty="0" err="1">
                <a:latin typeface="Open Sans"/>
                <a:ea typeface="Open Sans"/>
                <a:cs typeface="Open Sans"/>
              </a:rPr>
              <a:t>cet</a:t>
            </a:r>
            <a:r>
              <a:rPr lang="en-US" sz="2400" spc="60" dirty="0">
                <a:latin typeface="Open Sans"/>
                <a:ea typeface="Open Sans"/>
                <a:cs typeface="Open Sans"/>
              </a:rPr>
              <a:t> </a:t>
            </a:r>
            <a:r>
              <a:rPr lang="en-US" sz="2400" spc="60" dirty="0" err="1">
                <a:latin typeface="Open Sans"/>
                <a:ea typeface="Open Sans"/>
                <a:cs typeface="Open Sans"/>
              </a:rPr>
              <a:t>indicateur</a:t>
            </a:r>
            <a:r>
              <a:rPr lang="en-US" sz="2400" spc="60" dirty="0">
                <a:latin typeface="Open Sans"/>
                <a:ea typeface="Open Sans"/>
                <a:cs typeface="Open Sans"/>
              </a:rPr>
              <a:t> dans les chiffres de </a:t>
            </a:r>
            <a:r>
              <a:rPr lang="en-US" sz="2400" spc="60" dirty="0" err="1">
                <a:latin typeface="Open Sans"/>
                <a:ea typeface="Open Sans"/>
                <a:cs typeface="Open Sans"/>
              </a:rPr>
              <a:t>l'insécurité</a:t>
            </a:r>
            <a:r>
              <a:rPr lang="en-US" sz="2400" spc="60" dirty="0">
                <a:latin typeface="Open Sans"/>
                <a:ea typeface="Open Sans"/>
                <a:cs typeface="Open Sans"/>
              </a:rPr>
              <a:t> </a:t>
            </a:r>
            <a:r>
              <a:rPr lang="en-US" sz="2400" spc="60" dirty="0" err="1">
                <a:latin typeface="Open Sans"/>
                <a:ea typeface="Open Sans"/>
                <a:cs typeface="Open Sans"/>
              </a:rPr>
              <a:t>alimentaire</a:t>
            </a:r>
            <a:r>
              <a:rPr lang="en-US" sz="2400" spc="60" dirty="0">
                <a:latin typeface="Open Sans"/>
                <a:ea typeface="Open Sans"/>
                <a:cs typeface="Open Sans"/>
              </a:rPr>
              <a:t> et </a:t>
            </a:r>
            <a:r>
              <a:rPr lang="en-US" sz="2400" spc="60" dirty="0" err="1">
                <a:latin typeface="Open Sans"/>
                <a:ea typeface="Open Sans"/>
                <a:cs typeface="Open Sans"/>
              </a:rPr>
              <a:t>l'utilisation</a:t>
            </a:r>
            <a:r>
              <a:rPr lang="en-US" sz="2400" spc="60" dirty="0">
                <a:latin typeface="Open Sans"/>
                <a:ea typeface="Open Sans"/>
                <a:cs typeface="Open Sans"/>
              </a:rPr>
              <a:t> de </a:t>
            </a:r>
            <a:r>
              <a:rPr lang="en-US" sz="2400" spc="60" dirty="0" err="1">
                <a:latin typeface="Open Sans"/>
                <a:ea typeface="Open Sans"/>
                <a:cs typeface="Open Sans"/>
              </a:rPr>
              <a:t>l'information</a:t>
            </a:r>
            <a:r>
              <a:rPr lang="en-US" sz="2400" spc="60" dirty="0">
                <a:latin typeface="Open Sans"/>
                <a:ea typeface="Open Sans"/>
                <a:cs typeface="Open Sans"/>
              </a:rPr>
              <a:t>, </a:t>
            </a:r>
            <a:r>
              <a:rPr lang="en-US" sz="2400" spc="60" dirty="0" err="1">
                <a:latin typeface="Open Sans"/>
                <a:ea typeface="Open Sans"/>
                <a:cs typeface="Open Sans"/>
              </a:rPr>
              <a:t>en</a:t>
            </a:r>
            <a:r>
              <a:rPr lang="en-US" sz="2400" spc="60" dirty="0">
                <a:latin typeface="Open Sans"/>
                <a:ea typeface="Open Sans"/>
                <a:cs typeface="Open Sans"/>
              </a:rPr>
              <a:t> interne et </a:t>
            </a:r>
            <a:r>
              <a:rPr lang="en-US" sz="2400" spc="60" dirty="0" err="1">
                <a:latin typeface="Open Sans"/>
                <a:ea typeface="Open Sans"/>
                <a:cs typeface="Open Sans"/>
              </a:rPr>
              <a:t>en</a:t>
            </a:r>
            <a:r>
              <a:rPr lang="en-US" sz="2400" spc="60" dirty="0">
                <a:latin typeface="Open Sans"/>
                <a:ea typeface="Open Sans"/>
                <a:cs typeface="Open Sans"/>
              </a:rPr>
              <a:t> externe. Cela </a:t>
            </a:r>
            <a:r>
              <a:rPr lang="en-US" sz="2400" spc="60" dirty="0" err="1">
                <a:latin typeface="Open Sans"/>
                <a:ea typeface="Open Sans"/>
                <a:cs typeface="Open Sans"/>
              </a:rPr>
              <a:t>permet</a:t>
            </a:r>
            <a:r>
              <a:rPr lang="en-US" sz="2400" spc="60" dirty="0">
                <a:latin typeface="Open Sans"/>
                <a:ea typeface="Open Sans"/>
                <a:cs typeface="Open Sans"/>
              </a:rPr>
              <a:t> aux </a:t>
            </a:r>
            <a:r>
              <a:rPr lang="en-US" sz="2400" spc="60" dirty="0" err="1">
                <a:latin typeface="Open Sans"/>
                <a:ea typeface="Open Sans"/>
                <a:cs typeface="Open Sans"/>
              </a:rPr>
              <a:t>enquêteurs</a:t>
            </a:r>
            <a:r>
              <a:rPr lang="en-US" sz="2400" spc="60" dirty="0">
                <a:latin typeface="Open Sans"/>
                <a:ea typeface="Open Sans"/>
                <a:cs typeface="Open Sans"/>
              </a:rPr>
              <a:t> de bien </a:t>
            </a:r>
            <a:r>
              <a:rPr lang="en-US" sz="2400" spc="60" dirty="0" err="1">
                <a:latin typeface="Open Sans"/>
                <a:ea typeface="Open Sans"/>
                <a:cs typeface="Open Sans"/>
              </a:rPr>
              <a:t>comprendre</a:t>
            </a:r>
            <a:r>
              <a:rPr lang="en-US" sz="2400" spc="60" dirty="0">
                <a:latin typeface="Open Sans"/>
                <a:ea typeface="Open Sans"/>
                <a:cs typeface="Open Sans"/>
              </a:rPr>
              <a:t> </a:t>
            </a:r>
            <a:r>
              <a:rPr lang="en-US" sz="2400" spc="60" dirty="0" err="1">
                <a:latin typeface="Open Sans"/>
                <a:ea typeface="Open Sans"/>
                <a:cs typeface="Open Sans"/>
              </a:rPr>
              <a:t>l'importance</a:t>
            </a:r>
            <a:r>
              <a:rPr lang="en-US" sz="2400" spc="60" dirty="0">
                <a:latin typeface="Open Sans"/>
                <a:ea typeface="Open Sans"/>
                <a:cs typeface="Open Sans"/>
              </a:rPr>
              <a:t> des données </a:t>
            </a:r>
            <a:r>
              <a:rPr lang="en-US" sz="2400" spc="60" dirty="0" err="1">
                <a:latin typeface="Open Sans"/>
                <a:ea typeface="Open Sans"/>
                <a:cs typeface="Open Sans"/>
              </a:rPr>
              <a:t>qu'ils</a:t>
            </a:r>
            <a:r>
              <a:rPr lang="en-US" sz="2400" spc="60" dirty="0">
                <a:latin typeface="Open Sans"/>
                <a:ea typeface="Open Sans"/>
                <a:cs typeface="Open Sans"/>
              </a:rPr>
              <a:t> </a:t>
            </a:r>
            <a:r>
              <a:rPr lang="en-US" sz="2400" spc="60" dirty="0" err="1">
                <a:latin typeface="Open Sans"/>
                <a:ea typeface="Open Sans"/>
                <a:cs typeface="Open Sans"/>
              </a:rPr>
              <a:t>vont</a:t>
            </a:r>
            <a:r>
              <a:rPr lang="en-US" sz="2400" spc="60" dirty="0">
                <a:latin typeface="Open Sans"/>
                <a:ea typeface="Open Sans"/>
                <a:cs typeface="Open Sans"/>
              </a:rPr>
              <a:t> </a:t>
            </a:r>
            <a:r>
              <a:rPr lang="en-US" sz="2400" spc="60" dirty="0" err="1">
                <a:latin typeface="Open Sans"/>
                <a:ea typeface="Open Sans"/>
                <a:cs typeface="Open Sans"/>
              </a:rPr>
              <a:t>bientôt</a:t>
            </a:r>
            <a:r>
              <a:rPr lang="en-US" sz="2400" spc="60" dirty="0">
                <a:latin typeface="Open Sans"/>
                <a:ea typeface="Open Sans"/>
                <a:cs typeface="Open Sans"/>
              </a:rPr>
              <a:t> </a:t>
            </a:r>
            <a:r>
              <a:rPr lang="en-US" sz="2400" spc="60" dirty="0" err="1">
                <a:latin typeface="Open Sans"/>
                <a:ea typeface="Open Sans"/>
                <a:cs typeface="Open Sans"/>
              </a:rPr>
              <a:t>collecter</a:t>
            </a:r>
            <a:r>
              <a:rPr lang="en-US" sz="2400" spc="60" dirty="0">
                <a:latin typeface="Open Sans"/>
                <a:ea typeface="Open Sans"/>
                <a:cs typeface="Open Sans"/>
              </a:rPr>
              <a:t>. </a:t>
            </a:r>
            <a:endParaRPr lang="en-GB" sz="2400" spc="60" dirty="0"/>
          </a:p>
        </p:txBody>
      </p:sp>
      <p:sp>
        <p:nvSpPr>
          <p:cNvPr id="8" name="Title 3">
            <a:extLst>
              <a:ext uri="{FF2B5EF4-FFF2-40B4-BE49-F238E27FC236}">
                <a16:creationId xmlns:a16="http://schemas.microsoft.com/office/drawing/2014/main" id="{BB642E77-5AC9-D346-BC1E-D93A00D9631D}"/>
              </a:ext>
            </a:extLst>
          </p:cNvPr>
          <p:cNvSpPr>
            <a:spLocks noGrp="1"/>
          </p:cNvSpPr>
          <p:nvPr>
            <p:ph type="title"/>
          </p:nvPr>
        </p:nvSpPr>
        <p:spPr>
          <a:xfrm>
            <a:off x="717181" y="716415"/>
            <a:ext cx="11052002" cy="662558"/>
          </a:xfrm>
        </p:spPr>
        <p:txBody>
          <a:bodyPr anchor="t" anchorCtr="0"/>
          <a:lstStyle/>
          <a:p>
            <a:r>
              <a:rPr lang="en-GB" sz="3600" b="0" kern="1400" spc="230" dirty="0">
                <a:solidFill>
                  <a:schemeClr val="tx1"/>
                </a:solidFill>
                <a:latin typeface="HALDEN SOLID"/>
                <a:ea typeface="Open Sans Extrabold"/>
                <a:cs typeface="Open Sans Extrabold"/>
              </a:rPr>
              <a:t>HHS: instructions sur le module 1</a:t>
            </a:r>
          </a:p>
        </p:txBody>
      </p:sp>
    </p:spTree>
    <p:extLst>
      <p:ext uri="{BB962C8B-B14F-4D97-AF65-F5344CB8AC3E}">
        <p14:creationId xmlns:p14="http://schemas.microsoft.com/office/powerpoint/2010/main" val="20639353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34109" y="1514764"/>
            <a:ext cx="11335074" cy="5126181"/>
          </a:xfrm>
          <a:solidFill>
            <a:srgbClr val="FFFFFE"/>
          </a:solidFill>
        </p:spPr>
        <p:txBody>
          <a:bodyPr vert="horz" lIns="91440" tIns="45720" rIns="91440" bIns="45720" rtlCol="0" anchor="t">
            <a:noAutofit/>
          </a:bodyPr>
          <a:lstStyle/>
          <a:p>
            <a:pPr>
              <a:lnSpc>
                <a:spcPct val="150000"/>
              </a:lnSpc>
              <a:buFont typeface="Wingdings" panose="05000000000000000000" pitchFamily="2" charset="2"/>
              <a:buChar char="v"/>
            </a:pPr>
            <a:r>
              <a:rPr lang="fr-FR" spc="60" dirty="0">
                <a:latin typeface="Open Sans"/>
                <a:ea typeface="Open Sans"/>
                <a:cs typeface="Open Sans"/>
              </a:rPr>
              <a:t>L'échelle de la faim des (HHS) est une échelle de privation alimentaire des ménages.</a:t>
            </a:r>
            <a:endParaRPr lang="en-GB" spc="60" dirty="0">
              <a:latin typeface="Open Sans"/>
              <a:ea typeface="Open Sans"/>
              <a:cs typeface="Open Sans"/>
            </a:endParaRPr>
          </a:p>
          <a:p>
            <a:pPr>
              <a:lnSpc>
                <a:spcPct val="150000"/>
              </a:lnSpc>
              <a:buFont typeface="Wingdings" panose="05000000000000000000" pitchFamily="2" charset="2"/>
              <a:buChar char="v"/>
            </a:pPr>
            <a:r>
              <a:rPr lang="fr-FR" spc="60" dirty="0">
                <a:latin typeface="Open Sans"/>
                <a:ea typeface="Open Sans"/>
                <a:cs typeface="Open Sans"/>
              </a:rPr>
              <a:t>Elle est basée sur la collecte de données "expérientielles" ou "basées sur la perception"</a:t>
            </a:r>
            <a:r>
              <a:rPr lang="en-GB" spc="60" dirty="0">
                <a:latin typeface="Open Sans"/>
                <a:ea typeface="Open Sans"/>
                <a:cs typeface="Open Sans"/>
              </a:rPr>
              <a:t>. </a:t>
            </a:r>
          </a:p>
          <a:p>
            <a:pPr>
              <a:lnSpc>
                <a:spcPct val="150000"/>
              </a:lnSpc>
              <a:buFont typeface="Wingdings" panose="05000000000000000000" pitchFamily="2" charset="2"/>
              <a:buChar char="v"/>
            </a:pPr>
            <a:r>
              <a:rPr lang="fr-FR" spc="60" dirty="0">
                <a:latin typeface="Open Sans"/>
                <a:ea typeface="Open Sans"/>
                <a:cs typeface="Open Sans"/>
              </a:rPr>
              <a:t>Elle repose sur des informations autodéclarées par les ménages.</a:t>
            </a:r>
            <a:r>
              <a:rPr lang="en-GB" spc="60" dirty="0">
                <a:latin typeface="Open Sans"/>
                <a:ea typeface="Open Sans"/>
                <a:cs typeface="Open Sans"/>
              </a:rPr>
              <a:t>.</a:t>
            </a:r>
          </a:p>
          <a:p>
            <a:pPr>
              <a:lnSpc>
                <a:spcPct val="150000"/>
              </a:lnSpc>
              <a:buFont typeface="Wingdings" panose="05000000000000000000" pitchFamily="2" charset="2"/>
              <a:buChar char="v"/>
            </a:pPr>
            <a:r>
              <a:rPr lang="fr-FR" spc="60" dirty="0">
                <a:latin typeface="Open Sans"/>
                <a:ea typeface="Open Sans"/>
                <a:cs typeface="Open Sans"/>
              </a:rPr>
              <a:t>Elle évalue si les ménages ont rencontré des problèmes d'accès à la nourriture au cours des 30 jours précédents.</a:t>
            </a:r>
            <a:r>
              <a:rPr lang="en-GB" spc="60" dirty="0">
                <a:latin typeface="Open Sans"/>
                <a:ea typeface="Open Sans"/>
                <a:cs typeface="Open Sans"/>
              </a:rPr>
              <a:t>.</a:t>
            </a:r>
          </a:p>
          <a:p>
            <a:pPr>
              <a:lnSpc>
                <a:spcPct val="150000"/>
              </a:lnSpc>
              <a:buFont typeface="Wingdings" panose="05000000000000000000" pitchFamily="2" charset="2"/>
              <a:buChar char="v"/>
            </a:pPr>
            <a:r>
              <a:rPr lang="fr-FR" spc="60" dirty="0">
                <a:latin typeface="Open Sans"/>
                <a:ea typeface="Open Sans"/>
                <a:cs typeface="Open Sans"/>
              </a:rPr>
              <a:t>Elle permet de classer la gravité de l'insécurité alimentaire pour cette période</a:t>
            </a:r>
            <a:r>
              <a:rPr lang="en-GB" spc="60" dirty="0">
                <a:latin typeface="Open Sans"/>
                <a:ea typeface="Open Sans"/>
                <a:cs typeface="Open Sans"/>
              </a:rPr>
              <a:t>. </a:t>
            </a:r>
          </a:p>
          <a:p>
            <a:pPr>
              <a:lnSpc>
                <a:spcPct val="150000"/>
              </a:lnSpc>
              <a:buFont typeface="Wingdings" panose="05000000000000000000" pitchFamily="2" charset="2"/>
              <a:buChar char="v"/>
            </a:pPr>
            <a:r>
              <a:rPr lang="fr-FR" spc="60" dirty="0">
                <a:latin typeface="Open Sans"/>
                <a:ea typeface="Open Sans"/>
                <a:cs typeface="Open Sans"/>
              </a:rPr>
              <a:t>Elle évalue les stratégies de consommation alimentaire adoptées par les ménages confrontés à un manque d'accès à la nourriture</a:t>
            </a:r>
            <a:r>
              <a:rPr lang="en-GB" spc="60" dirty="0">
                <a:latin typeface="Open Sans"/>
                <a:ea typeface="Open Sans"/>
                <a:cs typeface="Open Sans"/>
              </a:rPr>
              <a:t>.</a:t>
            </a:r>
          </a:p>
        </p:txBody>
      </p:sp>
      <p:sp>
        <p:nvSpPr>
          <p:cNvPr id="8" name="Title 3">
            <a:extLst>
              <a:ext uri="{FF2B5EF4-FFF2-40B4-BE49-F238E27FC236}">
                <a16:creationId xmlns:a16="http://schemas.microsoft.com/office/drawing/2014/main" id="{BB642E77-5AC9-D346-BC1E-D93A00D9631D}"/>
              </a:ext>
            </a:extLst>
          </p:cNvPr>
          <p:cNvSpPr>
            <a:spLocks noGrp="1"/>
          </p:cNvSpPr>
          <p:nvPr>
            <p:ph type="title"/>
          </p:nvPr>
        </p:nvSpPr>
        <p:spPr>
          <a:xfrm>
            <a:off x="717181" y="716415"/>
            <a:ext cx="11052002" cy="662558"/>
          </a:xfrm>
        </p:spPr>
        <p:txBody>
          <a:bodyPr anchor="t" anchorCtr="0"/>
          <a:lstStyle/>
          <a:p>
            <a:r>
              <a:rPr lang="en-GB" sz="3600" b="0" kern="1400" spc="230" dirty="0">
                <a:solidFill>
                  <a:schemeClr val="tx1"/>
                </a:solidFill>
                <a:latin typeface="HALDEN SOLID"/>
                <a:ea typeface="Open Sans Extrabold"/>
                <a:cs typeface="Open Sans Extrabold"/>
              </a:rPr>
              <a:t>HHS: </a:t>
            </a:r>
            <a:r>
              <a:rPr lang="en-GB" sz="3600" b="0" kern="1400" spc="230" dirty="0" err="1">
                <a:solidFill>
                  <a:schemeClr val="tx1"/>
                </a:solidFill>
                <a:latin typeface="HALDEN SOLID"/>
                <a:ea typeface="Open Sans Extrabold"/>
                <a:cs typeface="Open Sans Extrabold"/>
              </a:rPr>
              <a:t>qu'est</a:t>
            </a:r>
            <a:r>
              <a:rPr lang="en-GB" sz="3600" b="0" kern="1400" spc="230" dirty="0">
                <a:solidFill>
                  <a:schemeClr val="tx1"/>
                </a:solidFill>
                <a:latin typeface="HALDEN SOLID"/>
                <a:ea typeface="Open Sans Extrabold"/>
                <a:cs typeface="Open Sans Extrabold"/>
              </a:rPr>
              <a:t> </a:t>
            </a:r>
            <a:r>
              <a:rPr lang="en-GB" sz="3600" b="0" kern="1400" spc="230" dirty="0" err="1">
                <a:solidFill>
                  <a:schemeClr val="tx1"/>
                </a:solidFill>
                <a:latin typeface="HALDEN SOLID"/>
                <a:ea typeface="Open Sans Extrabold"/>
                <a:cs typeface="Open Sans Extrabold"/>
              </a:rPr>
              <a:t>ce</a:t>
            </a:r>
            <a:r>
              <a:rPr lang="en-GB" sz="3600" b="0" kern="1400" spc="230" dirty="0">
                <a:solidFill>
                  <a:schemeClr val="tx1"/>
                </a:solidFill>
                <a:latin typeface="HALDEN SOLID"/>
                <a:ea typeface="Open Sans Extrabold"/>
                <a:cs typeface="Open Sans Extrabold"/>
              </a:rPr>
              <a:t> que </a:t>
            </a:r>
            <a:r>
              <a:rPr lang="en-GB" sz="3600" b="0" kern="1400" spc="230" dirty="0" err="1">
                <a:solidFill>
                  <a:schemeClr val="tx1"/>
                </a:solidFill>
                <a:latin typeface="HALDEN SOLID"/>
                <a:ea typeface="Open Sans Extrabold"/>
                <a:cs typeface="Open Sans Extrabold"/>
              </a:rPr>
              <a:t>c'est</a:t>
            </a:r>
            <a:r>
              <a:rPr lang="en-GB" sz="3600" b="0" kern="1400" spc="230" dirty="0">
                <a:solidFill>
                  <a:schemeClr val="tx1"/>
                </a:solidFill>
                <a:latin typeface="HALDEN SOLID"/>
                <a:ea typeface="Open Sans Extrabold"/>
                <a:cs typeface="Open Sans Extrabold"/>
              </a:rPr>
              <a:t>?  </a:t>
            </a:r>
            <a:endParaRPr lang="en-GB" sz="3600" b="0" kern="1400" spc="230" dirty="0">
              <a:solidFill>
                <a:schemeClr val="tx1"/>
              </a:solidFill>
              <a:latin typeface="HALDEN SOLID" pitchFamily="2" charset="0"/>
            </a:endParaRPr>
          </a:p>
        </p:txBody>
      </p:sp>
    </p:spTree>
    <p:extLst>
      <p:ext uri="{BB962C8B-B14F-4D97-AF65-F5344CB8AC3E}">
        <p14:creationId xmlns:p14="http://schemas.microsoft.com/office/powerpoint/2010/main" val="20979465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0">
  <p:cSld>
    <p:bg>
      <p:bgPr>
        <a:solidFill>
          <a:schemeClr val="accent4">
            <a:lumMod val="60000"/>
            <a:lumOff val="40000"/>
          </a:schemeClr>
        </a:soli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570000" y="1471440"/>
            <a:ext cx="11052000" cy="4100053"/>
          </a:xfrm>
        </p:spPr>
        <p:txBody>
          <a:bodyPr vert="horz" lIns="91440" tIns="45720" rIns="91440" bIns="45720" rtlCol="0" anchor="t">
            <a:noAutofit/>
          </a:bodyPr>
          <a:lstStyle/>
          <a:p>
            <a:pPr>
              <a:lnSpc>
                <a:spcPct val="150000"/>
              </a:lnSpc>
              <a:buFont typeface="Wingdings" panose="05000000000000000000" pitchFamily="2" charset="2"/>
              <a:buChar char="v"/>
            </a:pPr>
            <a:r>
              <a:rPr lang="en-US" sz="2300" spc="60" dirty="0">
                <a:latin typeface="Open Sans"/>
                <a:ea typeface="Open Sans"/>
                <a:cs typeface="Open Sans"/>
              </a:rPr>
              <a:t>Note how the main question is worded for the 3 questions: </a:t>
            </a:r>
            <a:r>
              <a:rPr lang="en-GB" sz="2300" spc="60" dirty="0">
                <a:latin typeface="Open Sans"/>
                <a:ea typeface="Open Sans"/>
                <a:cs typeface="Open Sans"/>
              </a:rPr>
              <a:t>“In the past 30 days, did you or any household member…“</a:t>
            </a:r>
          </a:p>
          <a:p>
            <a:pPr algn="l" rtl="0" fontAlgn="base"/>
            <a:r>
              <a:rPr lang="en-GB" sz="2300" spc="60" dirty="0">
                <a:latin typeface="Open Sans"/>
                <a:ea typeface="Open Sans"/>
                <a:cs typeface="Open Sans"/>
              </a:rPr>
              <a:t>If yes, ask about the frequency, “How often did this happen in the past 30 days…”: </a:t>
            </a:r>
          </a:p>
          <a:p>
            <a:pPr algn="l" rtl="0" fontAlgn="base"/>
            <a:r>
              <a:rPr lang="en-GB" sz="2300" b="0" i="0" spc="60" dirty="0">
                <a:solidFill>
                  <a:schemeClr val="tx1"/>
                </a:solidFill>
                <a:effectLst/>
                <a:latin typeface="Open Sans"/>
                <a:ea typeface="Open Sans"/>
                <a:cs typeface="Open Sans"/>
              </a:rPr>
              <a:t>The respon</a:t>
            </a:r>
            <a:r>
              <a:rPr lang="en-GB" sz="2300" spc="60" dirty="0">
                <a:latin typeface="Open Sans"/>
                <a:ea typeface="Open Sans"/>
                <a:cs typeface="Open Sans"/>
              </a:rPr>
              <a:t>se options are </a:t>
            </a:r>
          </a:p>
          <a:p>
            <a:pPr lvl="1" fontAlgn="base"/>
            <a:r>
              <a:rPr lang="en-GB" sz="22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1 = Rarely (1–2 times), </a:t>
            </a:r>
          </a:p>
          <a:p>
            <a:pPr lvl="1" fontAlgn="base"/>
            <a:r>
              <a:rPr lang="en-GB" sz="22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2 = Sometimes (3–10 times), or </a:t>
            </a:r>
          </a:p>
          <a:p>
            <a:pPr lvl="1" fontAlgn="base"/>
            <a:r>
              <a:rPr lang="en-GB" sz="22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3 = Often (more than 10 times) </a:t>
            </a:r>
            <a:endParaRPr lang="en-GB" sz="52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p>
            <a:pPr marL="0" indent="0">
              <a:lnSpc>
                <a:spcPct val="150000"/>
              </a:lnSpc>
              <a:buNone/>
            </a:pPr>
            <a:endParaRPr lang="en-GB" sz="2300" spc="60" dirty="0">
              <a:latin typeface="Open Sans"/>
              <a:ea typeface="Open Sans"/>
              <a:cs typeface="Open Sans"/>
            </a:endParaRPr>
          </a:p>
        </p:txBody>
      </p:sp>
      <p:sp>
        <p:nvSpPr>
          <p:cNvPr id="8" name="Title 3">
            <a:extLst>
              <a:ext uri="{FF2B5EF4-FFF2-40B4-BE49-F238E27FC236}">
                <a16:creationId xmlns:a16="http://schemas.microsoft.com/office/drawing/2014/main" id="{BB642E77-5AC9-D346-BC1E-D93A00D9631D}"/>
              </a:ext>
            </a:extLst>
          </p:cNvPr>
          <p:cNvSpPr>
            <a:spLocks noGrp="1"/>
          </p:cNvSpPr>
          <p:nvPr>
            <p:ph type="title"/>
          </p:nvPr>
        </p:nvSpPr>
        <p:spPr>
          <a:xfrm>
            <a:off x="717181" y="716415"/>
            <a:ext cx="11052002" cy="662558"/>
          </a:xfrm>
        </p:spPr>
        <p:txBody>
          <a:bodyPr anchor="t" anchorCtr="0"/>
          <a:lstStyle/>
          <a:p>
            <a:r>
              <a:rPr lang="en-GB" sz="3600" b="0" kern="1400" spc="230" dirty="0">
                <a:solidFill>
                  <a:schemeClr val="tx1"/>
                </a:solidFill>
                <a:latin typeface="HALDEN SOLID"/>
                <a:ea typeface="Open Sans Extrabold"/>
                <a:cs typeface="Open Sans Extrabold"/>
              </a:rPr>
              <a:t>HHS: instructions 2</a:t>
            </a:r>
          </a:p>
        </p:txBody>
      </p:sp>
    </p:spTree>
    <p:extLst>
      <p:ext uri="{BB962C8B-B14F-4D97-AF65-F5344CB8AC3E}">
        <p14:creationId xmlns:p14="http://schemas.microsoft.com/office/powerpoint/2010/main" val="7715320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3">
            <a:extLst>
              <a:ext uri="{FF2B5EF4-FFF2-40B4-BE49-F238E27FC236}">
                <a16:creationId xmlns:a16="http://schemas.microsoft.com/office/drawing/2014/main" id="{BB642E77-5AC9-D346-BC1E-D93A00D9631D}"/>
              </a:ext>
            </a:extLst>
          </p:cNvPr>
          <p:cNvSpPr>
            <a:spLocks noGrp="1"/>
          </p:cNvSpPr>
          <p:nvPr>
            <p:ph type="title"/>
          </p:nvPr>
        </p:nvSpPr>
        <p:spPr>
          <a:xfrm>
            <a:off x="717181" y="716415"/>
            <a:ext cx="11052002" cy="662558"/>
          </a:xfrm>
        </p:spPr>
        <p:txBody>
          <a:bodyPr anchor="t" anchorCtr="0"/>
          <a:lstStyle/>
          <a:p>
            <a:r>
              <a:rPr lang="en-GB" sz="3600" b="0" kern="1400" spc="230" dirty="0">
                <a:solidFill>
                  <a:schemeClr val="tx1"/>
                </a:solidFill>
                <a:latin typeface="HALDEN SOLID" pitchFamily="2" charset="0"/>
              </a:rPr>
              <a:t>MODULE HHS: QUE DEMANDER? (1)</a:t>
            </a:r>
          </a:p>
        </p:txBody>
      </p:sp>
      <p:graphicFrame>
        <p:nvGraphicFramePr>
          <p:cNvPr id="2" name="Table 1">
            <a:extLst>
              <a:ext uri="{FF2B5EF4-FFF2-40B4-BE49-F238E27FC236}">
                <a16:creationId xmlns:a16="http://schemas.microsoft.com/office/drawing/2014/main" id="{3364FE98-3928-674A-229D-93319112A520}"/>
              </a:ext>
            </a:extLst>
          </p:cNvPr>
          <p:cNvGraphicFramePr>
            <a:graphicFrameLocks noGrp="1"/>
          </p:cNvGraphicFramePr>
          <p:nvPr>
            <p:extLst>
              <p:ext uri="{D42A27DB-BD31-4B8C-83A1-F6EECF244321}">
                <p14:modId xmlns:p14="http://schemas.microsoft.com/office/powerpoint/2010/main" val="1691884814"/>
              </p:ext>
            </p:extLst>
          </p:nvPr>
        </p:nvGraphicFramePr>
        <p:xfrm>
          <a:off x="125506" y="1283509"/>
          <a:ext cx="11921923" cy="5773856"/>
        </p:xfrm>
        <a:graphic>
          <a:graphicData uri="http://schemas.openxmlformats.org/drawingml/2006/table">
            <a:tbl>
              <a:tblPr/>
              <a:tblGrid>
                <a:gridCol w="1754057">
                  <a:extLst>
                    <a:ext uri="{9D8B030D-6E8A-4147-A177-3AD203B41FA5}">
                      <a16:colId xmlns:a16="http://schemas.microsoft.com/office/drawing/2014/main" val="96945040"/>
                    </a:ext>
                  </a:extLst>
                </a:gridCol>
                <a:gridCol w="6215652">
                  <a:extLst>
                    <a:ext uri="{9D8B030D-6E8A-4147-A177-3AD203B41FA5}">
                      <a16:colId xmlns:a16="http://schemas.microsoft.com/office/drawing/2014/main" val="3702616012"/>
                    </a:ext>
                  </a:extLst>
                </a:gridCol>
                <a:gridCol w="2908455">
                  <a:extLst>
                    <a:ext uri="{9D8B030D-6E8A-4147-A177-3AD203B41FA5}">
                      <a16:colId xmlns:a16="http://schemas.microsoft.com/office/drawing/2014/main" val="1030648524"/>
                    </a:ext>
                  </a:extLst>
                </a:gridCol>
                <a:gridCol w="1043759">
                  <a:extLst>
                    <a:ext uri="{9D8B030D-6E8A-4147-A177-3AD203B41FA5}">
                      <a16:colId xmlns:a16="http://schemas.microsoft.com/office/drawing/2014/main" val="2167728422"/>
                    </a:ext>
                  </a:extLst>
                </a:gridCol>
              </a:tblGrid>
              <a:tr h="537700">
                <a:tc>
                  <a:txBody>
                    <a:bodyPr/>
                    <a:lstStyle/>
                    <a:p>
                      <a:pPr fontAlgn="ctr"/>
                      <a:endParaRPr lang="en-GB" sz="1600" b="1" kern="1200" dirty="0">
                        <a:solidFill>
                          <a:schemeClr val="dk1"/>
                        </a:solidFill>
                        <a:effectLst/>
                        <a:latin typeface="Open Sans" panose="020B0606030504020204" pitchFamily="34" charset="0"/>
                        <a:ea typeface="Open Sans" panose="020B0606030504020204" pitchFamily="34" charset="0"/>
                        <a:cs typeface="Open Sans" panose="020B0606030504020204" pitchFamily="34" charset="0"/>
                      </a:endParaRPr>
                    </a:p>
                    <a:p>
                      <a:pPr lvl="0" algn="l">
                        <a:buNone/>
                      </a:pPr>
                      <a:r>
                        <a:rPr lang="en-GB" sz="1400" b="1" kern="1200" dirty="0">
                          <a:solidFill>
                            <a:schemeClr val="dk1"/>
                          </a:solidFill>
                          <a:effectLst/>
                          <a:latin typeface="Open Sans"/>
                          <a:ea typeface="Open Sans"/>
                          <a:cs typeface="Open Sans"/>
                        </a:rPr>
                        <a:t>Nom de la variable</a:t>
                      </a:r>
                      <a:endParaRPr lang="en-GB" sz="1400" dirty="0"/>
                    </a:p>
                  </a:txBody>
                  <a:tcPr marL="63781" marR="63781" marT="31891" marB="318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fontAlgn="ctr"/>
                      <a:endParaRPr lang="en-GB" sz="1600" b="1" kern="1200">
                        <a:solidFill>
                          <a:schemeClr val="dk1"/>
                        </a:solidFill>
                        <a:effectLst/>
                        <a:latin typeface="Open Sans" panose="020B0606030504020204" pitchFamily="34" charset="0"/>
                        <a:ea typeface="Open Sans" panose="020B0606030504020204" pitchFamily="34" charset="0"/>
                        <a:cs typeface="Open Sans" panose="020B0606030504020204" pitchFamily="34" charset="0"/>
                      </a:endParaRPr>
                    </a:p>
                    <a:p>
                      <a:pPr algn="ctr" rtl="0" fontAlgn="base"/>
                      <a:r>
                        <a:rPr lang="en-GB" sz="1600" b="1" kern="1200" dirty="0">
                          <a:solidFill>
                            <a:schemeClr val="dk1"/>
                          </a:solidFill>
                          <a:effectLst/>
                          <a:latin typeface="Open Sans"/>
                          <a:ea typeface="Open Sans"/>
                          <a:cs typeface="Open Sans"/>
                        </a:rPr>
                        <a:t>Question </a:t>
                      </a:r>
                    </a:p>
                  </a:txBody>
                  <a:tcPr marL="63781" marR="63781" marT="31891" marB="318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fontAlgn="ctr"/>
                      <a:endParaRPr lang="en-GB" sz="1600" b="1" kern="1200" dirty="0">
                        <a:solidFill>
                          <a:schemeClr val="dk1"/>
                        </a:solidFill>
                        <a:effectLst/>
                        <a:latin typeface="Open Sans" panose="020B0606030504020204" pitchFamily="34" charset="0"/>
                        <a:ea typeface="Open Sans" panose="020B0606030504020204" pitchFamily="34" charset="0"/>
                        <a:cs typeface="Open Sans" panose="020B0606030504020204" pitchFamily="34" charset="0"/>
                      </a:endParaRPr>
                    </a:p>
                    <a:p>
                      <a:pPr algn="ctr" rtl="0" fontAlgn="base"/>
                      <a:r>
                        <a:rPr lang="en-GB" sz="1600" b="1" kern="1200" dirty="0">
                          <a:solidFill>
                            <a:schemeClr val="dk1"/>
                          </a:solidFill>
                          <a:effectLst/>
                          <a:latin typeface="Open Sans" panose="020B0606030504020204" pitchFamily="34" charset="0"/>
                          <a:ea typeface="Open Sans" panose="020B0606030504020204" pitchFamily="34" charset="0"/>
                          <a:cs typeface="Open Sans" panose="020B0606030504020204" pitchFamily="34" charset="0"/>
                        </a:rPr>
                        <a:t>Option de </a:t>
                      </a:r>
                      <a:r>
                        <a:rPr lang="en-GB" sz="1600" b="1" kern="1200" dirty="0" err="1">
                          <a:solidFill>
                            <a:schemeClr val="dk1"/>
                          </a:solidFill>
                          <a:effectLst/>
                          <a:latin typeface="Open Sans" panose="020B0606030504020204" pitchFamily="34" charset="0"/>
                          <a:ea typeface="Open Sans" panose="020B0606030504020204" pitchFamily="34" charset="0"/>
                          <a:cs typeface="Open Sans" panose="020B0606030504020204" pitchFamily="34" charset="0"/>
                        </a:rPr>
                        <a:t>reponse</a:t>
                      </a:r>
                      <a:r>
                        <a:rPr lang="en-GB" sz="1600" b="1" kern="1200" dirty="0">
                          <a:solidFill>
                            <a:schemeClr val="dk1"/>
                          </a:solidFill>
                          <a:effectLst/>
                          <a:latin typeface="Open Sans" panose="020B0606030504020204" pitchFamily="34" charset="0"/>
                          <a:ea typeface="Open Sans" panose="020B0606030504020204" pitchFamily="34" charset="0"/>
                          <a:cs typeface="Open Sans" panose="020B0606030504020204" pitchFamily="34" charset="0"/>
                        </a:rPr>
                        <a:t> </a:t>
                      </a:r>
                    </a:p>
                  </a:txBody>
                  <a:tcPr marL="63781" marR="63781" marT="31891" marB="318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fontAlgn="ctr"/>
                      <a:endParaRPr lang="en-GB" sz="1600" b="1" kern="1200">
                        <a:solidFill>
                          <a:schemeClr val="dk1"/>
                        </a:solidFill>
                        <a:effectLst/>
                        <a:latin typeface="Open Sans" panose="020B0606030504020204" pitchFamily="34" charset="0"/>
                        <a:ea typeface="Open Sans" panose="020B0606030504020204" pitchFamily="34" charset="0"/>
                        <a:cs typeface="Open Sans" panose="020B0606030504020204" pitchFamily="34" charset="0"/>
                      </a:endParaRPr>
                    </a:p>
                    <a:p>
                      <a:pPr algn="ctr" rtl="0" fontAlgn="base"/>
                      <a:r>
                        <a:rPr lang="en-GB" sz="1600" b="1" kern="1200" dirty="0">
                          <a:solidFill>
                            <a:schemeClr val="dk1"/>
                          </a:solidFill>
                          <a:effectLst/>
                          <a:latin typeface="Open Sans"/>
                          <a:ea typeface="Open Sans"/>
                          <a:cs typeface="Open Sans"/>
                        </a:rPr>
                        <a:t>Code </a:t>
                      </a:r>
                    </a:p>
                  </a:txBody>
                  <a:tcPr marL="63781" marR="63781" marT="31891" marB="318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3610560255"/>
                  </a:ext>
                </a:extLst>
              </a:tr>
              <a:tr h="756812">
                <a:tc>
                  <a:txBody>
                    <a:bodyPr/>
                    <a:lstStyle/>
                    <a:p>
                      <a:pPr fontAlgn="ctr"/>
                      <a:endParaRPr lang="en-GB" sz="3200">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p>
                      <a:pPr algn="l" rtl="0" fontAlgn="base"/>
                      <a:r>
                        <a:rPr lang="en-GB" sz="1200" b="1" i="0" dirty="0" err="1">
                          <a:solidFill>
                            <a:schemeClr val="tx1"/>
                          </a:solidFill>
                          <a:effectLst/>
                          <a:latin typeface="Open Sans"/>
                          <a:ea typeface="Open Sans"/>
                          <a:cs typeface="Open Sans"/>
                        </a:rPr>
                        <a:t>HHSNoFood</a:t>
                      </a:r>
                      <a:r>
                        <a:rPr lang="en-GB" sz="1200" b="0" i="0" dirty="0">
                          <a:solidFill>
                            <a:schemeClr val="tx1"/>
                          </a:solidFill>
                          <a:effectLst/>
                          <a:latin typeface="Open Sans"/>
                          <a:ea typeface="Open Sans"/>
                          <a:cs typeface="Open Sans"/>
                        </a:rPr>
                        <a:t> </a:t>
                      </a:r>
                      <a:endParaRPr lang="en-GB" sz="3200" b="0" i="0" dirty="0">
                        <a:solidFill>
                          <a:schemeClr val="tx1"/>
                        </a:solidFill>
                        <a:effectLst/>
                        <a:latin typeface="Open Sans"/>
                        <a:ea typeface="Open Sans"/>
                        <a:cs typeface="Open Sans"/>
                      </a:endParaRPr>
                    </a:p>
                  </a:txBody>
                  <a:tcPr marL="63781" marR="63781" marT="31891" marB="3189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E"/>
                    </a:solidFill>
                  </a:tcPr>
                </a:tc>
                <a:tc>
                  <a:txBody>
                    <a:bodyPr/>
                    <a:lstStyle/>
                    <a:p>
                      <a:pPr algn="l" rtl="0" fontAlgn="base"/>
                      <a:r>
                        <a:rPr lang="fr-FR" sz="1400" b="1"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Au cours des [4 dernières semaines / 30 derniers jours], y a-t-il eu un moment où il n'y avait aucun aliment à manger à la maison à cause du manque de ressources pour en acheter ?</a:t>
                      </a:r>
                      <a:endParaRPr lang="en-GB" sz="3200" b="1"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txBody>
                  <a:tcPr marL="63781" marR="63781" marT="31891" marB="3189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E"/>
                    </a:solidFill>
                  </a:tcPr>
                </a:tc>
                <a:tc>
                  <a:txBody>
                    <a:bodyPr/>
                    <a:lstStyle/>
                    <a:p>
                      <a:pPr algn="l" rtl="0" fontAlgn="base"/>
                      <a:r>
                        <a:rPr lang="en-GB" sz="12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0 = Non </a:t>
                      </a:r>
                      <a:r>
                        <a:rPr lang="en-GB" sz="1200" b="0" i="1"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(passer a </a:t>
                      </a:r>
                      <a:r>
                        <a:rPr lang="en-GB" sz="1200" b="0" i="1" dirty="0" err="1">
                          <a:solidFill>
                            <a:schemeClr val="tx1"/>
                          </a:solidFill>
                          <a:effectLst/>
                          <a:latin typeface="Open Sans" panose="020B0606030504020204" pitchFamily="34" charset="0"/>
                          <a:ea typeface="Open Sans" panose="020B0606030504020204" pitchFamily="34" charset="0"/>
                          <a:cs typeface="Open Sans" panose="020B0606030504020204" pitchFamily="34" charset="0"/>
                        </a:rPr>
                        <a:t>HHSBedHung</a:t>
                      </a:r>
                      <a:r>
                        <a:rPr lang="en-GB" sz="1200" b="0" i="1"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a:t>
                      </a:r>
                      <a:r>
                        <a:rPr lang="en-GB" sz="12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                             </a:t>
                      </a:r>
                      <a:endParaRPr lang="en-GB" sz="32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p>
                      <a:pPr algn="l" rtl="0" fontAlgn="base"/>
                      <a:r>
                        <a:rPr lang="en-GB" sz="1200" b="0" i="0" dirty="0">
                          <a:solidFill>
                            <a:schemeClr val="tx1"/>
                          </a:solidFill>
                          <a:effectLst/>
                          <a:latin typeface="Open Sans"/>
                          <a:ea typeface="Open Sans"/>
                          <a:cs typeface="Open Sans"/>
                        </a:rPr>
                        <a:t> 1 = Oui </a:t>
                      </a:r>
                      <a:endParaRPr lang="en-GB" sz="3200" b="0" i="0" dirty="0">
                        <a:solidFill>
                          <a:schemeClr val="tx1"/>
                        </a:solidFill>
                        <a:effectLst/>
                        <a:latin typeface="Open Sans"/>
                        <a:ea typeface="Open Sans"/>
                        <a:cs typeface="Open Sans"/>
                      </a:endParaRPr>
                    </a:p>
                  </a:txBody>
                  <a:tcPr marL="63781" marR="63781" marT="31891" marB="318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E"/>
                    </a:solidFill>
                  </a:tcPr>
                </a:tc>
                <a:tc>
                  <a:txBody>
                    <a:bodyPr/>
                    <a:lstStyle/>
                    <a:p>
                      <a:pPr fontAlgn="ctr"/>
                      <a:endParaRPr lang="en-GB" sz="2800">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p>
                      <a:pPr algn="l" rtl="0" fontAlgn="base"/>
                      <a:r>
                        <a:rPr lang="en-GB" sz="1200" b="1" i="0" dirty="0">
                          <a:solidFill>
                            <a:schemeClr val="tx1"/>
                          </a:solidFill>
                          <a:effectLst/>
                          <a:latin typeface="Open Sans"/>
                          <a:ea typeface="Open Sans"/>
                          <a:cs typeface="Open Sans"/>
                        </a:rPr>
                        <a:t>|___|</a:t>
                      </a:r>
                      <a:r>
                        <a:rPr lang="en-GB" sz="1200" b="0" i="0" dirty="0">
                          <a:solidFill>
                            <a:schemeClr val="tx1"/>
                          </a:solidFill>
                          <a:effectLst/>
                          <a:latin typeface="Open Sans"/>
                          <a:ea typeface="Open Sans"/>
                          <a:cs typeface="Open Sans"/>
                        </a:rPr>
                        <a:t> </a:t>
                      </a:r>
                      <a:endParaRPr lang="en-GB" sz="2800" b="0" i="0" dirty="0">
                        <a:solidFill>
                          <a:schemeClr val="tx1"/>
                        </a:solidFill>
                        <a:effectLst/>
                        <a:latin typeface="Open Sans"/>
                        <a:ea typeface="Open Sans"/>
                        <a:cs typeface="Open Sans"/>
                      </a:endParaRPr>
                    </a:p>
                  </a:txBody>
                  <a:tcPr marL="63781" marR="63781" marT="31891" marB="318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E"/>
                    </a:solidFill>
                  </a:tcPr>
                </a:tc>
                <a:extLst>
                  <a:ext uri="{0D108BD9-81ED-4DB2-BD59-A6C34878D82A}">
                    <a16:rowId xmlns:a16="http://schemas.microsoft.com/office/drawing/2014/main" val="2909507219"/>
                  </a:ext>
                </a:extLst>
              </a:tr>
              <a:tr h="841729">
                <a:tc>
                  <a:txBody>
                    <a:bodyPr/>
                    <a:lstStyle/>
                    <a:p>
                      <a:pPr fontAlgn="ctr"/>
                      <a:endParaRPr lang="en-GB" sz="320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p>
                      <a:pPr algn="l" rtl="0" fontAlgn="base"/>
                      <a:r>
                        <a:rPr lang="en-GB" sz="1200" b="1" i="0" dirty="0" err="1">
                          <a:solidFill>
                            <a:schemeClr val="tx1"/>
                          </a:solidFill>
                          <a:effectLst/>
                          <a:latin typeface="Open Sans" panose="020B0606030504020204" pitchFamily="34" charset="0"/>
                          <a:ea typeface="Open Sans" panose="020B0606030504020204" pitchFamily="34" charset="0"/>
                          <a:cs typeface="Open Sans" panose="020B0606030504020204" pitchFamily="34" charset="0"/>
                        </a:rPr>
                        <a:t>HHSNoFood_FR</a:t>
                      </a:r>
                      <a:r>
                        <a:rPr lang="en-GB" sz="12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 </a:t>
                      </a:r>
                      <a:endParaRPr lang="en-GB" sz="32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txBody>
                  <a:tcPr marL="63781" marR="63781" marT="31891" marB="3189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E"/>
                    </a:solidFill>
                  </a:tcPr>
                </a:tc>
                <a:tc>
                  <a:txBody>
                    <a:bodyPr/>
                    <a:lstStyle/>
                    <a:p>
                      <a:pPr algn="l" rtl="0" fontAlgn="base"/>
                      <a:r>
                        <a:rPr lang="fr-FR" sz="1400" b="0" i="1"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A quelle fréquence cela s'est-il produit au cours des dernières [4 semaines/30 jours] ?</a:t>
                      </a:r>
                      <a:endParaRPr lang="en-GB" sz="3200" b="0" i="1" dirty="0">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txBody>
                  <a:tcPr marL="63781" marR="63781" marT="31891" marB="3189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E"/>
                    </a:solidFill>
                  </a:tcPr>
                </a:tc>
                <a:tc>
                  <a:txBody>
                    <a:bodyPr/>
                    <a:lstStyle/>
                    <a:p>
                      <a:pPr algn="l" rtl="0" fontAlgn="base"/>
                      <a:r>
                        <a:rPr lang="en-GB" sz="12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1 = </a:t>
                      </a:r>
                      <a:r>
                        <a:rPr lang="en-GB" sz="1200" b="0" i="0" dirty="0" err="1">
                          <a:solidFill>
                            <a:schemeClr val="tx1"/>
                          </a:solidFill>
                          <a:effectLst/>
                          <a:latin typeface="Open Sans" panose="020B0606030504020204" pitchFamily="34" charset="0"/>
                          <a:ea typeface="Open Sans" panose="020B0606030504020204" pitchFamily="34" charset="0"/>
                          <a:cs typeface="Open Sans" panose="020B0606030504020204" pitchFamily="34" charset="0"/>
                        </a:rPr>
                        <a:t>Rarement</a:t>
                      </a:r>
                      <a:r>
                        <a:rPr lang="en-GB" sz="12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 (1–2 </a:t>
                      </a:r>
                      <a:r>
                        <a:rPr lang="en-GB" sz="1200" b="0" i="0" dirty="0" err="1">
                          <a:solidFill>
                            <a:schemeClr val="tx1"/>
                          </a:solidFill>
                          <a:effectLst/>
                          <a:latin typeface="Open Sans" panose="020B0606030504020204" pitchFamily="34" charset="0"/>
                          <a:ea typeface="Open Sans" panose="020B0606030504020204" pitchFamily="34" charset="0"/>
                          <a:cs typeface="Open Sans" panose="020B0606030504020204" pitchFamily="34" charset="0"/>
                        </a:rPr>
                        <a:t>fois</a:t>
                      </a:r>
                      <a:r>
                        <a:rPr lang="en-GB" sz="12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                        </a:t>
                      </a:r>
                      <a:endParaRPr lang="en-GB" sz="32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p>
                      <a:pPr algn="l" rtl="0" fontAlgn="base"/>
                      <a:r>
                        <a:rPr lang="en-GB" sz="12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2 = Parfois (3–10 times) </a:t>
                      </a:r>
                      <a:endParaRPr lang="en-GB" sz="32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p>
                      <a:pPr algn="l" rtl="0" fontAlgn="base"/>
                      <a:r>
                        <a:rPr lang="en-GB" sz="12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3 = </a:t>
                      </a:r>
                      <a:r>
                        <a:rPr lang="en-GB" sz="1200" b="0" i="0" dirty="0" err="1">
                          <a:solidFill>
                            <a:schemeClr val="tx1"/>
                          </a:solidFill>
                          <a:effectLst/>
                          <a:latin typeface="Open Sans" panose="020B0606030504020204" pitchFamily="34" charset="0"/>
                          <a:ea typeface="Open Sans" panose="020B0606030504020204" pitchFamily="34" charset="0"/>
                          <a:cs typeface="Open Sans" panose="020B0606030504020204" pitchFamily="34" charset="0"/>
                        </a:rPr>
                        <a:t>Souvent</a:t>
                      </a:r>
                      <a:r>
                        <a:rPr lang="en-GB" sz="12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 (plus de 10 </a:t>
                      </a:r>
                      <a:r>
                        <a:rPr lang="en-GB" sz="1200" b="0" i="0" dirty="0" err="1">
                          <a:solidFill>
                            <a:schemeClr val="tx1"/>
                          </a:solidFill>
                          <a:effectLst/>
                          <a:latin typeface="Open Sans" panose="020B0606030504020204" pitchFamily="34" charset="0"/>
                          <a:ea typeface="Open Sans" panose="020B0606030504020204" pitchFamily="34" charset="0"/>
                          <a:cs typeface="Open Sans" panose="020B0606030504020204" pitchFamily="34" charset="0"/>
                        </a:rPr>
                        <a:t>fois</a:t>
                      </a:r>
                      <a:r>
                        <a:rPr lang="en-GB" sz="12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 </a:t>
                      </a:r>
                      <a:endParaRPr lang="en-GB" sz="32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p>
                      <a:pPr algn="l" rtl="0" fontAlgn="base"/>
                      <a:r>
                        <a:rPr lang="en-GB" sz="12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 </a:t>
                      </a:r>
                      <a:endParaRPr lang="en-GB" sz="32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txBody>
                  <a:tcPr marL="63781" marR="63781" marT="31891" marB="31891"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E"/>
                    </a:solidFill>
                  </a:tcPr>
                </a:tc>
                <a:tc>
                  <a:txBody>
                    <a:bodyPr/>
                    <a:lstStyle/>
                    <a:p>
                      <a:pPr fontAlgn="ctr"/>
                      <a:endParaRPr lang="en-GB" sz="280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p>
                      <a:pPr algn="l" rtl="0" fontAlgn="base"/>
                      <a:r>
                        <a:rPr lang="en-GB" sz="1200" b="1"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|___|</a:t>
                      </a:r>
                      <a:r>
                        <a:rPr lang="en-GB" sz="12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 </a:t>
                      </a:r>
                      <a:endParaRPr lang="en-GB" sz="28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txBody>
                  <a:tcPr marL="63781" marR="63781" marT="31891" marB="318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E"/>
                    </a:solidFill>
                  </a:tcPr>
                </a:tc>
                <a:extLst>
                  <a:ext uri="{0D108BD9-81ED-4DB2-BD59-A6C34878D82A}">
                    <a16:rowId xmlns:a16="http://schemas.microsoft.com/office/drawing/2014/main" val="3185208148"/>
                  </a:ext>
                </a:extLst>
              </a:tr>
              <a:tr h="886720">
                <a:tc>
                  <a:txBody>
                    <a:bodyPr/>
                    <a:lstStyle/>
                    <a:p>
                      <a:pPr fontAlgn="ctr"/>
                      <a:endParaRPr lang="en-GB" sz="320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p>
                      <a:pPr algn="l" rtl="0" fontAlgn="base"/>
                      <a:r>
                        <a:rPr lang="en-GB" sz="1200" b="1" i="0" dirty="0" err="1">
                          <a:solidFill>
                            <a:schemeClr val="tx1"/>
                          </a:solidFill>
                          <a:effectLst/>
                          <a:latin typeface="Open Sans" panose="020B0606030504020204" pitchFamily="34" charset="0"/>
                          <a:ea typeface="Open Sans" panose="020B0606030504020204" pitchFamily="34" charset="0"/>
                          <a:cs typeface="Open Sans" panose="020B0606030504020204" pitchFamily="34" charset="0"/>
                        </a:rPr>
                        <a:t>HHSBedHung</a:t>
                      </a:r>
                      <a:r>
                        <a:rPr lang="en-GB" sz="12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 </a:t>
                      </a:r>
                      <a:endParaRPr lang="en-GB" sz="32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txBody>
                  <a:tcPr marL="63781" marR="63781" marT="31891" marB="3189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E"/>
                    </a:solidFill>
                  </a:tcPr>
                </a:tc>
                <a:tc>
                  <a:txBody>
                    <a:bodyPr/>
                    <a:lstStyle/>
                    <a:p>
                      <a:pPr algn="l" rtl="0" fontAlgn="base"/>
                      <a:r>
                        <a:rPr lang="fr-FR" sz="1400" b="1"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Au cours des [4 dernières semaines / 30 derniers jours], avez-vous été, ou tout membre de votre ménage a-t-il été obligé d'aller dormir en ayant faim le soir parce qu’il n’y avait pas assez de nourriture ?</a:t>
                      </a:r>
                      <a:endParaRPr lang="en-GB" sz="32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txBody>
                  <a:tcPr marL="63781" marR="63781" marT="31891" marB="3189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E"/>
                    </a:solidFill>
                  </a:tcPr>
                </a:tc>
                <a:tc>
                  <a:txBody>
                    <a:bodyPr/>
                    <a:lstStyle/>
                    <a:p>
                      <a:pPr algn="l" rtl="0" fontAlgn="base"/>
                      <a:r>
                        <a:rPr lang="en-GB" sz="12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0 = Non </a:t>
                      </a:r>
                      <a:r>
                        <a:rPr lang="en-GB" sz="1200" b="0" i="1"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(passer a </a:t>
                      </a:r>
                      <a:r>
                        <a:rPr lang="en-GB" sz="1200" b="1" i="0" dirty="0" err="1">
                          <a:solidFill>
                            <a:schemeClr val="tx1"/>
                          </a:solidFill>
                          <a:effectLst/>
                          <a:latin typeface="Open Sans" panose="020B0606030504020204" pitchFamily="34" charset="0"/>
                          <a:ea typeface="Open Sans" panose="020B0606030504020204" pitchFamily="34" charset="0"/>
                          <a:cs typeface="Open Sans" panose="020B0606030504020204" pitchFamily="34" charset="0"/>
                        </a:rPr>
                        <a:t>HHSNotEat</a:t>
                      </a:r>
                      <a:r>
                        <a:rPr lang="en-GB" sz="1200" b="0" i="1"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a:t>
                      </a:r>
                      <a:r>
                        <a:rPr lang="en-GB" sz="12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                             </a:t>
                      </a:r>
                      <a:endParaRPr lang="en-GB" sz="32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p>
                      <a:pPr algn="l" rtl="0" fontAlgn="base"/>
                      <a:r>
                        <a:rPr lang="en-GB" sz="1200" b="0" i="0" dirty="0">
                          <a:solidFill>
                            <a:schemeClr val="tx1"/>
                          </a:solidFill>
                          <a:effectLst/>
                          <a:latin typeface="Open Sans"/>
                          <a:ea typeface="Open Sans"/>
                          <a:cs typeface="Open Sans"/>
                        </a:rPr>
                        <a:t> 1 = Oui </a:t>
                      </a:r>
                      <a:endParaRPr lang="en-GB" sz="3200" b="0" i="0" dirty="0">
                        <a:solidFill>
                          <a:schemeClr val="tx1"/>
                        </a:solidFill>
                        <a:effectLst/>
                        <a:latin typeface="Open Sans"/>
                        <a:ea typeface="Open Sans"/>
                        <a:cs typeface="Open Sans"/>
                      </a:endParaRPr>
                    </a:p>
                  </a:txBody>
                  <a:tcPr marL="63781" marR="63781" marT="31891" marB="318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E"/>
                    </a:solidFill>
                  </a:tcPr>
                </a:tc>
                <a:tc>
                  <a:txBody>
                    <a:bodyPr/>
                    <a:lstStyle/>
                    <a:p>
                      <a:pPr fontAlgn="ctr"/>
                      <a:endParaRPr lang="en-GB" sz="2800">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p>
                      <a:pPr algn="l" rtl="0" fontAlgn="base"/>
                      <a:r>
                        <a:rPr lang="en-GB" sz="1200" b="1" i="0" dirty="0">
                          <a:solidFill>
                            <a:schemeClr val="tx1"/>
                          </a:solidFill>
                          <a:effectLst/>
                          <a:latin typeface="Open Sans"/>
                          <a:ea typeface="Open Sans"/>
                          <a:cs typeface="Open Sans"/>
                        </a:rPr>
                        <a:t>|___|</a:t>
                      </a:r>
                      <a:r>
                        <a:rPr lang="en-GB" sz="1200" b="0" i="0" dirty="0">
                          <a:solidFill>
                            <a:schemeClr val="tx1"/>
                          </a:solidFill>
                          <a:effectLst/>
                          <a:latin typeface="Open Sans"/>
                          <a:ea typeface="Open Sans"/>
                          <a:cs typeface="Open Sans"/>
                        </a:rPr>
                        <a:t> </a:t>
                      </a:r>
                      <a:endParaRPr lang="en-GB" sz="2800" b="0" i="0" dirty="0">
                        <a:solidFill>
                          <a:schemeClr val="tx1"/>
                        </a:solidFill>
                        <a:effectLst/>
                        <a:latin typeface="Open Sans"/>
                        <a:ea typeface="Open Sans"/>
                        <a:cs typeface="Open Sans"/>
                      </a:endParaRPr>
                    </a:p>
                  </a:txBody>
                  <a:tcPr marL="63781" marR="63781" marT="31891" marB="318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E"/>
                    </a:solidFill>
                  </a:tcPr>
                </a:tc>
                <a:extLst>
                  <a:ext uri="{0D108BD9-81ED-4DB2-BD59-A6C34878D82A}">
                    <a16:rowId xmlns:a16="http://schemas.microsoft.com/office/drawing/2014/main" val="4272715640"/>
                  </a:ext>
                </a:extLst>
              </a:tr>
              <a:tr h="841729">
                <a:tc>
                  <a:txBody>
                    <a:bodyPr/>
                    <a:lstStyle/>
                    <a:p>
                      <a:pPr algn="l" rtl="0" fontAlgn="base"/>
                      <a:r>
                        <a:rPr lang="en-GB" sz="1200" b="1" i="0" dirty="0" err="1">
                          <a:solidFill>
                            <a:schemeClr val="tx1"/>
                          </a:solidFill>
                          <a:effectLst/>
                          <a:latin typeface="Open Sans"/>
                          <a:ea typeface="Open Sans"/>
                          <a:cs typeface="Open Sans"/>
                        </a:rPr>
                        <a:t>HHSBedHung_FR</a:t>
                      </a:r>
                      <a:r>
                        <a:rPr lang="en-GB" sz="1200" b="0" i="0" dirty="0">
                          <a:solidFill>
                            <a:schemeClr val="tx1"/>
                          </a:solidFill>
                          <a:effectLst/>
                          <a:latin typeface="Open Sans"/>
                          <a:ea typeface="Open Sans"/>
                          <a:cs typeface="Open Sans"/>
                        </a:rPr>
                        <a:t> </a:t>
                      </a:r>
                      <a:endParaRPr lang="en-GB" sz="3200" b="0" i="0" dirty="0">
                        <a:solidFill>
                          <a:schemeClr val="tx1"/>
                        </a:solidFill>
                        <a:effectLst/>
                        <a:latin typeface="Open Sans"/>
                        <a:ea typeface="Open Sans"/>
                        <a:cs typeface="Open Sans"/>
                      </a:endParaRPr>
                    </a:p>
                  </a:txBody>
                  <a:tcPr marL="63781" marR="63781" marT="31891" marB="3189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E"/>
                    </a:solidFill>
                  </a:tcPr>
                </a:tc>
                <a:tc>
                  <a:txBody>
                    <a:bodyPr/>
                    <a:lstStyle/>
                    <a:p>
                      <a:pPr algn="l" rtl="0" fontAlgn="base"/>
                      <a:r>
                        <a:rPr lang="fr-FR" sz="1400" b="0" i="1"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A quelle fréquence cela s'est-il produit au cours des dernières [4 semaines/30 jours] ?</a:t>
                      </a:r>
                      <a:endParaRPr lang="en-GB" sz="3200" b="0" i="1" dirty="0">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txBody>
                  <a:tcPr marL="63781" marR="63781" marT="31891" marB="3189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E"/>
                    </a:solidFill>
                  </a:tcPr>
                </a:tc>
                <a:tc>
                  <a:txBody>
                    <a:bodyPr/>
                    <a:lstStyle/>
                    <a:p>
                      <a:pPr algn="l" rtl="0" fontAlgn="base"/>
                      <a:r>
                        <a:rPr lang="en-GB" sz="12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1 = </a:t>
                      </a:r>
                      <a:r>
                        <a:rPr lang="en-GB" sz="1200" b="0" i="0" dirty="0" err="1">
                          <a:solidFill>
                            <a:schemeClr val="tx1"/>
                          </a:solidFill>
                          <a:effectLst/>
                          <a:latin typeface="Open Sans" panose="020B0606030504020204" pitchFamily="34" charset="0"/>
                          <a:ea typeface="Open Sans" panose="020B0606030504020204" pitchFamily="34" charset="0"/>
                          <a:cs typeface="Open Sans" panose="020B0606030504020204" pitchFamily="34" charset="0"/>
                        </a:rPr>
                        <a:t>Rarement</a:t>
                      </a:r>
                      <a:r>
                        <a:rPr lang="en-GB" sz="12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 (1–2 </a:t>
                      </a:r>
                      <a:r>
                        <a:rPr lang="en-GB" sz="1200" b="0" i="0" dirty="0" err="1">
                          <a:solidFill>
                            <a:schemeClr val="tx1"/>
                          </a:solidFill>
                          <a:effectLst/>
                          <a:latin typeface="Open Sans" panose="020B0606030504020204" pitchFamily="34" charset="0"/>
                          <a:ea typeface="Open Sans" panose="020B0606030504020204" pitchFamily="34" charset="0"/>
                          <a:cs typeface="Open Sans" panose="020B0606030504020204" pitchFamily="34" charset="0"/>
                        </a:rPr>
                        <a:t>fois</a:t>
                      </a:r>
                      <a:r>
                        <a:rPr lang="en-GB" sz="12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                        </a:t>
                      </a:r>
                      <a:endParaRPr lang="en-GB" sz="32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p>
                      <a:pPr algn="l" rtl="0" fontAlgn="base"/>
                      <a:r>
                        <a:rPr lang="en-GB" sz="12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2 = Parfois (3–10 times) </a:t>
                      </a:r>
                      <a:endParaRPr lang="en-GB" sz="32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p>
                      <a:pPr algn="l" rtl="0" fontAlgn="base"/>
                      <a:r>
                        <a:rPr lang="en-GB" sz="12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3 = </a:t>
                      </a:r>
                      <a:r>
                        <a:rPr lang="en-GB" sz="1200" b="0" i="0" dirty="0" err="1">
                          <a:solidFill>
                            <a:schemeClr val="tx1"/>
                          </a:solidFill>
                          <a:effectLst/>
                          <a:latin typeface="Open Sans" panose="020B0606030504020204" pitchFamily="34" charset="0"/>
                          <a:ea typeface="Open Sans" panose="020B0606030504020204" pitchFamily="34" charset="0"/>
                          <a:cs typeface="Open Sans" panose="020B0606030504020204" pitchFamily="34" charset="0"/>
                        </a:rPr>
                        <a:t>Souvent</a:t>
                      </a:r>
                      <a:r>
                        <a:rPr lang="en-GB" sz="12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 (plus de 10 </a:t>
                      </a:r>
                      <a:r>
                        <a:rPr lang="en-GB" sz="1200" b="0" i="0" dirty="0" err="1">
                          <a:solidFill>
                            <a:schemeClr val="tx1"/>
                          </a:solidFill>
                          <a:effectLst/>
                          <a:latin typeface="Open Sans" panose="020B0606030504020204" pitchFamily="34" charset="0"/>
                          <a:ea typeface="Open Sans" panose="020B0606030504020204" pitchFamily="34" charset="0"/>
                          <a:cs typeface="Open Sans" panose="020B0606030504020204" pitchFamily="34" charset="0"/>
                        </a:rPr>
                        <a:t>fois</a:t>
                      </a:r>
                      <a:r>
                        <a:rPr lang="en-GB" sz="12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 </a:t>
                      </a:r>
                      <a:endParaRPr lang="en-GB" sz="32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p>
                      <a:pPr algn="l" rtl="0" fontAlgn="base"/>
                      <a:r>
                        <a:rPr lang="en-GB" sz="12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 </a:t>
                      </a:r>
                      <a:endParaRPr lang="en-GB" sz="32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txBody>
                  <a:tcPr marL="63781" marR="63781" marT="31891" marB="31891"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E"/>
                    </a:solidFill>
                  </a:tcPr>
                </a:tc>
                <a:tc>
                  <a:txBody>
                    <a:bodyPr/>
                    <a:lstStyle/>
                    <a:p>
                      <a:pPr fontAlgn="ctr"/>
                      <a:endParaRPr lang="en-GB" sz="280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p>
                      <a:pPr algn="l" rtl="0" fontAlgn="base"/>
                      <a:r>
                        <a:rPr lang="en-GB" sz="1200" b="1"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|___|</a:t>
                      </a:r>
                      <a:r>
                        <a:rPr lang="en-GB" sz="12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 </a:t>
                      </a:r>
                      <a:endParaRPr lang="en-GB" sz="28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txBody>
                  <a:tcPr marL="63781" marR="63781" marT="31891" marB="318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E"/>
                    </a:solidFill>
                  </a:tcPr>
                </a:tc>
                <a:extLst>
                  <a:ext uri="{0D108BD9-81ED-4DB2-BD59-A6C34878D82A}">
                    <a16:rowId xmlns:a16="http://schemas.microsoft.com/office/drawing/2014/main" val="1062029599"/>
                  </a:ext>
                </a:extLst>
              </a:tr>
              <a:tr h="592561">
                <a:tc>
                  <a:txBody>
                    <a:bodyPr/>
                    <a:lstStyle/>
                    <a:p>
                      <a:pPr algn="l" rtl="0" fontAlgn="base"/>
                      <a:r>
                        <a:rPr lang="en-GB" sz="1200" b="1" i="0" dirty="0" err="1">
                          <a:solidFill>
                            <a:schemeClr val="tx1"/>
                          </a:solidFill>
                          <a:effectLst/>
                          <a:latin typeface="Open Sans" panose="020B0606030504020204" pitchFamily="34" charset="0"/>
                          <a:ea typeface="Open Sans" panose="020B0606030504020204" pitchFamily="34" charset="0"/>
                          <a:cs typeface="Open Sans" panose="020B0606030504020204" pitchFamily="34" charset="0"/>
                        </a:rPr>
                        <a:t>HHSNotEat</a:t>
                      </a:r>
                      <a:r>
                        <a:rPr lang="en-GB" sz="12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 </a:t>
                      </a:r>
                      <a:endParaRPr lang="en-GB" sz="32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txBody>
                  <a:tcPr marL="63781" marR="63781" marT="31891" marB="3189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E"/>
                    </a:solidFill>
                  </a:tcPr>
                </a:tc>
                <a:tc>
                  <a:txBody>
                    <a:bodyPr/>
                    <a:lstStyle/>
                    <a:p>
                      <a:pPr algn="l" rtl="0" fontAlgn="base"/>
                      <a:r>
                        <a:rPr lang="fr-FR" sz="1400" b="1"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Au cours des [4 dernières semaines / 30 derniers jours], avez-vous, ou tout membre de votre ménage a-t-il passé un jour et une nuit entière sans rien manger parce qu’il n’y avait pas assez de nourriture ?</a:t>
                      </a:r>
                      <a:endParaRPr lang="en-GB" sz="3200" b="1"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txBody>
                  <a:tcPr marL="63781" marR="63781" marT="31891" marB="3189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E"/>
                    </a:solidFill>
                  </a:tcPr>
                </a:tc>
                <a:tc>
                  <a:txBody>
                    <a:bodyPr/>
                    <a:lstStyle/>
                    <a:p>
                      <a:pPr algn="l" rtl="0" fontAlgn="base"/>
                      <a:r>
                        <a:rPr lang="en-GB" sz="12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0 = Non </a:t>
                      </a:r>
                      <a:r>
                        <a:rPr lang="en-GB" sz="1200" b="0" i="1"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(passer a la section </a:t>
                      </a:r>
                      <a:r>
                        <a:rPr lang="en-GB" sz="1200" b="0" i="1" dirty="0" err="1">
                          <a:solidFill>
                            <a:schemeClr val="tx1"/>
                          </a:solidFill>
                          <a:effectLst/>
                          <a:latin typeface="Open Sans" panose="020B0606030504020204" pitchFamily="34" charset="0"/>
                          <a:ea typeface="Open Sans" panose="020B0606030504020204" pitchFamily="34" charset="0"/>
                          <a:cs typeface="Open Sans" panose="020B0606030504020204" pitchFamily="34" charset="0"/>
                        </a:rPr>
                        <a:t>suivante</a:t>
                      </a:r>
                      <a:r>
                        <a:rPr lang="en-GB" sz="1200" b="0" i="1"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a:t>
                      </a:r>
                      <a:r>
                        <a:rPr lang="en-GB" sz="12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                             </a:t>
                      </a:r>
                      <a:endParaRPr lang="en-GB" sz="32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p>
                      <a:pPr algn="l" rtl="0" fontAlgn="base"/>
                      <a:r>
                        <a:rPr lang="en-GB" sz="1200" b="0" i="0" dirty="0">
                          <a:solidFill>
                            <a:schemeClr val="tx1"/>
                          </a:solidFill>
                          <a:effectLst/>
                          <a:latin typeface="Open Sans"/>
                          <a:ea typeface="Open Sans"/>
                          <a:cs typeface="Open Sans"/>
                        </a:rPr>
                        <a:t> 1 = Oui </a:t>
                      </a:r>
                      <a:endParaRPr lang="en-GB" sz="3200" b="0" i="0" dirty="0">
                        <a:solidFill>
                          <a:schemeClr val="tx1"/>
                        </a:solidFill>
                        <a:effectLst/>
                        <a:latin typeface="Open Sans"/>
                        <a:ea typeface="Open Sans"/>
                        <a:cs typeface="Open Sans"/>
                      </a:endParaRPr>
                    </a:p>
                  </a:txBody>
                  <a:tcPr marL="63781" marR="63781" marT="31891" marB="318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E"/>
                    </a:solidFill>
                  </a:tcPr>
                </a:tc>
                <a:tc>
                  <a:txBody>
                    <a:bodyPr/>
                    <a:lstStyle/>
                    <a:p>
                      <a:pPr fontAlgn="ctr"/>
                      <a:endParaRPr lang="en-GB" sz="280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p>
                      <a:pPr algn="l" rtl="0" fontAlgn="base"/>
                      <a:r>
                        <a:rPr lang="en-GB" sz="1200" b="1"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|___|</a:t>
                      </a:r>
                      <a:r>
                        <a:rPr lang="en-GB" sz="12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 </a:t>
                      </a:r>
                      <a:endParaRPr lang="en-GB" sz="28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txBody>
                  <a:tcPr marL="63781" marR="63781" marT="31891" marB="318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E"/>
                    </a:solidFill>
                  </a:tcPr>
                </a:tc>
                <a:extLst>
                  <a:ext uri="{0D108BD9-81ED-4DB2-BD59-A6C34878D82A}">
                    <a16:rowId xmlns:a16="http://schemas.microsoft.com/office/drawing/2014/main" val="1941607191"/>
                  </a:ext>
                </a:extLst>
              </a:tr>
              <a:tr h="710588">
                <a:tc>
                  <a:txBody>
                    <a:bodyPr/>
                    <a:lstStyle/>
                    <a:p>
                      <a:pPr algn="l" rtl="0" fontAlgn="base"/>
                      <a:r>
                        <a:rPr lang="en-GB" sz="1200" b="1" i="0" dirty="0" err="1">
                          <a:solidFill>
                            <a:schemeClr val="tx1"/>
                          </a:solidFill>
                          <a:effectLst/>
                          <a:latin typeface="Open Sans"/>
                          <a:ea typeface="Open Sans"/>
                          <a:cs typeface="Open Sans"/>
                        </a:rPr>
                        <a:t>HHSNotEat_FR</a:t>
                      </a:r>
                      <a:r>
                        <a:rPr lang="en-GB" sz="1200" b="0" i="0" dirty="0">
                          <a:solidFill>
                            <a:schemeClr val="tx1"/>
                          </a:solidFill>
                          <a:effectLst/>
                          <a:latin typeface="Open Sans"/>
                          <a:ea typeface="Open Sans"/>
                          <a:cs typeface="Open Sans"/>
                        </a:rPr>
                        <a:t> </a:t>
                      </a:r>
                      <a:endParaRPr lang="en-GB" sz="3200" b="0" i="0" dirty="0">
                        <a:solidFill>
                          <a:schemeClr val="tx1"/>
                        </a:solidFill>
                        <a:effectLst/>
                        <a:latin typeface="Open Sans"/>
                        <a:ea typeface="Open Sans"/>
                        <a:cs typeface="Open Sans"/>
                      </a:endParaRPr>
                    </a:p>
                  </a:txBody>
                  <a:tcPr marL="63781" marR="63781" marT="31891" marB="3189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E"/>
                    </a:solidFill>
                  </a:tcPr>
                </a:tc>
                <a:tc>
                  <a:txBody>
                    <a:bodyPr/>
                    <a:lstStyle/>
                    <a:p>
                      <a:pPr algn="l" rtl="0" fontAlgn="base"/>
                      <a:r>
                        <a:rPr lang="fr-FR" sz="1800" b="0" i="0" kern="1200" dirty="0">
                          <a:solidFill>
                            <a:schemeClr val="tx1"/>
                          </a:solidFill>
                          <a:effectLst/>
                          <a:latin typeface="+mn-lt"/>
                          <a:ea typeface="+mn-ea"/>
                          <a:cs typeface="+mn-cs"/>
                        </a:rPr>
                        <a:t>A quelle fréquence cela s'est-il produit au cours des dernières [4 semaines/30 jours] ?</a:t>
                      </a:r>
                      <a:endParaRPr lang="en-GB" sz="3200" b="0" i="1" dirty="0">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txBody>
                  <a:tcPr marL="63781" marR="63781" marT="31891" marB="3189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E"/>
                    </a:solidFill>
                  </a:tcPr>
                </a:tc>
                <a:tc>
                  <a:txBody>
                    <a:bodyPr/>
                    <a:lstStyle/>
                    <a:p>
                      <a:pPr algn="l" rtl="0" fontAlgn="base"/>
                      <a:r>
                        <a:rPr lang="en-GB" sz="12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1 = </a:t>
                      </a:r>
                      <a:r>
                        <a:rPr lang="en-GB" sz="1200" b="0" i="0" dirty="0" err="1">
                          <a:solidFill>
                            <a:schemeClr val="tx1"/>
                          </a:solidFill>
                          <a:effectLst/>
                          <a:latin typeface="Open Sans" panose="020B0606030504020204" pitchFamily="34" charset="0"/>
                          <a:ea typeface="Open Sans" panose="020B0606030504020204" pitchFamily="34" charset="0"/>
                          <a:cs typeface="Open Sans" panose="020B0606030504020204" pitchFamily="34" charset="0"/>
                        </a:rPr>
                        <a:t>Rarement</a:t>
                      </a:r>
                      <a:r>
                        <a:rPr lang="en-GB" sz="12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 (1–2 </a:t>
                      </a:r>
                      <a:r>
                        <a:rPr lang="en-GB" sz="1200" b="0" i="0" dirty="0" err="1">
                          <a:solidFill>
                            <a:schemeClr val="tx1"/>
                          </a:solidFill>
                          <a:effectLst/>
                          <a:latin typeface="Open Sans" panose="020B0606030504020204" pitchFamily="34" charset="0"/>
                          <a:ea typeface="Open Sans" panose="020B0606030504020204" pitchFamily="34" charset="0"/>
                          <a:cs typeface="Open Sans" panose="020B0606030504020204" pitchFamily="34" charset="0"/>
                        </a:rPr>
                        <a:t>fois</a:t>
                      </a:r>
                      <a:r>
                        <a:rPr lang="en-GB" sz="12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                        </a:t>
                      </a:r>
                      <a:endParaRPr lang="en-GB" sz="32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p>
                      <a:pPr algn="l" rtl="0" fontAlgn="base"/>
                      <a:r>
                        <a:rPr lang="en-GB" sz="12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2 = Parfois (3–10 times) </a:t>
                      </a:r>
                      <a:endParaRPr lang="en-GB" sz="32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p>
                      <a:pPr algn="l" rtl="0" fontAlgn="base"/>
                      <a:r>
                        <a:rPr lang="en-GB" sz="12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3 = </a:t>
                      </a:r>
                      <a:r>
                        <a:rPr lang="en-GB" sz="1200" b="0" i="0" dirty="0" err="1">
                          <a:solidFill>
                            <a:schemeClr val="tx1"/>
                          </a:solidFill>
                          <a:effectLst/>
                          <a:latin typeface="Open Sans" panose="020B0606030504020204" pitchFamily="34" charset="0"/>
                          <a:ea typeface="Open Sans" panose="020B0606030504020204" pitchFamily="34" charset="0"/>
                          <a:cs typeface="Open Sans" panose="020B0606030504020204" pitchFamily="34" charset="0"/>
                        </a:rPr>
                        <a:t>Souvent</a:t>
                      </a:r>
                      <a:r>
                        <a:rPr lang="en-GB" sz="12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 (plus de 10 </a:t>
                      </a:r>
                      <a:r>
                        <a:rPr lang="en-GB" sz="1200" b="0" i="0" dirty="0" err="1">
                          <a:solidFill>
                            <a:schemeClr val="tx1"/>
                          </a:solidFill>
                          <a:effectLst/>
                          <a:latin typeface="Open Sans" panose="020B0606030504020204" pitchFamily="34" charset="0"/>
                          <a:ea typeface="Open Sans" panose="020B0606030504020204" pitchFamily="34" charset="0"/>
                          <a:cs typeface="Open Sans" panose="020B0606030504020204" pitchFamily="34" charset="0"/>
                        </a:rPr>
                        <a:t>fois</a:t>
                      </a:r>
                      <a:r>
                        <a:rPr lang="en-GB" sz="12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 </a:t>
                      </a:r>
                      <a:endParaRPr lang="en-GB" sz="32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p>
                      <a:pPr algn="l" rtl="0" fontAlgn="base"/>
                      <a:r>
                        <a:rPr lang="en-GB" sz="12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 </a:t>
                      </a:r>
                      <a:endParaRPr lang="en-GB" sz="32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txBody>
                  <a:tcPr marL="63781" marR="63781" marT="31891" marB="31891"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E"/>
                    </a:solidFill>
                  </a:tcPr>
                </a:tc>
                <a:tc>
                  <a:txBody>
                    <a:bodyPr/>
                    <a:lstStyle/>
                    <a:p>
                      <a:pPr fontAlgn="ctr"/>
                      <a:endParaRPr lang="en-GB" sz="280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p>
                      <a:pPr algn="l" rtl="0" fontAlgn="base"/>
                      <a:r>
                        <a:rPr lang="en-GB" sz="1200" b="1"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|___|</a:t>
                      </a:r>
                      <a:r>
                        <a:rPr lang="en-GB" sz="12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 </a:t>
                      </a:r>
                      <a:endParaRPr lang="en-GB" sz="28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txBody>
                  <a:tcPr marL="63781" marR="63781" marT="31891" marB="318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E"/>
                    </a:solidFill>
                  </a:tcPr>
                </a:tc>
                <a:extLst>
                  <a:ext uri="{0D108BD9-81ED-4DB2-BD59-A6C34878D82A}">
                    <a16:rowId xmlns:a16="http://schemas.microsoft.com/office/drawing/2014/main" val="2514524551"/>
                  </a:ext>
                </a:extLst>
              </a:tr>
            </a:tbl>
          </a:graphicData>
        </a:graphic>
      </p:graphicFrame>
      <p:grpSp>
        <p:nvGrpSpPr>
          <p:cNvPr id="3" name="Group 2">
            <a:extLst>
              <a:ext uri="{FF2B5EF4-FFF2-40B4-BE49-F238E27FC236}">
                <a16:creationId xmlns:a16="http://schemas.microsoft.com/office/drawing/2014/main" id="{94C0FC49-5B62-44E3-57D7-F8D1666EEADE}"/>
              </a:ext>
            </a:extLst>
          </p:cNvPr>
          <p:cNvGrpSpPr/>
          <p:nvPr/>
        </p:nvGrpSpPr>
        <p:grpSpPr>
          <a:xfrm>
            <a:off x="0" y="747852"/>
            <a:ext cx="12031977" cy="2561405"/>
            <a:chOff x="0" y="747852"/>
            <a:chExt cx="12031977" cy="2636608"/>
          </a:xfrm>
        </p:grpSpPr>
        <p:sp>
          <p:nvSpPr>
            <p:cNvPr id="4" name="Rectangle 3">
              <a:extLst>
                <a:ext uri="{FF2B5EF4-FFF2-40B4-BE49-F238E27FC236}">
                  <a16:creationId xmlns:a16="http://schemas.microsoft.com/office/drawing/2014/main" id="{C3D5D33D-02DD-DF5E-D93E-3A25C5A56BF9}"/>
                </a:ext>
              </a:extLst>
            </p:cNvPr>
            <p:cNvSpPr/>
            <p:nvPr/>
          </p:nvSpPr>
          <p:spPr>
            <a:xfrm>
              <a:off x="160022" y="1240870"/>
              <a:ext cx="11871955" cy="2143590"/>
            </a:xfrm>
            <a:prstGeom prst="rect">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5" name="Oval 4">
              <a:extLst>
                <a:ext uri="{FF2B5EF4-FFF2-40B4-BE49-F238E27FC236}">
                  <a16:creationId xmlns:a16="http://schemas.microsoft.com/office/drawing/2014/main" id="{4EFF275B-C44E-C574-EFB8-642BF678939E}"/>
                </a:ext>
              </a:extLst>
            </p:cNvPr>
            <p:cNvSpPr/>
            <p:nvPr/>
          </p:nvSpPr>
          <p:spPr>
            <a:xfrm>
              <a:off x="0" y="747852"/>
              <a:ext cx="643543" cy="659567"/>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a:solidFill>
                    <a:srgbClr val="FFFFFE"/>
                  </a:solidFill>
                  <a:latin typeface="Open Sans" panose="020B0606030504020204" pitchFamily="34" charset="0"/>
                  <a:ea typeface="Open Sans" panose="020B0606030504020204" pitchFamily="34" charset="0"/>
                  <a:cs typeface="Open Sans" panose="020B0606030504020204" pitchFamily="34" charset="0"/>
                </a:rPr>
                <a:t>1</a:t>
              </a:r>
              <a:endParaRPr lang="fr-FR" b="1" dirty="0">
                <a:solidFill>
                  <a:srgbClr val="FFFFFE"/>
                </a:solidFill>
                <a:latin typeface="Open Sans" panose="020B0606030504020204" pitchFamily="34" charset="0"/>
                <a:ea typeface="Open Sans" panose="020B0606030504020204" pitchFamily="34" charset="0"/>
                <a:cs typeface="Open Sans" panose="020B0606030504020204" pitchFamily="34" charset="0"/>
              </a:endParaRPr>
            </a:p>
          </p:txBody>
        </p:sp>
      </p:grpSp>
      <p:grpSp>
        <p:nvGrpSpPr>
          <p:cNvPr id="10" name="Group 9">
            <a:extLst>
              <a:ext uri="{FF2B5EF4-FFF2-40B4-BE49-F238E27FC236}">
                <a16:creationId xmlns:a16="http://schemas.microsoft.com/office/drawing/2014/main" id="{7B36127E-6544-B47B-2C69-2803E0DCE4F2}"/>
              </a:ext>
            </a:extLst>
          </p:cNvPr>
          <p:cNvGrpSpPr/>
          <p:nvPr/>
        </p:nvGrpSpPr>
        <p:grpSpPr>
          <a:xfrm>
            <a:off x="-547" y="4546237"/>
            <a:ext cx="12031977" cy="2256606"/>
            <a:chOff x="0" y="747852"/>
            <a:chExt cx="12031977" cy="2322860"/>
          </a:xfrm>
        </p:grpSpPr>
        <p:sp>
          <p:nvSpPr>
            <p:cNvPr id="11" name="Rectangle 10">
              <a:extLst>
                <a:ext uri="{FF2B5EF4-FFF2-40B4-BE49-F238E27FC236}">
                  <a16:creationId xmlns:a16="http://schemas.microsoft.com/office/drawing/2014/main" id="{31365134-7239-5D63-629E-64D2894889CF}"/>
                </a:ext>
              </a:extLst>
            </p:cNvPr>
            <p:cNvSpPr/>
            <p:nvPr/>
          </p:nvSpPr>
          <p:spPr>
            <a:xfrm>
              <a:off x="160022" y="1228860"/>
              <a:ext cx="11871955" cy="1841852"/>
            </a:xfrm>
            <a:prstGeom prst="rect">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12" name="Oval 11">
              <a:extLst>
                <a:ext uri="{FF2B5EF4-FFF2-40B4-BE49-F238E27FC236}">
                  <a16:creationId xmlns:a16="http://schemas.microsoft.com/office/drawing/2014/main" id="{C99088F1-D82F-D7C1-18BA-BF42298AD675}"/>
                </a:ext>
              </a:extLst>
            </p:cNvPr>
            <p:cNvSpPr/>
            <p:nvPr/>
          </p:nvSpPr>
          <p:spPr>
            <a:xfrm>
              <a:off x="0" y="747852"/>
              <a:ext cx="643543" cy="659567"/>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a:solidFill>
                    <a:srgbClr val="FFFFFE"/>
                  </a:solidFill>
                  <a:latin typeface="Open Sans" panose="020B0606030504020204" pitchFamily="34" charset="0"/>
                  <a:ea typeface="Open Sans" panose="020B0606030504020204" pitchFamily="34" charset="0"/>
                  <a:cs typeface="Open Sans" panose="020B0606030504020204" pitchFamily="34" charset="0"/>
                </a:rPr>
                <a:t>3</a:t>
              </a:r>
              <a:endParaRPr lang="fr-FR" b="1" dirty="0">
                <a:solidFill>
                  <a:srgbClr val="FFFFFE"/>
                </a:solidFill>
                <a:latin typeface="Open Sans" panose="020B0606030504020204" pitchFamily="34" charset="0"/>
                <a:ea typeface="Open Sans" panose="020B0606030504020204" pitchFamily="34" charset="0"/>
                <a:cs typeface="Open Sans" panose="020B0606030504020204" pitchFamily="34" charset="0"/>
              </a:endParaRPr>
            </a:p>
          </p:txBody>
        </p:sp>
      </p:grpSp>
      <p:grpSp>
        <p:nvGrpSpPr>
          <p:cNvPr id="14" name="Group 13">
            <a:extLst>
              <a:ext uri="{FF2B5EF4-FFF2-40B4-BE49-F238E27FC236}">
                <a16:creationId xmlns:a16="http://schemas.microsoft.com/office/drawing/2014/main" id="{77993657-D42B-21E8-41CE-0CE379047D1E}"/>
              </a:ext>
            </a:extLst>
          </p:cNvPr>
          <p:cNvGrpSpPr/>
          <p:nvPr/>
        </p:nvGrpSpPr>
        <p:grpSpPr>
          <a:xfrm>
            <a:off x="-19065" y="2919407"/>
            <a:ext cx="12031977" cy="2094118"/>
            <a:chOff x="0" y="747852"/>
            <a:chExt cx="12031977" cy="2155601"/>
          </a:xfrm>
        </p:grpSpPr>
        <p:sp>
          <p:nvSpPr>
            <p:cNvPr id="15" name="Rectangle 14">
              <a:extLst>
                <a:ext uri="{FF2B5EF4-FFF2-40B4-BE49-F238E27FC236}">
                  <a16:creationId xmlns:a16="http://schemas.microsoft.com/office/drawing/2014/main" id="{205FD8A1-67AE-A185-7FC7-67B535A2D3EA}"/>
                </a:ext>
              </a:extLst>
            </p:cNvPr>
            <p:cNvSpPr/>
            <p:nvPr/>
          </p:nvSpPr>
          <p:spPr>
            <a:xfrm>
              <a:off x="160022" y="1240871"/>
              <a:ext cx="11871955" cy="1662582"/>
            </a:xfrm>
            <a:prstGeom prst="rect">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16" name="Oval 15">
              <a:extLst>
                <a:ext uri="{FF2B5EF4-FFF2-40B4-BE49-F238E27FC236}">
                  <a16:creationId xmlns:a16="http://schemas.microsoft.com/office/drawing/2014/main" id="{2B901236-AAC7-DDF6-2A05-3246720DB8F9}"/>
                </a:ext>
              </a:extLst>
            </p:cNvPr>
            <p:cNvSpPr/>
            <p:nvPr/>
          </p:nvSpPr>
          <p:spPr>
            <a:xfrm>
              <a:off x="0" y="747852"/>
              <a:ext cx="643543" cy="659567"/>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a:solidFill>
                    <a:srgbClr val="FFFFFE"/>
                  </a:solidFill>
                  <a:latin typeface="Open Sans" panose="020B0606030504020204" pitchFamily="34" charset="0"/>
                  <a:ea typeface="Open Sans" panose="020B0606030504020204" pitchFamily="34" charset="0"/>
                  <a:cs typeface="Open Sans" panose="020B0606030504020204" pitchFamily="34" charset="0"/>
                </a:rPr>
                <a:t>2</a:t>
              </a:r>
              <a:endParaRPr lang="fr-FR" b="1" dirty="0">
                <a:solidFill>
                  <a:srgbClr val="FFFFFE"/>
                </a:solidFill>
                <a:latin typeface="Open Sans" panose="020B0606030504020204" pitchFamily="34" charset="0"/>
                <a:ea typeface="Open Sans" panose="020B0606030504020204" pitchFamily="34" charset="0"/>
                <a:cs typeface="Open Sans" panose="020B0606030504020204" pitchFamily="34" charset="0"/>
              </a:endParaRPr>
            </a:p>
          </p:txBody>
        </p:sp>
      </p:grpSp>
      <p:sp>
        <p:nvSpPr>
          <p:cNvPr id="17" name="Arrow: Curved Left 16">
            <a:extLst>
              <a:ext uri="{FF2B5EF4-FFF2-40B4-BE49-F238E27FC236}">
                <a16:creationId xmlns:a16="http://schemas.microsoft.com/office/drawing/2014/main" id="{B7D28EA0-F475-037E-393E-83C17F633F4E}"/>
              </a:ext>
            </a:extLst>
          </p:cNvPr>
          <p:cNvSpPr/>
          <p:nvPr/>
        </p:nvSpPr>
        <p:spPr>
          <a:xfrm>
            <a:off x="11483466" y="2176044"/>
            <a:ext cx="660400" cy="982968"/>
          </a:xfrm>
          <a:prstGeom prst="curvedLeftArrow">
            <a:avLst/>
          </a:prstGeom>
          <a:solidFill>
            <a:schemeClr val="accent2">
              <a:lumMod val="40000"/>
              <a:lumOff val="60000"/>
            </a:schemeClr>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18" name="Arrow: Curved Left 17">
            <a:extLst>
              <a:ext uri="{FF2B5EF4-FFF2-40B4-BE49-F238E27FC236}">
                <a16:creationId xmlns:a16="http://schemas.microsoft.com/office/drawing/2014/main" id="{99F18AE9-5614-3F4D-A884-2097E37E042F}"/>
              </a:ext>
            </a:extLst>
          </p:cNvPr>
          <p:cNvSpPr/>
          <p:nvPr/>
        </p:nvSpPr>
        <p:spPr>
          <a:xfrm>
            <a:off x="11531600" y="3563269"/>
            <a:ext cx="660400" cy="982968"/>
          </a:xfrm>
          <a:prstGeom prst="curvedLeftArrow">
            <a:avLst/>
          </a:prstGeom>
          <a:solidFill>
            <a:schemeClr val="accent2">
              <a:lumMod val="40000"/>
              <a:lumOff val="60000"/>
            </a:schemeClr>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21" name="Arrow: Curved Left 20">
            <a:extLst>
              <a:ext uri="{FF2B5EF4-FFF2-40B4-BE49-F238E27FC236}">
                <a16:creationId xmlns:a16="http://schemas.microsoft.com/office/drawing/2014/main" id="{540B4DFE-B60A-5236-5CA2-52A8A5A7A1AC}"/>
              </a:ext>
            </a:extLst>
          </p:cNvPr>
          <p:cNvSpPr/>
          <p:nvPr/>
        </p:nvSpPr>
        <p:spPr>
          <a:xfrm>
            <a:off x="11510204" y="5334650"/>
            <a:ext cx="660400" cy="982968"/>
          </a:xfrm>
          <a:prstGeom prst="curvedLeftArrow">
            <a:avLst/>
          </a:prstGeom>
          <a:solidFill>
            <a:schemeClr val="accent2">
              <a:lumMod val="40000"/>
              <a:lumOff val="60000"/>
            </a:schemeClr>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Tree>
    <p:extLst>
      <p:ext uri="{BB962C8B-B14F-4D97-AF65-F5344CB8AC3E}">
        <p14:creationId xmlns:p14="http://schemas.microsoft.com/office/powerpoint/2010/main" val="12358629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8" grpId="0" animBg="1"/>
      <p:bldP spid="21"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3">
            <a:extLst>
              <a:ext uri="{FF2B5EF4-FFF2-40B4-BE49-F238E27FC236}">
                <a16:creationId xmlns:a16="http://schemas.microsoft.com/office/drawing/2014/main" id="{BB642E77-5AC9-D346-BC1E-D93A00D9631D}"/>
              </a:ext>
            </a:extLst>
          </p:cNvPr>
          <p:cNvSpPr>
            <a:spLocks noGrp="1"/>
          </p:cNvSpPr>
          <p:nvPr>
            <p:ph type="title"/>
          </p:nvPr>
        </p:nvSpPr>
        <p:spPr>
          <a:xfrm>
            <a:off x="717181" y="716415"/>
            <a:ext cx="11052002" cy="662558"/>
          </a:xfrm>
        </p:spPr>
        <p:txBody>
          <a:bodyPr anchor="t" anchorCtr="0"/>
          <a:lstStyle/>
          <a:p>
            <a:r>
              <a:rPr lang="en-GB" sz="3600" b="0" kern="1400" spc="230" dirty="0">
                <a:solidFill>
                  <a:schemeClr val="tx1"/>
                </a:solidFill>
                <a:latin typeface="HALDEN SOLID" pitchFamily="2" charset="0"/>
              </a:rPr>
              <a:t>MODULE HHS: QUE DEMANDER? (2)</a:t>
            </a:r>
          </a:p>
        </p:txBody>
      </p:sp>
      <p:graphicFrame>
        <p:nvGraphicFramePr>
          <p:cNvPr id="6" name="Table 5">
            <a:extLst>
              <a:ext uri="{FF2B5EF4-FFF2-40B4-BE49-F238E27FC236}">
                <a16:creationId xmlns:a16="http://schemas.microsoft.com/office/drawing/2014/main" id="{F8B5876D-31E2-39DC-B93F-12B7C56A197E}"/>
              </a:ext>
            </a:extLst>
          </p:cNvPr>
          <p:cNvGraphicFramePr>
            <a:graphicFrameLocks noGrp="1"/>
          </p:cNvGraphicFramePr>
          <p:nvPr>
            <p:extLst>
              <p:ext uri="{D42A27DB-BD31-4B8C-83A1-F6EECF244321}">
                <p14:modId xmlns:p14="http://schemas.microsoft.com/office/powerpoint/2010/main" val="1866154035"/>
              </p:ext>
            </p:extLst>
          </p:nvPr>
        </p:nvGraphicFramePr>
        <p:xfrm>
          <a:off x="717180" y="4820314"/>
          <a:ext cx="9595219" cy="1004570"/>
        </p:xfrm>
        <a:graphic>
          <a:graphicData uri="http://schemas.openxmlformats.org/drawingml/2006/table">
            <a:tbl>
              <a:tblPr/>
              <a:tblGrid>
                <a:gridCol w="1796924">
                  <a:extLst>
                    <a:ext uri="{9D8B030D-6E8A-4147-A177-3AD203B41FA5}">
                      <a16:colId xmlns:a16="http://schemas.microsoft.com/office/drawing/2014/main" val="1838051920"/>
                    </a:ext>
                  </a:extLst>
                </a:gridCol>
                <a:gridCol w="3749494">
                  <a:extLst>
                    <a:ext uri="{9D8B030D-6E8A-4147-A177-3AD203B41FA5}">
                      <a16:colId xmlns:a16="http://schemas.microsoft.com/office/drawing/2014/main" val="852548272"/>
                    </a:ext>
                  </a:extLst>
                </a:gridCol>
                <a:gridCol w="3012482">
                  <a:extLst>
                    <a:ext uri="{9D8B030D-6E8A-4147-A177-3AD203B41FA5}">
                      <a16:colId xmlns:a16="http://schemas.microsoft.com/office/drawing/2014/main" val="3904161731"/>
                    </a:ext>
                  </a:extLst>
                </a:gridCol>
                <a:gridCol w="1036319">
                  <a:extLst>
                    <a:ext uri="{9D8B030D-6E8A-4147-A177-3AD203B41FA5}">
                      <a16:colId xmlns:a16="http://schemas.microsoft.com/office/drawing/2014/main" val="4253592246"/>
                    </a:ext>
                  </a:extLst>
                </a:gridCol>
              </a:tblGrid>
              <a:tr h="1004570">
                <a:tc>
                  <a:txBody>
                    <a:bodyPr/>
                    <a:lstStyle/>
                    <a:p>
                      <a:pPr fontAlgn="ctr"/>
                      <a:endParaRPr lang="en-GB" sz="320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p>
                      <a:pPr algn="l" rtl="0" fontAlgn="base"/>
                      <a:r>
                        <a:rPr lang="en-GB" sz="1200" b="1" i="0" dirty="0" err="1">
                          <a:solidFill>
                            <a:schemeClr val="tx1"/>
                          </a:solidFill>
                          <a:effectLst/>
                          <a:latin typeface="Open Sans" panose="020B0606030504020204" pitchFamily="34" charset="0"/>
                          <a:ea typeface="Open Sans" panose="020B0606030504020204" pitchFamily="34" charset="0"/>
                          <a:cs typeface="Open Sans" panose="020B0606030504020204" pitchFamily="34" charset="0"/>
                        </a:rPr>
                        <a:t>HHSNoFood_FR</a:t>
                      </a:r>
                      <a:r>
                        <a:rPr lang="en-GB" sz="12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 </a:t>
                      </a:r>
                      <a:endParaRPr lang="en-GB" sz="32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txBody>
                  <a:tcPr marL="63781" marR="63781" marT="31891" marB="3189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E"/>
                    </a:solidFill>
                  </a:tcPr>
                </a:tc>
                <a:tc>
                  <a:txBody>
                    <a:bodyPr/>
                    <a:lstStyle/>
                    <a:p>
                      <a:pPr algn="l" rtl="0" fontAlgn="base"/>
                      <a:r>
                        <a:rPr lang="fr-FR" sz="1400" b="0" i="1"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A quelle fréquence cela s'est-il produit au cours des dernières [4 semaines/30 jours] ?</a:t>
                      </a:r>
                      <a:endParaRPr lang="en-GB" sz="3200" b="0" i="1" dirty="0">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txBody>
                  <a:tcPr marL="63781" marR="63781" marT="31891" marB="3189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E"/>
                    </a:solidFill>
                  </a:tcPr>
                </a:tc>
                <a:tc>
                  <a:txBody>
                    <a:bodyPr/>
                    <a:lstStyle/>
                    <a:p>
                      <a:pPr algn="l" rtl="0" fontAlgn="base"/>
                      <a:r>
                        <a:rPr lang="en-GB" sz="12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1 = </a:t>
                      </a:r>
                      <a:r>
                        <a:rPr lang="en-GB" sz="1200" b="0" i="0" dirty="0" err="1">
                          <a:solidFill>
                            <a:schemeClr val="tx1"/>
                          </a:solidFill>
                          <a:effectLst/>
                          <a:latin typeface="Open Sans" panose="020B0606030504020204" pitchFamily="34" charset="0"/>
                          <a:ea typeface="Open Sans" panose="020B0606030504020204" pitchFamily="34" charset="0"/>
                          <a:cs typeface="Open Sans" panose="020B0606030504020204" pitchFamily="34" charset="0"/>
                        </a:rPr>
                        <a:t>Rarement</a:t>
                      </a:r>
                      <a:r>
                        <a:rPr lang="en-GB" sz="12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 (1–2 </a:t>
                      </a:r>
                      <a:r>
                        <a:rPr lang="en-GB" sz="1200" b="0" i="0" dirty="0" err="1">
                          <a:solidFill>
                            <a:schemeClr val="tx1"/>
                          </a:solidFill>
                          <a:effectLst/>
                          <a:latin typeface="Open Sans" panose="020B0606030504020204" pitchFamily="34" charset="0"/>
                          <a:ea typeface="Open Sans" panose="020B0606030504020204" pitchFamily="34" charset="0"/>
                          <a:cs typeface="Open Sans" panose="020B0606030504020204" pitchFamily="34" charset="0"/>
                        </a:rPr>
                        <a:t>fois</a:t>
                      </a:r>
                      <a:r>
                        <a:rPr lang="en-GB" sz="12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                        </a:t>
                      </a:r>
                      <a:endParaRPr lang="en-GB" sz="32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p>
                      <a:pPr algn="l" rtl="0" fontAlgn="base"/>
                      <a:r>
                        <a:rPr lang="en-GB" sz="12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2 = Parfois (3–10 times) </a:t>
                      </a:r>
                      <a:endParaRPr lang="en-GB" sz="32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p>
                      <a:pPr algn="l" rtl="0" fontAlgn="base"/>
                      <a:r>
                        <a:rPr lang="en-GB" sz="12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3 = </a:t>
                      </a:r>
                      <a:r>
                        <a:rPr lang="en-GB" sz="1200" b="0" i="0" dirty="0" err="1">
                          <a:solidFill>
                            <a:schemeClr val="tx1"/>
                          </a:solidFill>
                          <a:effectLst/>
                          <a:latin typeface="Open Sans" panose="020B0606030504020204" pitchFamily="34" charset="0"/>
                          <a:ea typeface="Open Sans" panose="020B0606030504020204" pitchFamily="34" charset="0"/>
                          <a:cs typeface="Open Sans" panose="020B0606030504020204" pitchFamily="34" charset="0"/>
                        </a:rPr>
                        <a:t>Souvent</a:t>
                      </a:r>
                      <a:r>
                        <a:rPr lang="en-GB" sz="12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 (plus de 10 </a:t>
                      </a:r>
                      <a:r>
                        <a:rPr lang="en-GB" sz="1200" b="0" i="0" dirty="0" err="1">
                          <a:solidFill>
                            <a:schemeClr val="tx1"/>
                          </a:solidFill>
                          <a:effectLst/>
                          <a:latin typeface="Open Sans" panose="020B0606030504020204" pitchFamily="34" charset="0"/>
                          <a:ea typeface="Open Sans" panose="020B0606030504020204" pitchFamily="34" charset="0"/>
                          <a:cs typeface="Open Sans" panose="020B0606030504020204" pitchFamily="34" charset="0"/>
                        </a:rPr>
                        <a:t>fois</a:t>
                      </a:r>
                      <a:r>
                        <a:rPr lang="en-GB" sz="12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 </a:t>
                      </a:r>
                      <a:endParaRPr lang="en-GB" sz="32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p>
                      <a:pPr algn="l" rtl="0" fontAlgn="base"/>
                      <a:r>
                        <a:rPr lang="en-GB" sz="12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 </a:t>
                      </a:r>
                      <a:endParaRPr lang="en-GB" sz="32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txBody>
                  <a:tcPr marL="63781" marR="63781" marT="31891" marB="31891"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E"/>
                    </a:solidFill>
                  </a:tcPr>
                </a:tc>
                <a:tc>
                  <a:txBody>
                    <a:bodyPr/>
                    <a:lstStyle/>
                    <a:p>
                      <a:pPr fontAlgn="ctr"/>
                      <a:endParaRPr lang="en-GB" sz="280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p>
                      <a:pPr algn="l" rtl="0" fontAlgn="base"/>
                      <a:r>
                        <a:rPr lang="en-GB" sz="1200" b="1"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|___|</a:t>
                      </a:r>
                      <a:r>
                        <a:rPr lang="en-GB" sz="12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 </a:t>
                      </a:r>
                      <a:endParaRPr lang="en-GB" sz="28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txBody>
                  <a:tcPr marL="63781" marR="63781" marT="31891" marB="318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E"/>
                    </a:solidFill>
                  </a:tcPr>
                </a:tc>
                <a:extLst>
                  <a:ext uri="{0D108BD9-81ED-4DB2-BD59-A6C34878D82A}">
                    <a16:rowId xmlns:a16="http://schemas.microsoft.com/office/drawing/2014/main" val="2664386480"/>
                  </a:ext>
                </a:extLst>
              </a:tr>
            </a:tbl>
          </a:graphicData>
        </a:graphic>
      </p:graphicFrame>
      <p:sp>
        <p:nvSpPr>
          <p:cNvPr id="7" name="Content Placeholder 2">
            <a:extLst>
              <a:ext uri="{FF2B5EF4-FFF2-40B4-BE49-F238E27FC236}">
                <a16:creationId xmlns:a16="http://schemas.microsoft.com/office/drawing/2014/main" id="{2B99E350-640F-80DD-DA31-B2F471F6A598}"/>
              </a:ext>
            </a:extLst>
          </p:cNvPr>
          <p:cNvSpPr txBox="1">
            <a:spLocks/>
          </p:cNvSpPr>
          <p:nvPr/>
        </p:nvSpPr>
        <p:spPr>
          <a:xfrm>
            <a:off x="738200" y="1648318"/>
            <a:ext cx="9879000" cy="3907221"/>
          </a:xfrm>
          <a:prstGeom prst="rect">
            <a:avLst/>
          </a:prstGeom>
        </p:spPr>
        <p:txBody>
          <a:bodyPr lIns="91440" tIns="45720" rIns="91440" bIns="45720" anchor="t"/>
          <a:lstStyle>
            <a:lvl1pPr marL="228600" indent="-228600" algn="l" defTabSz="914400" rtl="0" eaLnBrk="1" latinLnBrk="0" hangingPunct="1">
              <a:lnSpc>
                <a:spcPct val="90000"/>
              </a:lnSpc>
              <a:spcBef>
                <a:spcPts val="1000"/>
              </a:spcBef>
              <a:buFont typeface="Arial"/>
              <a:buChar char="•"/>
              <a:defRPr sz="2000" b="0" i="0" kern="1200">
                <a:solidFill>
                  <a:schemeClr val="tx1"/>
                </a:solidFill>
                <a:latin typeface="Open Sans" charset="0"/>
                <a:ea typeface="Open Sans" charset="0"/>
                <a:cs typeface="Open Sans" charset="0"/>
              </a:defRPr>
            </a:lvl1pPr>
            <a:lvl2pPr marL="685800" indent="-228600" algn="l" defTabSz="914400" rtl="0" eaLnBrk="1" latinLnBrk="0" hangingPunct="1">
              <a:lnSpc>
                <a:spcPct val="90000"/>
              </a:lnSpc>
              <a:spcBef>
                <a:spcPts val="500"/>
              </a:spcBef>
              <a:buFont typeface="Arial"/>
              <a:buChar char="•"/>
              <a:defRPr sz="1800" b="0" i="0" kern="1200">
                <a:solidFill>
                  <a:schemeClr val="tx1"/>
                </a:solidFill>
                <a:latin typeface="Open Sans" charset="0"/>
                <a:ea typeface="Open Sans" charset="0"/>
                <a:cs typeface="Open Sans" charset="0"/>
              </a:defRPr>
            </a:lvl2pPr>
            <a:lvl3pPr marL="1143000" indent="-228600" algn="l" defTabSz="914400" rtl="0" eaLnBrk="1" latinLnBrk="0" hangingPunct="1">
              <a:lnSpc>
                <a:spcPct val="90000"/>
              </a:lnSpc>
              <a:spcBef>
                <a:spcPts val="500"/>
              </a:spcBef>
              <a:buFont typeface="Arial"/>
              <a:buChar char="•"/>
              <a:defRPr sz="1600" b="0" i="0" kern="1200">
                <a:solidFill>
                  <a:schemeClr val="tx1"/>
                </a:solidFill>
                <a:latin typeface="Open Sans" charset="0"/>
                <a:ea typeface="Open Sans" charset="0"/>
                <a:cs typeface="Open Sans" charset="0"/>
              </a:defRPr>
            </a:lvl3pPr>
            <a:lvl4pPr marL="1600200" indent="-228600" algn="l" defTabSz="914400" rtl="0" eaLnBrk="1" latinLnBrk="0" hangingPunct="1">
              <a:lnSpc>
                <a:spcPct val="90000"/>
              </a:lnSpc>
              <a:spcBef>
                <a:spcPts val="500"/>
              </a:spcBef>
              <a:buFont typeface="Arial"/>
              <a:buChar char="•"/>
              <a:defRPr sz="1400" b="0" i="0" kern="1200">
                <a:solidFill>
                  <a:schemeClr val="tx1"/>
                </a:solidFill>
                <a:latin typeface="Open Sans" charset="0"/>
                <a:ea typeface="Open Sans" charset="0"/>
                <a:cs typeface="Open Sans" charset="0"/>
              </a:defRPr>
            </a:lvl4pPr>
            <a:lvl5pPr marL="2057400" indent="-228600" algn="l" defTabSz="914400" rtl="0" eaLnBrk="1" latinLnBrk="0" hangingPunct="1">
              <a:lnSpc>
                <a:spcPct val="90000"/>
              </a:lnSpc>
              <a:spcBef>
                <a:spcPts val="500"/>
              </a:spcBef>
              <a:buFont typeface="Arial"/>
              <a:buChar char="•"/>
              <a:defRPr sz="1400" b="0" i="0" kern="1200">
                <a:solidFill>
                  <a:schemeClr val="tx1"/>
                </a:solidFill>
                <a:latin typeface="Open Sans" charset="0"/>
                <a:ea typeface="Open Sans" charset="0"/>
                <a:cs typeface="Open Sans"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buFont typeface="Wingdings" panose="05000000000000000000" pitchFamily="2" charset="2"/>
              <a:buChar char="v"/>
            </a:pPr>
            <a:r>
              <a:rPr lang="fr-FR" spc="60" dirty="0">
                <a:latin typeface="Open Sans"/>
                <a:ea typeface="Open Sans"/>
                <a:cs typeface="Open Sans"/>
              </a:rPr>
              <a:t>Pour chacune des trois questions principales, si la personne interrogée répond "oui", l'</a:t>
            </a:r>
            <a:r>
              <a:rPr lang="fr-FR" spc="60" dirty="0" err="1">
                <a:latin typeface="Open Sans"/>
                <a:ea typeface="Open Sans"/>
                <a:cs typeface="Open Sans"/>
              </a:rPr>
              <a:t>enqueteur</a:t>
            </a:r>
            <a:r>
              <a:rPr lang="fr-FR" spc="60" dirty="0">
                <a:latin typeface="Open Sans"/>
                <a:ea typeface="Open Sans"/>
                <a:cs typeface="Open Sans"/>
              </a:rPr>
              <a:t> demande alors : "A quelle fréquence cela s'est-il produit au cours des 30 derniers jours ?</a:t>
            </a:r>
          </a:p>
          <a:p>
            <a:pPr>
              <a:buFont typeface="Wingdings" panose="05000000000000000000" pitchFamily="2" charset="2"/>
              <a:buChar char="v"/>
            </a:pPr>
            <a:r>
              <a:rPr lang="fr-FR" spc="60" dirty="0">
                <a:latin typeface="Open Sans"/>
                <a:ea typeface="Open Sans"/>
                <a:cs typeface="Open Sans"/>
              </a:rPr>
              <a:t>Le répondant répondra alors probablement par "quelques fois", " plusieurs fois ", " fréquemment/souvent ", qui doivent être codés comme ci-dessous. </a:t>
            </a:r>
          </a:p>
          <a:p>
            <a:pPr>
              <a:buFont typeface="Wingdings" panose="05000000000000000000" pitchFamily="2" charset="2"/>
              <a:buChar char="v"/>
            </a:pPr>
            <a:r>
              <a:rPr lang="fr-FR" spc="60" dirty="0">
                <a:latin typeface="Open Sans"/>
                <a:ea typeface="Open Sans"/>
                <a:cs typeface="Open Sans"/>
              </a:rPr>
              <a:t>L'enquêteur doit ensuite préciser le nombre de fois où cela s'est produit, en demandant s'il s'agissait de 1 à 2 fois ? De 3 à 10 fois, ou de plus de 10 fois au cours des 30 derniers jours ? </a:t>
            </a:r>
            <a:endParaRPr lang="en-US" spc="60" dirty="0"/>
          </a:p>
        </p:txBody>
      </p:sp>
      <p:sp>
        <p:nvSpPr>
          <p:cNvPr id="9" name="Speech Bubble: Oval 8">
            <a:extLst>
              <a:ext uri="{FF2B5EF4-FFF2-40B4-BE49-F238E27FC236}">
                <a16:creationId xmlns:a16="http://schemas.microsoft.com/office/drawing/2014/main" id="{AB298BB9-AF5C-6E29-AB32-55A6DBE8E0CC}"/>
              </a:ext>
            </a:extLst>
          </p:cNvPr>
          <p:cNvSpPr/>
          <p:nvPr/>
        </p:nvSpPr>
        <p:spPr>
          <a:xfrm rot="699065">
            <a:off x="9120798" y="3914971"/>
            <a:ext cx="3313438" cy="1814158"/>
          </a:xfrm>
          <a:prstGeom prst="wedgeEllipseCallout">
            <a:avLst>
              <a:gd name="adj1" fmla="val -73946"/>
              <a:gd name="adj2" fmla="val 50565"/>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fr-FR" sz="1600" b="1" dirty="0">
                <a:solidFill>
                  <a:srgbClr val="FFFFFE"/>
                </a:solidFill>
                <a:latin typeface="Open Sans"/>
                <a:ea typeface="Open Sans"/>
                <a:cs typeface="Open Sans"/>
              </a:rPr>
              <a:t>Attention à choisir la bonne fréquence</a:t>
            </a:r>
            <a:endParaRPr lang="en-US" sz="1600" b="1" dirty="0">
              <a:solidFill>
                <a:srgbClr val="FFFFFE"/>
              </a:solidFill>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26305453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17181" y="1522893"/>
            <a:ext cx="11175391" cy="3812214"/>
          </a:xfrm>
          <a:solidFill>
            <a:srgbClr val="FFFFFE"/>
          </a:solidFill>
        </p:spPr>
        <p:txBody>
          <a:bodyPr vert="horz" lIns="91440" tIns="45720" rIns="91440" bIns="45720" rtlCol="0" anchor="t">
            <a:noAutofit/>
          </a:bodyPr>
          <a:lstStyle/>
          <a:p>
            <a:pPr marL="0" indent="0">
              <a:lnSpc>
                <a:spcPts val="2700"/>
              </a:lnSpc>
              <a:buClr>
                <a:srgbClr val="0070BA"/>
              </a:buClr>
              <a:buNone/>
            </a:pPr>
            <a:endParaRPr lang="en-GB" sz="2000" spc="60"/>
          </a:p>
          <a:p>
            <a:pPr>
              <a:buFont typeface="Wingdings" panose="05000000000000000000" pitchFamily="2" charset="2"/>
              <a:buChar char="v"/>
            </a:pPr>
            <a:endParaRPr lang="en-GB" spc="60"/>
          </a:p>
        </p:txBody>
      </p:sp>
      <p:sp>
        <p:nvSpPr>
          <p:cNvPr id="8" name="Title 3">
            <a:extLst>
              <a:ext uri="{FF2B5EF4-FFF2-40B4-BE49-F238E27FC236}">
                <a16:creationId xmlns:a16="http://schemas.microsoft.com/office/drawing/2014/main" id="{BB642E77-5AC9-D346-BC1E-D93A00D9631D}"/>
              </a:ext>
            </a:extLst>
          </p:cNvPr>
          <p:cNvSpPr>
            <a:spLocks noGrp="1"/>
          </p:cNvSpPr>
          <p:nvPr>
            <p:ph type="title"/>
          </p:nvPr>
        </p:nvSpPr>
        <p:spPr>
          <a:xfrm>
            <a:off x="717181" y="716415"/>
            <a:ext cx="11052002" cy="662558"/>
          </a:xfrm>
        </p:spPr>
        <p:txBody>
          <a:bodyPr anchor="t" anchorCtr="0"/>
          <a:lstStyle/>
          <a:p>
            <a:r>
              <a:rPr lang="en-GB" sz="3600" b="0" kern="1400" spc="230" dirty="0">
                <a:solidFill>
                  <a:schemeClr val="tx1"/>
                </a:solidFill>
                <a:latin typeface="HALDEN SOLID"/>
                <a:ea typeface="Open Sans Extrabold"/>
                <a:cs typeface="Open Sans Extrabold"/>
              </a:rPr>
              <a:t>HHS module</a:t>
            </a:r>
            <a:endParaRPr lang="en-GB" sz="3600" b="0" kern="1400" spc="230" dirty="0">
              <a:solidFill>
                <a:schemeClr val="tx1"/>
              </a:solidFill>
              <a:latin typeface="HALDEN SOLID" pitchFamily="2" charset="0"/>
            </a:endParaRPr>
          </a:p>
        </p:txBody>
      </p:sp>
      <p:graphicFrame>
        <p:nvGraphicFramePr>
          <p:cNvPr id="5" name="Table 5">
            <a:extLst>
              <a:ext uri="{FF2B5EF4-FFF2-40B4-BE49-F238E27FC236}">
                <a16:creationId xmlns:a16="http://schemas.microsoft.com/office/drawing/2014/main" id="{6775EE3B-8FBD-7A64-AD48-572EC05A8D07}"/>
              </a:ext>
            </a:extLst>
          </p:cNvPr>
          <p:cNvGraphicFramePr>
            <a:graphicFrameLocks noGrp="1"/>
          </p:cNvGraphicFramePr>
          <p:nvPr>
            <p:extLst>
              <p:ext uri="{D42A27DB-BD31-4B8C-83A1-F6EECF244321}">
                <p14:modId xmlns:p14="http://schemas.microsoft.com/office/powerpoint/2010/main" val="3599395410"/>
              </p:ext>
            </p:extLst>
          </p:nvPr>
        </p:nvGraphicFramePr>
        <p:xfrm>
          <a:off x="717181" y="1460500"/>
          <a:ext cx="11052002" cy="4211320"/>
        </p:xfrm>
        <a:graphic>
          <a:graphicData uri="http://schemas.openxmlformats.org/drawingml/2006/table">
            <a:tbl>
              <a:tblPr firstRow="1" bandRow="1">
                <a:tableStyleId>{5C22544A-7EE6-4342-B048-85BDC9FD1C3A}</a:tableStyleId>
              </a:tblPr>
              <a:tblGrid>
                <a:gridCol w="2755225">
                  <a:extLst>
                    <a:ext uri="{9D8B030D-6E8A-4147-A177-3AD203B41FA5}">
                      <a16:colId xmlns:a16="http://schemas.microsoft.com/office/drawing/2014/main" val="2821685170"/>
                    </a:ext>
                  </a:extLst>
                </a:gridCol>
                <a:gridCol w="8296777">
                  <a:extLst>
                    <a:ext uri="{9D8B030D-6E8A-4147-A177-3AD203B41FA5}">
                      <a16:colId xmlns:a16="http://schemas.microsoft.com/office/drawing/2014/main" val="1741307633"/>
                    </a:ext>
                  </a:extLst>
                </a:gridCol>
              </a:tblGrid>
              <a:tr h="370840">
                <a:tc>
                  <a:txBody>
                    <a:bodyPr/>
                    <a:lstStyle/>
                    <a:p>
                      <a:r>
                        <a:rPr lang="en-GB">
                          <a:latin typeface="Open Sans" panose="020B0606030504020204" pitchFamily="34" charset="0"/>
                          <a:ea typeface="Open Sans" panose="020B0606030504020204" pitchFamily="34" charset="0"/>
                          <a:cs typeface="Open Sans" panose="020B0606030504020204" pitchFamily="34" charset="0"/>
                        </a:rPr>
                        <a:t>HHS question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dirty="0">
                          <a:latin typeface="Open Sans" panose="020B0606030504020204" pitchFamily="34" charset="0"/>
                          <a:ea typeface="Open Sans" panose="020B0606030504020204" pitchFamily="34" charset="0"/>
                          <a:cs typeface="Open Sans" panose="020B0606030504020204" pitchFamily="34" charset="0"/>
                        </a:rPr>
                        <a:t>Sens de la question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46322703"/>
                  </a:ext>
                </a:extLst>
              </a:tr>
              <a:tr h="370840">
                <a:tc>
                  <a:txBody>
                    <a:bodyPr/>
                    <a:lstStyle/>
                    <a:p>
                      <a:r>
                        <a:rPr lang="en-GB" b="1" dirty="0">
                          <a:latin typeface="Open Sans" panose="020B0606030504020204" pitchFamily="34" charset="0"/>
                          <a:ea typeface="Open Sans" panose="020B0606030504020204" pitchFamily="34" charset="0"/>
                          <a:cs typeface="Open Sans" panose="020B0606030504020204" pitchFamily="34" charset="0"/>
                        </a:rPr>
                        <a:t>Q1: </a:t>
                      </a:r>
                      <a:r>
                        <a:rPr lang="fr-FR" b="1" dirty="0">
                          <a:latin typeface="Open Sans" panose="020B0606030504020204" pitchFamily="34" charset="0"/>
                          <a:ea typeface="Open Sans" panose="020B0606030504020204" pitchFamily="34" charset="0"/>
                          <a:cs typeface="Open Sans" panose="020B0606030504020204" pitchFamily="34" charset="0"/>
                        </a:rPr>
                        <a:t>Aucune nourriture dans la maison</a:t>
                      </a:r>
                      <a:endParaRPr lang="en-GB" b="1" dirty="0">
                        <a:latin typeface="Open Sans" panose="020B0606030504020204" pitchFamily="34" charset="0"/>
                        <a:ea typeface="Open Sans" panose="020B0606030504020204" pitchFamily="34" charset="0"/>
                        <a:cs typeface="Open Sans" panose="020B0606030504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fr-FR" dirty="0">
                          <a:latin typeface="Open Sans" panose="020B0606030504020204" pitchFamily="34" charset="0"/>
                          <a:ea typeface="Open Sans" panose="020B0606030504020204" pitchFamily="34" charset="0"/>
                          <a:cs typeface="Open Sans" panose="020B0606030504020204" pitchFamily="34" charset="0"/>
                        </a:rPr>
                        <a:t>Cette question porte sur une situation dans laquelle il n'y a pas de nourriture à manger, quelle qu'elle soit, dans la maison, parce que les membres du ménage n'ont pas eu accès à la nourriture par les moyens habituels (par exemple, par l'achat ou le troc, par des cadeaux, par leur propre production, par le stockage). </a:t>
                      </a:r>
                      <a:endParaRPr lang="en-GB" dirty="0">
                        <a:latin typeface="Open Sans" panose="020B0606030504020204" pitchFamily="34" charset="0"/>
                        <a:ea typeface="Open Sans" panose="020B0606030504020204" pitchFamily="34" charset="0"/>
                        <a:cs typeface="Open Sans" panose="020B0606030504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34985459"/>
                  </a:ext>
                </a:extLst>
              </a:tr>
              <a:tr h="370840">
                <a:tc>
                  <a:txBody>
                    <a:bodyPr/>
                    <a:lstStyle/>
                    <a:p>
                      <a:r>
                        <a:rPr lang="en-GB" b="1">
                          <a:solidFill>
                            <a:schemeClr val="accent1">
                              <a:lumMod val="20000"/>
                              <a:lumOff val="80000"/>
                            </a:schemeClr>
                          </a:solidFill>
                          <a:latin typeface="Open Sans" panose="020B0606030504020204" pitchFamily="34" charset="0"/>
                          <a:ea typeface="Open Sans" panose="020B0606030504020204" pitchFamily="34" charset="0"/>
                          <a:cs typeface="Open Sans" panose="020B0606030504020204" pitchFamily="34" charset="0"/>
                        </a:rPr>
                        <a:t>Q2: Go to sleep hungry because there was not enough food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dirty="0">
                          <a:solidFill>
                            <a:schemeClr val="accent1">
                              <a:lumMod val="20000"/>
                              <a:lumOff val="80000"/>
                            </a:schemeClr>
                          </a:solidFill>
                          <a:latin typeface="Open Sans" panose="020B0606030504020204" pitchFamily="34" charset="0"/>
                          <a:ea typeface="Open Sans" panose="020B0606030504020204" pitchFamily="34" charset="0"/>
                          <a:cs typeface="Open Sans" panose="020B0606030504020204" pitchFamily="34" charset="0"/>
                        </a:rPr>
                        <a:t>This question asks whether the respondent or other household members felt hungry at bedtime because they did not have enough food to eat during the day and evening.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30591075"/>
                  </a:ext>
                </a:extLst>
              </a:tr>
              <a:tr h="370840">
                <a:tc>
                  <a:txBody>
                    <a:bodyPr/>
                    <a:lstStyle/>
                    <a:p>
                      <a:r>
                        <a:rPr lang="en-GB" b="1">
                          <a:solidFill>
                            <a:schemeClr val="accent1">
                              <a:lumMod val="20000"/>
                              <a:lumOff val="80000"/>
                            </a:schemeClr>
                          </a:solidFill>
                          <a:latin typeface="Open Sans" panose="020B0606030504020204" pitchFamily="34" charset="0"/>
                          <a:ea typeface="Open Sans" panose="020B0606030504020204" pitchFamily="34" charset="0"/>
                          <a:cs typeface="Open Sans" panose="020B0606030504020204" pitchFamily="34" charset="0"/>
                        </a:rPr>
                        <a:t>Q3: Go a whole day and night without eating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dirty="0">
                          <a:solidFill>
                            <a:schemeClr val="accent1">
                              <a:lumMod val="20000"/>
                              <a:lumOff val="80000"/>
                            </a:schemeClr>
                          </a:solidFill>
                          <a:latin typeface="Open Sans" panose="020B0606030504020204" pitchFamily="34" charset="0"/>
                          <a:ea typeface="Open Sans" panose="020B0606030504020204" pitchFamily="34" charset="0"/>
                          <a:cs typeface="Open Sans" panose="020B0606030504020204" pitchFamily="34" charset="0"/>
                        </a:rPr>
                        <a:t>This question asks whether any household member did not eat from the time they awoke in the morning to the time they awoke the following morning because there was not enough food. A person who chooses not to eat for a whole day for reasons other than lack of food (for example, if fasting or on a diet) should not respond affirmatively to Q3.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8386106"/>
                  </a:ext>
                </a:extLst>
              </a:tr>
            </a:tbl>
          </a:graphicData>
        </a:graphic>
      </p:graphicFrame>
      <p:sp>
        <p:nvSpPr>
          <p:cNvPr id="6" name="Rectangle 5">
            <a:extLst>
              <a:ext uri="{FF2B5EF4-FFF2-40B4-BE49-F238E27FC236}">
                <a16:creationId xmlns:a16="http://schemas.microsoft.com/office/drawing/2014/main" id="{1EB2A7FB-6783-5BA0-0962-D7DD5C260772}"/>
              </a:ext>
            </a:extLst>
          </p:cNvPr>
          <p:cNvSpPr/>
          <p:nvPr/>
        </p:nvSpPr>
        <p:spPr>
          <a:xfrm>
            <a:off x="717180" y="1794076"/>
            <a:ext cx="11175390" cy="1634924"/>
          </a:xfrm>
          <a:prstGeom prst="rect">
            <a:avLst/>
          </a:prstGeom>
          <a:noFill/>
          <a:ln w="571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5250603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3">
            <a:extLst>
              <a:ext uri="{FF2B5EF4-FFF2-40B4-BE49-F238E27FC236}">
                <a16:creationId xmlns:a16="http://schemas.microsoft.com/office/drawing/2014/main" id="{BB642E77-5AC9-D346-BC1E-D93A00D9631D}"/>
              </a:ext>
            </a:extLst>
          </p:cNvPr>
          <p:cNvSpPr>
            <a:spLocks noGrp="1"/>
          </p:cNvSpPr>
          <p:nvPr>
            <p:ph type="title"/>
          </p:nvPr>
        </p:nvSpPr>
        <p:spPr>
          <a:xfrm>
            <a:off x="717181" y="716415"/>
            <a:ext cx="11052002" cy="662558"/>
          </a:xfrm>
        </p:spPr>
        <p:txBody>
          <a:bodyPr anchor="t" anchorCtr="0"/>
          <a:lstStyle/>
          <a:p>
            <a:r>
              <a:rPr lang="en-GB" sz="3600" b="0" kern="1400" spc="230" dirty="0">
                <a:solidFill>
                  <a:schemeClr val="tx1"/>
                </a:solidFill>
                <a:latin typeface="HALDEN SOLID" pitchFamily="2" charset="0"/>
              </a:rPr>
              <a:t>HHS: Question </a:t>
            </a:r>
            <a:r>
              <a:rPr lang="en-GB" sz="3600" b="0" kern="1400" spc="230" dirty="0" err="1">
                <a:solidFill>
                  <a:schemeClr val="tx1"/>
                </a:solidFill>
                <a:latin typeface="HALDEN SOLID" pitchFamily="2" charset="0"/>
              </a:rPr>
              <a:t>d'approfondissement</a:t>
            </a:r>
            <a:endParaRPr lang="en-GB" sz="3600" b="0" kern="1400" spc="230" dirty="0">
              <a:solidFill>
                <a:schemeClr val="tx1"/>
              </a:solidFill>
              <a:latin typeface="HALDEN SOLID" pitchFamily="2" charset="0"/>
            </a:endParaRPr>
          </a:p>
        </p:txBody>
      </p:sp>
      <p:pic>
        <p:nvPicPr>
          <p:cNvPr id="6" name="Picture 2">
            <a:extLst>
              <a:ext uri="{FF2B5EF4-FFF2-40B4-BE49-F238E27FC236}">
                <a16:creationId xmlns:a16="http://schemas.microsoft.com/office/drawing/2014/main" id="{B3817F12-5B82-427B-9598-4D7BF1E3250E}"/>
              </a:ext>
            </a:extLst>
          </p:cNvPr>
          <p:cNvPicPr>
            <a:picLocks noChangeAspect="1" noChangeArrowheads="1"/>
          </p:cNvPicPr>
          <p:nvPr/>
        </p:nvPicPr>
        <p:blipFill>
          <a:blip r:embed="rId3"/>
          <a:srcRect t="19369" b="19369"/>
          <a:stretch/>
        </p:blipFill>
        <p:spPr bwMode="auto">
          <a:xfrm>
            <a:off x="6710698" y="1648319"/>
            <a:ext cx="5165992" cy="3417951"/>
          </a:xfrm>
          <a:prstGeom prst="rect">
            <a:avLst/>
          </a:prstGeom>
          <a:noFill/>
          <a:extLst>
            <a:ext uri="{909E8E84-426E-40DD-AFC4-6F175D3DCCD1}">
              <a14:hiddenFill xmlns:a14="http://schemas.microsoft.com/office/drawing/2010/main">
                <a:solidFill>
                  <a:srgbClr val="FFFFFF"/>
                </a:solidFill>
              </a14:hiddenFill>
            </a:ext>
          </a:extLst>
        </p:spPr>
      </p:pic>
      <p:sp>
        <p:nvSpPr>
          <p:cNvPr id="4" name="Content Placeholder 2">
            <a:extLst>
              <a:ext uri="{FF2B5EF4-FFF2-40B4-BE49-F238E27FC236}">
                <a16:creationId xmlns:a16="http://schemas.microsoft.com/office/drawing/2014/main" id="{8CA14AC1-1EC4-4CCD-8371-D5D8436E3475}"/>
              </a:ext>
            </a:extLst>
          </p:cNvPr>
          <p:cNvSpPr txBox="1">
            <a:spLocks/>
          </p:cNvSpPr>
          <p:nvPr/>
        </p:nvSpPr>
        <p:spPr>
          <a:xfrm>
            <a:off x="738200" y="1648318"/>
            <a:ext cx="6638783" cy="3907221"/>
          </a:xfrm>
          <a:prstGeom prst="rect">
            <a:avLst/>
          </a:prstGeom>
        </p:spPr>
        <p:txBody>
          <a:bodyPr lIns="91440" tIns="45720" rIns="91440" bIns="45720" anchor="t"/>
          <a:lstStyle>
            <a:lvl1pPr marL="228600" indent="-228600" algn="l" defTabSz="914400" rtl="0" eaLnBrk="1" latinLnBrk="0" hangingPunct="1">
              <a:lnSpc>
                <a:spcPct val="90000"/>
              </a:lnSpc>
              <a:spcBef>
                <a:spcPts val="1000"/>
              </a:spcBef>
              <a:buFont typeface="Arial"/>
              <a:buChar char="•"/>
              <a:defRPr sz="2000" b="0" i="0" kern="1200">
                <a:solidFill>
                  <a:schemeClr val="tx1"/>
                </a:solidFill>
                <a:latin typeface="Open Sans" charset="0"/>
                <a:ea typeface="Open Sans" charset="0"/>
                <a:cs typeface="Open Sans" charset="0"/>
              </a:defRPr>
            </a:lvl1pPr>
            <a:lvl2pPr marL="685800" indent="-228600" algn="l" defTabSz="914400" rtl="0" eaLnBrk="1" latinLnBrk="0" hangingPunct="1">
              <a:lnSpc>
                <a:spcPct val="90000"/>
              </a:lnSpc>
              <a:spcBef>
                <a:spcPts val="500"/>
              </a:spcBef>
              <a:buFont typeface="Arial"/>
              <a:buChar char="•"/>
              <a:defRPr sz="1800" b="0" i="0" kern="1200">
                <a:solidFill>
                  <a:schemeClr val="tx1"/>
                </a:solidFill>
                <a:latin typeface="Open Sans" charset="0"/>
                <a:ea typeface="Open Sans" charset="0"/>
                <a:cs typeface="Open Sans" charset="0"/>
              </a:defRPr>
            </a:lvl2pPr>
            <a:lvl3pPr marL="1143000" indent="-228600" algn="l" defTabSz="914400" rtl="0" eaLnBrk="1" latinLnBrk="0" hangingPunct="1">
              <a:lnSpc>
                <a:spcPct val="90000"/>
              </a:lnSpc>
              <a:spcBef>
                <a:spcPts val="500"/>
              </a:spcBef>
              <a:buFont typeface="Arial"/>
              <a:buChar char="•"/>
              <a:defRPr sz="1600" b="0" i="0" kern="1200">
                <a:solidFill>
                  <a:schemeClr val="tx1"/>
                </a:solidFill>
                <a:latin typeface="Open Sans" charset="0"/>
                <a:ea typeface="Open Sans" charset="0"/>
                <a:cs typeface="Open Sans" charset="0"/>
              </a:defRPr>
            </a:lvl3pPr>
            <a:lvl4pPr marL="1600200" indent="-228600" algn="l" defTabSz="914400" rtl="0" eaLnBrk="1" latinLnBrk="0" hangingPunct="1">
              <a:lnSpc>
                <a:spcPct val="90000"/>
              </a:lnSpc>
              <a:spcBef>
                <a:spcPts val="500"/>
              </a:spcBef>
              <a:buFont typeface="Arial"/>
              <a:buChar char="•"/>
              <a:defRPr sz="1400" b="0" i="0" kern="1200">
                <a:solidFill>
                  <a:schemeClr val="tx1"/>
                </a:solidFill>
                <a:latin typeface="Open Sans" charset="0"/>
                <a:ea typeface="Open Sans" charset="0"/>
                <a:cs typeface="Open Sans" charset="0"/>
              </a:defRPr>
            </a:lvl4pPr>
            <a:lvl5pPr marL="2057400" indent="-228600" algn="l" defTabSz="914400" rtl="0" eaLnBrk="1" latinLnBrk="0" hangingPunct="1">
              <a:lnSpc>
                <a:spcPct val="90000"/>
              </a:lnSpc>
              <a:spcBef>
                <a:spcPts val="500"/>
              </a:spcBef>
              <a:buFont typeface="Arial"/>
              <a:buChar char="•"/>
              <a:defRPr sz="1400" b="0" i="0" kern="1200">
                <a:solidFill>
                  <a:schemeClr val="tx1"/>
                </a:solidFill>
                <a:latin typeface="Open Sans" charset="0"/>
                <a:ea typeface="Open Sans" charset="0"/>
                <a:cs typeface="Open Sans"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None/>
            </a:pPr>
            <a:r>
              <a:rPr lang="fr-FR" spc="60" dirty="0">
                <a:latin typeface="Open Sans"/>
                <a:ea typeface="Open Sans"/>
                <a:cs typeface="Open Sans"/>
              </a:rPr>
              <a:t>Des questions d'approfondissement doivent être posées au cours des entretiens afin de mieux comprendre les conditions vécues.</a:t>
            </a:r>
          </a:p>
          <a:p>
            <a:pPr marL="0" indent="0">
              <a:buNone/>
            </a:pPr>
            <a:r>
              <a:rPr lang="fr-FR" spc="60" dirty="0">
                <a:latin typeface="Open Sans"/>
                <a:ea typeface="Open Sans"/>
                <a:cs typeface="Open Sans"/>
              </a:rPr>
              <a:t>Par exemple, si un ménage déclare ne pas avoir de nourriture à manger, quelle qu'elle soit, dans la maison, il faut lui poser des questions : </a:t>
            </a:r>
            <a:endParaRPr lang="en-US" sz="1800" spc="60" dirty="0"/>
          </a:p>
          <a:p>
            <a:pPr marL="0" indent="0" algn="ctr">
              <a:buNone/>
            </a:pPr>
            <a:r>
              <a:rPr lang="en-US" b="1" spc="60" dirty="0">
                <a:solidFill>
                  <a:schemeClr val="accent2"/>
                </a:solidFill>
                <a:latin typeface="Open Sans"/>
                <a:ea typeface="Open Sans"/>
                <a:cs typeface="Open Sans"/>
              </a:rPr>
              <a:t>“</a:t>
            </a:r>
            <a:r>
              <a:rPr lang="fr-FR" b="1" spc="60" dirty="0">
                <a:solidFill>
                  <a:schemeClr val="accent2"/>
                </a:solidFill>
                <a:latin typeface="Open Sans"/>
                <a:ea typeface="Open Sans"/>
                <a:cs typeface="Open Sans"/>
              </a:rPr>
              <a:t>Êtes-vous sûr qu'il n'y avait absolument aucune nourriture dans la maison, y compris dans les réserves/stocks ? </a:t>
            </a:r>
            <a:endParaRPr lang="en-US" b="1" spc="60" dirty="0">
              <a:solidFill>
                <a:schemeClr val="accent2"/>
              </a:solidFill>
            </a:endParaRPr>
          </a:p>
          <a:p>
            <a:pPr marL="0" indent="0" algn="ctr">
              <a:buNone/>
            </a:pPr>
            <a:r>
              <a:rPr lang="fr-FR" b="1" spc="60" dirty="0">
                <a:solidFill>
                  <a:schemeClr val="accent2"/>
                </a:solidFill>
                <a:latin typeface="Open Sans"/>
                <a:ea typeface="Open Sans"/>
                <a:cs typeface="Open Sans"/>
              </a:rPr>
              <a:t>"Et vous n'aviez pas d'autres moyens de vous procurer de la nourriture (achat, troc, dons, production, stockage) ?</a:t>
            </a:r>
            <a:endParaRPr lang="en-US" b="1" spc="60" dirty="0">
              <a:solidFill>
                <a:schemeClr val="accent2"/>
              </a:solidFill>
            </a:endParaRPr>
          </a:p>
        </p:txBody>
      </p:sp>
    </p:spTree>
    <p:extLst>
      <p:ext uri="{BB962C8B-B14F-4D97-AF65-F5344CB8AC3E}">
        <p14:creationId xmlns:p14="http://schemas.microsoft.com/office/powerpoint/2010/main" val="33709663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17181" y="1522893"/>
            <a:ext cx="11175391" cy="3812214"/>
          </a:xfrm>
          <a:solidFill>
            <a:srgbClr val="FFFFFE"/>
          </a:solidFill>
        </p:spPr>
        <p:txBody>
          <a:bodyPr vert="horz" lIns="91440" tIns="45720" rIns="91440" bIns="45720" rtlCol="0" anchor="t">
            <a:noAutofit/>
          </a:bodyPr>
          <a:lstStyle/>
          <a:p>
            <a:pPr marL="0" indent="0">
              <a:lnSpc>
                <a:spcPts val="2700"/>
              </a:lnSpc>
              <a:buClr>
                <a:srgbClr val="0070BA"/>
              </a:buClr>
              <a:buNone/>
            </a:pPr>
            <a:endParaRPr lang="en-GB" sz="2000" spc="60"/>
          </a:p>
          <a:p>
            <a:pPr>
              <a:buFont typeface="Wingdings" panose="05000000000000000000" pitchFamily="2" charset="2"/>
              <a:buChar char="v"/>
            </a:pPr>
            <a:endParaRPr lang="en-GB" spc="60"/>
          </a:p>
        </p:txBody>
      </p:sp>
      <p:sp>
        <p:nvSpPr>
          <p:cNvPr id="8" name="Title 3">
            <a:extLst>
              <a:ext uri="{FF2B5EF4-FFF2-40B4-BE49-F238E27FC236}">
                <a16:creationId xmlns:a16="http://schemas.microsoft.com/office/drawing/2014/main" id="{BB642E77-5AC9-D346-BC1E-D93A00D9631D}"/>
              </a:ext>
            </a:extLst>
          </p:cNvPr>
          <p:cNvSpPr>
            <a:spLocks noGrp="1"/>
          </p:cNvSpPr>
          <p:nvPr>
            <p:ph type="title"/>
          </p:nvPr>
        </p:nvSpPr>
        <p:spPr>
          <a:xfrm>
            <a:off x="717181" y="716415"/>
            <a:ext cx="11052002" cy="662558"/>
          </a:xfrm>
        </p:spPr>
        <p:txBody>
          <a:bodyPr anchor="t" anchorCtr="0"/>
          <a:lstStyle/>
          <a:p>
            <a:r>
              <a:rPr lang="en-GB" sz="3600" b="0" kern="1400" spc="230" dirty="0">
                <a:solidFill>
                  <a:schemeClr val="tx1"/>
                </a:solidFill>
                <a:latin typeface="HALDEN SOLID"/>
                <a:ea typeface="Open Sans Extrabold"/>
                <a:cs typeface="Open Sans Extrabold"/>
              </a:rPr>
              <a:t>HHS module</a:t>
            </a:r>
            <a:endParaRPr lang="en-GB" sz="3600" b="0" kern="1400" spc="230" dirty="0">
              <a:solidFill>
                <a:schemeClr val="tx1"/>
              </a:solidFill>
              <a:latin typeface="HALDEN SOLID" pitchFamily="2" charset="0"/>
            </a:endParaRPr>
          </a:p>
        </p:txBody>
      </p:sp>
      <p:graphicFrame>
        <p:nvGraphicFramePr>
          <p:cNvPr id="5" name="Table 5">
            <a:extLst>
              <a:ext uri="{FF2B5EF4-FFF2-40B4-BE49-F238E27FC236}">
                <a16:creationId xmlns:a16="http://schemas.microsoft.com/office/drawing/2014/main" id="{6775EE3B-8FBD-7A64-AD48-572EC05A8D07}"/>
              </a:ext>
            </a:extLst>
          </p:cNvPr>
          <p:cNvGraphicFramePr>
            <a:graphicFrameLocks noGrp="1"/>
          </p:cNvGraphicFramePr>
          <p:nvPr>
            <p:extLst>
              <p:ext uri="{D42A27DB-BD31-4B8C-83A1-F6EECF244321}">
                <p14:modId xmlns:p14="http://schemas.microsoft.com/office/powerpoint/2010/main" val="2799966738"/>
              </p:ext>
            </p:extLst>
          </p:nvPr>
        </p:nvGraphicFramePr>
        <p:xfrm>
          <a:off x="717181" y="1460500"/>
          <a:ext cx="11052002" cy="3937000"/>
        </p:xfrm>
        <a:graphic>
          <a:graphicData uri="http://schemas.openxmlformats.org/drawingml/2006/table">
            <a:tbl>
              <a:tblPr firstRow="1" bandRow="1">
                <a:tableStyleId>{5C22544A-7EE6-4342-B048-85BDC9FD1C3A}</a:tableStyleId>
              </a:tblPr>
              <a:tblGrid>
                <a:gridCol w="2755225">
                  <a:extLst>
                    <a:ext uri="{9D8B030D-6E8A-4147-A177-3AD203B41FA5}">
                      <a16:colId xmlns:a16="http://schemas.microsoft.com/office/drawing/2014/main" val="2821685170"/>
                    </a:ext>
                  </a:extLst>
                </a:gridCol>
                <a:gridCol w="8296777">
                  <a:extLst>
                    <a:ext uri="{9D8B030D-6E8A-4147-A177-3AD203B41FA5}">
                      <a16:colId xmlns:a16="http://schemas.microsoft.com/office/drawing/2014/main" val="1741307633"/>
                    </a:ext>
                  </a:extLst>
                </a:gridCol>
              </a:tblGrid>
              <a:tr h="370840">
                <a:tc>
                  <a:txBody>
                    <a:bodyPr/>
                    <a:lstStyle/>
                    <a:p>
                      <a:r>
                        <a:rPr lang="en-GB">
                          <a:latin typeface="Open Sans" panose="020B0606030504020204" pitchFamily="34" charset="0"/>
                          <a:ea typeface="Open Sans" panose="020B0606030504020204" pitchFamily="34" charset="0"/>
                          <a:cs typeface="Open Sans" panose="020B0606030504020204" pitchFamily="34" charset="0"/>
                        </a:rPr>
                        <a:t>HHS question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a:latin typeface="Open Sans" panose="020B0606030504020204" pitchFamily="34" charset="0"/>
                          <a:ea typeface="Open Sans" panose="020B0606030504020204" pitchFamily="34" charset="0"/>
                          <a:cs typeface="Open Sans" panose="020B0606030504020204" pitchFamily="34" charset="0"/>
                        </a:rPr>
                        <a:t>Intended Meaning of the Question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46322703"/>
                  </a:ext>
                </a:extLst>
              </a:tr>
              <a:tr h="370840">
                <a:tc>
                  <a:txBody>
                    <a:bodyPr/>
                    <a:lstStyle/>
                    <a:p>
                      <a:r>
                        <a:rPr lang="en-GB" b="1">
                          <a:solidFill>
                            <a:schemeClr val="accent1">
                              <a:lumMod val="20000"/>
                              <a:lumOff val="80000"/>
                            </a:schemeClr>
                          </a:solidFill>
                          <a:latin typeface="Open Sans" panose="020B0606030504020204" pitchFamily="34" charset="0"/>
                          <a:ea typeface="Open Sans" panose="020B0606030504020204" pitchFamily="34" charset="0"/>
                          <a:cs typeface="Open Sans" panose="020B0606030504020204" pitchFamily="34" charset="0"/>
                        </a:rPr>
                        <a:t>Q1: No food of any kind in the house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a:solidFill>
                            <a:schemeClr val="accent1">
                              <a:lumMod val="20000"/>
                              <a:lumOff val="80000"/>
                            </a:schemeClr>
                          </a:solidFill>
                          <a:latin typeface="Open Sans" panose="020B0606030504020204" pitchFamily="34" charset="0"/>
                          <a:ea typeface="Open Sans" panose="020B0606030504020204" pitchFamily="34" charset="0"/>
                          <a:cs typeface="Open Sans" panose="020B0606030504020204" pitchFamily="34" charset="0"/>
                        </a:rPr>
                        <a:t>This question asks about a situation in which there is no food to eat of any kind in the house because food was not available to household members through usual means (e.g., through purchase or barter, gifts, own production, from storage).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34985459"/>
                  </a:ext>
                </a:extLst>
              </a:tr>
              <a:tr h="370840">
                <a:tc>
                  <a:txBody>
                    <a:bodyPr/>
                    <a:lstStyle/>
                    <a:p>
                      <a:r>
                        <a:rPr lang="en-GB" b="1" dirty="0">
                          <a:latin typeface="Open Sans" panose="020B0606030504020204" pitchFamily="34" charset="0"/>
                          <a:ea typeface="Open Sans" panose="020B0606030504020204" pitchFamily="34" charset="0"/>
                          <a:cs typeface="Open Sans" panose="020B0606030504020204" pitchFamily="34" charset="0"/>
                        </a:rPr>
                        <a:t>Q2: Aller </a:t>
                      </a:r>
                      <a:r>
                        <a:rPr lang="en-GB" b="1" dirty="0" err="1">
                          <a:latin typeface="Open Sans" panose="020B0606030504020204" pitchFamily="34" charset="0"/>
                          <a:ea typeface="Open Sans" panose="020B0606030504020204" pitchFamily="34" charset="0"/>
                          <a:cs typeface="Open Sans" panose="020B0606030504020204" pitchFamily="34" charset="0"/>
                        </a:rPr>
                        <a:t>dormir</a:t>
                      </a:r>
                      <a:r>
                        <a:rPr lang="en-GB" b="1" dirty="0">
                          <a:latin typeface="Open Sans" panose="020B0606030504020204" pitchFamily="34" charset="0"/>
                          <a:ea typeface="Open Sans" panose="020B0606030504020204" pitchFamily="34" charset="0"/>
                          <a:cs typeface="Open Sans" panose="020B0606030504020204" pitchFamily="34" charset="0"/>
                        </a:rPr>
                        <a:t> </a:t>
                      </a:r>
                      <a:r>
                        <a:rPr lang="en-GB" b="1" dirty="0" err="1">
                          <a:latin typeface="Open Sans" panose="020B0606030504020204" pitchFamily="34" charset="0"/>
                          <a:ea typeface="Open Sans" panose="020B0606030504020204" pitchFamily="34" charset="0"/>
                          <a:cs typeface="Open Sans" panose="020B0606030504020204" pitchFamily="34" charset="0"/>
                        </a:rPr>
                        <a:t>en</a:t>
                      </a:r>
                      <a:r>
                        <a:rPr lang="en-GB" b="1" dirty="0">
                          <a:latin typeface="Open Sans" panose="020B0606030504020204" pitchFamily="34" charset="0"/>
                          <a:ea typeface="Open Sans" panose="020B0606030504020204" pitchFamily="34" charset="0"/>
                          <a:cs typeface="Open Sans" panose="020B0606030504020204" pitchFamily="34" charset="0"/>
                        </a:rPr>
                        <a:t> </a:t>
                      </a:r>
                      <a:r>
                        <a:rPr lang="en-GB" b="1" dirty="0" err="1">
                          <a:latin typeface="Open Sans" panose="020B0606030504020204" pitchFamily="34" charset="0"/>
                          <a:ea typeface="Open Sans" panose="020B0606030504020204" pitchFamily="34" charset="0"/>
                          <a:cs typeface="Open Sans" panose="020B0606030504020204" pitchFamily="34" charset="0"/>
                        </a:rPr>
                        <a:t>ayant</a:t>
                      </a:r>
                      <a:r>
                        <a:rPr lang="en-GB" b="1" dirty="0">
                          <a:latin typeface="Open Sans" panose="020B0606030504020204" pitchFamily="34" charset="0"/>
                          <a:ea typeface="Open Sans" panose="020B0606030504020204" pitchFamily="34" charset="0"/>
                          <a:cs typeface="Open Sans" panose="020B0606030504020204" pitchFamily="34" charset="0"/>
                        </a:rPr>
                        <a:t> </a:t>
                      </a:r>
                      <a:r>
                        <a:rPr lang="en-GB" b="1" dirty="0" err="1">
                          <a:latin typeface="Open Sans" panose="020B0606030504020204" pitchFamily="34" charset="0"/>
                          <a:ea typeface="Open Sans" panose="020B0606030504020204" pitchFamily="34" charset="0"/>
                          <a:cs typeface="Open Sans" panose="020B0606030504020204" pitchFamily="34" charset="0"/>
                        </a:rPr>
                        <a:t>faim</a:t>
                      </a:r>
                      <a:endParaRPr lang="en-GB" b="1" dirty="0">
                        <a:latin typeface="Open Sans" panose="020B0606030504020204" pitchFamily="34" charset="0"/>
                        <a:ea typeface="Open Sans" panose="020B0606030504020204" pitchFamily="34" charset="0"/>
                        <a:cs typeface="Open Sans" panose="020B0606030504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fr-FR" dirty="0">
                          <a:latin typeface="Open Sans" panose="020B0606030504020204" pitchFamily="34" charset="0"/>
                          <a:ea typeface="Open Sans" panose="020B0606030504020204" pitchFamily="34" charset="0"/>
                          <a:cs typeface="Open Sans" panose="020B0606030504020204" pitchFamily="34" charset="0"/>
                        </a:rPr>
                        <a:t>Cette question demande si le répondant ou d'autres membres du ménage ont eu faim à l'heure du coucher parce qu'ils n'avaient pas assez à manger pendant la journée et la soirée. </a:t>
                      </a:r>
                      <a:endParaRPr lang="en-GB" dirty="0">
                        <a:latin typeface="Open Sans" panose="020B0606030504020204" pitchFamily="34" charset="0"/>
                        <a:ea typeface="Open Sans" panose="020B0606030504020204" pitchFamily="34" charset="0"/>
                        <a:cs typeface="Open Sans" panose="020B0606030504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30591075"/>
                  </a:ext>
                </a:extLst>
              </a:tr>
              <a:tr h="370840">
                <a:tc>
                  <a:txBody>
                    <a:bodyPr/>
                    <a:lstStyle/>
                    <a:p>
                      <a:r>
                        <a:rPr lang="en-GB" b="1">
                          <a:solidFill>
                            <a:schemeClr val="accent1">
                              <a:lumMod val="20000"/>
                              <a:lumOff val="80000"/>
                            </a:schemeClr>
                          </a:solidFill>
                          <a:latin typeface="Open Sans" panose="020B0606030504020204" pitchFamily="34" charset="0"/>
                          <a:ea typeface="Open Sans" panose="020B0606030504020204" pitchFamily="34" charset="0"/>
                          <a:cs typeface="Open Sans" panose="020B0606030504020204" pitchFamily="34" charset="0"/>
                        </a:rPr>
                        <a:t>Q3: Go a whole day and night without eating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dirty="0">
                          <a:solidFill>
                            <a:schemeClr val="accent1">
                              <a:lumMod val="20000"/>
                              <a:lumOff val="80000"/>
                            </a:schemeClr>
                          </a:solidFill>
                          <a:latin typeface="Open Sans" panose="020B0606030504020204" pitchFamily="34" charset="0"/>
                          <a:ea typeface="Open Sans" panose="020B0606030504020204" pitchFamily="34" charset="0"/>
                          <a:cs typeface="Open Sans" panose="020B0606030504020204" pitchFamily="34" charset="0"/>
                        </a:rPr>
                        <a:t>This question asks whether any household member did not eat from the time they awoke in the morning to the time they awoke the following morning because there was not enough food. A person who chooses not to eat for a whole day for reasons other than lack of food (for example, if fasting or on a diet) should not respond affirmatively to Q3.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8386106"/>
                  </a:ext>
                </a:extLst>
              </a:tr>
            </a:tbl>
          </a:graphicData>
        </a:graphic>
      </p:graphicFrame>
      <p:sp>
        <p:nvSpPr>
          <p:cNvPr id="6" name="Rectangle 5">
            <a:extLst>
              <a:ext uri="{FF2B5EF4-FFF2-40B4-BE49-F238E27FC236}">
                <a16:creationId xmlns:a16="http://schemas.microsoft.com/office/drawing/2014/main" id="{1EB2A7FB-6783-5BA0-0962-D7DD5C260772}"/>
              </a:ext>
            </a:extLst>
          </p:cNvPr>
          <p:cNvSpPr/>
          <p:nvPr/>
        </p:nvSpPr>
        <p:spPr>
          <a:xfrm>
            <a:off x="717181" y="3002848"/>
            <a:ext cx="11175390" cy="925975"/>
          </a:xfrm>
          <a:prstGeom prst="rect">
            <a:avLst/>
          </a:prstGeom>
          <a:noFill/>
          <a:ln w="571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4" name="Connector: Elbow 3">
            <a:extLst>
              <a:ext uri="{FF2B5EF4-FFF2-40B4-BE49-F238E27FC236}">
                <a16:creationId xmlns:a16="http://schemas.microsoft.com/office/drawing/2014/main" id="{81C289D3-9AB8-9777-1765-553CE73DC166}"/>
              </a:ext>
            </a:extLst>
          </p:cNvPr>
          <p:cNvCxnSpPr>
            <a:cxnSpLocks/>
            <a:endCxn id="10" idx="1"/>
          </p:cNvCxnSpPr>
          <p:nvPr/>
        </p:nvCxnSpPr>
        <p:spPr>
          <a:xfrm>
            <a:off x="1655180" y="3634997"/>
            <a:ext cx="3366546" cy="2345840"/>
          </a:xfrm>
          <a:prstGeom prst="bentConnector3">
            <a:avLst>
              <a:gd name="adj1" fmla="val 50000"/>
            </a:avLst>
          </a:prstGeom>
          <a:ln w="381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089B584B-9DC4-99F2-E25A-BF24A124783A}"/>
              </a:ext>
            </a:extLst>
          </p:cNvPr>
          <p:cNvSpPr/>
          <p:nvPr/>
        </p:nvSpPr>
        <p:spPr>
          <a:xfrm>
            <a:off x="717180" y="3315831"/>
            <a:ext cx="938000" cy="260746"/>
          </a:xfrm>
          <a:prstGeom prst="rect">
            <a:avLst/>
          </a:prstGeom>
          <a:solidFill>
            <a:schemeClr val="accent2">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TextBox 9">
            <a:extLst>
              <a:ext uri="{FF2B5EF4-FFF2-40B4-BE49-F238E27FC236}">
                <a16:creationId xmlns:a16="http://schemas.microsoft.com/office/drawing/2014/main" id="{8D41377F-DB99-327B-9452-CB7E5A8E8E1B}"/>
              </a:ext>
            </a:extLst>
          </p:cNvPr>
          <p:cNvSpPr txBox="1"/>
          <p:nvPr/>
        </p:nvSpPr>
        <p:spPr>
          <a:xfrm>
            <a:off x="5021726" y="5103674"/>
            <a:ext cx="7170273" cy="1754326"/>
          </a:xfrm>
          <a:prstGeom prst="rect">
            <a:avLst/>
          </a:prstGeom>
          <a:solidFill>
            <a:schemeClr val="accent2">
              <a:alpha val="25000"/>
            </a:schemeClr>
          </a:solidFill>
        </p:spPr>
        <p:txBody>
          <a:bodyPr wrap="square" rtlCol="0">
            <a:spAutoFit/>
          </a:bodyPr>
          <a:lstStyle/>
          <a:p>
            <a:r>
              <a:rPr lang="fr-FR" dirty="0">
                <a:latin typeface="Open Sans" panose="020B0606030504020204" pitchFamily="34" charset="0"/>
                <a:ea typeface="Open Sans" panose="020B0606030504020204" pitchFamily="34" charset="0"/>
                <a:cs typeface="Open Sans" panose="020B0606030504020204" pitchFamily="34" charset="0"/>
              </a:rPr>
              <a:t>Avoir "faim", c'est avoir un besoin ou un désir impérieux de nourriture, éprouver une sensation douloureuse ou être dans un état de faiblesse causé par le besoin de nourriture. Une personne qui a faim n'est pas nécessairement une personne qui n'a pas mangé du tout ; la nourriture consommée peut ne pas avoir été suffisante pour remplir le ventre/se sentir rassasié/satisfait.</a:t>
            </a:r>
            <a:endParaRPr lang="en-GB" dirty="0">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23964766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3">
            <a:extLst>
              <a:ext uri="{FF2B5EF4-FFF2-40B4-BE49-F238E27FC236}">
                <a16:creationId xmlns:a16="http://schemas.microsoft.com/office/drawing/2014/main" id="{BB642E77-5AC9-D346-BC1E-D93A00D9631D}"/>
              </a:ext>
            </a:extLst>
          </p:cNvPr>
          <p:cNvSpPr>
            <a:spLocks noGrp="1"/>
          </p:cNvSpPr>
          <p:nvPr>
            <p:ph type="title"/>
          </p:nvPr>
        </p:nvSpPr>
        <p:spPr>
          <a:xfrm>
            <a:off x="717181" y="716415"/>
            <a:ext cx="11052002" cy="662558"/>
          </a:xfrm>
        </p:spPr>
        <p:txBody>
          <a:bodyPr anchor="t" anchorCtr="0"/>
          <a:lstStyle/>
          <a:p>
            <a:r>
              <a:rPr lang="en-GB" sz="3600" b="0" kern="1400" spc="230" dirty="0">
                <a:solidFill>
                  <a:schemeClr val="tx1"/>
                </a:solidFill>
                <a:latin typeface="HALDEN SOLID" pitchFamily="2" charset="0"/>
              </a:rPr>
              <a:t>HHS: Question </a:t>
            </a:r>
            <a:r>
              <a:rPr lang="en-GB" sz="3600" b="0" kern="1400" spc="230" dirty="0" err="1">
                <a:solidFill>
                  <a:schemeClr val="tx1"/>
                </a:solidFill>
                <a:latin typeface="HALDEN SOLID" pitchFamily="2" charset="0"/>
              </a:rPr>
              <a:t>d'approfondissement</a:t>
            </a:r>
            <a:endParaRPr lang="en-GB" sz="3600" b="0" kern="1400" spc="230" dirty="0">
              <a:solidFill>
                <a:schemeClr val="tx1"/>
              </a:solidFill>
              <a:latin typeface="HALDEN SOLID" pitchFamily="2" charset="0"/>
            </a:endParaRPr>
          </a:p>
        </p:txBody>
      </p:sp>
      <p:pic>
        <p:nvPicPr>
          <p:cNvPr id="6" name="Picture 2">
            <a:extLst>
              <a:ext uri="{FF2B5EF4-FFF2-40B4-BE49-F238E27FC236}">
                <a16:creationId xmlns:a16="http://schemas.microsoft.com/office/drawing/2014/main" id="{B3817F12-5B82-427B-9598-4D7BF1E3250E}"/>
              </a:ext>
            </a:extLst>
          </p:cNvPr>
          <p:cNvPicPr>
            <a:picLocks noChangeAspect="1" noChangeArrowheads="1"/>
          </p:cNvPicPr>
          <p:nvPr/>
        </p:nvPicPr>
        <p:blipFill>
          <a:blip r:embed="rId3"/>
          <a:srcRect t="19369" b="19369"/>
          <a:stretch/>
        </p:blipFill>
        <p:spPr bwMode="auto">
          <a:xfrm>
            <a:off x="6710698" y="1648319"/>
            <a:ext cx="5165992" cy="3417951"/>
          </a:xfrm>
          <a:prstGeom prst="rect">
            <a:avLst/>
          </a:prstGeom>
          <a:noFill/>
          <a:extLst>
            <a:ext uri="{909E8E84-426E-40DD-AFC4-6F175D3DCCD1}">
              <a14:hiddenFill xmlns:a14="http://schemas.microsoft.com/office/drawing/2010/main">
                <a:solidFill>
                  <a:srgbClr val="FFFFFF"/>
                </a:solidFill>
              </a14:hiddenFill>
            </a:ext>
          </a:extLst>
        </p:spPr>
      </p:pic>
      <p:sp>
        <p:nvSpPr>
          <p:cNvPr id="4" name="Content Placeholder 2">
            <a:extLst>
              <a:ext uri="{FF2B5EF4-FFF2-40B4-BE49-F238E27FC236}">
                <a16:creationId xmlns:a16="http://schemas.microsoft.com/office/drawing/2014/main" id="{8CA14AC1-1EC4-4CCD-8371-D5D8436E3475}"/>
              </a:ext>
            </a:extLst>
          </p:cNvPr>
          <p:cNvSpPr txBox="1">
            <a:spLocks/>
          </p:cNvSpPr>
          <p:nvPr/>
        </p:nvSpPr>
        <p:spPr>
          <a:xfrm>
            <a:off x="738200" y="1648318"/>
            <a:ext cx="6638783" cy="3907221"/>
          </a:xfrm>
          <a:prstGeom prst="rect">
            <a:avLst/>
          </a:prstGeom>
        </p:spPr>
        <p:txBody>
          <a:bodyPr lIns="91440" tIns="45720" rIns="91440" bIns="45720" anchor="t"/>
          <a:lstStyle>
            <a:lvl1pPr marL="228600" indent="-228600" algn="l" defTabSz="914400" rtl="0" eaLnBrk="1" latinLnBrk="0" hangingPunct="1">
              <a:lnSpc>
                <a:spcPct val="90000"/>
              </a:lnSpc>
              <a:spcBef>
                <a:spcPts val="1000"/>
              </a:spcBef>
              <a:buFont typeface="Arial"/>
              <a:buChar char="•"/>
              <a:defRPr sz="2000" b="0" i="0" kern="1200">
                <a:solidFill>
                  <a:schemeClr val="tx1"/>
                </a:solidFill>
                <a:latin typeface="Open Sans" charset="0"/>
                <a:ea typeface="Open Sans" charset="0"/>
                <a:cs typeface="Open Sans" charset="0"/>
              </a:defRPr>
            </a:lvl1pPr>
            <a:lvl2pPr marL="685800" indent="-228600" algn="l" defTabSz="914400" rtl="0" eaLnBrk="1" latinLnBrk="0" hangingPunct="1">
              <a:lnSpc>
                <a:spcPct val="90000"/>
              </a:lnSpc>
              <a:spcBef>
                <a:spcPts val="500"/>
              </a:spcBef>
              <a:buFont typeface="Arial"/>
              <a:buChar char="•"/>
              <a:defRPr sz="1800" b="0" i="0" kern="1200">
                <a:solidFill>
                  <a:schemeClr val="tx1"/>
                </a:solidFill>
                <a:latin typeface="Open Sans" charset="0"/>
                <a:ea typeface="Open Sans" charset="0"/>
                <a:cs typeface="Open Sans" charset="0"/>
              </a:defRPr>
            </a:lvl2pPr>
            <a:lvl3pPr marL="1143000" indent="-228600" algn="l" defTabSz="914400" rtl="0" eaLnBrk="1" latinLnBrk="0" hangingPunct="1">
              <a:lnSpc>
                <a:spcPct val="90000"/>
              </a:lnSpc>
              <a:spcBef>
                <a:spcPts val="500"/>
              </a:spcBef>
              <a:buFont typeface="Arial"/>
              <a:buChar char="•"/>
              <a:defRPr sz="1600" b="0" i="0" kern="1200">
                <a:solidFill>
                  <a:schemeClr val="tx1"/>
                </a:solidFill>
                <a:latin typeface="Open Sans" charset="0"/>
                <a:ea typeface="Open Sans" charset="0"/>
                <a:cs typeface="Open Sans" charset="0"/>
              </a:defRPr>
            </a:lvl3pPr>
            <a:lvl4pPr marL="1600200" indent="-228600" algn="l" defTabSz="914400" rtl="0" eaLnBrk="1" latinLnBrk="0" hangingPunct="1">
              <a:lnSpc>
                <a:spcPct val="90000"/>
              </a:lnSpc>
              <a:spcBef>
                <a:spcPts val="500"/>
              </a:spcBef>
              <a:buFont typeface="Arial"/>
              <a:buChar char="•"/>
              <a:defRPr sz="1400" b="0" i="0" kern="1200">
                <a:solidFill>
                  <a:schemeClr val="tx1"/>
                </a:solidFill>
                <a:latin typeface="Open Sans" charset="0"/>
                <a:ea typeface="Open Sans" charset="0"/>
                <a:cs typeface="Open Sans" charset="0"/>
              </a:defRPr>
            </a:lvl4pPr>
            <a:lvl5pPr marL="2057400" indent="-228600" algn="l" defTabSz="914400" rtl="0" eaLnBrk="1" latinLnBrk="0" hangingPunct="1">
              <a:lnSpc>
                <a:spcPct val="90000"/>
              </a:lnSpc>
              <a:spcBef>
                <a:spcPts val="500"/>
              </a:spcBef>
              <a:buFont typeface="Arial"/>
              <a:buChar char="•"/>
              <a:defRPr sz="1400" b="0" i="0" kern="1200">
                <a:solidFill>
                  <a:schemeClr val="tx1"/>
                </a:solidFill>
                <a:latin typeface="Open Sans" charset="0"/>
                <a:ea typeface="Open Sans" charset="0"/>
                <a:cs typeface="Open Sans"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None/>
            </a:pPr>
            <a:r>
              <a:rPr lang="fr-FR" spc="60" dirty="0">
                <a:latin typeface="Open Sans"/>
                <a:ea typeface="Open Sans"/>
                <a:cs typeface="Open Sans"/>
              </a:rPr>
              <a:t>Des questions d'approfondissement doivent être posées au cours des entretiens afin de mieux comprendre les conditions vécues.</a:t>
            </a:r>
          </a:p>
          <a:p>
            <a:pPr marL="0" indent="0">
              <a:buNone/>
            </a:pPr>
            <a:r>
              <a:rPr lang="fr-FR" spc="60" dirty="0">
                <a:latin typeface="Open Sans"/>
                <a:ea typeface="Open Sans"/>
                <a:cs typeface="Open Sans"/>
              </a:rPr>
              <a:t>Par exemple, si un ménage déclare s'endormir le ventre vide parce qu'il n'y a pas assez de nourriture, il faut lui poser des questions : </a:t>
            </a:r>
            <a:endParaRPr lang="en-US" sz="1800" spc="60" dirty="0"/>
          </a:p>
          <a:p>
            <a:pPr marL="0" indent="0" algn="ctr">
              <a:buNone/>
            </a:pPr>
            <a:r>
              <a:rPr lang="fr-FR" b="1" spc="60" dirty="0">
                <a:solidFill>
                  <a:schemeClr val="accent2"/>
                </a:solidFill>
                <a:latin typeface="Open Sans"/>
                <a:ea typeface="Open Sans"/>
                <a:cs typeface="Open Sans"/>
              </a:rPr>
              <a:t>"Pourquoi se sont-ils endormis en ayant faim ?" </a:t>
            </a:r>
          </a:p>
          <a:p>
            <a:pPr marL="0" indent="0" algn="ctr">
              <a:buNone/>
            </a:pPr>
            <a:endParaRPr lang="en-US" b="1" spc="60" dirty="0">
              <a:solidFill>
                <a:schemeClr val="accent2"/>
              </a:solidFill>
              <a:latin typeface="Open Sans"/>
              <a:ea typeface="Open Sans"/>
              <a:cs typeface="Open Sans"/>
            </a:endParaRPr>
          </a:p>
          <a:p>
            <a:pPr marL="0" indent="0" algn="ctr">
              <a:buNone/>
            </a:pPr>
            <a:r>
              <a:rPr lang="fr-FR" b="1" spc="60" dirty="0">
                <a:solidFill>
                  <a:schemeClr val="accent2"/>
                </a:solidFill>
                <a:latin typeface="Open Sans"/>
                <a:ea typeface="Open Sans"/>
                <a:cs typeface="Open Sans"/>
              </a:rPr>
              <a:t>La réponse doit être due à un manque de ressources.</a:t>
            </a:r>
            <a:endParaRPr lang="en-US" b="1" spc="60" dirty="0">
              <a:solidFill>
                <a:schemeClr val="accent2"/>
              </a:solidFill>
            </a:endParaRPr>
          </a:p>
        </p:txBody>
      </p:sp>
    </p:spTree>
    <p:extLst>
      <p:ext uri="{BB962C8B-B14F-4D97-AF65-F5344CB8AC3E}">
        <p14:creationId xmlns:p14="http://schemas.microsoft.com/office/powerpoint/2010/main" val="4074958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17181" y="1522893"/>
            <a:ext cx="11175391" cy="3812214"/>
          </a:xfrm>
          <a:solidFill>
            <a:srgbClr val="FFFFFE"/>
          </a:solidFill>
        </p:spPr>
        <p:txBody>
          <a:bodyPr vert="horz" lIns="91440" tIns="45720" rIns="91440" bIns="45720" rtlCol="0" anchor="t">
            <a:noAutofit/>
          </a:bodyPr>
          <a:lstStyle/>
          <a:p>
            <a:pPr marL="0" indent="0">
              <a:lnSpc>
                <a:spcPts val="2700"/>
              </a:lnSpc>
              <a:buClr>
                <a:srgbClr val="0070BA"/>
              </a:buClr>
              <a:buNone/>
            </a:pPr>
            <a:endParaRPr lang="en-GB" sz="2000" spc="60"/>
          </a:p>
          <a:p>
            <a:pPr>
              <a:buFont typeface="Wingdings" panose="05000000000000000000" pitchFamily="2" charset="2"/>
              <a:buChar char="v"/>
            </a:pPr>
            <a:endParaRPr lang="en-GB" spc="60"/>
          </a:p>
        </p:txBody>
      </p:sp>
      <p:sp>
        <p:nvSpPr>
          <p:cNvPr id="8" name="Title 3">
            <a:extLst>
              <a:ext uri="{FF2B5EF4-FFF2-40B4-BE49-F238E27FC236}">
                <a16:creationId xmlns:a16="http://schemas.microsoft.com/office/drawing/2014/main" id="{BB642E77-5AC9-D346-BC1E-D93A00D9631D}"/>
              </a:ext>
            </a:extLst>
          </p:cNvPr>
          <p:cNvSpPr>
            <a:spLocks noGrp="1"/>
          </p:cNvSpPr>
          <p:nvPr>
            <p:ph type="title"/>
          </p:nvPr>
        </p:nvSpPr>
        <p:spPr>
          <a:xfrm>
            <a:off x="717181" y="716415"/>
            <a:ext cx="11052002" cy="662558"/>
          </a:xfrm>
        </p:spPr>
        <p:txBody>
          <a:bodyPr anchor="t" anchorCtr="0"/>
          <a:lstStyle/>
          <a:p>
            <a:r>
              <a:rPr lang="en-GB" sz="3600" b="0" kern="1400" spc="230" dirty="0">
                <a:solidFill>
                  <a:schemeClr val="tx1"/>
                </a:solidFill>
                <a:latin typeface="HALDEN SOLID"/>
                <a:ea typeface="Open Sans Extrabold"/>
                <a:cs typeface="Open Sans Extrabold"/>
              </a:rPr>
              <a:t>HHS module</a:t>
            </a:r>
            <a:endParaRPr lang="en-GB" sz="3600" b="0" kern="1400" spc="230" dirty="0">
              <a:solidFill>
                <a:schemeClr val="tx1"/>
              </a:solidFill>
              <a:latin typeface="HALDEN SOLID" pitchFamily="2" charset="0"/>
            </a:endParaRPr>
          </a:p>
        </p:txBody>
      </p:sp>
      <p:graphicFrame>
        <p:nvGraphicFramePr>
          <p:cNvPr id="5" name="Table 5">
            <a:extLst>
              <a:ext uri="{FF2B5EF4-FFF2-40B4-BE49-F238E27FC236}">
                <a16:creationId xmlns:a16="http://schemas.microsoft.com/office/drawing/2014/main" id="{6775EE3B-8FBD-7A64-AD48-572EC05A8D07}"/>
              </a:ext>
            </a:extLst>
          </p:cNvPr>
          <p:cNvGraphicFramePr>
            <a:graphicFrameLocks noGrp="1"/>
          </p:cNvGraphicFramePr>
          <p:nvPr>
            <p:extLst>
              <p:ext uri="{D42A27DB-BD31-4B8C-83A1-F6EECF244321}">
                <p14:modId xmlns:p14="http://schemas.microsoft.com/office/powerpoint/2010/main" val="345835161"/>
              </p:ext>
            </p:extLst>
          </p:nvPr>
        </p:nvGraphicFramePr>
        <p:xfrm>
          <a:off x="717181" y="1460500"/>
          <a:ext cx="11052002" cy="4211320"/>
        </p:xfrm>
        <a:graphic>
          <a:graphicData uri="http://schemas.openxmlformats.org/drawingml/2006/table">
            <a:tbl>
              <a:tblPr firstRow="1" bandRow="1">
                <a:tableStyleId>{5C22544A-7EE6-4342-B048-85BDC9FD1C3A}</a:tableStyleId>
              </a:tblPr>
              <a:tblGrid>
                <a:gridCol w="2755225">
                  <a:extLst>
                    <a:ext uri="{9D8B030D-6E8A-4147-A177-3AD203B41FA5}">
                      <a16:colId xmlns:a16="http://schemas.microsoft.com/office/drawing/2014/main" val="2821685170"/>
                    </a:ext>
                  </a:extLst>
                </a:gridCol>
                <a:gridCol w="8296777">
                  <a:extLst>
                    <a:ext uri="{9D8B030D-6E8A-4147-A177-3AD203B41FA5}">
                      <a16:colId xmlns:a16="http://schemas.microsoft.com/office/drawing/2014/main" val="1741307633"/>
                    </a:ext>
                  </a:extLst>
                </a:gridCol>
              </a:tblGrid>
              <a:tr h="370840">
                <a:tc>
                  <a:txBody>
                    <a:bodyPr/>
                    <a:lstStyle/>
                    <a:p>
                      <a:r>
                        <a:rPr lang="en-GB">
                          <a:latin typeface="Open Sans" panose="020B0606030504020204" pitchFamily="34" charset="0"/>
                          <a:ea typeface="Open Sans" panose="020B0606030504020204" pitchFamily="34" charset="0"/>
                          <a:cs typeface="Open Sans" panose="020B0606030504020204" pitchFamily="34" charset="0"/>
                        </a:rPr>
                        <a:t>HHS question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a:latin typeface="Open Sans" panose="020B0606030504020204" pitchFamily="34" charset="0"/>
                          <a:ea typeface="Open Sans" panose="020B0606030504020204" pitchFamily="34" charset="0"/>
                          <a:cs typeface="Open Sans" panose="020B0606030504020204" pitchFamily="34" charset="0"/>
                        </a:rPr>
                        <a:t>Intended Meaning of the Question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46322703"/>
                  </a:ext>
                </a:extLst>
              </a:tr>
              <a:tr h="370840">
                <a:tc>
                  <a:txBody>
                    <a:bodyPr/>
                    <a:lstStyle/>
                    <a:p>
                      <a:r>
                        <a:rPr lang="en-GB" b="1">
                          <a:solidFill>
                            <a:schemeClr val="accent1">
                              <a:lumMod val="20000"/>
                              <a:lumOff val="80000"/>
                            </a:schemeClr>
                          </a:solidFill>
                          <a:latin typeface="Open Sans" panose="020B0606030504020204" pitchFamily="34" charset="0"/>
                          <a:ea typeface="Open Sans" panose="020B0606030504020204" pitchFamily="34" charset="0"/>
                          <a:cs typeface="Open Sans" panose="020B0606030504020204" pitchFamily="34" charset="0"/>
                        </a:rPr>
                        <a:t>Q1: No food of any kind in the house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a:solidFill>
                            <a:schemeClr val="accent1">
                              <a:lumMod val="20000"/>
                              <a:lumOff val="80000"/>
                            </a:schemeClr>
                          </a:solidFill>
                          <a:latin typeface="Open Sans" panose="020B0606030504020204" pitchFamily="34" charset="0"/>
                          <a:ea typeface="Open Sans" panose="020B0606030504020204" pitchFamily="34" charset="0"/>
                          <a:cs typeface="Open Sans" panose="020B0606030504020204" pitchFamily="34" charset="0"/>
                        </a:rPr>
                        <a:t>This question asks about a situation in which there is no food to eat of any kind in the house because food was not available to household members through usual means (e.g., through purchase or barter, gifts, own production, from storage).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34985459"/>
                  </a:ext>
                </a:extLst>
              </a:tr>
              <a:tr h="370840">
                <a:tc>
                  <a:txBody>
                    <a:bodyPr/>
                    <a:lstStyle/>
                    <a:p>
                      <a:r>
                        <a:rPr lang="en-GB" b="1">
                          <a:solidFill>
                            <a:schemeClr val="accent1">
                              <a:lumMod val="20000"/>
                              <a:lumOff val="80000"/>
                            </a:schemeClr>
                          </a:solidFill>
                          <a:latin typeface="Open Sans" panose="020B0606030504020204" pitchFamily="34" charset="0"/>
                          <a:ea typeface="Open Sans" panose="020B0606030504020204" pitchFamily="34" charset="0"/>
                          <a:cs typeface="Open Sans" panose="020B0606030504020204" pitchFamily="34" charset="0"/>
                        </a:rPr>
                        <a:t>Q2: Go to sleep hungry because there was not enough food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a:solidFill>
                            <a:schemeClr val="accent1">
                              <a:lumMod val="20000"/>
                              <a:lumOff val="80000"/>
                            </a:schemeClr>
                          </a:solidFill>
                          <a:latin typeface="Open Sans" panose="020B0606030504020204" pitchFamily="34" charset="0"/>
                          <a:ea typeface="Open Sans" panose="020B0606030504020204" pitchFamily="34" charset="0"/>
                          <a:cs typeface="Open Sans" panose="020B0606030504020204" pitchFamily="34" charset="0"/>
                        </a:rPr>
                        <a:t>This question asks whether the respondent or other household members felt hungry at bedtime because they did not have enough food to eat during the day and evening.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30591075"/>
                  </a:ext>
                </a:extLst>
              </a:tr>
              <a:tr h="370840">
                <a:tc>
                  <a:txBody>
                    <a:bodyPr/>
                    <a:lstStyle/>
                    <a:p>
                      <a:r>
                        <a:rPr lang="en-GB" b="1" dirty="0">
                          <a:latin typeface="Open Sans" panose="020B0606030504020204" pitchFamily="34" charset="0"/>
                          <a:ea typeface="Open Sans" panose="020B0606030504020204" pitchFamily="34" charset="0"/>
                          <a:cs typeface="Open Sans" panose="020B0606030504020204" pitchFamily="34" charset="0"/>
                        </a:rPr>
                        <a:t>Q3: </a:t>
                      </a:r>
                      <a:r>
                        <a:rPr lang="fr-FR" b="1" dirty="0">
                          <a:latin typeface="Open Sans" panose="020B0606030504020204" pitchFamily="34" charset="0"/>
                          <a:ea typeface="Open Sans" panose="020B0606030504020204" pitchFamily="34" charset="0"/>
                          <a:cs typeface="Open Sans" panose="020B0606030504020204" pitchFamily="34" charset="0"/>
                        </a:rPr>
                        <a:t>Passer une journée et une nuit entière sans manger</a:t>
                      </a:r>
                      <a:endParaRPr lang="en-GB" b="1" dirty="0">
                        <a:latin typeface="Open Sans" panose="020B0606030504020204" pitchFamily="34" charset="0"/>
                        <a:ea typeface="Open Sans" panose="020B0606030504020204" pitchFamily="34" charset="0"/>
                        <a:cs typeface="Open Sans" panose="020B0606030504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fr-FR" dirty="0">
                          <a:latin typeface="Open Sans" panose="020B0606030504020204" pitchFamily="34" charset="0"/>
                          <a:ea typeface="Open Sans" panose="020B0606030504020204" pitchFamily="34" charset="0"/>
                          <a:cs typeface="Open Sans" panose="020B0606030504020204" pitchFamily="34" charset="0"/>
                        </a:rPr>
                        <a:t>Cette question vise à savoir si un membre du ménage n'a pas mangé entre le moment où il s'est réveillé le matin et le moment où il s'est réveillé le lendemain matin parce qu'il n'y avait pas assez de nourriture. Une personne qui choisit de ne pas manger pendant une journée entière pour des raisons autres que le manque de nourriture (par exemple, si elle jeûne ou suit un régime) ne doit pas répondre par l'affirmative à la question Q3.</a:t>
                      </a:r>
                      <a:endParaRPr lang="en-GB" dirty="0">
                        <a:latin typeface="Open Sans" panose="020B0606030504020204" pitchFamily="34" charset="0"/>
                        <a:ea typeface="Open Sans" panose="020B0606030504020204" pitchFamily="34" charset="0"/>
                        <a:cs typeface="Open Sans" panose="020B0606030504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8386106"/>
                  </a:ext>
                </a:extLst>
              </a:tr>
            </a:tbl>
          </a:graphicData>
        </a:graphic>
      </p:graphicFrame>
      <p:sp>
        <p:nvSpPr>
          <p:cNvPr id="6" name="Rectangle 5">
            <a:extLst>
              <a:ext uri="{FF2B5EF4-FFF2-40B4-BE49-F238E27FC236}">
                <a16:creationId xmlns:a16="http://schemas.microsoft.com/office/drawing/2014/main" id="{1EB2A7FB-6783-5BA0-0962-D7DD5C260772}"/>
              </a:ext>
            </a:extLst>
          </p:cNvPr>
          <p:cNvSpPr/>
          <p:nvPr/>
        </p:nvSpPr>
        <p:spPr>
          <a:xfrm>
            <a:off x="655487" y="3931920"/>
            <a:ext cx="11175390" cy="1883820"/>
          </a:xfrm>
          <a:prstGeom prst="rect">
            <a:avLst/>
          </a:prstGeom>
          <a:noFill/>
          <a:ln w="571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5634372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3">
            <a:extLst>
              <a:ext uri="{FF2B5EF4-FFF2-40B4-BE49-F238E27FC236}">
                <a16:creationId xmlns:a16="http://schemas.microsoft.com/office/drawing/2014/main" id="{BB642E77-5AC9-D346-BC1E-D93A00D9631D}"/>
              </a:ext>
            </a:extLst>
          </p:cNvPr>
          <p:cNvSpPr>
            <a:spLocks noGrp="1"/>
          </p:cNvSpPr>
          <p:nvPr>
            <p:ph type="title"/>
          </p:nvPr>
        </p:nvSpPr>
        <p:spPr>
          <a:xfrm>
            <a:off x="717181" y="716415"/>
            <a:ext cx="11052002" cy="662558"/>
          </a:xfrm>
        </p:spPr>
        <p:txBody>
          <a:bodyPr anchor="t" anchorCtr="0"/>
          <a:lstStyle/>
          <a:p>
            <a:r>
              <a:rPr lang="en-GB" sz="3600" b="0" kern="1400" spc="230" dirty="0">
                <a:solidFill>
                  <a:schemeClr val="tx1"/>
                </a:solidFill>
                <a:latin typeface="HALDEN SOLID" pitchFamily="2" charset="0"/>
              </a:rPr>
              <a:t>HHS: Question </a:t>
            </a:r>
            <a:r>
              <a:rPr lang="en-GB" sz="3600" b="0" kern="1400" spc="230" dirty="0" err="1">
                <a:solidFill>
                  <a:schemeClr val="tx1"/>
                </a:solidFill>
                <a:latin typeface="HALDEN SOLID" pitchFamily="2" charset="0"/>
              </a:rPr>
              <a:t>d'approfondissement</a:t>
            </a:r>
            <a:endParaRPr lang="en-GB" sz="3600" b="0" kern="1400" spc="230" dirty="0">
              <a:solidFill>
                <a:schemeClr val="tx1"/>
              </a:solidFill>
              <a:latin typeface="HALDEN SOLID" pitchFamily="2" charset="0"/>
            </a:endParaRPr>
          </a:p>
        </p:txBody>
      </p:sp>
      <p:pic>
        <p:nvPicPr>
          <p:cNvPr id="6" name="Picture 2">
            <a:extLst>
              <a:ext uri="{FF2B5EF4-FFF2-40B4-BE49-F238E27FC236}">
                <a16:creationId xmlns:a16="http://schemas.microsoft.com/office/drawing/2014/main" id="{B3817F12-5B82-427B-9598-4D7BF1E3250E}"/>
              </a:ext>
            </a:extLst>
          </p:cNvPr>
          <p:cNvPicPr>
            <a:picLocks noChangeAspect="1" noChangeArrowheads="1"/>
          </p:cNvPicPr>
          <p:nvPr/>
        </p:nvPicPr>
        <p:blipFill>
          <a:blip r:embed="rId3"/>
          <a:srcRect t="19369" b="19369"/>
          <a:stretch/>
        </p:blipFill>
        <p:spPr bwMode="auto">
          <a:xfrm>
            <a:off x="6710698" y="1648319"/>
            <a:ext cx="5165992" cy="3417951"/>
          </a:xfrm>
          <a:prstGeom prst="rect">
            <a:avLst/>
          </a:prstGeom>
          <a:noFill/>
          <a:extLst>
            <a:ext uri="{909E8E84-426E-40DD-AFC4-6F175D3DCCD1}">
              <a14:hiddenFill xmlns:a14="http://schemas.microsoft.com/office/drawing/2010/main">
                <a:solidFill>
                  <a:srgbClr val="FFFFFF"/>
                </a:solidFill>
              </a14:hiddenFill>
            </a:ext>
          </a:extLst>
        </p:spPr>
      </p:pic>
      <p:sp>
        <p:nvSpPr>
          <p:cNvPr id="4" name="Content Placeholder 2">
            <a:extLst>
              <a:ext uri="{FF2B5EF4-FFF2-40B4-BE49-F238E27FC236}">
                <a16:creationId xmlns:a16="http://schemas.microsoft.com/office/drawing/2014/main" id="{8CA14AC1-1EC4-4CCD-8371-D5D8436E3475}"/>
              </a:ext>
            </a:extLst>
          </p:cNvPr>
          <p:cNvSpPr txBox="1">
            <a:spLocks/>
          </p:cNvSpPr>
          <p:nvPr/>
        </p:nvSpPr>
        <p:spPr>
          <a:xfrm>
            <a:off x="738200" y="1648318"/>
            <a:ext cx="6638783" cy="3907221"/>
          </a:xfrm>
          <a:prstGeom prst="rect">
            <a:avLst/>
          </a:prstGeom>
        </p:spPr>
        <p:txBody>
          <a:bodyPr lIns="91440" tIns="45720" rIns="91440" bIns="45720" anchor="t"/>
          <a:lstStyle>
            <a:lvl1pPr marL="228600" indent="-228600" algn="l" defTabSz="914400" rtl="0" eaLnBrk="1" latinLnBrk="0" hangingPunct="1">
              <a:lnSpc>
                <a:spcPct val="90000"/>
              </a:lnSpc>
              <a:spcBef>
                <a:spcPts val="1000"/>
              </a:spcBef>
              <a:buFont typeface="Arial"/>
              <a:buChar char="•"/>
              <a:defRPr sz="2000" b="0" i="0" kern="1200">
                <a:solidFill>
                  <a:schemeClr val="tx1"/>
                </a:solidFill>
                <a:latin typeface="Open Sans" charset="0"/>
                <a:ea typeface="Open Sans" charset="0"/>
                <a:cs typeface="Open Sans" charset="0"/>
              </a:defRPr>
            </a:lvl1pPr>
            <a:lvl2pPr marL="685800" indent="-228600" algn="l" defTabSz="914400" rtl="0" eaLnBrk="1" latinLnBrk="0" hangingPunct="1">
              <a:lnSpc>
                <a:spcPct val="90000"/>
              </a:lnSpc>
              <a:spcBef>
                <a:spcPts val="500"/>
              </a:spcBef>
              <a:buFont typeface="Arial"/>
              <a:buChar char="•"/>
              <a:defRPr sz="1800" b="0" i="0" kern="1200">
                <a:solidFill>
                  <a:schemeClr val="tx1"/>
                </a:solidFill>
                <a:latin typeface="Open Sans" charset="0"/>
                <a:ea typeface="Open Sans" charset="0"/>
                <a:cs typeface="Open Sans" charset="0"/>
              </a:defRPr>
            </a:lvl2pPr>
            <a:lvl3pPr marL="1143000" indent="-228600" algn="l" defTabSz="914400" rtl="0" eaLnBrk="1" latinLnBrk="0" hangingPunct="1">
              <a:lnSpc>
                <a:spcPct val="90000"/>
              </a:lnSpc>
              <a:spcBef>
                <a:spcPts val="500"/>
              </a:spcBef>
              <a:buFont typeface="Arial"/>
              <a:buChar char="•"/>
              <a:defRPr sz="1600" b="0" i="0" kern="1200">
                <a:solidFill>
                  <a:schemeClr val="tx1"/>
                </a:solidFill>
                <a:latin typeface="Open Sans" charset="0"/>
                <a:ea typeface="Open Sans" charset="0"/>
                <a:cs typeface="Open Sans" charset="0"/>
              </a:defRPr>
            </a:lvl3pPr>
            <a:lvl4pPr marL="1600200" indent="-228600" algn="l" defTabSz="914400" rtl="0" eaLnBrk="1" latinLnBrk="0" hangingPunct="1">
              <a:lnSpc>
                <a:spcPct val="90000"/>
              </a:lnSpc>
              <a:spcBef>
                <a:spcPts val="500"/>
              </a:spcBef>
              <a:buFont typeface="Arial"/>
              <a:buChar char="•"/>
              <a:defRPr sz="1400" b="0" i="0" kern="1200">
                <a:solidFill>
                  <a:schemeClr val="tx1"/>
                </a:solidFill>
                <a:latin typeface="Open Sans" charset="0"/>
                <a:ea typeface="Open Sans" charset="0"/>
                <a:cs typeface="Open Sans" charset="0"/>
              </a:defRPr>
            </a:lvl4pPr>
            <a:lvl5pPr marL="2057400" indent="-228600" algn="l" defTabSz="914400" rtl="0" eaLnBrk="1" latinLnBrk="0" hangingPunct="1">
              <a:lnSpc>
                <a:spcPct val="90000"/>
              </a:lnSpc>
              <a:spcBef>
                <a:spcPts val="500"/>
              </a:spcBef>
              <a:buFont typeface="Arial"/>
              <a:buChar char="•"/>
              <a:defRPr sz="1400" b="0" i="0" kern="1200">
                <a:solidFill>
                  <a:schemeClr val="tx1"/>
                </a:solidFill>
                <a:latin typeface="Open Sans" charset="0"/>
                <a:ea typeface="Open Sans" charset="0"/>
                <a:cs typeface="Open Sans"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None/>
            </a:pPr>
            <a:r>
              <a:rPr lang="fr-FR" spc="60" dirty="0">
                <a:latin typeface="Open Sans"/>
                <a:ea typeface="Open Sans"/>
                <a:cs typeface="Open Sans"/>
              </a:rPr>
              <a:t>Des questions d'approfondissement doivent être posées au cours des entretiens afin de vérifier que les réponses sont correctes et de comprendre les conditions vécues.</a:t>
            </a:r>
          </a:p>
          <a:p>
            <a:pPr marL="0" indent="0">
              <a:buNone/>
            </a:pPr>
            <a:r>
              <a:rPr lang="fr-FR" spc="60" dirty="0">
                <a:latin typeface="Open Sans"/>
                <a:ea typeface="Open Sans"/>
                <a:cs typeface="Open Sans"/>
              </a:rPr>
              <a:t>Par exemple, si un ménage déclare avoir passé une journée et une nuit entières sans manger, il faut lui poser des questions : </a:t>
            </a:r>
            <a:endParaRPr lang="en-US" sz="1600" b="1" spc="60" dirty="0">
              <a:solidFill>
                <a:schemeClr val="accent2"/>
              </a:solidFill>
              <a:latin typeface="Open Sans"/>
              <a:ea typeface="Open Sans"/>
              <a:cs typeface="Open Sans"/>
            </a:endParaRPr>
          </a:p>
          <a:p>
            <a:pPr marL="0" indent="0" algn="ctr">
              <a:buNone/>
            </a:pPr>
            <a:r>
              <a:rPr lang="fr-FR" b="1" spc="60" dirty="0">
                <a:solidFill>
                  <a:schemeClr val="accent2"/>
                </a:solidFill>
                <a:latin typeface="Open Sans"/>
                <a:ea typeface="Open Sans"/>
                <a:cs typeface="Open Sans"/>
              </a:rPr>
              <a:t>"Pourquoi cette personne a-t-elle passé une journée ou une nuit entière sans manger ? </a:t>
            </a:r>
            <a:endParaRPr lang="en-US" b="1" spc="60" dirty="0">
              <a:solidFill>
                <a:schemeClr val="accent2"/>
              </a:solidFill>
              <a:latin typeface="Open Sans"/>
              <a:ea typeface="Open Sans"/>
              <a:cs typeface="Open Sans"/>
            </a:endParaRPr>
          </a:p>
          <a:p>
            <a:pPr marL="0" indent="0" algn="ctr">
              <a:buNone/>
            </a:pPr>
            <a:r>
              <a:rPr lang="fr-FR" b="1" spc="60" dirty="0">
                <a:solidFill>
                  <a:schemeClr val="accent2"/>
                </a:solidFill>
                <a:latin typeface="Open Sans"/>
                <a:ea typeface="Open Sans"/>
                <a:cs typeface="Open Sans"/>
              </a:rPr>
              <a:t>... doit être due à un manque de ressources</a:t>
            </a:r>
          </a:p>
          <a:p>
            <a:pPr marL="0" indent="0" algn="ctr">
              <a:buNone/>
            </a:pPr>
            <a:r>
              <a:rPr lang="fr-FR" b="1" spc="60" dirty="0">
                <a:solidFill>
                  <a:schemeClr val="accent2"/>
                </a:solidFill>
                <a:latin typeface="Open Sans"/>
                <a:ea typeface="Open Sans"/>
                <a:cs typeface="Open Sans"/>
              </a:rPr>
              <a:t> </a:t>
            </a:r>
            <a:r>
              <a:rPr lang="en-US" b="1" spc="60" dirty="0">
                <a:solidFill>
                  <a:schemeClr val="accent2"/>
                </a:solidFill>
                <a:latin typeface="Open Sans"/>
                <a:ea typeface="Open Sans"/>
                <a:cs typeface="Open Sans"/>
              </a:rPr>
              <a:t>… </a:t>
            </a:r>
            <a:r>
              <a:rPr lang="fr-FR" b="1" spc="60" dirty="0">
                <a:solidFill>
                  <a:schemeClr val="accent2"/>
                </a:solidFill>
                <a:latin typeface="Open Sans"/>
                <a:ea typeface="Open Sans"/>
                <a:cs typeface="Open Sans"/>
              </a:rPr>
              <a:t>et non en raison d'un jeûne, d'un manque de temps ou d'autres raisons.</a:t>
            </a:r>
            <a:endParaRPr lang="en-US" b="1" spc="60" dirty="0">
              <a:solidFill>
                <a:schemeClr val="accent2"/>
              </a:solidFill>
              <a:latin typeface="Open Sans"/>
              <a:ea typeface="Open Sans"/>
              <a:cs typeface="Open Sans"/>
            </a:endParaRPr>
          </a:p>
        </p:txBody>
      </p:sp>
      <p:sp>
        <p:nvSpPr>
          <p:cNvPr id="2" name="Speech Bubble: Oval 1">
            <a:extLst>
              <a:ext uri="{FF2B5EF4-FFF2-40B4-BE49-F238E27FC236}">
                <a16:creationId xmlns:a16="http://schemas.microsoft.com/office/drawing/2014/main" id="{1CD3AAC4-086E-01DB-6586-EB9CE9171718}"/>
              </a:ext>
            </a:extLst>
          </p:cNvPr>
          <p:cNvSpPr/>
          <p:nvPr/>
        </p:nvSpPr>
        <p:spPr>
          <a:xfrm rot="699065">
            <a:off x="8091751" y="4808689"/>
            <a:ext cx="3639246" cy="1814158"/>
          </a:xfrm>
          <a:prstGeom prst="wedgeEllipseCallout">
            <a:avLst>
              <a:gd name="adj1" fmla="val -73946"/>
              <a:gd name="adj2" fmla="val 50565"/>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fr-FR" sz="1600" b="1" dirty="0">
                <a:solidFill>
                  <a:srgbClr val="FFFFFE"/>
                </a:solidFill>
                <a:latin typeface="Open Sans"/>
                <a:ea typeface="Open Sans"/>
                <a:cs typeface="Open Sans"/>
              </a:rPr>
              <a:t>Dans la mesure du possible, utiliser l'observation pour sonder et questionner les réponses qui semblent improbables</a:t>
            </a:r>
            <a:endParaRPr lang="en-US" sz="1600" b="1" dirty="0">
              <a:solidFill>
                <a:srgbClr val="FFFFFE"/>
              </a:solidFill>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33783675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3">
            <a:extLst>
              <a:ext uri="{FF2B5EF4-FFF2-40B4-BE49-F238E27FC236}">
                <a16:creationId xmlns:a16="http://schemas.microsoft.com/office/drawing/2014/main" id="{BB642E77-5AC9-D346-BC1E-D93A00D9631D}"/>
              </a:ext>
            </a:extLst>
          </p:cNvPr>
          <p:cNvSpPr>
            <a:spLocks noGrp="1"/>
          </p:cNvSpPr>
          <p:nvPr>
            <p:ph type="title"/>
          </p:nvPr>
        </p:nvSpPr>
        <p:spPr>
          <a:xfrm>
            <a:off x="717181" y="716415"/>
            <a:ext cx="11052002" cy="662558"/>
          </a:xfrm>
        </p:spPr>
        <p:txBody>
          <a:bodyPr anchor="t" anchorCtr="0"/>
          <a:lstStyle/>
          <a:p>
            <a:r>
              <a:rPr lang="en-GB" sz="3600" b="0" kern="1400" spc="230">
                <a:solidFill>
                  <a:schemeClr val="tx1"/>
                </a:solidFill>
                <a:latin typeface="HALDEN SOLID" pitchFamily="2" charset="0"/>
              </a:rPr>
              <a:t>HHS: Clarification</a:t>
            </a:r>
          </a:p>
        </p:txBody>
      </p:sp>
      <p:pic>
        <p:nvPicPr>
          <p:cNvPr id="6" name="Picture 2">
            <a:extLst>
              <a:ext uri="{FF2B5EF4-FFF2-40B4-BE49-F238E27FC236}">
                <a16:creationId xmlns:a16="http://schemas.microsoft.com/office/drawing/2014/main" id="{B3817F12-5B82-427B-9598-4D7BF1E3250E}"/>
              </a:ext>
            </a:extLst>
          </p:cNvPr>
          <p:cNvPicPr>
            <a:picLocks noChangeAspect="1" noChangeArrowheads="1"/>
          </p:cNvPicPr>
          <p:nvPr/>
        </p:nvPicPr>
        <p:blipFill>
          <a:blip r:embed="rId3"/>
          <a:srcRect t="19369" b="19369"/>
          <a:stretch/>
        </p:blipFill>
        <p:spPr bwMode="auto">
          <a:xfrm>
            <a:off x="6710698" y="1648319"/>
            <a:ext cx="5165992" cy="3417951"/>
          </a:xfrm>
          <a:prstGeom prst="rect">
            <a:avLst/>
          </a:prstGeom>
          <a:noFill/>
          <a:extLst>
            <a:ext uri="{909E8E84-426E-40DD-AFC4-6F175D3DCCD1}">
              <a14:hiddenFill xmlns:a14="http://schemas.microsoft.com/office/drawing/2010/main">
                <a:solidFill>
                  <a:srgbClr val="FFFFFF"/>
                </a:solidFill>
              </a14:hiddenFill>
            </a:ext>
          </a:extLst>
        </p:spPr>
      </p:pic>
      <p:sp>
        <p:nvSpPr>
          <p:cNvPr id="4" name="Content Placeholder 2">
            <a:extLst>
              <a:ext uri="{FF2B5EF4-FFF2-40B4-BE49-F238E27FC236}">
                <a16:creationId xmlns:a16="http://schemas.microsoft.com/office/drawing/2014/main" id="{8CA14AC1-1EC4-4CCD-8371-D5D8436E3475}"/>
              </a:ext>
            </a:extLst>
          </p:cNvPr>
          <p:cNvSpPr txBox="1">
            <a:spLocks/>
          </p:cNvSpPr>
          <p:nvPr/>
        </p:nvSpPr>
        <p:spPr>
          <a:xfrm>
            <a:off x="590309" y="1648319"/>
            <a:ext cx="6765655" cy="4810354"/>
          </a:xfrm>
          <a:prstGeom prst="rect">
            <a:avLst/>
          </a:prstGeom>
          <a:solidFill>
            <a:srgbClr val="FFFFFE"/>
          </a:solidFill>
        </p:spPr>
        <p:txBody>
          <a:bodyPr lIns="91440" tIns="45720" rIns="91440" bIns="45720" anchor="t"/>
          <a:lstStyle>
            <a:lvl1pPr marL="228600" indent="-228600" algn="l" defTabSz="914400" rtl="0" eaLnBrk="1" latinLnBrk="0" hangingPunct="1">
              <a:lnSpc>
                <a:spcPct val="90000"/>
              </a:lnSpc>
              <a:spcBef>
                <a:spcPts val="1000"/>
              </a:spcBef>
              <a:buFont typeface="Arial"/>
              <a:buChar char="•"/>
              <a:defRPr sz="2000" b="0" i="0" kern="1200">
                <a:solidFill>
                  <a:schemeClr val="tx1"/>
                </a:solidFill>
                <a:latin typeface="Open Sans" charset="0"/>
                <a:ea typeface="Open Sans" charset="0"/>
                <a:cs typeface="Open Sans" charset="0"/>
              </a:defRPr>
            </a:lvl1pPr>
            <a:lvl2pPr marL="685800" indent="-228600" algn="l" defTabSz="914400" rtl="0" eaLnBrk="1" latinLnBrk="0" hangingPunct="1">
              <a:lnSpc>
                <a:spcPct val="90000"/>
              </a:lnSpc>
              <a:spcBef>
                <a:spcPts val="500"/>
              </a:spcBef>
              <a:buFont typeface="Arial"/>
              <a:buChar char="•"/>
              <a:defRPr sz="1800" b="0" i="0" kern="1200">
                <a:solidFill>
                  <a:schemeClr val="tx1"/>
                </a:solidFill>
                <a:latin typeface="Open Sans" charset="0"/>
                <a:ea typeface="Open Sans" charset="0"/>
                <a:cs typeface="Open Sans" charset="0"/>
              </a:defRPr>
            </a:lvl2pPr>
            <a:lvl3pPr marL="1143000" indent="-228600" algn="l" defTabSz="914400" rtl="0" eaLnBrk="1" latinLnBrk="0" hangingPunct="1">
              <a:lnSpc>
                <a:spcPct val="90000"/>
              </a:lnSpc>
              <a:spcBef>
                <a:spcPts val="500"/>
              </a:spcBef>
              <a:buFont typeface="Arial"/>
              <a:buChar char="•"/>
              <a:defRPr sz="1600" b="0" i="0" kern="1200">
                <a:solidFill>
                  <a:schemeClr val="tx1"/>
                </a:solidFill>
                <a:latin typeface="Open Sans" charset="0"/>
                <a:ea typeface="Open Sans" charset="0"/>
                <a:cs typeface="Open Sans" charset="0"/>
              </a:defRPr>
            </a:lvl3pPr>
            <a:lvl4pPr marL="1600200" indent="-228600" algn="l" defTabSz="914400" rtl="0" eaLnBrk="1" latinLnBrk="0" hangingPunct="1">
              <a:lnSpc>
                <a:spcPct val="90000"/>
              </a:lnSpc>
              <a:spcBef>
                <a:spcPts val="500"/>
              </a:spcBef>
              <a:buFont typeface="Arial"/>
              <a:buChar char="•"/>
              <a:defRPr sz="1400" b="0" i="0" kern="1200">
                <a:solidFill>
                  <a:schemeClr val="tx1"/>
                </a:solidFill>
                <a:latin typeface="Open Sans" charset="0"/>
                <a:ea typeface="Open Sans" charset="0"/>
                <a:cs typeface="Open Sans" charset="0"/>
              </a:defRPr>
            </a:lvl4pPr>
            <a:lvl5pPr marL="2057400" indent="-228600" algn="l" defTabSz="914400" rtl="0" eaLnBrk="1" latinLnBrk="0" hangingPunct="1">
              <a:lnSpc>
                <a:spcPct val="90000"/>
              </a:lnSpc>
              <a:spcBef>
                <a:spcPts val="500"/>
              </a:spcBef>
              <a:buFont typeface="Arial"/>
              <a:buChar char="•"/>
              <a:defRPr sz="1400" b="0" i="0" kern="1200">
                <a:solidFill>
                  <a:schemeClr val="tx1"/>
                </a:solidFill>
                <a:latin typeface="Open Sans" charset="0"/>
                <a:ea typeface="Open Sans" charset="0"/>
                <a:cs typeface="Open Sans"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buFont typeface="Wingdings" panose="05000000000000000000" pitchFamily="2" charset="2"/>
              <a:buChar char="§"/>
            </a:pPr>
            <a:r>
              <a:rPr lang="fr-FR" spc="60" dirty="0">
                <a:latin typeface="Open Sans"/>
                <a:ea typeface="Open Sans"/>
                <a:cs typeface="Open Sans"/>
              </a:rPr>
              <a:t>Si le répondant répond "non" mais ajoute que cela ne s'est produit que quelques fois : </a:t>
            </a:r>
          </a:p>
          <a:p>
            <a:pPr>
              <a:buFont typeface="Wingdings" panose="05000000000000000000" pitchFamily="2" charset="2"/>
              <a:buChar char="§"/>
            </a:pPr>
            <a:r>
              <a:rPr lang="fr-FR" b="1" i="1" spc="60" dirty="0">
                <a:latin typeface="Open Sans"/>
                <a:ea typeface="Open Sans"/>
                <a:cs typeface="Open Sans"/>
              </a:rPr>
              <a:t>La réponse correcte est alors "1" oui.</a:t>
            </a:r>
          </a:p>
          <a:p>
            <a:pPr>
              <a:buFont typeface="Wingdings" panose="05000000000000000000" pitchFamily="2" charset="2"/>
              <a:buChar char="§"/>
            </a:pPr>
            <a:r>
              <a:rPr lang="fr-FR" b="1" u="sng" spc="60" dirty="0">
                <a:latin typeface="Open Sans"/>
                <a:ea typeface="Open Sans"/>
                <a:cs typeface="Open Sans"/>
              </a:rPr>
              <a:t>Veillez à sonder les fréquences - rarement, parfois et souvent.</a:t>
            </a:r>
          </a:p>
          <a:p>
            <a:pPr>
              <a:buFont typeface="Wingdings" panose="05000000000000000000" pitchFamily="2" charset="2"/>
              <a:buChar char="§"/>
            </a:pPr>
            <a:r>
              <a:rPr lang="fr-FR" spc="60" dirty="0">
                <a:latin typeface="Open Sans"/>
                <a:ea typeface="Open Sans"/>
                <a:cs typeface="Open Sans"/>
              </a:rPr>
              <a:t>Si le répondant décrit une fréquence qui se traduit par 3 à 10 fois</a:t>
            </a:r>
          </a:p>
          <a:p>
            <a:pPr>
              <a:buFont typeface="Wingdings" panose="05000000000000000000" pitchFamily="2" charset="2"/>
              <a:buChar char="§"/>
            </a:pPr>
            <a:r>
              <a:rPr lang="fr-FR" b="1" i="1" spc="60" dirty="0">
                <a:latin typeface="Open Sans"/>
                <a:ea typeface="Open Sans"/>
                <a:cs typeface="Open Sans"/>
              </a:rPr>
              <a:t>il faut sélectionner "2«  parfois.</a:t>
            </a:r>
          </a:p>
          <a:p>
            <a:pPr>
              <a:buFont typeface="Wingdings" panose="05000000000000000000" pitchFamily="2" charset="2"/>
              <a:buChar char="§"/>
            </a:pPr>
            <a:r>
              <a:rPr lang="fr-FR" spc="60" dirty="0"/>
              <a:t>Le répondant doit être libre de répondre avec ses propres mots et l'enquêteur doit sélectionner l'option de réponse la plus appropriée.</a:t>
            </a:r>
          </a:p>
          <a:p>
            <a:pPr>
              <a:buFont typeface="Wingdings" panose="05000000000000000000" pitchFamily="2" charset="2"/>
              <a:buChar char="§"/>
            </a:pPr>
            <a:r>
              <a:rPr lang="fr-FR" b="1" i="1" spc="60" dirty="0">
                <a:latin typeface="Open Sans"/>
                <a:ea typeface="Open Sans"/>
                <a:cs typeface="Open Sans"/>
              </a:rPr>
              <a:t>Toutefois, si le répondant a des difficultés à répondre, l'enquêteur peut lister à nouveau les options de réponse.</a:t>
            </a:r>
            <a:endParaRPr lang="en-US" b="1" i="1" spc="60" dirty="0">
              <a:latin typeface="Open Sans"/>
              <a:ea typeface="Open Sans"/>
              <a:cs typeface="Open Sans"/>
            </a:endParaRPr>
          </a:p>
        </p:txBody>
      </p:sp>
    </p:spTree>
    <p:extLst>
      <p:ext uri="{BB962C8B-B14F-4D97-AF65-F5344CB8AC3E}">
        <p14:creationId xmlns:p14="http://schemas.microsoft.com/office/powerpoint/2010/main" val="13284178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3">
            <a:extLst>
              <a:ext uri="{FF2B5EF4-FFF2-40B4-BE49-F238E27FC236}">
                <a16:creationId xmlns:a16="http://schemas.microsoft.com/office/drawing/2014/main" id="{BB642E77-5AC9-D346-BC1E-D93A00D9631D}"/>
              </a:ext>
            </a:extLst>
          </p:cNvPr>
          <p:cNvSpPr>
            <a:spLocks noGrp="1"/>
          </p:cNvSpPr>
          <p:nvPr>
            <p:ph type="title"/>
          </p:nvPr>
        </p:nvSpPr>
        <p:spPr>
          <a:xfrm>
            <a:off x="717181" y="716415"/>
            <a:ext cx="11052002" cy="662558"/>
          </a:xfrm>
        </p:spPr>
        <p:txBody>
          <a:bodyPr anchor="t" anchorCtr="0"/>
          <a:lstStyle/>
          <a:p>
            <a:r>
              <a:rPr lang="en-GB" sz="3600" b="0" kern="1400" spc="230" dirty="0">
                <a:solidFill>
                  <a:schemeClr val="tx1"/>
                </a:solidFill>
                <a:latin typeface="HALDEN SOLID" pitchFamily="2" charset="0"/>
              </a:rPr>
              <a:t>MODULE HHS: que demander</a:t>
            </a:r>
          </a:p>
        </p:txBody>
      </p:sp>
      <p:graphicFrame>
        <p:nvGraphicFramePr>
          <p:cNvPr id="4" name="Table 3">
            <a:extLst>
              <a:ext uri="{FF2B5EF4-FFF2-40B4-BE49-F238E27FC236}">
                <a16:creationId xmlns:a16="http://schemas.microsoft.com/office/drawing/2014/main" id="{B5A2FD4F-2FD1-6096-7B26-7915EB63D4D8}"/>
              </a:ext>
            </a:extLst>
          </p:cNvPr>
          <p:cNvGraphicFramePr>
            <a:graphicFrameLocks noGrp="1"/>
          </p:cNvGraphicFramePr>
          <p:nvPr>
            <p:extLst>
              <p:ext uri="{D42A27DB-BD31-4B8C-83A1-F6EECF244321}">
                <p14:modId xmlns:p14="http://schemas.microsoft.com/office/powerpoint/2010/main" val="2556127822"/>
              </p:ext>
            </p:extLst>
          </p:nvPr>
        </p:nvGraphicFramePr>
        <p:xfrm>
          <a:off x="270077" y="1267024"/>
          <a:ext cx="11921923" cy="5590976"/>
        </p:xfrm>
        <a:graphic>
          <a:graphicData uri="http://schemas.openxmlformats.org/drawingml/2006/table">
            <a:tbl>
              <a:tblPr/>
              <a:tblGrid>
                <a:gridCol w="1754057">
                  <a:extLst>
                    <a:ext uri="{9D8B030D-6E8A-4147-A177-3AD203B41FA5}">
                      <a16:colId xmlns:a16="http://schemas.microsoft.com/office/drawing/2014/main" val="3928316088"/>
                    </a:ext>
                  </a:extLst>
                </a:gridCol>
                <a:gridCol w="6215652">
                  <a:extLst>
                    <a:ext uri="{9D8B030D-6E8A-4147-A177-3AD203B41FA5}">
                      <a16:colId xmlns:a16="http://schemas.microsoft.com/office/drawing/2014/main" val="562553131"/>
                    </a:ext>
                  </a:extLst>
                </a:gridCol>
                <a:gridCol w="2908455">
                  <a:extLst>
                    <a:ext uri="{9D8B030D-6E8A-4147-A177-3AD203B41FA5}">
                      <a16:colId xmlns:a16="http://schemas.microsoft.com/office/drawing/2014/main" val="1136677973"/>
                    </a:ext>
                  </a:extLst>
                </a:gridCol>
                <a:gridCol w="1043759">
                  <a:extLst>
                    <a:ext uri="{9D8B030D-6E8A-4147-A177-3AD203B41FA5}">
                      <a16:colId xmlns:a16="http://schemas.microsoft.com/office/drawing/2014/main" val="1871495294"/>
                    </a:ext>
                  </a:extLst>
                </a:gridCol>
              </a:tblGrid>
              <a:tr h="537700">
                <a:tc>
                  <a:txBody>
                    <a:bodyPr/>
                    <a:lstStyle/>
                    <a:p>
                      <a:pPr fontAlgn="ctr"/>
                      <a:endParaRPr lang="en-GB" sz="1600" b="1" kern="1200" dirty="0">
                        <a:solidFill>
                          <a:schemeClr val="dk1"/>
                        </a:solidFill>
                        <a:effectLst/>
                        <a:latin typeface="Open Sans" panose="020B0606030504020204" pitchFamily="34" charset="0"/>
                        <a:ea typeface="Open Sans" panose="020B0606030504020204" pitchFamily="34" charset="0"/>
                        <a:cs typeface="Open Sans" panose="020B0606030504020204" pitchFamily="34" charset="0"/>
                      </a:endParaRPr>
                    </a:p>
                    <a:p>
                      <a:pPr algn="l" rtl="0" fontAlgn="base"/>
                      <a:r>
                        <a:rPr lang="en-GB" sz="1600" b="1" kern="1200" dirty="0">
                          <a:solidFill>
                            <a:schemeClr val="dk1"/>
                          </a:solidFill>
                          <a:effectLst/>
                          <a:latin typeface="Open Sans" panose="020B0606030504020204" pitchFamily="34" charset="0"/>
                          <a:ea typeface="Open Sans" panose="020B0606030504020204" pitchFamily="34" charset="0"/>
                          <a:cs typeface="Open Sans" panose="020B0606030504020204" pitchFamily="34" charset="0"/>
                        </a:rPr>
                        <a:t>Variable name  </a:t>
                      </a:r>
                    </a:p>
                  </a:txBody>
                  <a:tcPr marL="63781" marR="63781" marT="31891" marB="318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fontAlgn="ctr"/>
                      <a:endParaRPr lang="en-GB" sz="1600" b="1" kern="1200">
                        <a:solidFill>
                          <a:schemeClr val="dk1"/>
                        </a:solidFill>
                        <a:effectLst/>
                        <a:latin typeface="Open Sans" panose="020B0606030504020204" pitchFamily="34" charset="0"/>
                        <a:ea typeface="Open Sans" panose="020B0606030504020204" pitchFamily="34" charset="0"/>
                        <a:cs typeface="Open Sans" panose="020B0606030504020204" pitchFamily="34" charset="0"/>
                      </a:endParaRPr>
                    </a:p>
                    <a:p>
                      <a:pPr algn="ctr" rtl="0" fontAlgn="base"/>
                      <a:r>
                        <a:rPr lang="en-GB" sz="1600" b="1" kern="1200">
                          <a:solidFill>
                            <a:schemeClr val="dk1"/>
                          </a:solidFill>
                          <a:effectLst/>
                          <a:latin typeface="Open Sans" panose="020B0606030504020204" pitchFamily="34" charset="0"/>
                          <a:ea typeface="Open Sans" panose="020B0606030504020204" pitchFamily="34" charset="0"/>
                          <a:cs typeface="Open Sans" panose="020B0606030504020204" pitchFamily="34" charset="0"/>
                        </a:rPr>
                        <a:t>Question </a:t>
                      </a:r>
                    </a:p>
                  </a:txBody>
                  <a:tcPr marL="63781" marR="63781" marT="31891" marB="318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fontAlgn="ctr"/>
                      <a:endParaRPr lang="en-GB" sz="1600" b="1" kern="1200" dirty="0">
                        <a:solidFill>
                          <a:schemeClr val="dk1"/>
                        </a:solidFill>
                        <a:effectLst/>
                        <a:latin typeface="Open Sans" panose="020B0606030504020204" pitchFamily="34" charset="0"/>
                        <a:ea typeface="Open Sans" panose="020B0606030504020204" pitchFamily="34" charset="0"/>
                        <a:cs typeface="Open Sans" panose="020B0606030504020204" pitchFamily="34" charset="0"/>
                      </a:endParaRPr>
                    </a:p>
                    <a:p>
                      <a:pPr algn="ctr" rtl="0" fontAlgn="base"/>
                      <a:r>
                        <a:rPr lang="en-GB" sz="1600" b="1" kern="1200" dirty="0">
                          <a:solidFill>
                            <a:schemeClr val="dk1"/>
                          </a:solidFill>
                          <a:effectLst/>
                          <a:latin typeface="Open Sans" panose="020B0606030504020204" pitchFamily="34" charset="0"/>
                          <a:ea typeface="Open Sans" panose="020B0606030504020204" pitchFamily="34" charset="0"/>
                          <a:cs typeface="Open Sans" panose="020B0606030504020204" pitchFamily="34" charset="0"/>
                        </a:rPr>
                        <a:t>Option de </a:t>
                      </a:r>
                      <a:r>
                        <a:rPr lang="en-GB" sz="1600" b="1" kern="1200" dirty="0" err="1">
                          <a:solidFill>
                            <a:schemeClr val="dk1"/>
                          </a:solidFill>
                          <a:effectLst/>
                          <a:latin typeface="Open Sans" panose="020B0606030504020204" pitchFamily="34" charset="0"/>
                          <a:ea typeface="Open Sans" panose="020B0606030504020204" pitchFamily="34" charset="0"/>
                          <a:cs typeface="Open Sans" panose="020B0606030504020204" pitchFamily="34" charset="0"/>
                        </a:rPr>
                        <a:t>reponse</a:t>
                      </a:r>
                      <a:r>
                        <a:rPr lang="en-GB" sz="1600" b="1" kern="1200" dirty="0">
                          <a:solidFill>
                            <a:schemeClr val="dk1"/>
                          </a:solidFill>
                          <a:effectLst/>
                          <a:latin typeface="Open Sans" panose="020B0606030504020204" pitchFamily="34" charset="0"/>
                          <a:ea typeface="Open Sans" panose="020B0606030504020204" pitchFamily="34" charset="0"/>
                          <a:cs typeface="Open Sans" panose="020B0606030504020204" pitchFamily="34" charset="0"/>
                        </a:rPr>
                        <a:t> </a:t>
                      </a:r>
                    </a:p>
                  </a:txBody>
                  <a:tcPr marL="63781" marR="63781" marT="31891" marB="318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fontAlgn="ctr"/>
                      <a:endParaRPr lang="en-GB" sz="1600" b="1" kern="1200">
                        <a:solidFill>
                          <a:schemeClr val="dk1"/>
                        </a:solidFill>
                        <a:effectLst/>
                        <a:latin typeface="Open Sans" panose="020B0606030504020204" pitchFamily="34" charset="0"/>
                        <a:ea typeface="Open Sans" panose="020B0606030504020204" pitchFamily="34" charset="0"/>
                        <a:cs typeface="Open Sans" panose="020B0606030504020204" pitchFamily="34" charset="0"/>
                      </a:endParaRPr>
                    </a:p>
                    <a:p>
                      <a:pPr algn="ctr" rtl="0" fontAlgn="base"/>
                      <a:r>
                        <a:rPr lang="en-GB" sz="1600" b="1" kern="1200">
                          <a:solidFill>
                            <a:schemeClr val="dk1"/>
                          </a:solidFill>
                          <a:effectLst/>
                          <a:latin typeface="Open Sans" panose="020B0606030504020204" pitchFamily="34" charset="0"/>
                          <a:ea typeface="Open Sans" panose="020B0606030504020204" pitchFamily="34" charset="0"/>
                          <a:cs typeface="Open Sans" panose="020B0606030504020204" pitchFamily="34" charset="0"/>
                        </a:rPr>
                        <a:t>Code </a:t>
                      </a:r>
                    </a:p>
                  </a:txBody>
                  <a:tcPr marL="63781" marR="63781" marT="31891" marB="318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369323607"/>
                  </a:ext>
                </a:extLst>
              </a:tr>
              <a:tr h="756812">
                <a:tc>
                  <a:txBody>
                    <a:bodyPr/>
                    <a:lstStyle/>
                    <a:p>
                      <a:pPr fontAlgn="ctr"/>
                      <a:endParaRPr lang="en-GB" sz="3200">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p>
                      <a:pPr algn="l" rtl="0" fontAlgn="base"/>
                      <a:r>
                        <a:rPr lang="en-GB" sz="1200" b="1" i="0" err="1">
                          <a:solidFill>
                            <a:schemeClr val="tx1"/>
                          </a:solidFill>
                          <a:effectLst/>
                          <a:latin typeface="Open Sans" panose="020B0606030504020204" pitchFamily="34" charset="0"/>
                          <a:ea typeface="Open Sans" panose="020B0606030504020204" pitchFamily="34" charset="0"/>
                          <a:cs typeface="Open Sans" panose="020B0606030504020204" pitchFamily="34" charset="0"/>
                        </a:rPr>
                        <a:t>HHSNoFood</a:t>
                      </a:r>
                      <a:r>
                        <a:rPr lang="en-GB" sz="1200" b="0" i="0">
                          <a:solidFill>
                            <a:schemeClr val="tx1"/>
                          </a:solidFill>
                          <a:effectLst/>
                          <a:latin typeface="Open Sans" panose="020B0606030504020204" pitchFamily="34" charset="0"/>
                          <a:ea typeface="Open Sans" panose="020B0606030504020204" pitchFamily="34" charset="0"/>
                          <a:cs typeface="Open Sans" panose="020B0606030504020204" pitchFamily="34" charset="0"/>
                        </a:rPr>
                        <a:t> </a:t>
                      </a:r>
                      <a:endParaRPr lang="en-GB" sz="3200" b="0" i="0">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txBody>
                  <a:tcPr marL="63781" marR="63781" marT="31891" marB="3189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E"/>
                    </a:solidFill>
                  </a:tcPr>
                </a:tc>
                <a:tc>
                  <a:txBody>
                    <a:bodyPr/>
                    <a:lstStyle/>
                    <a:p>
                      <a:pPr algn="l" rtl="0" fontAlgn="base"/>
                      <a:r>
                        <a:rPr lang="fr-FR" sz="1400" b="1"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Au cours des [4 dernières semaines / 30 derniers jours], y a-t-il eu un moment où il n'y avait aucun aliment à manger à la maison à cause du manque de ressources pour en acheter ?</a:t>
                      </a:r>
                      <a:endParaRPr lang="en-GB" sz="3200" b="1"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txBody>
                  <a:tcPr marL="63781" marR="63781" marT="31891" marB="3189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E"/>
                    </a:solidFill>
                  </a:tcPr>
                </a:tc>
                <a:tc>
                  <a:txBody>
                    <a:bodyPr/>
                    <a:lstStyle/>
                    <a:p>
                      <a:pPr algn="l" rtl="0" fontAlgn="base"/>
                      <a:r>
                        <a:rPr lang="en-GB" sz="12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0 = Non </a:t>
                      </a:r>
                      <a:r>
                        <a:rPr lang="en-GB" sz="1200" b="0" i="1"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(passer a </a:t>
                      </a:r>
                      <a:r>
                        <a:rPr lang="en-GB" sz="1200" b="0" i="1" dirty="0" err="1">
                          <a:solidFill>
                            <a:schemeClr val="tx1"/>
                          </a:solidFill>
                          <a:effectLst/>
                          <a:latin typeface="Open Sans" panose="020B0606030504020204" pitchFamily="34" charset="0"/>
                          <a:ea typeface="Open Sans" panose="020B0606030504020204" pitchFamily="34" charset="0"/>
                          <a:cs typeface="Open Sans" panose="020B0606030504020204" pitchFamily="34" charset="0"/>
                        </a:rPr>
                        <a:t>HHSBedHung</a:t>
                      </a:r>
                      <a:r>
                        <a:rPr lang="en-GB" sz="1200" b="0" i="1"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a:t>
                      </a:r>
                      <a:r>
                        <a:rPr lang="en-GB" sz="12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                             </a:t>
                      </a:r>
                      <a:endParaRPr lang="en-GB" sz="32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p>
                      <a:pPr algn="l" rtl="0" fontAlgn="base"/>
                      <a:r>
                        <a:rPr lang="en-GB" sz="12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 1 = </a:t>
                      </a:r>
                      <a:r>
                        <a:rPr lang="en-GB" sz="1200" b="0" i="0" dirty="0" err="1">
                          <a:solidFill>
                            <a:schemeClr val="tx1"/>
                          </a:solidFill>
                          <a:effectLst/>
                          <a:latin typeface="Open Sans" panose="020B0606030504020204" pitchFamily="34" charset="0"/>
                          <a:ea typeface="Open Sans" panose="020B0606030504020204" pitchFamily="34" charset="0"/>
                          <a:cs typeface="Open Sans" panose="020B0606030504020204" pitchFamily="34" charset="0"/>
                        </a:rPr>
                        <a:t>Oui</a:t>
                      </a:r>
                      <a:r>
                        <a:rPr lang="en-GB" sz="12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 </a:t>
                      </a:r>
                      <a:endParaRPr lang="en-GB" sz="32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txBody>
                  <a:tcPr marL="63781" marR="63781" marT="31891" marB="318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E"/>
                    </a:solidFill>
                  </a:tcPr>
                </a:tc>
                <a:tc>
                  <a:txBody>
                    <a:bodyPr/>
                    <a:lstStyle/>
                    <a:p>
                      <a:pPr fontAlgn="ctr"/>
                      <a:endParaRPr lang="en-GB" sz="2800">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p>
                      <a:pPr algn="l" rtl="0" fontAlgn="base"/>
                      <a:r>
                        <a:rPr lang="en-GB" sz="1200" b="1" i="0">
                          <a:solidFill>
                            <a:schemeClr val="tx1"/>
                          </a:solidFill>
                          <a:effectLst/>
                          <a:latin typeface="Open Sans" panose="020B0606030504020204" pitchFamily="34" charset="0"/>
                          <a:ea typeface="Open Sans" panose="020B0606030504020204" pitchFamily="34" charset="0"/>
                          <a:cs typeface="Open Sans" panose="020B0606030504020204" pitchFamily="34" charset="0"/>
                        </a:rPr>
                        <a:t>|___|</a:t>
                      </a:r>
                      <a:r>
                        <a:rPr lang="en-GB" sz="1200" b="0" i="0">
                          <a:solidFill>
                            <a:schemeClr val="tx1"/>
                          </a:solidFill>
                          <a:effectLst/>
                          <a:latin typeface="Open Sans" panose="020B0606030504020204" pitchFamily="34" charset="0"/>
                          <a:ea typeface="Open Sans" panose="020B0606030504020204" pitchFamily="34" charset="0"/>
                          <a:cs typeface="Open Sans" panose="020B0606030504020204" pitchFamily="34" charset="0"/>
                        </a:rPr>
                        <a:t> </a:t>
                      </a:r>
                      <a:endParaRPr lang="en-GB" sz="2800" b="0" i="0">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txBody>
                  <a:tcPr marL="63781" marR="63781" marT="31891" marB="318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E"/>
                    </a:solidFill>
                  </a:tcPr>
                </a:tc>
                <a:extLst>
                  <a:ext uri="{0D108BD9-81ED-4DB2-BD59-A6C34878D82A}">
                    <a16:rowId xmlns:a16="http://schemas.microsoft.com/office/drawing/2014/main" val="1659683542"/>
                  </a:ext>
                </a:extLst>
              </a:tr>
              <a:tr h="841729">
                <a:tc>
                  <a:txBody>
                    <a:bodyPr/>
                    <a:lstStyle/>
                    <a:p>
                      <a:pPr fontAlgn="ctr"/>
                      <a:endParaRPr lang="en-GB" sz="320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p>
                      <a:pPr algn="l" rtl="0" fontAlgn="base"/>
                      <a:r>
                        <a:rPr lang="en-GB" sz="1200" b="1" i="0" dirty="0" err="1">
                          <a:solidFill>
                            <a:schemeClr val="tx1"/>
                          </a:solidFill>
                          <a:effectLst/>
                          <a:latin typeface="Open Sans" panose="020B0606030504020204" pitchFamily="34" charset="0"/>
                          <a:ea typeface="Open Sans" panose="020B0606030504020204" pitchFamily="34" charset="0"/>
                          <a:cs typeface="Open Sans" panose="020B0606030504020204" pitchFamily="34" charset="0"/>
                        </a:rPr>
                        <a:t>HHSNoFood_FR</a:t>
                      </a:r>
                      <a:r>
                        <a:rPr lang="en-GB" sz="12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 </a:t>
                      </a:r>
                      <a:endParaRPr lang="en-GB" sz="32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txBody>
                  <a:tcPr marL="63781" marR="63781" marT="31891" marB="3189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E"/>
                    </a:solidFill>
                  </a:tcPr>
                </a:tc>
                <a:tc>
                  <a:txBody>
                    <a:bodyPr/>
                    <a:lstStyle/>
                    <a:p>
                      <a:pPr algn="l" rtl="0" fontAlgn="base"/>
                      <a:r>
                        <a:rPr lang="fr-FR" sz="1400" b="0" i="1"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A quelle fréquence cela s'est-il produit au cours des dernières [4 semaines/30 jours] ?</a:t>
                      </a:r>
                      <a:endParaRPr lang="en-GB" sz="3200" b="0" i="1" dirty="0">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txBody>
                  <a:tcPr marL="63781" marR="63781" marT="31891" marB="3189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E"/>
                    </a:solidFill>
                  </a:tcPr>
                </a:tc>
                <a:tc>
                  <a:txBody>
                    <a:bodyPr/>
                    <a:lstStyle/>
                    <a:p>
                      <a:pPr algn="l" rtl="0" fontAlgn="base"/>
                      <a:r>
                        <a:rPr lang="en-GB" sz="12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1 = </a:t>
                      </a:r>
                      <a:r>
                        <a:rPr lang="en-GB" sz="1200" b="0" i="0" dirty="0" err="1">
                          <a:solidFill>
                            <a:schemeClr val="tx1"/>
                          </a:solidFill>
                          <a:effectLst/>
                          <a:latin typeface="Open Sans" panose="020B0606030504020204" pitchFamily="34" charset="0"/>
                          <a:ea typeface="Open Sans" panose="020B0606030504020204" pitchFamily="34" charset="0"/>
                          <a:cs typeface="Open Sans" panose="020B0606030504020204" pitchFamily="34" charset="0"/>
                        </a:rPr>
                        <a:t>Rarement</a:t>
                      </a:r>
                      <a:r>
                        <a:rPr lang="en-GB" sz="12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 (1–2 </a:t>
                      </a:r>
                      <a:r>
                        <a:rPr lang="en-GB" sz="1200" b="0" i="0" dirty="0" err="1">
                          <a:solidFill>
                            <a:schemeClr val="tx1"/>
                          </a:solidFill>
                          <a:effectLst/>
                          <a:latin typeface="Open Sans" panose="020B0606030504020204" pitchFamily="34" charset="0"/>
                          <a:ea typeface="Open Sans" panose="020B0606030504020204" pitchFamily="34" charset="0"/>
                          <a:cs typeface="Open Sans" panose="020B0606030504020204" pitchFamily="34" charset="0"/>
                        </a:rPr>
                        <a:t>fois</a:t>
                      </a:r>
                      <a:r>
                        <a:rPr lang="en-GB" sz="12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                        </a:t>
                      </a:r>
                      <a:endParaRPr lang="en-GB" sz="32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p>
                      <a:pPr algn="l" rtl="0" fontAlgn="base"/>
                      <a:r>
                        <a:rPr lang="en-GB" sz="12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2 = Parfois (3–10 times) </a:t>
                      </a:r>
                      <a:endParaRPr lang="en-GB" sz="32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p>
                      <a:pPr algn="l" rtl="0" fontAlgn="base"/>
                      <a:r>
                        <a:rPr lang="en-GB" sz="12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3 = </a:t>
                      </a:r>
                      <a:r>
                        <a:rPr lang="en-GB" sz="1200" b="0" i="0" dirty="0" err="1">
                          <a:solidFill>
                            <a:schemeClr val="tx1"/>
                          </a:solidFill>
                          <a:effectLst/>
                          <a:latin typeface="Open Sans" panose="020B0606030504020204" pitchFamily="34" charset="0"/>
                          <a:ea typeface="Open Sans" panose="020B0606030504020204" pitchFamily="34" charset="0"/>
                          <a:cs typeface="Open Sans" panose="020B0606030504020204" pitchFamily="34" charset="0"/>
                        </a:rPr>
                        <a:t>Souvent</a:t>
                      </a:r>
                      <a:r>
                        <a:rPr lang="en-GB" sz="12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 (plus de 10 </a:t>
                      </a:r>
                      <a:r>
                        <a:rPr lang="en-GB" sz="1200" b="0" i="0" dirty="0" err="1">
                          <a:solidFill>
                            <a:schemeClr val="tx1"/>
                          </a:solidFill>
                          <a:effectLst/>
                          <a:latin typeface="Open Sans" panose="020B0606030504020204" pitchFamily="34" charset="0"/>
                          <a:ea typeface="Open Sans" panose="020B0606030504020204" pitchFamily="34" charset="0"/>
                          <a:cs typeface="Open Sans" panose="020B0606030504020204" pitchFamily="34" charset="0"/>
                        </a:rPr>
                        <a:t>fois</a:t>
                      </a:r>
                      <a:r>
                        <a:rPr lang="en-GB" sz="12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 </a:t>
                      </a:r>
                      <a:endParaRPr lang="en-GB" sz="32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p>
                      <a:pPr algn="l" rtl="0" fontAlgn="base"/>
                      <a:r>
                        <a:rPr lang="en-GB" sz="12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 </a:t>
                      </a:r>
                      <a:endParaRPr lang="en-GB" sz="32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txBody>
                  <a:tcPr marL="63781" marR="63781" marT="31891" marB="31891"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E"/>
                    </a:solidFill>
                  </a:tcPr>
                </a:tc>
                <a:tc>
                  <a:txBody>
                    <a:bodyPr/>
                    <a:lstStyle/>
                    <a:p>
                      <a:pPr fontAlgn="ctr"/>
                      <a:endParaRPr lang="en-GB" sz="280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p>
                      <a:pPr algn="l" rtl="0" fontAlgn="base"/>
                      <a:r>
                        <a:rPr lang="en-GB" sz="1200" b="1"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|___|</a:t>
                      </a:r>
                      <a:r>
                        <a:rPr lang="en-GB" sz="12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 </a:t>
                      </a:r>
                      <a:endParaRPr lang="en-GB" sz="28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txBody>
                  <a:tcPr marL="63781" marR="63781" marT="31891" marB="318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E"/>
                    </a:solidFill>
                  </a:tcPr>
                </a:tc>
                <a:extLst>
                  <a:ext uri="{0D108BD9-81ED-4DB2-BD59-A6C34878D82A}">
                    <a16:rowId xmlns:a16="http://schemas.microsoft.com/office/drawing/2014/main" val="3780460379"/>
                  </a:ext>
                </a:extLst>
              </a:tr>
              <a:tr h="886720">
                <a:tc>
                  <a:txBody>
                    <a:bodyPr/>
                    <a:lstStyle/>
                    <a:p>
                      <a:pPr fontAlgn="ctr"/>
                      <a:endParaRPr lang="en-GB" sz="320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p>
                      <a:pPr algn="l" rtl="0" fontAlgn="base"/>
                      <a:r>
                        <a:rPr lang="en-GB" sz="1200" b="1" i="0" dirty="0" err="1">
                          <a:solidFill>
                            <a:schemeClr val="tx1"/>
                          </a:solidFill>
                          <a:effectLst/>
                          <a:latin typeface="Open Sans" panose="020B0606030504020204" pitchFamily="34" charset="0"/>
                          <a:ea typeface="Open Sans" panose="020B0606030504020204" pitchFamily="34" charset="0"/>
                          <a:cs typeface="Open Sans" panose="020B0606030504020204" pitchFamily="34" charset="0"/>
                        </a:rPr>
                        <a:t>HHSBedHung</a:t>
                      </a:r>
                      <a:r>
                        <a:rPr lang="en-GB" sz="12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 </a:t>
                      </a:r>
                      <a:endParaRPr lang="en-GB" sz="32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txBody>
                  <a:tcPr marL="63781" marR="63781" marT="31891" marB="3189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E"/>
                    </a:solidFill>
                  </a:tcPr>
                </a:tc>
                <a:tc>
                  <a:txBody>
                    <a:bodyPr/>
                    <a:lstStyle/>
                    <a:p>
                      <a:pPr algn="l" rtl="0" fontAlgn="base"/>
                      <a:r>
                        <a:rPr lang="fr-FR" sz="1400" b="1"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Au cours des [4 dernières semaines / 30 derniers jours], avez-vous été, ou tout membre de votre ménage a-t-il été obligé d'aller dormir en ayant faim le soir parce qu’il n’y avait pas assez de nourriture ?</a:t>
                      </a:r>
                      <a:endParaRPr lang="en-GB" sz="32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txBody>
                  <a:tcPr marL="63781" marR="63781" marT="31891" marB="3189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E"/>
                    </a:solidFill>
                  </a:tcPr>
                </a:tc>
                <a:tc>
                  <a:txBody>
                    <a:bodyPr/>
                    <a:lstStyle/>
                    <a:p>
                      <a:pPr algn="l" rtl="0" fontAlgn="base"/>
                      <a:r>
                        <a:rPr lang="en-GB" sz="12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0 = Non </a:t>
                      </a:r>
                      <a:r>
                        <a:rPr lang="en-GB" sz="1200" b="0" i="1"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(passer a </a:t>
                      </a:r>
                      <a:r>
                        <a:rPr lang="en-GB" sz="1200" b="1" i="0" dirty="0" err="1">
                          <a:solidFill>
                            <a:schemeClr val="tx1"/>
                          </a:solidFill>
                          <a:effectLst/>
                          <a:latin typeface="Open Sans" panose="020B0606030504020204" pitchFamily="34" charset="0"/>
                          <a:ea typeface="Open Sans" panose="020B0606030504020204" pitchFamily="34" charset="0"/>
                          <a:cs typeface="Open Sans" panose="020B0606030504020204" pitchFamily="34" charset="0"/>
                        </a:rPr>
                        <a:t>HHSNotEat</a:t>
                      </a:r>
                      <a:r>
                        <a:rPr lang="en-GB" sz="1200" b="0" i="1"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a:t>
                      </a:r>
                      <a:r>
                        <a:rPr lang="en-GB" sz="12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                             </a:t>
                      </a:r>
                      <a:endParaRPr lang="en-GB" sz="32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p>
                      <a:pPr algn="l" rtl="0" fontAlgn="base"/>
                      <a:r>
                        <a:rPr lang="en-GB" sz="12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 1 = </a:t>
                      </a:r>
                      <a:r>
                        <a:rPr lang="en-GB" sz="1200" b="0" i="0" dirty="0" err="1">
                          <a:solidFill>
                            <a:schemeClr val="tx1"/>
                          </a:solidFill>
                          <a:effectLst/>
                          <a:latin typeface="Open Sans" panose="020B0606030504020204" pitchFamily="34" charset="0"/>
                          <a:ea typeface="Open Sans" panose="020B0606030504020204" pitchFamily="34" charset="0"/>
                          <a:cs typeface="Open Sans" panose="020B0606030504020204" pitchFamily="34" charset="0"/>
                        </a:rPr>
                        <a:t>Oui</a:t>
                      </a:r>
                      <a:r>
                        <a:rPr lang="en-GB" sz="12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 </a:t>
                      </a:r>
                      <a:endParaRPr lang="en-GB" sz="32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txBody>
                  <a:tcPr marL="63781" marR="63781" marT="31891" marB="318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E"/>
                    </a:solidFill>
                  </a:tcPr>
                </a:tc>
                <a:tc>
                  <a:txBody>
                    <a:bodyPr/>
                    <a:lstStyle/>
                    <a:p>
                      <a:pPr fontAlgn="ctr"/>
                      <a:endParaRPr lang="en-GB" sz="2800">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p>
                      <a:pPr algn="l" rtl="0" fontAlgn="base"/>
                      <a:r>
                        <a:rPr lang="en-GB" sz="1200" b="1" i="0">
                          <a:solidFill>
                            <a:schemeClr val="tx1"/>
                          </a:solidFill>
                          <a:effectLst/>
                          <a:latin typeface="Open Sans" panose="020B0606030504020204" pitchFamily="34" charset="0"/>
                          <a:ea typeface="Open Sans" panose="020B0606030504020204" pitchFamily="34" charset="0"/>
                          <a:cs typeface="Open Sans" panose="020B0606030504020204" pitchFamily="34" charset="0"/>
                        </a:rPr>
                        <a:t>|___|</a:t>
                      </a:r>
                      <a:r>
                        <a:rPr lang="en-GB" sz="1200" b="0" i="0">
                          <a:solidFill>
                            <a:schemeClr val="tx1"/>
                          </a:solidFill>
                          <a:effectLst/>
                          <a:latin typeface="Open Sans" panose="020B0606030504020204" pitchFamily="34" charset="0"/>
                          <a:ea typeface="Open Sans" panose="020B0606030504020204" pitchFamily="34" charset="0"/>
                          <a:cs typeface="Open Sans" panose="020B0606030504020204" pitchFamily="34" charset="0"/>
                        </a:rPr>
                        <a:t> </a:t>
                      </a:r>
                      <a:endParaRPr lang="en-GB" sz="2800" b="0" i="0">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txBody>
                  <a:tcPr marL="63781" marR="63781" marT="31891" marB="318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E"/>
                    </a:solidFill>
                  </a:tcPr>
                </a:tc>
                <a:extLst>
                  <a:ext uri="{0D108BD9-81ED-4DB2-BD59-A6C34878D82A}">
                    <a16:rowId xmlns:a16="http://schemas.microsoft.com/office/drawing/2014/main" val="625590854"/>
                  </a:ext>
                </a:extLst>
              </a:tr>
              <a:tr h="841729">
                <a:tc>
                  <a:txBody>
                    <a:bodyPr/>
                    <a:lstStyle/>
                    <a:p>
                      <a:pPr algn="l" rtl="0" fontAlgn="base"/>
                      <a:r>
                        <a:rPr lang="en-GB" sz="1200" b="1" i="0" err="1">
                          <a:solidFill>
                            <a:schemeClr val="tx1"/>
                          </a:solidFill>
                          <a:effectLst/>
                          <a:latin typeface="Open Sans" panose="020B0606030504020204" pitchFamily="34" charset="0"/>
                          <a:ea typeface="Open Sans" panose="020B0606030504020204" pitchFamily="34" charset="0"/>
                          <a:cs typeface="Open Sans" panose="020B0606030504020204" pitchFamily="34" charset="0"/>
                        </a:rPr>
                        <a:t>HHSBedHung_FR</a:t>
                      </a:r>
                      <a:r>
                        <a:rPr lang="en-GB" sz="1200" b="0" i="0">
                          <a:solidFill>
                            <a:schemeClr val="tx1"/>
                          </a:solidFill>
                          <a:effectLst/>
                          <a:latin typeface="Open Sans" panose="020B0606030504020204" pitchFamily="34" charset="0"/>
                          <a:ea typeface="Open Sans" panose="020B0606030504020204" pitchFamily="34" charset="0"/>
                          <a:cs typeface="Open Sans" panose="020B0606030504020204" pitchFamily="34" charset="0"/>
                        </a:rPr>
                        <a:t> </a:t>
                      </a:r>
                      <a:endParaRPr lang="en-GB" sz="3200" b="0" i="0">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txBody>
                  <a:tcPr marL="63781" marR="63781" marT="31891" marB="3189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E"/>
                    </a:solidFill>
                  </a:tcPr>
                </a:tc>
                <a:tc>
                  <a:txBody>
                    <a:bodyPr/>
                    <a:lstStyle/>
                    <a:p>
                      <a:pPr algn="l" rtl="0" fontAlgn="base"/>
                      <a:r>
                        <a:rPr lang="fr-FR" sz="1400" b="0" i="1"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A quelle fréquence cela s'est-il produit au cours des dernières [4 semaines/30 jours] ?</a:t>
                      </a:r>
                      <a:endParaRPr lang="en-GB" sz="3200" b="0" i="1" dirty="0">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txBody>
                  <a:tcPr marL="63781" marR="63781" marT="31891" marB="3189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E"/>
                    </a:solidFill>
                  </a:tcPr>
                </a:tc>
                <a:tc>
                  <a:txBody>
                    <a:bodyPr/>
                    <a:lstStyle/>
                    <a:p>
                      <a:pPr algn="l" rtl="0" fontAlgn="base"/>
                      <a:r>
                        <a:rPr lang="en-GB" sz="12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1 = </a:t>
                      </a:r>
                      <a:r>
                        <a:rPr lang="en-GB" sz="1200" b="0" i="0" dirty="0" err="1">
                          <a:solidFill>
                            <a:schemeClr val="tx1"/>
                          </a:solidFill>
                          <a:effectLst/>
                          <a:latin typeface="Open Sans" panose="020B0606030504020204" pitchFamily="34" charset="0"/>
                          <a:ea typeface="Open Sans" panose="020B0606030504020204" pitchFamily="34" charset="0"/>
                          <a:cs typeface="Open Sans" panose="020B0606030504020204" pitchFamily="34" charset="0"/>
                        </a:rPr>
                        <a:t>Rarement</a:t>
                      </a:r>
                      <a:r>
                        <a:rPr lang="en-GB" sz="12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 (1–2 </a:t>
                      </a:r>
                      <a:r>
                        <a:rPr lang="en-GB" sz="1200" b="0" i="0" dirty="0" err="1">
                          <a:solidFill>
                            <a:schemeClr val="tx1"/>
                          </a:solidFill>
                          <a:effectLst/>
                          <a:latin typeface="Open Sans" panose="020B0606030504020204" pitchFamily="34" charset="0"/>
                          <a:ea typeface="Open Sans" panose="020B0606030504020204" pitchFamily="34" charset="0"/>
                          <a:cs typeface="Open Sans" panose="020B0606030504020204" pitchFamily="34" charset="0"/>
                        </a:rPr>
                        <a:t>fois</a:t>
                      </a:r>
                      <a:r>
                        <a:rPr lang="en-GB" sz="12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                        </a:t>
                      </a:r>
                      <a:endParaRPr lang="en-GB" sz="32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p>
                      <a:pPr algn="l" rtl="0" fontAlgn="base"/>
                      <a:r>
                        <a:rPr lang="en-GB" sz="12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2 = Parfois (3–10 times) </a:t>
                      </a:r>
                      <a:endParaRPr lang="en-GB" sz="32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p>
                      <a:pPr algn="l" rtl="0" fontAlgn="base"/>
                      <a:r>
                        <a:rPr lang="en-GB" sz="12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3 = </a:t>
                      </a:r>
                      <a:r>
                        <a:rPr lang="en-GB" sz="1200" b="0" i="0" dirty="0" err="1">
                          <a:solidFill>
                            <a:schemeClr val="tx1"/>
                          </a:solidFill>
                          <a:effectLst/>
                          <a:latin typeface="Open Sans" panose="020B0606030504020204" pitchFamily="34" charset="0"/>
                          <a:ea typeface="Open Sans" panose="020B0606030504020204" pitchFamily="34" charset="0"/>
                          <a:cs typeface="Open Sans" panose="020B0606030504020204" pitchFamily="34" charset="0"/>
                        </a:rPr>
                        <a:t>Souvent</a:t>
                      </a:r>
                      <a:r>
                        <a:rPr lang="en-GB" sz="12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 (plus de 10 </a:t>
                      </a:r>
                      <a:r>
                        <a:rPr lang="en-GB" sz="1200" b="0" i="0" dirty="0" err="1">
                          <a:solidFill>
                            <a:schemeClr val="tx1"/>
                          </a:solidFill>
                          <a:effectLst/>
                          <a:latin typeface="Open Sans" panose="020B0606030504020204" pitchFamily="34" charset="0"/>
                          <a:ea typeface="Open Sans" panose="020B0606030504020204" pitchFamily="34" charset="0"/>
                          <a:cs typeface="Open Sans" panose="020B0606030504020204" pitchFamily="34" charset="0"/>
                        </a:rPr>
                        <a:t>fois</a:t>
                      </a:r>
                      <a:r>
                        <a:rPr lang="en-GB" sz="12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 </a:t>
                      </a:r>
                      <a:endParaRPr lang="en-GB" sz="32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p>
                      <a:pPr algn="l" rtl="0" fontAlgn="base"/>
                      <a:r>
                        <a:rPr lang="en-GB" sz="12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 </a:t>
                      </a:r>
                      <a:endParaRPr lang="en-GB" sz="32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txBody>
                  <a:tcPr marL="63781" marR="63781" marT="31891" marB="31891"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E"/>
                    </a:solidFill>
                  </a:tcPr>
                </a:tc>
                <a:tc>
                  <a:txBody>
                    <a:bodyPr/>
                    <a:lstStyle/>
                    <a:p>
                      <a:pPr fontAlgn="ctr"/>
                      <a:endParaRPr lang="en-GB" sz="280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p>
                      <a:pPr algn="l" rtl="0" fontAlgn="base"/>
                      <a:r>
                        <a:rPr lang="en-GB" sz="1200" b="1"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|___|</a:t>
                      </a:r>
                      <a:r>
                        <a:rPr lang="en-GB" sz="12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 </a:t>
                      </a:r>
                      <a:endParaRPr lang="en-GB" sz="28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txBody>
                  <a:tcPr marL="63781" marR="63781" marT="31891" marB="318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E"/>
                    </a:solidFill>
                  </a:tcPr>
                </a:tc>
                <a:extLst>
                  <a:ext uri="{0D108BD9-81ED-4DB2-BD59-A6C34878D82A}">
                    <a16:rowId xmlns:a16="http://schemas.microsoft.com/office/drawing/2014/main" val="4041618054"/>
                  </a:ext>
                </a:extLst>
              </a:tr>
              <a:tr h="592561">
                <a:tc>
                  <a:txBody>
                    <a:bodyPr/>
                    <a:lstStyle/>
                    <a:p>
                      <a:pPr algn="l" rtl="0" fontAlgn="base"/>
                      <a:r>
                        <a:rPr lang="en-GB" sz="1200" b="1" i="0" dirty="0" err="1">
                          <a:solidFill>
                            <a:schemeClr val="tx1"/>
                          </a:solidFill>
                          <a:effectLst/>
                          <a:latin typeface="Open Sans" panose="020B0606030504020204" pitchFamily="34" charset="0"/>
                          <a:ea typeface="Open Sans" panose="020B0606030504020204" pitchFamily="34" charset="0"/>
                          <a:cs typeface="Open Sans" panose="020B0606030504020204" pitchFamily="34" charset="0"/>
                        </a:rPr>
                        <a:t>HHSNotEat</a:t>
                      </a:r>
                      <a:r>
                        <a:rPr lang="en-GB" sz="12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 </a:t>
                      </a:r>
                      <a:endParaRPr lang="en-GB" sz="32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txBody>
                  <a:tcPr marL="63781" marR="63781" marT="31891" marB="3189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E"/>
                    </a:solidFill>
                  </a:tcPr>
                </a:tc>
                <a:tc>
                  <a:txBody>
                    <a:bodyPr/>
                    <a:lstStyle/>
                    <a:p>
                      <a:pPr algn="l" rtl="0" fontAlgn="base"/>
                      <a:r>
                        <a:rPr lang="fr-FR" sz="1400" b="1"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Au cours des [4 dernières semaines / 30 derniers jours], avez-vous, ou tout membre de votre ménage a-t-il passé un jour et une nuit entière sans rien manger parce qu’il n’y avait pas assez de nourriture ?</a:t>
                      </a:r>
                      <a:endParaRPr lang="en-GB" sz="3200" b="1"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txBody>
                  <a:tcPr marL="63781" marR="63781" marT="31891" marB="3189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E"/>
                    </a:solidFill>
                  </a:tcPr>
                </a:tc>
                <a:tc>
                  <a:txBody>
                    <a:bodyPr/>
                    <a:lstStyle/>
                    <a:p>
                      <a:pPr algn="l" rtl="0" fontAlgn="base"/>
                      <a:r>
                        <a:rPr lang="en-GB" sz="12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0 = Non </a:t>
                      </a:r>
                      <a:r>
                        <a:rPr lang="en-GB" sz="1200" b="0" i="1"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(passer a la section </a:t>
                      </a:r>
                      <a:r>
                        <a:rPr lang="en-GB" sz="1200" b="0" i="1" dirty="0" err="1">
                          <a:solidFill>
                            <a:schemeClr val="tx1"/>
                          </a:solidFill>
                          <a:effectLst/>
                          <a:latin typeface="Open Sans" panose="020B0606030504020204" pitchFamily="34" charset="0"/>
                          <a:ea typeface="Open Sans" panose="020B0606030504020204" pitchFamily="34" charset="0"/>
                          <a:cs typeface="Open Sans" panose="020B0606030504020204" pitchFamily="34" charset="0"/>
                        </a:rPr>
                        <a:t>suivante</a:t>
                      </a:r>
                      <a:r>
                        <a:rPr lang="en-GB" sz="1200" b="0" i="1"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a:t>
                      </a:r>
                      <a:r>
                        <a:rPr lang="en-GB" sz="12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                             </a:t>
                      </a:r>
                      <a:endParaRPr lang="en-GB" sz="32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p>
                      <a:pPr algn="l" rtl="0" fontAlgn="base"/>
                      <a:r>
                        <a:rPr lang="en-GB" sz="12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 1 = </a:t>
                      </a:r>
                      <a:r>
                        <a:rPr lang="en-GB" sz="1200" b="0" i="0" dirty="0" err="1">
                          <a:solidFill>
                            <a:schemeClr val="tx1"/>
                          </a:solidFill>
                          <a:effectLst/>
                          <a:latin typeface="Open Sans" panose="020B0606030504020204" pitchFamily="34" charset="0"/>
                          <a:ea typeface="Open Sans" panose="020B0606030504020204" pitchFamily="34" charset="0"/>
                          <a:cs typeface="Open Sans" panose="020B0606030504020204" pitchFamily="34" charset="0"/>
                        </a:rPr>
                        <a:t>Oui</a:t>
                      </a:r>
                      <a:r>
                        <a:rPr lang="en-GB" sz="12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 </a:t>
                      </a:r>
                      <a:endParaRPr lang="en-GB" sz="32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txBody>
                  <a:tcPr marL="63781" marR="63781" marT="31891" marB="318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E"/>
                    </a:solidFill>
                  </a:tcPr>
                </a:tc>
                <a:tc>
                  <a:txBody>
                    <a:bodyPr/>
                    <a:lstStyle/>
                    <a:p>
                      <a:pPr fontAlgn="ctr"/>
                      <a:endParaRPr lang="en-GB" sz="280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p>
                      <a:pPr algn="l" rtl="0" fontAlgn="base"/>
                      <a:r>
                        <a:rPr lang="en-GB" sz="1200" b="1"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|___|</a:t>
                      </a:r>
                      <a:r>
                        <a:rPr lang="en-GB" sz="12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 </a:t>
                      </a:r>
                      <a:endParaRPr lang="en-GB" sz="28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txBody>
                  <a:tcPr marL="63781" marR="63781" marT="31891" marB="318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E"/>
                    </a:solidFill>
                  </a:tcPr>
                </a:tc>
                <a:extLst>
                  <a:ext uri="{0D108BD9-81ED-4DB2-BD59-A6C34878D82A}">
                    <a16:rowId xmlns:a16="http://schemas.microsoft.com/office/drawing/2014/main" val="859217288"/>
                  </a:ext>
                </a:extLst>
              </a:tr>
              <a:tr h="710588">
                <a:tc>
                  <a:txBody>
                    <a:bodyPr/>
                    <a:lstStyle/>
                    <a:p>
                      <a:pPr algn="l" rtl="0" fontAlgn="base"/>
                      <a:r>
                        <a:rPr lang="en-GB" sz="1200" b="1" i="0" dirty="0" err="1">
                          <a:solidFill>
                            <a:schemeClr val="tx1"/>
                          </a:solidFill>
                          <a:effectLst/>
                          <a:latin typeface="Open Sans" panose="020B0606030504020204" pitchFamily="34" charset="0"/>
                          <a:ea typeface="Open Sans" panose="020B0606030504020204" pitchFamily="34" charset="0"/>
                          <a:cs typeface="Open Sans" panose="020B0606030504020204" pitchFamily="34" charset="0"/>
                        </a:rPr>
                        <a:t>HHSNotEat_FR</a:t>
                      </a:r>
                      <a:r>
                        <a:rPr lang="en-GB" sz="12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 </a:t>
                      </a:r>
                      <a:endParaRPr lang="en-GB" sz="32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txBody>
                  <a:tcPr marL="63781" marR="63781" marT="31891" marB="3189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E"/>
                    </a:solidFill>
                  </a:tcPr>
                </a:tc>
                <a:tc>
                  <a:txBody>
                    <a:bodyPr/>
                    <a:lstStyle/>
                    <a:p>
                      <a:pPr algn="l" rtl="0" fontAlgn="base"/>
                      <a:r>
                        <a:rPr lang="fr-FR" sz="1800" b="0" i="0" kern="1200" dirty="0">
                          <a:solidFill>
                            <a:schemeClr val="tx1"/>
                          </a:solidFill>
                          <a:effectLst/>
                          <a:latin typeface="+mn-lt"/>
                          <a:ea typeface="+mn-ea"/>
                          <a:cs typeface="+mn-cs"/>
                        </a:rPr>
                        <a:t>A quelle fréquence cela s'est-il produit au cours des dernières [4 semaines/30 jours] ?</a:t>
                      </a:r>
                      <a:endParaRPr lang="en-GB" sz="3200" b="0" i="1" dirty="0">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txBody>
                  <a:tcPr marL="63781" marR="63781" marT="31891" marB="3189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E"/>
                    </a:solidFill>
                  </a:tcPr>
                </a:tc>
                <a:tc>
                  <a:txBody>
                    <a:bodyPr/>
                    <a:lstStyle/>
                    <a:p>
                      <a:pPr algn="l" rtl="0" fontAlgn="base"/>
                      <a:r>
                        <a:rPr lang="en-GB" sz="12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1 = </a:t>
                      </a:r>
                      <a:r>
                        <a:rPr lang="en-GB" sz="1200" b="0" i="0" dirty="0" err="1">
                          <a:solidFill>
                            <a:schemeClr val="tx1"/>
                          </a:solidFill>
                          <a:effectLst/>
                          <a:latin typeface="Open Sans" panose="020B0606030504020204" pitchFamily="34" charset="0"/>
                          <a:ea typeface="Open Sans" panose="020B0606030504020204" pitchFamily="34" charset="0"/>
                          <a:cs typeface="Open Sans" panose="020B0606030504020204" pitchFamily="34" charset="0"/>
                        </a:rPr>
                        <a:t>Rarement</a:t>
                      </a:r>
                      <a:r>
                        <a:rPr lang="en-GB" sz="12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 (1–2 </a:t>
                      </a:r>
                      <a:r>
                        <a:rPr lang="en-GB" sz="1200" b="0" i="0" dirty="0" err="1">
                          <a:solidFill>
                            <a:schemeClr val="tx1"/>
                          </a:solidFill>
                          <a:effectLst/>
                          <a:latin typeface="Open Sans" panose="020B0606030504020204" pitchFamily="34" charset="0"/>
                          <a:ea typeface="Open Sans" panose="020B0606030504020204" pitchFamily="34" charset="0"/>
                          <a:cs typeface="Open Sans" panose="020B0606030504020204" pitchFamily="34" charset="0"/>
                        </a:rPr>
                        <a:t>fois</a:t>
                      </a:r>
                      <a:r>
                        <a:rPr lang="en-GB" sz="12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                        </a:t>
                      </a:r>
                      <a:endParaRPr lang="en-GB" sz="32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p>
                      <a:pPr algn="l" rtl="0" fontAlgn="base"/>
                      <a:r>
                        <a:rPr lang="en-GB" sz="12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2 = Parfois (3–10 times) </a:t>
                      </a:r>
                      <a:endParaRPr lang="en-GB" sz="32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p>
                      <a:pPr algn="l" rtl="0" fontAlgn="base"/>
                      <a:r>
                        <a:rPr lang="en-GB" sz="12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3 = </a:t>
                      </a:r>
                      <a:r>
                        <a:rPr lang="en-GB" sz="1200" b="0" i="0" dirty="0" err="1">
                          <a:solidFill>
                            <a:schemeClr val="tx1"/>
                          </a:solidFill>
                          <a:effectLst/>
                          <a:latin typeface="Open Sans" panose="020B0606030504020204" pitchFamily="34" charset="0"/>
                          <a:ea typeface="Open Sans" panose="020B0606030504020204" pitchFamily="34" charset="0"/>
                          <a:cs typeface="Open Sans" panose="020B0606030504020204" pitchFamily="34" charset="0"/>
                        </a:rPr>
                        <a:t>Souvent</a:t>
                      </a:r>
                      <a:r>
                        <a:rPr lang="en-GB" sz="12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 (plus de 10 </a:t>
                      </a:r>
                      <a:r>
                        <a:rPr lang="en-GB" sz="1200" b="0" i="0" dirty="0" err="1">
                          <a:solidFill>
                            <a:schemeClr val="tx1"/>
                          </a:solidFill>
                          <a:effectLst/>
                          <a:latin typeface="Open Sans" panose="020B0606030504020204" pitchFamily="34" charset="0"/>
                          <a:ea typeface="Open Sans" panose="020B0606030504020204" pitchFamily="34" charset="0"/>
                          <a:cs typeface="Open Sans" panose="020B0606030504020204" pitchFamily="34" charset="0"/>
                        </a:rPr>
                        <a:t>fois</a:t>
                      </a:r>
                      <a:r>
                        <a:rPr lang="en-GB" sz="12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 </a:t>
                      </a:r>
                      <a:endParaRPr lang="en-GB" sz="32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p>
                      <a:pPr algn="l" rtl="0" fontAlgn="base"/>
                      <a:r>
                        <a:rPr lang="en-GB" sz="12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 </a:t>
                      </a:r>
                      <a:endParaRPr lang="en-GB" sz="32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txBody>
                  <a:tcPr marL="63781" marR="63781" marT="31891" marB="31891"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E"/>
                    </a:solidFill>
                  </a:tcPr>
                </a:tc>
                <a:tc>
                  <a:txBody>
                    <a:bodyPr/>
                    <a:lstStyle/>
                    <a:p>
                      <a:pPr fontAlgn="ctr"/>
                      <a:endParaRPr lang="en-GB" sz="280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p>
                      <a:pPr algn="l" rtl="0" fontAlgn="base"/>
                      <a:r>
                        <a:rPr lang="en-GB" sz="1200" b="1"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|___|</a:t>
                      </a:r>
                      <a:r>
                        <a:rPr lang="en-GB" sz="12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 </a:t>
                      </a:r>
                      <a:endParaRPr lang="en-GB" sz="28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txBody>
                  <a:tcPr marL="63781" marR="63781" marT="31891" marB="318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E"/>
                    </a:solidFill>
                  </a:tcPr>
                </a:tc>
                <a:extLst>
                  <a:ext uri="{0D108BD9-81ED-4DB2-BD59-A6C34878D82A}">
                    <a16:rowId xmlns:a16="http://schemas.microsoft.com/office/drawing/2014/main" val="1877974403"/>
                  </a:ext>
                </a:extLst>
              </a:tr>
            </a:tbl>
          </a:graphicData>
        </a:graphic>
      </p:graphicFrame>
    </p:spTree>
    <p:extLst>
      <p:ext uri="{BB962C8B-B14F-4D97-AF65-F5344CB8AC3E}">
        <p14:creationId xmlns:p14="http://schemas.microsoft.com/office/powerpoint/2010/main" val="21633976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B814BA3-6E03-D042-910F-DC8CF162B335}"/>
              </a:ext>
            </a:extLst>
          </p:cNvPr>
          <p:cNvSpPr/>
          <p:nvPr/>
        </p:nvSpPr>
        <p:spPr>
          <a:xfrm>
            <a:off x="0" y="0"/>
            <a:ext cx="12192000" cy="685800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olo 1">
            <a:extLst>
              <a:ext uri="{FF2B5EF4-FFF2-40B4-BE49-F238E27FC236}">
                <a16:creationId xmlns:a16="http://schemas.microsoft.com/office/drawing/2014/main" id="{37488CCE-91B8-894E-A02C-7215AD7A0490}"/>
              </a:ext>
            </a:extLst>
          </p:cNvPr>
          <p:cNvSpPr txBox="1">
            <a:spLocks/>
          </p:cNvSpPr>
          <p:nvPr/>
        </p:nvSpPr>
        <p:spPr>
          <a:xfrm>
            <a:off x="1703200" y="2369285"/>
            <a:ext cx="8785600" cy="2119429"/>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600" b="1" i="0" kern="1200">
                <a:solidFill>
                  <a:srgbClr val="0070BA"/>
                </a:solidFill>
                <a:latin typeface="Open Sans" charset="0"/>
                <a:ea typeface="Open Sans" charset="0"/>
                <a:cs typeface="Open Sans" charset="0"/>
              </a:defRPr>
            </a:lvl1pPr>
          </a:lstStyle>
          <a:p>
            <a:pPr>
              <a:lnSpc>
                <a:spcPts val="3920"/>
              </a:lnSpc>
            </a:pPr>
            <a:endParaRPr lang="it-IT" sz="3400" b="0" dirty="0">
              <a:solidFill>
                <a:srgbClr val="FFFFFE"/>
              </a:solidFill>
              <a:latin typeface="Open Sans Extrabold" panose="020B0606030504020204" pitchFamily="34" charset="0"/>
              <a:ea typeface="Open Sans Extrabold" panose="020B0606030504020204" pitchFamily="34" charset="0"/>
              <a:cs typeface="Open Sans Extrabold" panose="020B0606030504020204" pitchFamily="34" charset="0"/>
            </a:endParaRPr>
          </a:p>
          <a:p>
            <a:pPr algn="ctr">
              <a:lnSpc>
                <a:spcPts val="3920"/>
              </a:lnSpc>
            </a:pPr>
            <a:r>
              <a:rPr lang="it-IT" b="0" dirty="0">
                <a:solidFill>
                  <a:srgbClr val="FFFFFE"/>
                </a:solidFill>
                <a:latin typeface="HALDEN SOLID" pitchFamily="2" charset="0"/>
                <a:ea typeface="Open Sans Extrabold" panose="020B0606030504020204" pitchFamily="34" charset="0"/>
                <a:cs typeface="Open Sans Extrabold" panose="020B0606030504020204" pitchFamily="34" charset="0"/>
              </a:rPr>
              <a:t>MERCI!</a:t>
            </a:r>
            <a:endParaRPr lang="en-GB" b="0" dirty="0">
              <a:solidFill>
                <a:srgbClr val="FFFFFE"/>
              </a:solidFill>
              <a:latin typeface="HALDEN SOLID" pitchFamily="2" charset="0"/>
              <a:ea typeface="Open Sans Extrabold" panose="020B0606030504020204" pitchFamily="34" charset="0"/>
              <a:cs typeface="Open Sans Extrabold" panose="020B0606030504020204" pitchFamily="34" charset="0"/>
            </a:endParaRPr>
          </a:p>
        </p:txBody>
      </p:sp>
    </p:spTree>
    <p:extLst>
      <p:ext uri="{BB962C8B-B14F-4D97-AF65-F5344CB8AC3E}">
        <p14:creationId xmlns:p14="http://schemas.microsoft.com/office/powerpoint/2010/main" val="3996823955"/>
      </p:ext>
    </p:extLst>
  </p:cSld>
  <p:clrMapOvr>
    <a:masterClrMapping/>
  </p:clrMapOvr>
</p:sld>
</file>

<file path=ppt/theme/theme1.xml><?xml version="1.0" encoding="utf-8"?>
<a:theme xmlns:a="http://schemas.openxmlformats.org/drawingml/2006/main" name="Theme2">
  <a:themeElements>
    <a:clrScheme name="WFP COLOUR PALETTE">
      <a:dk1>
        <a:srgbClr val="007DBC"/>
      </a:dk1>
      <a:lt1>
        <a:srgbClr val="36B5C5"/>
      </a:lt1>
      <a:dk2>
        <a:srgbClr val="00B385"/>
      </a:dk2>
      <a:lt2>
        <a:srgbClr val="008868"/>
      </a:lt2>
      <a:accent1>
        <a:srgbClr val="1A4161"/>
      </a:accent1>
      <a:accent2>
        <a:srgbClr val="982B56"/>
      </a:accent2>
      <a:accent3>
        <a:srgbClr val="EF404C"/>
      </a:accent3>
      <a:accent4>
        <a:srgbClr val="B79F8D"/>
      </a:accent4>
      <a:accent5>
        <a:srgbClr val="ECDFBB"/>
      </a:accent5>
      <a:accent6>
        <a:srgbClr val="F37847"/>
      </a:accent6>
      <a:hlink>
        <a:srgbClr val="FFFFFF"/>
      </a:hlink>
      <a:folHlink>
        <a:srgbClr val="000000"/>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heme2" id="{CEABC6C1-02E8-6E4D-9B35-02EDBE627B8A}" vid="{F8040699-0E4C-D043-8EE2-4232DCF6EB18}"/>
    </a:ext>
  </a:ext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7EC5AEA005F3944B5281CE0F7F3B6DF" ma:contentTypeVersion="19" ma:contentTypeDescription="Create a new document." ma:contentTypeScope="" ma:versionID="43cac7850c215b99b189dd42ff5381b4">
  <xsd:schema xmlns:xsd="http://www.w3.org/2001/XMLSchema" xmlns:xs="http://www.w3.org/2001/XMLSchema" xmlns:p="http://schemas.microsoft.com/office/2006/metadata/properties" xmlns:ns2="49256dcf-74b5-4e0f-b2ab-e17546be8a80" xmlns:ns3="3940b711-dc1d-4235-b0a5-48d487f0d3b9" targetNamespace="http://schemas.microsoft.com/office/2006/metadata/properties" ma:root="true" ma:fieldsID="7f3b09dd81f609e653ddad0159f4af65" ns2:_="" ns3:_="">
    <xsd:import namespace="49256dcf-74b5-4e0f-b2ab-e17546be8a80"/>
    <xsd:import namespace="3940b711-dc1d-4235-b0a5-48d487f0d3b9"/>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ServiceGenerationTime" minOccurs="0"/>
                <xsd:element ref="ns2:MediaServiceEventHashCode" minOccurs="0"/>
                <xsd:element ref="ns2:MediaServiceOCR" minOccurs="0"/>
                <xsd:element ref="ns3:SharedWithUsers" minOccurs="0"/>
                <xsd:element ref="ns3:SharedWithDetails" minOccurs="0"/>
                <xsd:element ref="ns2:MediaServiceAutoKeyPoints" minOccurs="0"/>
                <xsd:element ref="ns2:MediaServiceKeyPoints" minOccurs="0"/>
                <xsd:element ref="ns2:MediaServiceLocation"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element ref="ns2:Not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9256dcf-74b5-4e0f-b2ab-e17546be8a8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element name="MediaServiceLocation" ma:index="19"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5acc4dc2-1d7d-4ba2-9bc5-748c4ad50a69"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Notes" ma:index="26" nillable="true" ma:displayName="Notes" ma:description="Describe what this folder should contain" ma:format="Dropdown" ma:internalName="Notes">
      <xsd:simpleType>
        <xsd:restriction base="dms:Text">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3940b711-dc1d-4235-b0a5-48d487f0d3b9" elementFormDefault="qualified">
    <xsd:import namespace="http://schemas.microsoft.com/office/2006/documentManagement/types"/>
    <xsd:import namespace="http://schemas.microsoft.com/office/infopath/2007/PartnerControls"/>
    <xsd:element name="SharedWithUsers" ma:index="15"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6"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517c2faf-511a-483c-a677-1ab92e51de83}" ma:internalName="TaxCatchAll" ma:showField="CatchAllData" ma:web="3940b711-dc1d-4235-b0a5-48d487f0d3b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49256dcf-74b5-4e0f-b2ab-e17546be8a80">
      <Terms xmlns="http://schemas.microsoft.com/office/infopath/2007/PartnerControls"/>
    </lcf76f155ced4ddcb4097134ff3c332f>
    <TaxCatchAll xmlns="3940b711-dc1d-4235-b0a5-48d487f0d3b9" xsi:nil="true"/>
    <Notes xmlns="49256dcf-74b5-4e0f-b2ab-e17546be8a80"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A218F00-25F4-47FB-A8FE-38AA2CCDFB16}"/>
</file>

<file path=customXml/itemProps2.xml><?xml version="1.0" encoding="utf-8"?>
<ds:datastoreItem xmlns:ds="http://schemas.openxmlformats.org/officeDocument/2006/customXml" ds:itemID="{7144BB7B-CE34-4D68-9B7C-68D737AEA431}">
  <ds:schemaRefs>
    <ds:schemaRef ds:uri="3940b711-dc1d-4235-b0a5-48d487f0d3b9"/>
    <ds:schemaRef ds:uri="49256dcf-74b5-4e0f-b2ab-e17546be8a80"/>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2A3AC776-BB22-46C6-94CA-DE5319E32815}">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29142</TotalTime>
  <Words>2168</Words>
  <Application>Microsoft Office PowerPoint</Application>
  <PresentationFormat>Widescreen</PresentationFormat>
  <Paragraphs>220</Paragraphs>
  <Slides>16</Slides>
  <Notes>13</Notes>
  <HiddenSlides>2</HiddenSlides>
  <MMClips>0</MMClips>
  <ScaleCrop>false</ScaleCrop>
  <HeadingPairs>
    <vt:vector size="4" baseType="variant">
      <vt:variant>
        <vt:lpstr>Theme</vt:lpstr>
      </vt:variant>
      <vt:variant>
        <vt:i4>1</vt:i4>
      </vt:variant>
      <vt:variant>
        <vt:lpstr>Slide Titles</vt:lpstr>
      </vt:variant>
      <vt:variant>
        <vt:i4>16</vt:i4>
      </vt:variant>
    </vt:vector>
  </HeadingPairs>
  <TitlesOfParts>
    <vt:vector size="17" baseType="lpstr">
      <vt:lpstr>Theme2</vt:lpstr>
      <vt:lpstr>PowerPoint Presentation</vt:lpstr>
      <vt:lpstr>PowerPoint Presentation</vt:lpstr>
      <vt:lpstr>HHS: instructions sur le module 1</vt:lpstr>
      <vt:lpstr>HHS: qu'est ce que c'est?  </vt:lpstr>
      <vt:lpstr>HHS: instructions 2</vt:lpstr>
      <vt:lpstr>MODULE HHS: QUE DEMANDER? (1)</vt:lpstr>
      <vt:lpstr>MODULE HHS: QUE DEMANDER? (2)</vt:lpstr>
      <vt:lpstr>HHS module</vt:lpstr>
      <vt:lpstr>HHS: Question d'approfondissement</vt:lpstr>
      <vt:lpstr>HHS module</vt:lpstr>
      <vt:lpstr>HHS: Question d'approfondissement</vt:lpstr>
      <vt:lpstr>HHS module</vt:lpstr>
      <vt:lpstr>HHS: Question d'approfondissement</vt:lpstr>
      <vt:lpstr>HHS: Clarification</vt:lpstr>
      <vt:lpstr>MODULE HHS: que demander</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Instructions slide Useful tips to correctly edit this powerpoint template</dc:title>
  <dc:creator>Helen CLARKE</dc:creator>
  <cp:lastModifiedBy>Jonas DEMEYER</cp:lastModifiedBy>
  <cp:revision>32</cp:revision>
  <dcterms:created xsi:type="dcterms:W3CDTF">2018-08-20T09:35:59Z</dcterms:created>
  <dcterms:modified xsi:type="dcterms:W3CDTF">2024-09-26T11:13:25Z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0x01010007EC5AEA005F3944B5281CE0F7F3B6DF</vt:lpwstr>
  </property>
  <property fmtid="{D5CDD505-2E9C-101B-9397-08002B2CF9AE}" pid="3" name="MediaServiceImageTags">
    <vt:lpwstr/>
  </property>
</Properties>
</file>