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heme/themeOverride1.xml" ContentType="application/vnd.openxmlformats-officedocument.themeOverr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36"/>
  </p:notesMasterIdLst>
  <p:handoutMasterIdLst>
    <p:handoutMasterId r:id="rId37"/>
  </p:handoutMasterIdLst>
  <p:sldIdLst>
    <p:sldId id="261" r:id="rId5"/>
    <p:sldId id="274" r:id="rId6"/>
    <p:sldId id="268" r:id="rId7"/>
    <p:sldId id="291" r:id="rId8"/>
    <p:sldId id="332" r:id="rId9"/>
    <p:sldId id="306" r:id="rId10"/>
    <p:sldId id="292" r:id="rId11"/>
    <p:sldId id="277" r:id="rId12"/>
    <p:sldId id="281" r:id="rId13"/>
    <p:sldId id="349" r:id="rId14"/>
    <p:sldId id="338" r:id="rId15"/>
    <p:sldId id="334" r:id="rId16"/>
    <p:sldId id="350" r:id="rId17"/>
    <p:sldId id="353" r:id="rId18"/>
    <p:sldId id="336" r:id="rId19"/>
    <p:sldId id="352" r:id="rId20"/>
    <p:sldId id="354" r:id="rId21"/>
    <p:sldId id="337" r:id="rId22"/>
    <p:sldId id="356" r:id="rId23"/>
    <p:sldId id="355" r:id="rId24"/>
    <p:sldId id="357" r:id="rId25"/>
    <p:sldId id="358" r:id="rId26"/>
    <p:sldId id="335" r:id="rId27"/>
    <p:sldId id="351" r:id="rId28"/>
    <p:sldId id="319" r:id="rId29"/>
    <p:sldId id="307" r:id="rId30"/>
    <p:sldId id="329" r:id="rId31"/>
    <p:sldId id="309" r:id="rId32"/>
    <p:sldId id="293" r:id="rId33"/>
    <p:sldId id="328" r:id="rId34"/>
    <p:sldId id="333" r:id="rId3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216101-4936-4465-91C6-7E1AB5A4B7C8}">
          <p14:sldIdLst>
            <p14:sldId id="261"/>
          </p14:sldIdLst>
        </p14:section>
        <p14:section name="Relevance: both" id="{B8D5A308-6A34-47A9-9898-8C8385DF4400}">
          <p14:sldIdLst>
            <p14:sldId id="274"/>
            <p14:sldId id="268"/>
            <p14:sldId id="291"/>
            <p14:sldId id="332"/>
            <p14:sldId id="306"/>
            <p14:sldId id="292"/>
            <p14:sldId id="277"/>
            <p14:sldId id="281"/>
            <p14:sldId id="349"/>
            <p14:sldId id="338"/>
            <p14:sldId id="334"/>
            <p14:sldId id="350"/>
            <p14:sldId id="353"/>
            <p14:sldId id="336"/>
            <p14:sldId id="352"/>
            <p14:sldId id="354"/>
            <p14:sldId id="337"/>
            <p14:sldId id="356"/>
            <p14:sldId id="355"/>
            <p14:sldId id="357"/>
            <p14:sldId id="358"/>
            <p14:sldId id="335"/>
            <p14:sldId id="351"/>
            <p14:sldId id="319"/>
            <p14:sldId id="307"/>
            <p14:sldId id="329"/>
            <p14:sldId id="309"/>
            <p14:sldId id="293"/>
            <p14:sldId id="328"/>
          </p14:sldIdLst>
        </p14:section>
        <p14:section name="Relevance: Analyst training" id="{ADA42E1E-067A-4161-B943-799BD9EB83DE}">
          <p14:sldIdLst/>
        </p14:section>
        <p14:section name="Relevance: both" id="{E0808810-59EE-43FB-BE83-B5C8A393D4A5}">
          <p14:sldIdLst>
            <p14:sldId id="33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6429D9C-8177-114B-BEF0-D76BAE32C891}" name="Isra WISHAH" initials="IW" userId="S::isra.wishah@wfp.org::72089144-da43-4082-a6aa-d77401d50df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BA"/>
    <a:srgbClr val="FFFFFE"/>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2E6E66-0FDE-6FDE-5C22-D637D1C95C92}" v="25" dt="2024-09-06T13:47:27.0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035" autoAdjust="0"/>
  </p:normalViewPr>
  <p:slideViewPr>
    <p:cSldViewPr snapToGrid="0">
      <p:cViewPr varScale="1">
        <p:scale>
          <a:sx n="57" d="100"/>
          <a:sy n="57" d="100"/>
        </p:scale>
        <p:origin x="1236" y="66"/>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s DEMEYER" userId="S::jonas.demeyer@wfp.org::1c45f721-f288-4a8d-8f07-b4395c318810" providerId="AD" clId="Web-{330BE0F7-BCC1-5E53-C62A-1F557CE6E97D}"/>
    <pc:docChg chg="modSld">
      <pc:chgData name="Jonas DEMEYER" userId="S::jonas.demeyer@wfp.org::1c45f721-f288-4a8d-8f07-b4395c318810" providerId="AD" clId="Web-{330BE0F7-BCC1-5E53-C62A-1F557CE6E97D}" dt="2024-08-12T08:37:00.455" v="0" actId="20577"/>
      <pc:docMkLst>
        <pc:docMk/>
      </pc:docMkLst>
      <pc:sldChg chg="modSp">
        <pc:chgData name="Jonas DEMEYER" userId="S::jonas.demeyer@wfp.org::1c45f721-f288-4a8d-8f07-b4395c318810" providerId="AD" clId="Web-{330BE0F7-BCC1-5E53-C62A-1F557CE6E97D}" dt="2024-08-12T08:37:00.455" v="0" actId="20577"/>
        <pc:sldMkLst>
          <pc:docMk/>
          <pc:sldMk cId="1472955817" sldId="261"/>
        </pc:sldMkLst>
        <pc:spChg chg="mod">
          <ac:chgData name="Jonas DEMEYER" userId="S::jonas.demeyer@wfp.org::1c45f721-f288-4a8d-8f07-b4395c318810" providerId="AD" clId="Web-{330BE0F7-BCC1-5E53-C62A-1F557CE6E97D}" dt="2024-08-12T08:37:00.455" v="0" actId="20577"/>
          <ac:spMkLst>
            <pc:docMk/>
            <pc:sldMk cId="1472955817" sldId="261"/>
            <ac:spMk id="12" creationId="{52D83F10-A12A-DC43-92D2-9708578359F6}"/>
          </ac:spMkLst>
        </pc:spChg>
      </pc:sldChg>
    </pc:docChg>
  </pc:docChgLst>
  <pc:docChgLst>
    <pc:chgData name="Jonas DEMEYER" userId="S::jonas.demeyer@wfp.org::1c45f721-f288-4a8d-8f07-b4395c318810" providerId="AD" clId="Web-{EF2E6E66-0FDE-6FDE-5C22-D637D1C95C92}"/>
    <pc:docChg chg="modSld">
      <pc:chgData name="Jonas DEMEYER" userId="S::jonas.demeyer@wfp.org::1c45f721-f288-4a8d-8f07-b4395c318810" providerId="AD" clId="Web-{EF2E6E66-0FDE-6FDE-5C22-D637D1C95C92}" dt="2024-09-06T13:47:27.075" v="29" actId="20577"/>
      <pc:docMkLst>
        <pc:docMk/>
      </pc:docMkLst>
      <pc:sldChg chg="modSp">
        <pc:chgData name="Jonas DEMEYER" userId="S::jonas.demeyer@wfp.org::1c45f721-f288-4a8d-8f07-b4395c318810" providerId="AD" clId="Web-{EF2E6E66-0FDE-6FDE-5C22-D637D1C95C92}" dt="2024-09-06T13:45:51.211" v="6" actId="20577"/>
        <pc:sldMkLst>
          <pc:docMk/>
          <pc:sldMk cId="1472955817" sldId="261"/>
        </pc:sldMkLst>
        <pc:spChg chg="mod">
          <ac:chgData name="Jonas DEMEYER" userId="S::jonas.demeyer@wfp.org::1c45f721-f288-4a8d-8f07-b4395c318810" providerId="AD" clId="Web-{EF2E6E66-0FDE-6FDE-5C22-D637D1C95C92}" dt="2024-09-06T13:45:51.211" v="6" actId="20577"/>
          <ac:spMkLst>
            <pc:docMk/>
            <pc:sldMk cId="1472955817" sldId="261"/>
            <ac:spMk id="12" creationId="{52D83F10-A12A-DC43-92D2-9708578359F6}"/>
          </ac:spMkLst>
        </pc:spChg>
      </pc:sldChg>
      <pc:sldChg chg="modSp">
        <pc:chgData name="Jonas DEMEYER" userId="S::jonas.demeyer@wfp.org::1c45f721-f288-4a8d-8f07-b4395c318810" providerId="AD" clId="Web-{EF2E6E66-0FDE-6FDE-5C22-D637D1C95C92}" dt="2024-09-06T13:45:12.132" v="2" actId="20577"/>
        <pc:sldMkLst>
          <pc:docMk/>
          <pc:sldMk cId="3885395789" sldId="277"/>
        </pc:sldMkLst>
        <pc:spChg chg="mod">
          <ac:chgData name="Jonas DEMEYER" userId="S::jonas.demeyer@wfp.org::1c45f721-f288-4a8d-8f07-b4395c318810" providerId="AD" clId="Web-{EF2E6E66-0FDE-6FDE-5C22-D637D1C95C92}" dt="2024-09-06T13:45:12.132" v="2" actId="20577"/>
          <ac:spMkLst>
            <pc:docMk/>
            <pc:sldMk cId="3885395789" sldId="277"/>
            <ac:spMk id="8" creationId="{BB642E77-5AC9-D346-BC1E-D93A00D9631D}"/>
          </ac:spMkLst>
        </pc:spChg>
      </pc:sldChg>
      <pc:sldChg chg="modSp">
        <pc:chgData name="Jonas DEMEYER" userId="S::jonas.demeyer@wfp.org::1c45f721-f288-4a8d-8f07-b4395c318810" providerId="AD" clId="Web-{EF2E6E66-0FDE-6FDE-5C22-D637D1C95C92}" dt="2024-09-06T13:47:27.075" v="29" actId="20577"/>
        <pc:sldMkLst>
          <pc:docMk/>
          <pc:sldMk cId="3555079050" sldId="306"/>
        </pc:sldMkLst>
        <pc:spChg chg="mod">
          <ac:chgData name="Jonas DEMEYER" userId="S::jonas.demeyer@wfp.org::1c45f721-f288-4a8d-8f07-b4395c318810" providerId="AD" clId="Web-{EF2E6E66-0FDE-6FDE-5C22-D637D1C95C92}" dt="2024-09-06T13:47:27.075" v="29" actId="20577"/>
          <ac:spMkLst>
            <pc:docMk/>
            <pc:sldMk cId="3555079050" sldId="306"/>
            <ac:spMk id="4" creationId="{37488CCE-91B8-894E-A02C-7215AD7A0490}"/>
          </ac:spMkLst>
        </pc:spChg>
      </pc:sldChg>
      <pc:sldChg chg="mod modShow">
        <pc:chgData name="Jonas DEMEYER" userId="S::jonas.demeyer@wfp.org::1c45f721-f288-4a8d-8f07-b4395c318810" providerId="AD" clId="Web-{EF2E6E66-0FDE-6FDE-5C22-D637D1C95C92}" dt="2024-09-06T13:44:09.254" v="0"/>
        <pc:sldMkLst>
          <pc:docMk/>
          <pc:sldMk cId="1265753785" sldId="33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06/09/2024</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06/09/2024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3282932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higher the stress, the higher the </a:t>
            </a:r>
            <a:r>
              <a:rPr lang="en-US" err="1"/>
              <a:t>behavioural</a:t>
            </a:r>
            <a:r>
              <a:rPr lang="en-US"/>
              <a:t> responses and the index.</a:t>
            </a:r>
          </a:p>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a:t>
            </a:fld>
            <a:endParaRPr lang="it-IT"/>
          </a:p>
        </p:txBody>
      </p:sp>
    </p:spTree>
    <p:extLst>
      <p:ext uri="{BB962C8B-B14F-4D97-AF65-F5344CB8AC3E}">
        <p14:creationId xmlns:p14="http://schemas.microsoft.com/office/powerpoint/2010/main" val="1894568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a:t>
            </a:fld>
            <a:endParaRPr lang="it-IT"/>
          </a:p>
        </p:txBody>
      </p:sp>
    </p:spTree>
    <p:extLst>
      <p:ext uri="{BB962C8B-B14F-4D97-AF65-F5344CB8AC3E}">
        <p14:creationId xmlns:p14="http://schemas.microsoft.com/office/powerpoint/2010/main" val="1025732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Household makes changes to type of food consumed in order to manage the shortfall of food. This question is concerned with the types of foods consumed rather than the quantities consumed</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9</a:t>
            </a:fld>
            <a:endParaRPr lang="it-IT"/>
          </a:p>
        </p:txBody>
      </p:sp>
    </p:spTree>
    <p:extLst>
      <p:ext uri="{BB962C8B-B14F-4D97-AF65-F5344CB8AC3E}">
        <p14:creationId xmlns:p14="http://schemas.microsoft.com/office/powerpoint/2010/main" val="440271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10</a:t>
            </a:fld>
            <a:endParaRPr lang="it-IT"/>
          </a:p>
        </p:txBody>
      </p:sp>
    </p:spTree>
    <p:extLst>
      <p:ext uri="{BB962C8B-B14F-4D97-AF65-F5344CB8AC3E}">
        <p14:creationId xmlns:p14="http://schemas.microsoft.com/office/powerpoint/2010/main" val="4016955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possible that this </a:t>
            </a:r>
            <a:r>
              <a:rPr lang="en-US" dirty="0" err="1"/>
              <a:t>stratégie</a:t>
            </a:r>
            <a:r>
              <a:rPr lang="en-US" dirty="0"/>
              <a:t> has become common practice – especially in prolonged and repetitive crises. Enumerators and respondents must understand the question and timeframe and refer to the most recent shock. E.g., Lebanon has been exposed to the economic crisis of 2019, then the COVID-19 pandemic in 2020, Beirut’s port explosion, and then the collapse of the financial/banking system. </a:t>
            </a:r>
          </a:p>
        </p:txBody>
      </p:sp>
      <p:sp>
        <p:nvSpPr>
          <p:cNvPr id="4" name="Slide Number Placeholder 3"/>
          <p:cNvSpPr>
            <a:spLocks noGrp="1"/>
          </p:cNvSpPr>
          <p:nvPr>
            <p:ph type="sldNum" sz="quarter" idx="5"/>
          </p:nvPr>
        </p:nvSpPr>
        <p:spPr/>
        <p:txBody>
          <a:bodyPr/>
          <a:lstStyle/>
          <a:p>
            <a:fld id="{C227884D-8063-894A-9B96-2E8B250142EB}" type="slidenum">
              <a:rPr lang="it-IT" smtClean="0"/>
              <a:t>11</a:t>
            </a:fld>
            <a:endParaRPr lang="it-IT"/>
          </a:p>
        </p:txBody>
      </p:sp>
    </p:spTree>
    <p:extLst>
      <p:ext uri="{BB962C8B-B14F-4D97-AF65-F5344CB8AC3E}">
        <p14:creationId xmlns:p14="http://schemas.microsoft.com/office/powerpoint/2010/main" val="691624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Household increases the short-term food availability by relying on help from friends or relatives in the form of food or money to buy food.</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12</a:t>
            </a:fld>
            <a:endParaRPr lang="it-IT"/>
          </a:p>
        </p:txBody>
      </p:sp>
    </p:spTree>
    <p:extLst>
      <p:ext uri="{BB962C8B-B14F-4D97-AF65-F5344CB8AC3E}">
        <p14:creationId xmlns:p14="http://schemas.microsoft.com/office/powerpoint/2010/main" val="2280060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13</a:t>
            </a:fld>
            <a:endParaRPr lang="it-IT"/>
          </a:p>
        </p:txBody>
      </p:sp>
    </p:spTree>
    <p:extLst>
      <p:ext uri="{BB962C8B-B14F-4D97-AF65-F5344CB8AC3E}">
        <p14:creationId xmlns:p14="http://schemas.microsoft.com/office/powerpoint/2010/main" val="2317682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14</a:t>
            </a:fld>
            <a:endParaRPr lang="it-IT"/>
          </a:p>
        </p:txBody>
      </p:sp>
    </p:spTree>
    <p:extLst>
      <p:ext uri="{BB962C8B-B14F-4D97-AF65-F5344CB8AC3E}">
        <p14:creationId xmlns:p14="http://schemas.microsoft.com/office/powerpoint/2010/main" val="406741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rationing </a:t>
            </a:r>
            <a:r>
              <a:rPr lang="en-US" dirty="0" err="1"/>
              <a:t>stratégie</a:t>
            </a:r>
            <a:r>
              <a:rPr lang="en-US" dirty="0"/>
              <a:t> in which the amount of food eaten at a meal is reduced in order to manage the shortfall of food.</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15</a:t>
            </a:fld>
            <a:endParaRPr lang="it-IT"/>
          </a:p>
        </p:txBody>
      </p:sp>
    </p:spTree>
    <p:extLst>
      <p:ext uri="{BB962C8B-B14F-4D97-AF65-F5344CB8AC3E}">
        <p14:creationId xmlns:p14="http://schemas.microsoft.com/office/powerpoint/2010/main" val="2390294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16</a:t>
            </a:fld>
            <a:endParaRPr lang="it-IT"/>
          </a:p>
        </p:txBody>
      </p:sp>
    </p:spTree>
    <p:extLst>
      <p:ext uri="{BB962C8B-B14F-4D97-AF65-F5344CB8AC3E}">
        <p14:creationId xmlns:p14="http://schemas.microsoft.com/office/powerpoint/2010/main" val="707021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possible that this is a common practice – especially among mothers. </a:t>
            </a:r>
          </a:p>
        </p:txBody>
      </p:sp>
      <p:sp>
        <p:nvSpPr>
          <p:cNvPr id="4" name="Slide Number Placeholder 3"/>
          <p:cNvSpPr>
            <a:spLocks noGrp="1"/>
          </p:cNvSpPr>
          <p:nvPr>
            <p:ph type="sldNum" sz="quarter" idx="5"/>
          </p:nvPr>
        </p:nvSpPr>
        <p:spPr/>
        <p:txBody>
          <a:bodyPr/>
          <a:lstStyle/>
          <a:p>
            <a:fld id="{C227884D-8063-894A-9B96-2E8B250142EB}" type="slidenum">
              <a:rPr lang="it-IT" smtClean="0"/>
              <a:t>17</a:t>
            </a:fld>
            <a:endParaRPr lang="it-IT"/>
          </a:p>
        </p:txBody>
      </p:sp>
    </p:spTree>
    <p:extLst>
      <p:ext uri="{BB962C8B-B14F-4D97-AF65-F5344CB8AC3E}">
        <p14:creationId xmlns:p14="http://schemas.microsoft.com/office/powerpoint/2010/main" val="1754055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rationing </a:t>
            </a:r>
            <a:r>
              <a:rPr lang="en-US" dirty="0" err="1"/>
              <a:t>stratégie</a:t>
            </a:r>
            <a:r>
              <a:rPr lang="en-US" dirty="0"/>
              <a:t> in which the food consumption of adults is restricted so that small children will have to eat. </a:t>
            </a:r>
          </a:p>
        </p:txBody>
      </p:sp>
      <p:sp>
        <p:nvSpPr>
          <p:cNvPr id="4" name="Slide Number Placeholder 3"/>
          <p:cNvSpPr>
            <a:spLocks noGrp="1"/>
          </p:cNvSpPr>
          <p:nvPr>
            <p:ph type="sldNum" sz="quarter" idx="5"/>
          </p:nvPr>
        </p:nvSpPr>
        <p:spPr/>
        <p:txBody>
          <a:bodyPr/>
          <a:lstStyle/>
          <a:p>
            <a:fld id="{C227884D-8063-894A-9B96-2E8B250142EB}" type="slidenum">
              <a:rPr lang="it-IT" smtClean="0"/>
              <a:t>18</a:t>
            </a:fld>
            <a:endParaRPr lang="it-IT"/>
          </a:p>
        </p:txBody>
      </p:sp>
    </p:spTree>
    <p:extLst>
      <p:ext uri="{BB962C8B-B14F-4D97-AF65-F5344CB8AC3E}">
        <p14:creationId xmlns:p14="http://schemas.microsoft.com/office/powerpoint/2010/main" val="3023853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19</a:t>
            </a:fld>
            <a:endParaRPr lang="it-IT"/>
          </a:p>
        </p:txBody>
      </p:sp>
    </p:spTree>
    <p:extLst>
      <p:ext uri="{BB962C8B-B14F-4D97-AF65-F5344CB8AC3E}">
        <p14:creationId xmlns:p14="http://schemas.microsoft.com/office/powerpoint/2010/main" val="2636802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is possible that this is a common practice – especially among mothers. </a:t>
            </a:r>
          </a:p>
        </p:txBody>
      </p:sp>
      <p:sp>
        <p:nvSpPr>
          <p:cNvPr id="4" name="Slide Number Placeholder 3"/>
          <p:cNvSpPr>
            <a:spLocks noGrp="1"/>
          </p:cNvSpPr>
          <p:nvPr>
            <p:ph type="sldNum" sz="quarter" idx="5"/>
          </p:nvPr>
        </p:nvSpPr>
        <p:spPr/>
        <p:txBody>
          <a:bodyPr/>
          <a:lstStyle/>
          <a:p>
            <a:fld id="{C227884D-8063-894A-9B96-2E8B250142EB}" type="slidenum">
              <a:rPr lang="it-IT" smtClean="0"/>
              <a:t>20</a:t>
            </a:fld>
            <a:endParaRPr lang="it-IT"/>
          </a:p>
        </p:txBody>
      </p:sp>
    </p:spTree>
    <p:extLst>
      <p:ext uri="{BB962C8B-B14F-4D97-AF65-F5344CB8AC3E}">
        <p14:creationId xmlns:p14="http://schemas.microsoft.com/office/powerpoint/2010/main" val="2811043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21</a:t>
            </a:fld>
            <a:endParaRPr lang="it-IT"/>
          </a:p>
        </p:txBody>
      </p:sp>
    </p:spTree>
    <p:extLst>
      <p:ext uri="{BB962C8B-B14F-4D97-AF65-F5344CB8AC3E}">
        <p14:creationId xmlns:p14="http://schemas.microsoft.com/office/powerpoint/2010/main" val="2142033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1" kern="1200" dirty="0">
                <a:solidFill>
                  <a:schemeClr val="tx1"/>
                </a:solidFill>
                <a:effectLst/>
                <a:latin typeface="+mn-lt"/>
                <a:ea typeface="+mn-ea"/>
                <a:cs typeface="+mn-cs"/>
              </a:rPr>
              <a:t>Sélectionnez une option, ne lisez pas l'option de réponse. Cette question ne concerne que les adultes. Ne lisez pas les options de réponse, sélectionnez une option de réponse qui correspond à l'information fournie par le répondant.</a:t>
            </a:r>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22</a:t>
            </a:fld>
            <a:endParaRPr lang="it-IT"/>
          </a:p>
        </p:txBody>
      </p:sp>
    </p:spTree>
    <p:extLst>
      <p:ext uri="{BB962C8B-B14F-4D97-AF65-F5344CB8AC3E}">
        <p14:creationId xmlns:p14="http://schemas.microsoft.com/office/powerpoint/2010/main" val="10043817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rationing </a:t>
            </a:r>
            <a:r>
              <a:rPr lang="en-US" dirty="0" err="1"/>
              <a:t>stratégie</a:t>
            </a:r>
            <a:r>
              <a:rPr lang="en-US" dirty="0"/>
              <a:t> in which most household members consume fewer meals in the day to manage the shortfall of food</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23</a:t>
            </a:fld>
            <a:endParaRPr lang="it-IT"/>
          </a:p>
        </p:txBody>
      </p:sp>
    </p:spTree>
    <p:extLst>
      <p:ext uri="{BB962C8B-B14F-4D97-AF65-F5344CB8AC3E}">
        <p14:creationId xmlns:p14="http://schemas.microsoft.com/office/powerpoint/2010/main" val="323621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always useful to prob a question after asking the main question, for example, what is the usual number of meals a day does the household eat? If the respondent answers with 2 meals a day, then the first example should NOT be considered as used </a:t>
            </a:r>
            <a:r>
              <a:rPr lang="en-US" dirty="0" err="1"/>
              <a:t>stratégie</a:t>
            </a:r>
            <a:r>
              <a:rPr lang="en-US" dirty="0"/>
              <a:t>.</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24</a:t>
            </a:fld>
            <a:endParaRPr lang="it-IT"/>
          </a:p>
        </p:txBody>
      </p:sp>
    </p:spTree>
    <p:extLst>
      <p:ext uri="{BB962C8B-B14F-4D97-AF65-F5344CB8AC3E}">
        <p14:creationId xmlns:p14="http://schemas.microsoft.com/office/powerpoint/2010/main" val="36005511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25</a:t>
            </a:fld>
            <a:endParaRPr lang="it-IT"/>
          </a:p>
        </p:txBody>
      </p:sp>
    </p:spTree>
    <p:extLst>
      <p:ext uri="{BB962C8B-B14F-4D97-AF65-F5344CB8AC3E}">
        <p14:creationId xmlns:p14="http://schemas.microsoft.com/office/powerpoint/2010/main" val="2609023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27</a:t>
            </a:fld>
            <a:endParaRPr lang="it-IT"/>
          </a:p>
        </p:txBody>
      </p:sp>
    </p:spTree>
    <p:extLst>
      <p:ext uri="{BB962C8B-B14F-4D97-AF65-F5344CB8AC3E}">
        <p14:creationId xmlns:p14="http://schemas.microsoft.com/office/powerpoint/2010/main" val="25976352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29</a:t>
            </a:fld>
            <a:endParaRPr lang="it-IT"/>
          </a:p>
        </p:txBody>
      </p:sp>
    </p:spTree>
    <p:extLst>
      <p:ext uri="{BB962C8B-B14F-4D97-AF65-F5344CB8AC3E}">
        <p14:creationId xmlns:p14="http://schemas.microsoft.com/office/powerpoint/2010/main" val="1668380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30</a:t>
            </a:fld>
            <a:endParaRPr lang="it-IT"/>
          </a:p>
        </p:txBody>
      </p:sp>
    </p:spTree>
    <p:extLst>
      <p:ext uri="{BB962C8B-B14F-4D97-AF65-F5344CB8AC3E}">
        <p14:creationId xmlns:p14="http://schemas.microsoft.com/office/powerpoint/2010/main" val="38354879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0EDBCFF-3705-48FB-AAE7-711FBB17B8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0458"/>
          <a:stretch/>
        </p:blipFill>
        <p:spPr bwMode="auto">
          <a:xfrm>
            <a:off x="0" y="-1"/>
            <a:ext cx="12192000" cy="4839629"/>
          </a:xfrm>
          <a:prstGeom prst="rect">
            <a:avLst/>
          </a:prstGeom>
          <a:noFill/>
          <a:extLst>
            <a:ext uri="{909E8E84-426E-40DD-AFC4-6F175D3DCCD1}">
              <a14:hiddenFill xmlns:a14="http://schemas.microsoft.com/office/drawing/2010/main">
                <a:solidFill>
                  <a:srgbClr val="FFFFFF"/>
                </a:solidFill>
              </a14:hiddenFill>
            </a:ext>
          </a:extLst>
        </p:spPr>
      </p:pic>
      <p:sp>
        <p:nvSpPr>
          <p:cNvPr id="9" name="Titolo 1">
            <a:extLst>
              <a:ext uri="{FF2B5EF4-FFF2-40B4-BE49-F238E27FC236}">
                <a16:creationId xmlns:a16="http://schemas.microsoft.com/office/drawing/2014/main" id="{1A015D9C-C9D3-D64F-ADA5-742B12AEEA7C}"/>
              </a:ext>
            </a:extLst>
          </p:cNvPr>
          <p:cNvSpPr txBox="1">
            <a:spLocks/>
          </p:cNvSpPr>
          <p:nvPr/>
        </p:nvSpPr>
        <p:spPr>
          <a:xfrm>
            <a:off x="625364" y="5127641"/>
            <a:ext cx="11532770" cy="101506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r>
              <a:rPr lang="fr-FR" sz="32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t>Indice réduit des stratégies d'adaptation </a:t>
            </a:r>
            <a:r>
              <a:rPr lang="en-GB" sz="32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t>(</a:t>
            </a:r>
            <a:r>
              <a:rPr lang="en-GB" sz="3200" dirty="0" err="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t>rCSI</a:t>
            </a:r>
            <a:r>
              <a:rPr lang="en-GB" sz="32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t>)</a:t>
            </a:r>
            <a:br>
              <a:rPr lang="en-GB" sz="32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br>
            <a:r>
              <a:rPr lang="en-GB" sz="2900" b="0" dirty="0">
                <a:solidFill>
                  <a:schemeClr val="tx1"/>
                </a:solidFill>
                <a:latin typeface="Open Sans" panose="020B0606030504020204" pitchFamily="34" charset="0"/>
                <a:ea typeface="Open Sans" panose="020B0606030504020204" pitchFamily="34" charset="0"/>
                <a:cs typeface="Open Sans" panose="020B0606030504020204" pitchFamily="34" charset="0"/>
              </a:rPr>
              <a:t>Étude </a:t>
            </a:r>
            <a:r>
              <a:rPr lang="en-GB" sz="29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rCARI</a:t>
            </a:r>
            <a:r>
              <a:rPr lang="en-GB" sz="29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r>
              <a:rPr lang="en-GB" sz="29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Enquête</a:t>
            </a:r>
            <a:r>
              <a:rPr lang="en-GB" sz="29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GB" sz="29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téléphonique</a:t>
            </a:r>
            <a:r>
              <a:rPr lang="en-GB" sz="29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p:txBody>
      </p:sp>
      <p:pic>
        <p:nvPicPr>
          <p:cNvPr id="11" name="Picture 10" descr="Logo&#10;&#10;Description automatically generated">
            <a:extLst>
              <a:ext uri="{FF2B5EF4-FFF2-40B4-BE49-F238E27FC236}">
                <a16:creationId xmlns:a16="http://schemas.microsoft.com/office/drawing/2014/main" id="{DE458A70-5F5C-4E44-BB0F-87B246B2AF8C}"/>
              </a:ext>
            </a:extLst>
          </p:cNvPr>
          <p:cNvPicPr>
            <a:picLocks noChangeAspect="1"/>
          </p:cNvPicPr>
          <p:nvPr/>
        </p:nvPicPr>
        <p:blipFill>
          <a:blip r:embed="rId4"/>
          <a:stretch>
            <a:fillRect/>
          </a:stretch>
        </p:blipFill>
        <p:spPr>
          <a:xfrm>
            <a:off x="10480232" y="3494444"/>
            <a:ext cx="991329" cy="2648265"/>
          </a:xfrm>
          <a:prstGeom prst="rect">
            <a:avLst/>
          </a:prstGeom>
        </p:spPr>
      </p:pic>
      <p:sp>
        <p:nvSpPr>
          <p:cNvPr id="12" name="Date Placeholder 4">
            <a:extLst>
              <a:ext uri="{FF2B5EF4-FFF2-40B4-BE49-F238E27FC236}">
                <a16:creationId xmlns:a16="http://schemas.microsoft.com/office/drawing/2014/main" id="{52D83F10-A12A-DC43-92D2-9708578359F6}"/>
              </a:ext>
            </a:extLst>
          </p:cNvPr>
          <p:cNvSpPr txBox="1">
            <a:spLocks/>
          </p:cNvSpPr>
          <p:nvPr/>
        </p:nvSpPr>
        <p:spPr>
          <a:xfrm>
            <a:off x="659231" y="6149794"/>
            <a:ext cx="2743200" cy="365125"/>
          </a:xfrm>
          <a:prstGeom prst="rect">
            <a:avLst/>
          </a:prstGeom>
        </p:spPr>
        <p:txBody>
          <a:bodyPr lIns="91440" tIns="45720" rIns="91440" bIns="45720" anchor="t"/>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b="1" dirty="0">
                <a:latin typeface="Open Sans"/>
                <a:ea typeface="Open Sans"/>
                <a:cs typeface="Open Sans"/>
              </a:rPr>
              <a:t>2024 </a:t>
            </a:r>
            <a:r>
              <a:rPr lang="en-GB" sz="1600" b="1" dirty="0" err="1">
                <a:latin typeface="Open Sans"/>
                <a:ea typeface="Open Sans"/>
                <a:cs typeface="Open Sans"/>
              </a:rPr>
              <a:t>Septembre</a:t>
            </a:r>
          </a:p>
        </p:txBody>
      </p:sp>
    </p:spTree>
    <p:extLst>
      <p:ext uri="{BB962C8B-B14F-4D97-AF65-F5344CB8AC3E}">
        <p14:creationId xmlns:p14="http://schemas.microsoft.com/office/powerpoint/2010/main" val="147295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7437365"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Introduction</a:t>
            </a:r>
            <a:r>
              <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rPr>
              <a:t> </a:t>
            </a:r>
            <a:endParaRPr lang="en-GB" sz="2900" b="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23551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a:lstStyle/>
          <a:p>
            <a:pPr marL="0" indent="0">
              <a:lnSpc>
                <a:spcPts val="2700"/>
              </a:lnSpc>
              <a:buNone/>
            </a:pPr>
            <a:endParaRPr lang="en-US" spc="60"/>
          </a:p>
          <a:p>
            <a:pPr marL="0" indent="0">
              <a:lnSpc>
                <a:spcPts val="2700"/>
              </a:lnSpc>
              <a:buNone/>
            </a:pPr>
            <a:endParaRPr lang="en-US" spc="60"/>
          </a:p>
          <a:p>
            <a:pPr marL="0" indent="0">
              <a:lnSpc>
                <a:spcPct val="90000"/>
              </a:lnSpc>
              <a:buNone/>
            </a:pPr>
            <a:r>
              <a:rPr lang="en-US" sz="2400" spc="60"/>
              <a:t>Discuss the objectives of the module, i.e., to gain information on the reduced or consumption-based coping strategies applied by households in the targeted population. Explain the role of this indicator in food insecurity figures and the use of information, internally and externally. This gives the enumerators a clear understanding of the importance of the data they would be soon collecting. </a:t>
            </a:r>
            <a:endParaRPr lang="en-GB" sz="2400"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RCSI: training instructions 1</a:t>
            </a:r>
          </a:p>
        </p:txBody>
      </p:sp>
    </p:spTree>
    <p:extLst>
      <p:ext uri="{BB962C8B-B14F-4D97-AF65-F5344CB8AC3E}">
        <p14:creationId xmlns:p14="http://schemas.microsoft.com/office/powerpoint/2010/main" val="2063935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a:lstStyle/>
          <a:p>
            <a:pPr marL="0" indent="0">
              <a:buNone/>
            </a:pPr>
            <a:r>
              <a:rPr lang="fr-FR" sz="2200" spc="60" dirty="0"/>
              <a:t>L'indice réduit des stratégies d'adaptation est utilisé pour évaluer le niveau de stress d'un ménage dû à une pénurie alimentaire. </a:t>
            </a:r>
            <a:endParaRPr lang="en-US" sz="500" spc="60" dirty="0">
              <a:latin typeface="Open Sans" panose="020B0606030504020204" pitchFamily="34" charset="0"/>
              <a:ea typeface="Open Sans" panose="020B0606030504020204" pitchFamily="34" charset="0"/>
              <a:cs typeface="Open Sans" panose="020B0606030504020204" pitchFamily="34" charset="0"/>
            </a:endParaRPr>
          </a:p>
          <a:p>
            <a:pPr>
              <a:buFont typeface="Wingdings" panose="05000000000000000000" pitchFamily="2" charset="2"/>
              <a:buChar char="v"/>
            </a:pPr>
            <a:r>
              <a:rPr lang="fr-FR" sz="2200" dirty="0">
                <a:latin typeface="Open Sans" panose="020B0606030504020204" pitchFamily="34" charset="0"/>
                <a:ea typeface="Open Sans" panose="020B0606030504020204" pitchFamily="34" charset="0"/>
                <a:cs typeface="Open Sans" panose="020B0606030504020204" pitchFamily="34" charset="0"/>
              </a:rPr>
              <a:t>Le </a:t>
            </a:r>
            <a:r>
              <a:rPr lang="fr-FR" sz="2200" dirty="0" err="1">
                <a:latin typeface="Open Sans" panose="020B0606030504020204" pitchFamily="34" charset="0"/>
                <a:ea typeface="Open Sans" panose="020B0606030504020204" pitchFamily="34" charset="0"/>
                <a:cs typeface="Open Sans" panose="020B0606030504020204" pitchFamily="34" charset="0"/>
              </a:rPr>
              <a:t>rCSI</a:t>
            </a:r>
            <a:r>
              <a:rPr lang="fr-FR" sz="2200" dirty="0">
                <a:latin typeface="Open Sans" panose="020B0606030504020204" pitchFamily="34" charset="0"/>
                <a:ea typeface="Open Sans" panose="020B0606030504020204" pitchFamily="34" charset="0"/>
                <a:cs typeface="Open Sans" panose="020B0606030504020204" pitchFamily="34" charset="0"/>
              </a:rPr>
              <a:t> mesure les stratégies comportementales que les gens appliquent lorsqu'ils n'ont pas accès à suffisamment de nourriture ou lorsqu'ils prévoient une diminution de la sécurité alimentaire. </a:t>
            </a:r>
            <a:endParaRPr lang="en-US" sz="500" dirty="0">
              <a:latin typeface="Open Sans" panose="020B0606030504020204" pitchFamily="34" charset="0"/>
              <a:ea typeface="Open Sans" panose="020B0606030504020204" pitchFamily="34" charset="0"/>
              <a:cs typeface="Open Sans" panose="020B0606030504020204" pitchFamily="34" charset="0"/>
            </a:endParaRPr>
          </a:p>
          <a:p>
            <a:pPr>
              <a:buFont typeface="Wingdings" panose="05000000000000000000" pitchFamily="2" charset="2"/>
              <a:buChar char="v"/>
            </a:pPr>
            <a:r>
              <a:rPr lang="fr-FR" sz="2200" dirty="0">
                <a:latin typeface="Open Sans" panose="020B0606030504020204" pitchFamily="34" charset="0"/>
                <a:ea typeface="Open Sans" panose="020B0606030504020204" pitchFamily="34" charset="0"/>
                <a:cs typeface="Open Sans" panose="020B0606030504020204" pitchFamily="34" charset="0"/>
              </a:rPr>
              <a:t>Le </a:t>
            </a:r>
            <a:r>
              <a:rPr lang="fr-FR" sz="2200" dirty="0" err="1">
                <a:latin typeface="Open Sans" panose="020B0606030504020204" pitchFamily="34" charset="0"/>
                <a:ea typeface="Open Sans" panose="020B0606030504020204" pitchFamily="34" charset="0"/>
                <a:cs typeface="Open Sans" panose="020B0606030504020204" pitchFamily="34" charset="0"/>
              </a:rPr>
              <a:t>rCSI</a:t>
            </a:r>
            <a:r>
              <a:rPr lang="fr-FR" sz="2200" dirty="0">
                <a:latin typeface="Open Sans" panose="020B0606030504020204" pitchFamily="34" charset="0"/>
                <a:ea typeface="Open Sans" panose="020B0606030504020204" pitchFamily="34" charset="0"/>
                <a:cs typeface="Open Sans" panose="020B0606030504020204" pitchFamily="34" charset="0"/>
              </a:rPr>
              <a:t> contient cinq stratégies standard, ce qui facilite la comparaison dans l'espace, dans le temps et entre les groupes. Une question sur le genre peut être ajoutée pour mieux comprendre la répartition des mécanismes d'adaptation appliqués au sein des ménages.</a:t>
            </a:r>
            <a:endParaRPr lang="en-US" sz="500" dirty="0">
              <a:latin typeface="Open Sans" panose="020B0606030504020204" pitchFamily="34" charset="0"/>
              <a:ea typeface="Open Sans" panose="020B0606030504020204" pitchFamily="34" charset="0"/>
              <a:cs typeface="Open Sans" panose="020B0606030504020204" pitchFamily="34" charset="0"/>
            </a:endParaRPr>
          </a:p>
          <a:p>
            <a:pPr>
              <a:buFont typeface="Wingdings" panose="05000000000000000000" pitchFamily="2" charset="2"/>
              <a:buChar char="v"/>
            </a:pPr>
            <a:r>
              <a:rPr lang="fr-FR" sz="2200" spc="60" dirty="0"/>
              <a:t>Le </a:t>
            </a:r>
            <a:r>
              <a:rPr lang="fr-FR" sz="2200" spc="60" dirty="0" err="1"/>
              <a:t>rCSI</a:t>
            </a:r>
            <a:r>
              <a:rPr lang="fr-FR" sz="2200" spc="60" dirty="0"/>
              <a:t> est fortement corrélé avec d'autres indicateurs de sécurité alimentaire, notamment le score de consommation alimentaire.</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RCSI: </a:t>
            </a:r>
            <a:r>
              <a:rPr lang="en-GB" sz="3600" b="0" kern="1400" spc="230" dirty="0" err="1">
                <a:solidFill>
                  <a:schemeClr val="tx1"/>
                </a:solidFill>
                <a:latin typeface="HALDEN SOLID" pitchFamily="2" charset="0"/>
              </a:rPr>
              <a:t>Définition</a:t>
            </a:r>
            <a:r>
              <a:rPr lang="en-GB" sz="3600" b="0" kern="1400" spc="230" dirty="0">
                <a:solidFill>
                  <a:schemeClr val="tx1"/>
                </a:solidFill>
                <a:latin typeface="HALDEN SOLID" pitchFamily="2" charset="0"/>
              </a:rPr>
              <a:t> </a:t>
            </a:r>
          </a:p>
        </p:txBody>
      </p:sp>
    </p:spTree>
    <p:extLst>
      <p:ext uri="{BB962C8B-B14F-4D97-AF65-F5344CB8AC3E}">
        <p14:creationId xmlns:p14="http://schemas.microsoft.com/office/powerpoint/2010/main" val="976745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a:lstStyle/>
          <a:p>
            <a:pPr>
              <a:lnSpc>
                <a:spcPts val="2700"/>
              </a:lnSpc>
              <a:buFont typeface="Wingdings" panose="05000000000000000000" pitchFamily="2" charset="2"/>
              <a:buChar char="v"/>
            </a:pPr>
            <a:endParaRPr lang="en-US" sz="2200" spc="60" dirty="0"/>
          </a:p>
          <a:p>
            <a:pPr>
              <a:lnSpc>
                <a:spcPts val="2700"/>
              </a:lnSpc>
              <a:buFont typeface="Wingdings" panose="05000000000000000000" pitchFamily="2" charset="2"/>
              <a:buChar char="v"/>
            </a:pPr>
            <a:r>
              <a:rPr lang="fr-FR" sz="2200" spc="60" dirty="0"/>
              <a:t>Le </a:t>
            </a:r>
            <a:r>
              <a:rPr lang="fr-FR" sz="2200" spc="60" dirty="0" err="1"/>
              <a:t>rCSI</a:t>
            </a:r>
            <a:r>
              <a:rPr lang="fr-FR" sz="2200" spc="60" dirty="0"/>
              <a:t> peut être utilisé de différentes manières, notamment pour le suivi des activités du programme, la détermination de la situation de la sécurité alimentaire et le ciblage au niveau de la population.</a:t>
            </a:r>
          </a:p>
          <a:p>
            <a:pPr>
              <a:lnSpc>
                <a:spcPts val="2700"/>
              </a:lnSpc>
              <a:buFont typeface="Wingdings" panose="05000000000000000000" pitchFamily="2" charset="2"/>
              <a:buChar char="v"/>
            </a:pPr>
            <a:r>
              <a:rPr lang="fr-FR" sz="2200" spc="60" dirty="0"/>
              <a:t>L'indicateur </a:t>
            </a:r>
            <a:r>
              <a:rPr lang="fr-FR" sz="2200" spc="60" dirty="0" err="1"/>
              <a:t>rCSI</a:t>
            </a:r>
            <a:r>
              <a:rPr lang="fr-FR" sz="2200" spc="60" dirty="0"/>
              <a:t> joue un rôle dans la classification des ménages en fonction de leur niveau de sécurité alimentaire (CARI)</a:t>
            </a:r>
          </a:p>
          <a:p>
            <a:pPr>
              <a:lnSpc>
                <a:spcPts val="2700"/>
              </a:lnSpc>
              <a:buFont typeface="Wingdings" panose="05000000000000000000" pitchFamily="2" charset="2"/>
              <a:buChar char="v"/>
            </a:pPr>
            <a:r>
              <a:rPr lang="fr-FR" sz="2200" spc="60" dirty="0"/>
              <a:t> Le </a:t>
            </a:r>
            <a:r>
              <a:rPr lang="fr-FR" sz="2200" spc="60" dirty="0" err="1"/>
              <a:t>rCSI</a:t>
            </a:r>
            <a:r>
              <a:rPr lang="fr-FR" sz="2200" spc="60" dirty="0"/>
              <a:t> est l'un des indicateurs de résultats de la sécurité alimentaire dans le tableau de référence de la classification intégrée des phases de la sécurité alimentaire (IPC) sur l'insécurité alimentaire aiguë.</a:t>
            </a:r>
            <a:endParaRPr lang="en-US" sz="2200"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RCSI: Utilisation de </a:t>
            </a:r>
            <a:r>
              <a:rPr lang="en-GB" sz="3600" b="0" kern="1400" spc="230" dirty="0" err="1">
                <a:solidFill>
                  <a:schemeClr val="tx1"/>
                </a:solidFill>
                <a:latin typeface="HALDEN SOLID" pitchFamily="2" charset="0"/>
              </a:rPr>
              <a:t>l'indicateur</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1265753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8785600" cy="2119429"/>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sz="14400" b="0" kern="1400" spc="230" dirty="0">
                <a:solidFill>
                  <a:srgbClr val="FFFFFE"/>
                </a:solidFill>
                <a:latin typeface="HALDEN SOLID"/>
                <a:ea typeface="Open Sans Extrabold"/>
                <a:cs typeface="Open Sans Extrabold"/>
              </a:rPr>
              <a:t>Module: i</a:t>
            </a:r>
            <a:r>
              <a:rPr lang="it-IT" sz="9600" b="0" kern="1400" spc="230" dirty="0">
                <a:solidFill>
                  <a:srgbClr val="FFFFFE"/>
                </a:solidFill>
                <a:latin typeface="HALDEN SOLID"/>
                <a:ea typeface="Open Sans Extrabold"/>
                <a:cs typeface="Open Sans Extrabold"/>
              </a:rPr>
              <a:t>ndice </a:t>
            </a:r>
            <a:r>
              <a:rPr lang="it-IT" sz="9600" b="0" kern="1400" spc="230" dirty="0" err="1">
                <a:solidFill>
                  <a:srgbClr val="FFFFFE"/>
                </a:solidFill>
                <a:latin typeface="HALDEN SOLID"/>
                <a:ea typeface="Open Sans Extrabold"/>
                <a:cs typeface="Open Sans Extrabold"/>
              </a:rPr>
              <a:t>réduit</a:t>
            </a:r>
            <a:r>
              <a:rPr lang="it-IT" sz="9600" b="0" kern="1400" spc="230" dirty="0">
                <a:solidFill>
                  <a:srgbClr val="FFFFFE"/>
                </a:solidFill>
                <a:latin typeface="HALDEN SOLID"/>
                <a:ea typeface="Open Sans Extrabold"/>
                <a:cs typeface="Open Sans Extrabold"/>
              </a:rPr>
              <a:t> </a:t>
            </a:r>
            <a:r>
              <a:rPr lang="it-IT" sz="9600" b="0" kern="1400" spc="230" dirty="0" err="1">
                <a:solidFill>
                  <a:srgbClr val="FFFFFE"/>
                </a:solidFill>
                <a:latin typeface="HALDEN SOLID"/>
                <a:ea typeface="Open Sans Extrabold"/>
                <a:cs typeface="Open Sans Extrabold"/>
              </a:rPr>
              <a:t>des</a:t>
            </a:r>
            <a:r>
              <a:rPr lang="it-IT" sz="9600" b="0" kern="1400" spc="230" dirty="0">
                <a:solidFill>
                  <a:srgbClr val="FFFFFE"/>
                </a:solidFill>
                <a:latin typeface="HALDEN SOLID"/>
                <a:ea typeface="Open Sans Extrabold"/>
                <a:cs typeface="Open Sans Extrabold"/>
              </a:rPr>
              <a:t> </a:t>
            </a:r>
            <a:r>
              <a:rPr lang="it-IT" sz="9600" b="0" kern="1400" spc="230" dirty="0" err="1">
                <a:solidFill>
                  <a:srgbClr val="FFFFFE"/>
                </a:solidFill>
                <a:latin typeface="HALDEN SOLID"/>
                <a:ea typeface="Open Sans Extrabold"/>
                <a:cs typeface="Open Sans Extrabold"/>
              </a:rPr>
              <a:t>stratégies</a:t>
            </a:r>
            <a:r>
              <a:rPr lang="it-IT" sz="9600" b="0" kern="1400" spc="230" dirty="0">
                <a:solidFill>
                  <a:srgbClr val="FFFFFE"/>
                </a:solidFill>
                <a:latin typeface="HALDEN SOLID"/>
                <a:ea typeface="Open Sans Extrabold"/>
                <a:cs typeface="Open Sans Extrabold"/>
              </a:rPr>
              <a:t> </a:t>
            </a:r>
            <a:r>
              <a:rPr lang="it-IT" sz="9600" b="0" kern="1400" spc="230" dirty="0" err="1">
                <a:solidFill>
                  <a:srgbClr val="FFFFFE"/>
                </a:solidFill>
                <a:latin typeface="HALDEN SOLID"/>
                <a:ea typeface="Open Sans Extrabold"/>
                <a:cs typeface="Open Sans Extrabold"/>
              </a:rPr>
              <a:t>d'adaptation</a:t>
            </a:r>
            <a:endParaRPr lang="it-IT" sz="9600" b="0" kern="1400" spc="230" dirty="0">
              <a:solidFill>
                <a:srgbClr val="FFFFFE"/>
              </a:solidFill>
              <a:latin typeface="HALDEN SOLID"/>
              <a:ea typeface="Open Sans Extrabold"/>
              <a:cs typeface="Open Sans Extrabold"/>
            </a:endParaRPr>
          </a:p>
          <a:p>
            <a:pPr marL="742950" indent="-742950">
              <a:lnSpc>
                <a:spcPts val="3920"/>
              </a:lnSpc>
              <a:buAutoNum type="arabicPeriod"/>
            </a:pPr>
            <a:r>
              <a:rPr lang="it-IT" sz="72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Question principale</a:t>
            </a:r>
          </a:p>
          <a:p>
            <a:pPr marL="742950" indent="-742950">
              <a:lnSpc>
                <a:spcPts val="3920"/>
              </a:lnSpc>
              <a:buAutoNum type="arabicPeriod"/>
            </a:pPr>
            <a:r>
              <a:rPr lang="it-IT" sz="72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strategies d’adaptation </a:t>
            </a:r>
            <a:endParaRPr lang="en-GB" sz="72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3555079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a:lstStyle/>
          <a:p>
            <a:pPr marL="0" indent="0">
              <a:lnSpc>
                <a:spcPts val="2700"/>
              </a:lnSpc>
              <a:buNone/>
            </a:pPr>
            <a:endParaRPr lang="en-US" spc="60"/>
          </a:p>
          <a:p>
            <a:pPr>
              <a:lnSpc>
                <a:spcPct val="90000"/>
              </a:lnSpc>
            </a:pPr>
            <a:r>
              <a:rPr lang="en-US" sz="2400" spc="60"/>
              <a:t>Note how the main question is worded. The question is referring to the number of days where the household applied each of the coping strategies.</a:t>
            </a:r>
          </a:p>
          <a:p>
            <a:pPr>
              <a:lnSpc>
                <a:spcPct val="90000"/>
              </a:lnSpc>
            </a:pPr>
            <a:r>
              <a:rPr lang="en-US" sz="2400" spc="60"/>
              <a:t>Be sure the question includes a recall period of 7 days and not “last week”. We are always asking about the same period beginning from today and counting backwards (i.e., “the last 7 days” not “the past week,” or “last week”). Interviewees could get confused if the timeframe is not specific.</a:t>
            </a:r>
            <a:endParaRPr lang="en-GB" sz="2400"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err="1">
                <a:solidFill>
                  <a:schemeClr val="tx1"/>
                </a:solidFill>
                <a:latin typeface="HALDEN SOLID" pitchFamily="2" charset="0"/>
              </a:rPr>
              <a:t>rcsi</a:t>
            </a:r>
            <a:r>
              <a:rPr lang="en-GB" sz="3600" b="0" kern="1400" spc="230">
                <a:solidFill>
                  <a:schemeClr val="tx1"/>
                </a:solidFill>
                <a:latin typeface="HALDEN SOLID" pitchFamily="2" charset="0"/>
              </a:rPr>
              <a:t>: training instructions 2</a:t>
            </a:r>
          </a:p>
        </p:txBody>
      </p:sp>
    </p:spTree>
    <p:extLst>
      <p:ext uri="{BB962C8B-B14F-4D97-AF65-F5344CB8AC3E}">
        <p14:creationId xmlns:p14="http://schemas.microsoft.com/office/powerpoint/2010/main" val="771532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a:ea typeface="Open Sans Extrabold"/>
                <a:cs typeface="Open Sans Extrabold"/>
              </a:rPr>
              <a:t>RCSI MODULE: Question </a:t>
            </a:r>
            <a:r>
              <a:rPr lang="en-GB" sz="3600" b="0" kern="1400" spc="230" dirty="0" err="1">
                <a:solidFill>
                  <a:schemeClr val="tx1"/>
                </a:solidFill>
                <a:latin typeface="HALDEN SOLID"/>
                <a:ea typeface="Open Sans Extrabold"/>
                <a:cs typeface="Open Sans Extrabold"/>
              </a:rPr>
              <a:t>principale</a:t>
            </a:r>
          </a:p>
          <a:p>
            <a:endParaRPr lang="en-GB" sz="3600" b="0" kern="1400" spc="230" dirty="0">
              <a:solidFill>
                <a:schemeClr val="tx1"/>
              </a:solidFill>
              <a:latin typeface="HALDEN SOLID" pitchFamily="2" charset="0"/>
            </a:endParaRPr>
          </a:p>
        </p:txBody>
      </p:sp>
      <p:sp>
        <p:nvSpPr>
          <p:cNvPr id="4" name="Rectangle 3">
            <a:extLst>
              <a:ext uri="{FF2B5EF4-FFF2-40B4-BE49-F238E27FC236}">
                <a16:creationId xmlns:a16="http://schemas.microsoft.com/office/drawing/2014/main" id="{5CCF8BAF-8104-4DD3-8490-EADCD1CAF608}"/>
              </a:ext>
            </a:extLst>
          </p:cNvPr>
          <p:cNvSpPr/>
          <p:nvPr/>
        </p:nvSpPr>
        <p:spPr>
          <a:xfrm>
            <a:off x="717180" y="1528864"/>
            <a:ext cx="10382229" cy="1200329"/>
          </a:xfrm>
          <a:prstGeom prst="rect">
            <a:avLst/>
          </a:prstGeom>
        </p:spPr>
        <p:txBody>
          <a:bodyPr wrap="square">
            <a:spAutoFit/>
          </a:bodyPr>
          <a:lstStyle/>
          <a:p>
            <a:r>
              <a:rPr lang="fr-FR" sz="2400" dirty="0">
                <a:solidFill>
                  <a:srgbClr val="007DBC"/>
                </a:solidFill>
                <a:latin typeface="Open Sans" panose="020B0606030504020204" pitchFamily="34" charset="0"/>
                <a:ea typeface="Open Sans" panose="020B0606030504020204" pitchFamily="34" charset="0"/>
                <a:cs typeface="Open Sans" panose="020B0606030504020204" pitchFamily="34" charset="0"/>
              </a:rPr>
              <a:t>Au cours des sept derniers jours, y a-t-il eu des jours (et si oui, combien) où votre ménage a dû recourir aux stratégies suivantes pour faire face à un manque de nourriture ou d'argent pour l'acheter ?</a:t>
            </a:r>
            <a:endParaRPr lang="en-GB" sz="24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5">
            <a:extLst>
              <a:ext uri="{FF2B5EF4-FFF2-40B4-BE49-F238E27FC236}">
                <a16:creationId xmlns:a16="http://schemas.microsoft.com/office/drawing/2014/main" id="{CB066D68-B2D8-4F11-8642-D1325C2FAF15}"/>
              </a:ext>
            </a:extLst>
          </p:cNvPr>
          <p:cNvSpPr/>
          <p:nvPr/>
        </p:nvSpPr>
        <p:spPr>
          <a:xfrm>
            <a:off x="717179" y="3368821"/>
            <a:ext cx="10635449" cy="1323439"/>
          </a:xfrm>
          <a:prstGeom prst="rect">
            <a:avLst/>
          </a:prstGeom>
        </p:spPr>
        <p:txBody>
          <a:bodyPr wrap="square">
            <a:spAutoFit/>
          </a:bodyPr>
          <a:lstStyle/>
          <a:p>
            <a:pPr fontAlgn="base"/>
            <a:r>
              <a:rPr lang="fr-BE" sz="2000" b="1" dirty="0">
                <a:solidFill>
                  <a:srgbClr val="982B56"/>
                </a:solidFill>
                <a:latin typeface="Open Sans" panose="020B0606030504020204" pitchFamily="34" charset="0"/>
                <a:ea typeface="Open Sans" panose="020B0606030504020204" pitchFamily="34" charset="0"/>
                <a:cs typeface="Open Sans" panose="020B0606030504020204" pitchFamily="34" charset="0"/>
              </a:rPr>
              <a:t>IMPORTANT</a:t>
            </a:r>
            <a:r>
              <a:rPr lang="en-US" sz="2000" dirty="0">
                <a:solidFill>
                  <a:srgbClr val="982B56"/>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rgbClr val="007DBC"/>
              </a:solidFill>
              <a:latin typeface="Open Sans" panose="020B0606030504020204" pitchFamily="34" charset="0"/>
              <a:ea typeface="Open Sans" panose="020B0606030504020204" pitchFamily="34" charset="0"/>
              <a:cs typeface="Open Sans" panose="020B0606030504020204" pitchFamily="34" charset="0"/>
            </a:endParaRPr>
          </a:p>
          <a:p>
            <a:pPr fontAlgn="base">
              <a:buFont typeface="+mj-lt"/>
              <a:buAutoNum type="arabicPeriod"/>
            </a:pPr>
            <a:r>
              <a:rPr lang="fr-BE" sz="2000" dirty="0">
                <a:solidFill>
                  <a:srgbClr val="007DBC"/>
                </a:solidFill>
                <a:latin typeface="Open Sans" panose="020B0606030504020204" pitchFamily="34" charset="0"/>
                <a:ea typeface="Open Sans" panose="020B0606030504020204" pitchFamily="34" charset="0"/>
                <a:cs typeface="Open Sans" panose="020B0606030504020204" pitchFamily="34" charset="0"/>
              </a:rPr>
              <a:t> Combien de </a:t>
            </a:r>
            <a:r>
              <a:rPr lang="fr-BE" sz="2000" b="1" dirty="0">
                <a:solidFill>
                  <a:srgbClr val="1A4161"/>
                </a:solidFill>
                <a:latin typeface="Open Sans" panose="020B0606030504020204" pitchFamily="34" charset="0"/>
                <a:ea typeface="Open Sans" panose="020B0606030504020204" pitchFamily="34" charset="0"/>
                <a:cs typeface="Open Sans" panose="020B0606030504020204" pitchFamily="34" charset="0"/>
              </a:rPr>
              <a:t>JOURS</a:t>
            </a:r>
            <a:r>
              <a:rPr lang="en-US" sz="2000" dirty="0">
                <a:solidFill>
                  <a:srgbClr val="1A4161"/>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rgbClr val="007DBC"/>
              </a:solidFill>
              <a:latin typeface="Open Sans" panose="020B0606030504020204" pitchFamily="34" charset="0"/>
              <a:ea typeface="Open Sans" panose="020B0606030504020204" pitchFamily="34" charset="0"/>
              <a:cs typeface="Open Sans" panose="020B0606030504020204" pitchFamily="34" charset="0"/>
            </a:endParaRPr>
          </a:p>
          <a:p>
            <a:pPr fontAlgn="base">
              <a:buFont typeface="+mj-lt"/>
              <a:buAutoNum type="arabicPeriod"/>
            </a:pPr>
            <a:r>
              <a:rPr lang="fr-BE" sz="2000" dirty="0">
                <a:solidFill>
                  <a:srgbClr val="007DBC"/>
                </a:solidFill>
                <a:latin typeface="Open Sans" panose="020B0606030504020204" pitchFamily="34" charset="0"/>
                <a:ea typeface="Open Sans" panose="020B0606030504020204" pitchFamily="34" charset="0"/>
                <a:cs typeface="Open Sans" panose="020B0606030504020204" pitchFamily="34" charset="0"/>
              </a:rPr>
              <a:t> Au cours des </a:t>
            </a:r>
            <a:r>
              <a:rPr lang="fr-BE" sz="2000" b="1" dirty="0">
                <a:solidFill>
                  <a:srgbClr val="1A4161"/>
                </a:solidFill>
                <a:latin typeface="Open Sans" panose="020B0606030504020204" pitchFamily="34" charset="0"/>
                <a:ea typeface="Open Sans" panose="020B0606030504020204" pitchFamily="34" charset="0"/>
                <a:cs typeface="Open Sans" panose="020B0606030504020204" pitchFamily="34" charset="0"/>
              </a:rPr>
              <a:t>7 DERNIERS JOURS</a:t>
            </a:r>
            <a:r>
              <a:rPr lang="en-US" sz="2000" dirty="0">
                <a:solidFill>
                  <a:srgbClr val="1A4161"/>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rgbClr val="007DBC"/>
              </a:solidFill>
              <a:latin typeface="Open Sans" panose="020B0606030504020204" pitchFamily="34" charset="0"/>
              <a:ea typeface="Open Sans" panose="020B0606030504020204" pitchFamily="34" charset="0"/>
              <a:cs typeface="Open Sans" panose="020B0606030504020204" pitchFamily="34" charset="0"/>
            </a:endParaRPr>
          </a:p>
          <a:p>
            <a:pPr fontAlgn="base">
              <a:buFont typeface="+mj-lt"/>
              <a:buAutoNum type="arabicPeriod"/>
            </a:pPr>
            <a:r>
              <a:rPr lang="fr-FR" sz="2000" dirty="0">
                <a:solidFill>
                  <a:srgbClr val="0070BA"/>
                </a:solidFill>
                <a:latin typeface="Open Sans" panose="020B0606030504020204" pitchFamily="34" charset="0"/>
                <a:ea typeface="Open Sans" panose="020B0606030504020204" pitchFamily="34" charset="0"/>
                <a:cs typeface="Open Sans" panose="020B0606030504020204" pitchFamily="34" charset="0"/>
              </a:rPr>
              <a:t> Pour faire face à un </a:t>
            </a:r>
            <a:r>
              <a:rPr lang="fr-FR" sz="2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MANQUE DE NOURRITURE OU D'ARGENT POUR L'ACHETER </a:t>
            </a:r>
            <a:r>
              <a:rPr lang="fr-FR" sz="2000" dirty="0">
                <a:solidFill>
                  <a:srgbClr val="0070BA"/>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rgbClr val="007DBC"/>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85395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1</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pc="60" dirty="0"/>
          </a:p>
          <a:p>
            <a:pPr marL="0" indent="0">
              <a:buNone/>
            </a:pPr>
            <a:r>
              <a:rPr lang="fr-FR" dirty="0"/>
              <a:t>Au cours des 7 derniers jours, y a-t-il eu des jours (et, si oui, combien) où votre ménage a dû </a:t>
            </a:r>
            <a:r>
              <a:rPr lang="fr-FR" sz="2400" b="1" dirty="0">
                <a:solidFill>
                  <a:schemeClr val="accent1"/>
                </a:solidFill>
              </a:rPr>
              <a:t>compter sur des aliments moins appréciés et moins chers</a:t>
            </a:r>
            <a:r>
              <a:rPr lang="fr-FR" sz="2400" dirty="0"/>
              <a:t> </a:t>
            </a:r>
            <a:r>
              <a:rPr lang="fr-FR" dirty="0"/>
              <a:t>pour faire face à un manque de nourriture ou d'argent pour en acheter?</a:t>
            </a:r>
            <a:endParaRPr lang="en-US" spc="60" dirty="0"/>
          </a:p>
          <a:p>
            <a:pPr marL="0" indent="0">
              <a:buNone/>
            </a:pPr>
            <a:endParaRPr lang="en-US" spc="60" dirty="0"/>
          </a:p>
          <a:p>
            <a:pPr>
              <a:buFont typeface="Wingdings" panose="05000000000000000000" pitchFamily="2" charset="2"/>
              <a:buChar char="§"/>
            </a:pPr>
            <a:r>
              <a:rPr lang="fr-FR" spc="60" dirty="0"/>
              <a:t>Après avoir subi un </a:t>
            </a:r>
            <a:r>
              <a:rPr lang="fr-FR" b="1" spc="60" dirty="0"/>
              <a:t>choc</a:t>
            </a:r>
            <a:r>
              <a:rPr lang="fr-FR" spc="60" dirty="0"/>
              <a:t>, les ménages peuvent modifier leurs habitudes/régime alimentaire(s). Par exemple, ils peuvent remplacer les aliments qu'ils préfèrent par des substituts moins chers et moins appréciés.</a:t>
            </a:r>
          </a:p>
          <a:p>
            <a:pPr>
              <a:buFont typeface="Wingdings" panose="05000000000000000000" pitchFamily="2" charset="2"/>
              <a:buChar char="§"/>
            </a:pPr>
            <a:endParaRPr lang="fr-FR" sz="1800" spc="60" dirty="0"/>
          </a:p>
          <a:p>
            <a:pPr>
              <a:buFont typeface="Wingdings" panose="05000000000000000000" pitchFamily="2" charset="2"/>
              <a:buChar char="§"/>
            </a:pPr>
            <a:r>
              <a:rPr lang="fr-FR" spc="60" dirty="0"/>
              <a:t>Cette question porte sur les </a:t>
            </a:r>
            <a:r>
              <a:rPr lang="fr-FR" b="1" spc="60" dirty="0"/>
              <a:t>types d'aliments </a:t>
            </a:r>
            <a:r>
              <a:rPr lang="fr-FR" spc="60" dirty="0"/>
              <a:t>consommés plutôt que sur les quantités consommées.</a:t>
            </a:r>
            <a:endParaRPr lang="en-US" spc="60" dirty="0"/>
          </a:p>
          <a:p>
            <a:pPr marL="0" indent="0">
              <a:buNone/>
            </a:pPr>
            <a:endParaRPr lang="en-US" sz="1800" spc="60" dirty="0"/>
          </a:p>
          <a:p>
            <a:pPr marL="0" indent="0">
              <a:buNone/>
            </a:pPr>
            <a:endParaRPr lang="en-US" sz="1800" spc="60" dirty="0"/>
          </a:p>
          <a:p>
            <a:pPr marL="0" indent="0">
              <a:buNone/>
            </a:pPr>
            <a:endParaRPr lang="en-GB" sz="1800" dirty="0">
              <a:latin typeface="Open Sans" panose="020B060603050402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F92DAB5B-7A72-476C-AA59-5E2C82CBEE62}"/>
              </a:ext>
            </a:extLst>
          </p:cNvPr>
          <p:cNvSpPr txBox="1"/>
          <p:nvPr/>
        </p:nvSpPr>
        <p:spPr>
          <a:xfrm>
            <a:off x="8449733" y="447070"/>
            <a:ext cx="3025087" cy="646331"/>
          </a:xfrm>
          <a:prstGeom prst="rect">
            <a:avLst/>
          </a:prstGeom>
          <a:noFill/>
          <a:ln w="57150">
            <a:solidFill>
              <a:schemeClr val="bg1">
                <a:lumMod val="50000"/>
              </a:schemeClr>
            </a:solidFill>
          </a:ln>
        </p:spPr>
        <p:txBody>
          <a:bodyPr wrap="square" rtlCol="0">
            <a:spAutoFit/>
          </a:bodyPr>
          <a:lstStyle/>
          <a:p>
            <a:pPr algn="ctr"/>
            <a:r>
              <a:rPr lang="en-US" b="1" dirty="0"/>
              <a:t>CHANGEMENT RÉGIME ALIMENTAIRE</a:t>
            </a:r>
          </a:p>
        </p:txBody>
      </p:sp>
    </p:spTree>
    <p:extLst>
      <p:ext uri="{BB962C8B-B14F-4D97-AF65-F5344CB8AC3E}">
        <p14:creationId xmlns:p14="http://schemas.microsoft.com/office/powerpoint/2010/main" val="2477302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1 (suite)</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pc="60" dirty="0"/>
              <a:t>Si un ménage a l'habitude d'acheter des aliments d'une qualité spécifique, tels que des légumes et des fruits, mais </a:t>
            </a:r>
            <a:r>
              <a:rPr lang="fr-FR" b="1" spc="60" dirty="0">
                <a:solidFill>
                  <a:schemeClr val="accent1"/>
                </a:solidFill>
              </a:rPr>
              <a:t>qu'en raison d'un manque d'argent, il a dû acheter des aliments moins frais ou de qualité médiocre </a:t>
            </a:r>
            <a:r>
              <a:rPr lang="fr-FR" spc="60" dirty="0"/>
              <a:t>parce qu'ils sont les moins chers, cette stratégie peut être considérée comme appliquée.</a:t>
            </a:r>
          </a:p>
          <a:p>
            <a:pPr>
              <a:buFont typeface="Wingdings" panose="05000000000000000000" pitchFamily="2" charset="2"/>
              <a:buChar char="v"/>
            </a:pPr>
            <a:r>
              <a:rPr lang="fr-FR" spc="60" dirty="0"/>
              <a:t> Si un ménage ne préfère pas un type d'aliment spécifique et qu'il n'aime pas du tout le manger, mais qu'il a </a:t>
            </a:r>
            <a:r>
              <a:rPr lang="fr-FR" b="1" spc="60" dirty="0">
                <a:solidFill>
                  <a:schemeClr val="accent1"/>
                </a:solidFill>
              </a:rPr>
              <a:t>dû le faire en raison d'un manque de nourriture ou d'argent</a:t>
            </a:r>
            <a:r>
              <a:rPr lang="fr-FR" spc="60" dirty="0"/>
              <a:t>, cette stratégie peut être considérée comme appliquée.</a:t>
            </a:r>
          </a:p>
          <a:p>
            <a:pPr>
              <a:buFont typeface="Wingdings" panose="05000000000000000000" pitchFamily="2" charset="2"/>
              <a:buChar char="v"/>
            </a:pPr>
            <a:r>
              <a:rPr lang="fr-FR" spc="60" dirty="0"/>
              <a:t> Si un ménage achète les aliments les moins chers et de mauvaise qualité par </a:t>
            </a:r>
            <a:r>
              <a:rPr lang="fr-FR" b="1" spc="60" dirty="0">
                <a:solidFill>
                  <a:schemeClr val="accent1"/>
                </a:solidFill>
              </a:rPr>
              <a:t>habitude</a:t>
            </a:r>
            <a:r>
              <a:rPr lang="fr-FR" spc="60" dirty="0"/>
              <a:t> ou par </a:t>
            </a:r>
            <a:r>
              <a:rPr lang="fr-FR" b="1" spc="60" dirty="0">
                <a:solidFill>
                  <a:schemeClr val="accent1"/>
                </a:solidFill>
              </a:rPr>
              <a:t>manque de connaissances </a:t>
            </a:r>
            <a:r>
              <a:rPr lang="fr-FR" spc="60" dirty="0"/>
              <a:t>sur les habitudes saines (et non en raison d'un manque de nourriture), cette stratégie n'est </a:t>
            </a:r>
            <a:r>
              <a:rPr lang="fr-FR" b="1" spc="60" dirty="0">
                <a:solidFill>
                  <a:schemeClr val="accent1"/>
                </a:solidFill>
              </a:rPr>
              <a:t>PAS</a:t>
            </a:r>
            <a:r>
              <a:rPr lang="fr-FR" spc="60" dirty="0"/>
              <a:t> considérée comme appliquée.</a:t>
            </a:r>
            <a:endParaRPr lang="en-US" spc="60" dirty="0"/>
          </a:p>
          <a:p>
            <a:pPr marL="0" indent="0">
              <a:buNone/>
            </a:pPr>
            <a:endParaRPr lang="en-US" sz="1800" spc="60" dirty="0"/>
          </a:p>
          <a:p>
            <a:pPr marL="0" indent="0">
              <a:buNone/>
            </a:pPr>
            <a:endParaRPr lang="en-GB" sz="1800" dirty="0">
              <a:latin typeface="Open Sans" panose="020B0606030504020204" pitchFamily="34" charset="0"/>
              <a:ea typeface="Calibri" panose="020F0502020204030204" pitchFamily="34" charset="0"/>
            </a:endParaRPr>
          </a:p>
        </p:txBody>
      </p:sp>
      <p:sp>
        <p:nvSpPr>
          <p:cNvPr id="2" name="TextBox 1">
            <a:extLst>
              <a:ext uri="{FF2B5EF4-FFF2-40B4-BE49-F238E27FC236}">
                <a16:creationId xmlns:a16="http://schemas.microsoft.com/office/drawing/2014/main" id="{F92DAB5B-7A72-476C-AA59-5E2C82CBEE62}"/>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en-US" b="1" dirty="0"/>
              <a:t>CHANGEMENT RÉGIME ALIMENTAIRE</a:t>
            </a:r>
          </a:p>
        </p:txBody>
      </p:sp>
    </p:spTree>
    <p:extLst>
      <p:ext uri="{BB962C8B-B14F-4D97-AF65-F5344CB8AC3E}">
        <p14:creationId xmlns:p14="http://schemas.microsoft.com/office/powerpoint/2010/main" val="257519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1: Comment </a:t>
            </a:r>
            <a:r>
              <a:rPr lang="en-GB" sz="3600" b="0" kern="1400" spc="230" dirty="0" err="1">
                <a:solidFill>
                  <a:schemeClr val="tx1"/>
                </a:solidFill>
                <a:latin typeface="HALDEN SOLID" pitchFamily="2" charset="0"/>
              </a:rPr>
              <a:t>vérifier</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7862165" y="1648318"/>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7880867"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t>Des questions d'approfondissement doivent être posées au cours des entretiens afin de mieux comprendre les comportements d'adaptation inhabituels des ménages.</a:t>
            </a:r>
          </a:p>
          <a:p>
            <a:pPr marL="0" indent="0">
              <a:buNone/>
            </a:pPr>
            <a:r>
              <a:rPr lang="fr-FR" spc="60" dirty="0"/>
              <a:t>Par exemple, si un ménage déclare avoir eu recours à des aliments moins préférés et moins chers tous les jours au cours des sept derniers jours, il convient de poser des questions supplémentaires :</a:t>
            </a:r>
            <a:endParaRPr lang="en-US" sz="1800" spc="60" dirty="0"/>
          </a:p>
          <a:p>
            <a:pPr marL="0" indent="0" algn="ctr">
              <a:buNone/>
            </a:pPr>
            <a:r>
              <a:rPr lang="fr-FR" b="1" spc="60" dirty="0">
                <a:solidFill>
                  <a:schemeClr val="accent2"/>
                </a:solidFill>
              </a:rPr>
              <a:t>"Est-ce une pratique courante dans votre ménage ?" </a:t>
            </a:r>
            <a:r>
              <a:rPr lang="en-US" b="1" spc="60" dirty="0">
                <a:solidFill>
                  <a:schemeClr val="accent2"/>
                </a:solidFill>
              </a:rPr>
              <a:t> </a:t>
            </a:r>
          </a:p>
          <a:p>
            <a:pPr marL="0" indent="0" algn="ctr">
              <a:buNone/>
            </a:pPr>
            <a:r>
              <a:rPr lang="fr-FR" b="1" spc="60" dirty="0">
                <a:solidFill>
                  <a:schemeClr val="accent2"/>
                </a:solidFill>
              </a:rPr>
              <a:t>"Et quel est le rapport avec le choc le plus récent ?« </a:t>
            </a:r>
          </a:p>
          <a:p>
            <a:pPr marL="0" indent="0" algn="ctr">
              <a:buNone/>
            </a:pPr>
            <a:endParaRPr lang="en-US" b="1" spc="60" dirty="0">
              <a:solidFill>
                <a:schemeClr val="accent2"/>
              </a:solidFill>
            </a:endParaRPr>
          </a:p>
          <a:p>
            <a:pPr marL="0" indent="0" algn="ctr">
              <a:buNone/>
            </a:pPr>
            <a:endParaRPr lang="fr-FR" b="1" spc="60" dirty="0">
              <a:solidFill>
                <a:schemeClr val="accent2"/>
              </a:solidFill>
            </a:endParaRPr>
          </a:p>
        </p:txBody>
      </p:sp>
      <p:sp>
        <p:nvSpPr>
          <p:cNvPr id="2" name="Rectangle 1">
            <a:extLst>
              <a:ext uri="{FF2B5EF4-FFF2-40B4-BE49-F238E27FC236}">
                <a16:creationId xmlns:a16="http://schemas.microsoft.com/office/drawing/2014/main" id="{BFC217C7-DB20-4E0E-A387-390289BF20D3}"/>
              </a:ext>
            </a:extLst>
          </p:cNvPr>
          <p:cNvSpPr/>
          <p:nvPr/>
        </p:nvSpPr>
        <p:spPr>
          <a:xfrm>
            <a:off x="717181" y="4909208"/>
            <a:ext cx="7444686" cy="646331"/>
          </a:xfrm>
          <a:prstGeom prst="rect">
            <a:avLst/>
          </a:prstGeom>
        </p:spPr>
        <p:txBody>
          <a:bodyPr wrap="square">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Ne pas </a:t>
            </a:r>
            <a:r>
              <a:rPr lang="en-GB" dirty="0" err="1">
                <a:latin typeface="Open Sans" panose="020B0606030504020204" pitchFamily="34" charset="0"/>
                <a:ea typeface="Open Sans" panose="020B0606030504020204" pitchFamily="34" charset="0"/>
                <a:cs typeface="Open Sans" panose="020B0606030504020204" pitchFamily="34" charset="0"/>
              </a:rPr>
              <a:t>enregistrer</a:t>
            </a:r>
            <a:r>
              <a:rPr lang="en-GB" dirty="0">
                <a:latin typeface="Open Sans" panose="020B0606030504020204" pitchFamily="34" charset="0"/>
                <a:ea typeface="Open Sans" panose="020B0606030504020204" pitchFamily="34" charset="0"/>
                <a:cs typeface="Open Sans" panose="020B0606030504020204" pitchFamily="34" charset="0"/>
              </a:rPr>
              <a:t> les </a:t>
            </a:r>
            <a:r>
              <a:rPr lang="en-GB" dirty="0" err="1">
                <a:latin typeface="Open Sans" panose="020B0606030504020204" pitchFamily="34" charset="0"/>
                <a:ea typeface="Open Sans" panose="020B0606030504020204" pitchFamily="34" charset="0"/>
                <a:cs typeface="Open Sans" panose="020B0606030504020204" pitchFamily="34" charset="0"/>
              </a:rPr>
              <a:t>comportements</a:t>
            </a:r>
            <a:r>
              <a:rPr lang="en-GB" dirty="0">
                <a:latin typeface="Open Sans" panose="020B0606030504020204" pitchFamily="34" charset="0"/>
                <a:ea typeface="Open Sans" panose="020B0606030504020204" pitchFamily="34" charset="0"/>
                <a:cs typeface="Open Sans" panose="020B0606030504020204" pitchFamily="34" charset="0"/>
              </a:rPr>
              <a:t> courants</a:t>
            </a:r>
          </a:p>
          <a:p>
            <a:r>
              <a:rPr lang="en-GB" dirty="0">
                <a:latin typeface="Open Sans" panose="020B0606030504020204" pitchFamily="34" charset="0"/>
                <a:ea typeface="Open Sans" panose="020B0606030504020204" pitchFamily="34" charset="0"/>
                <a:cs typeface="Open Sans" panose="020B0606030504020204" pitchFamily="34" charset="0"/>
              </a:rPr>
              <a:t>Se </a:t>
            </a:r>
            <a:r>
              <a:rPr lang="en-GB" dirty="0" err="1">
                <a:latin typeface="Open Sans" panose="020B0606030504020204" pitchFamily="34" charset="0"/>
                <a:ea typeface="Open Sans" panose="020B0606030504020204" pitchFamily="34" charset="0"/>
                <a:cs typeface="Open Sans" panose="020B0606030504020204" pitchFamily="34" charset="0"/>
              </a:rPr>
              <a:t>référer</a:t>
            </a:r>
            <a:r>
              <a:rPr lang="en-GB" dirty="0">
                <a:latin typeface="Open Sans" panose="020B0606030504020204" pitchFamily="34" charset="0"/>
                <a:ea typeface="Open Sans" panose="020B0606030504020204" pitchFamily="34" charset="0"/>
                <a:cs typeface="Open Sans" panose="020B0606030504020204" pitchFamily="34" charset="0"/>
              </a:rPr>
              <a:t> au choc le plus </a:t>
            </a:r>
            <a:r>
              <a:rPr lang="en-GB" dirty="0" err="1">
                <a:latin typeface="Open Sans" panose="020B0606030504020204" pitchFamily="34" charset="0"/>
                <a:ea typeface="Open Sans" panose="020B0606030504020204" pitchFamily="34" charset="0"/>
                <a:cs typeface="Open Sans" panose="020B0606030504020204" pitchFamily="34" charset="0"/>
              </a:rPr>
              <a:t>récent</a:t>
            </a:r>
            <a:r>
              <a:rPr lang="en-GB"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3370966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2</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dirty="0"/>
              <a:t>Au cours des 7 derniers jours, y a-t-il eu des jours (et, si oui, combien) où votre ménage a dû </a:t>
            </a:r>
            <a:r>
              <a:rPr lang="fr-FR" sz="2400" b="1" dirty="0">
                <a:solidFill>
                  <a:schemeClr val="accent1"/>
                </a:solidFill>
              </a:rPr>
              <a:t>emprunter de la nourriture ou compter sur l'aide d'un parent ou d'un ami </a:t>
            </a:r>
            <a:r>
              <a:rPr lang="fr-FR" dirty="0"/>
              <a:t>pour faire face à un manque de nourriture ou d'argent pour en acheter?</a:t>
            </a:r>
            <a:endParaRPr lang="en-US" dirty="0"/>
          </a:p>
          <a:p>
            <a:pPr marL="0" indent="0">
              <a:buNone/>
            </a:pPr>
            <a:endParaRPr lang="en-US" dirty="0">
              <a:latin typeface="Open Sans" panose="020B0606030504020204" pitchFamily="34" charset="0"/>
              <a:ea typeface="Calibri" panose="020F0502020204030204" pitchFamily="34" charset="0"/>
            </a:endParaRPr>
          </a:p>
          <a:p>
            <a:pPr marL="0" indent="0">
              <a:buNone/>
            </a:pPr>
            <a:r>
              <a:rPr lang="fr-FR" dirty="0"/>
              <a:t>Les ménages augmentent leur disponibilité alimentaire à court terme en comptant sur l'aide d'amis ou de parents sous forme de nourriture ou d'argent pour acheter de la nourriture. Toutefois, ces stratégies à court terme ne sont pas viables à long terme</a:t>
            </a:r>
            <a:endParaRPr lang="en-GB" dirty="0">
              <a:latin typeface="Open Sans" panose="020B0606030504020204" pitchFamily="34" charset="0"/>
              <a:ea typeface="Calibri" panose="020F0502020204030204" pitchFamily="34" charset="0"/>
            </a:endParaRPr>
          </a:p>
        </p:txBody>
      </p:sp>
      <p:sp>
        <p:nvSpPr>
          <p:cNvPr id="12" name="TextBox 11">
            <a:extLst>
              <a:ext uri="{FF2B5EF4-FFF2-40B4-BE49-F238E27FC236}">
                <a16:creationId xmlns:a16="http://schemas.microsoft.com/office/drawing/2014/main" id="{519A70B7-1234-43F6-B0BE-20CE16E73C31}"/>
              </a:ext>
            </a:extLst>
          </p:cNvPr>
          <p:cNvSpPr txBox="1"/>
          <p:nvPr/>
        </p:nvSpPr>
        <p:spPr>
          <a:xfrm>
            <a:off x="8551333" y="447070"/>
            <a:ext cx="2923487" cy="646331"/>
          </a:xfrm>
          <a:prstGeom prst="rect">
            <a:avLst/>
          </a:prstGeom>
          <a:noFill/>
          <a:ln w="57150">
            <a:solidFill>
              <a:schemeClr val="bg1">
                <a:lumMod val="50000"/>
              </a:schemeClr>
            </a:solidFill>
          </a:ln>
        </p:spPr>
        <p:txBody>
          <a:bodyPr wrap="square" rtlCol="0">
            <a:spAutoFit/>
          </a:bodyPr>
          <a:lstStyle/>
          <a:p>
            <a:pPr algn="ctr"/>
            <a:r>
              <a:rPr lang="fr-FR" b="1" dirty="0"/>
              <a:t>AUGMENTATION DISPONIBILITÉ NOURRITURE</a:t>
            </a:r>
            <a:endParaRPr lang="en-US" b="1" dirty="0"/>
          </a:p>
        </p:txBody>
      </p:sp>
    </p:spTree>
    <p:extLst>
      <p:ext uri="{BB962C8B-B14F-4D97-AF65-F5344CB8AC3E}">
        <p14:creationId xmlns:p14="http://schemas.microsoft.com/office/powerpoint/2010/main" val="1190023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2 (suite)</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2200" spc="60" dirty="0"/>
              <a:t>Si un ménage déclare avoir eu recours à cette stratégie au cours des 7 derniers jours en raison de son incapacité à se procurer de la nourriture pendant cette période, alors ce ménage a eu recours à cette stratégie.</a:t>
            </a:r>
          </a:p>
          <a:p>
            <a:pPr>
              <a:buFont typeface="Wingdings" panose="05000000000000000000" pitchFamily="2" charset="2"/>
              <a:buChar char="v"/>
            </a:pPr>
            <a:r>
              <a:rPr lang="fr-FR" sz="2200" spc="60" dirty="0"/>
              <a:t>Si un ménage a dû emprunter des légumes à un voisin ou à un ami parce qu'il avait oublié de les acheter au magasin, cela n'est PAS considéré comme une stratégie</a:t>
            </a:r>
            <a:endParaRPr lang="en-GB" sz="1800" dirty="0">
              <a:latin typeface="Open Sans" panose="020B060603050402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9DD20C23-46B2-47E2-A263-A03DC58EA92D}"/>
              </a:ext>
            </a:extLst>
          </p:cNvPr>
          <p:cNvSpPr txBox="1"/>
          <p:nvPr/>
        </p:nvSpPr>
        <p:spPr>
          <a:xfrm>
            <a:off x="8551333" y="447070"/>
            <a:ext cx="2923487" cy="646331"/>
          </a:xfrm>
          <a:prstGeom prst="rect">
            <a:avLst/>
          </a:prstGeom>
          <a:noFill/>
          <a:ln w="57150">
            <a:solidFill>
              <a:schemeClr val="bg1">
                <a:lumMod val="50000"/>
              </a:schemeClr>
            </a:solidFill>
          </a:ln>
        </p:spPr>
        <p:txBody>
          <a:bodyPr wrap="square" rtlCol="0">
            <a:spAutoFit/>
          </a:bodyPr>
          <a:lstStyle/>
          <a:p>
            <a:pPr algn="ctr"/>
            <a:r>
              <a:rPr lang="fr-FR" b="1" dirty="0"/>
              <a:t>AUGMENTATION DISPONIBILITÉ NOURRITURE</a:t>
            </a:r>
            <a:endParaRPr lang="en-US" b="1" dirty="0"/>
          </a:p>
        </p:txBody>
      </p:sp>
    </p:spTree>
    <p:extLst>
      <p:ext uri="{BB962C8B-B14F-4D97-AF65-F5344CB8AC3E}">
        <p14:creationId xmlns:p14="http://schemas.microsoft.com/office/powerpoint/2010/main" val="2271934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2: Comment </a:t>
            </a:r>
            <a:r>
              <a:rPr lang="en-GB" sz="3600" b="0" kern="1400" spc="230" dirty="0" err="1">
                <a:solidFill>
                  <a:schemeClr val="tx1"/>
                </a:solidFill>
                <a:latin typeface="HALDEN SOLID" pitchFamily="2" charset="0"/>
              </a:rPr>
              <a:t>vérifier</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t>Si un ménage a déclaré avoir emprunté de la nourriture ou avoir eu recours à l'aide d'amis ou de parents au cours des 7 derniers jours, vérifiez:</a:t>
            </a:r>
            <a:endParaRPr lang="en-US" sz="1800" b="1" spc="60" dirty="0">
              <a:solidFill>
                <a:schemeClr val="accent2"/>
              </a:solidFill>
            </a:endParaRPr>
          </a:p>
          <a:p>
            <a:pPr marL="0" indent="0">
              <a:buFont typeface="Arial"/>
              <a:buNone/>
            </a:pPr>
            <a:endParaRPr lang="en-US" sz="1800" b="1" spc="60" dirty="0">
              <a:solidFill>
                <a:schemeClr val="accent2"/>
              </a:solidFill>
            </a:endParaRPr>
          </a:p>
          <a:p>
            <a:pPr marL="0" indent="0" algn="ctr">
              <a:buNone/>
            </a:pPr>
            <a:r>
              <a:rPr lang="fr-FR" b="1" spc="60" dirty="0">
                <a:solidFill>
                  <a:schemeClr val="accent2"/>
                </a:solidFill>
              </a:rPr>
              <a:t>"Quelle était la raison principale de cette décision ?"</a:t>
            </a:r>
            <a:endParaRPr lang="en-US" b="1" spc="60" dirty="0">
              <a:solidFill>
                <a:schemeClr val="accent2"/>
              </a:solidFill>
            </a:endParaRPr>
          </a:p>
        </p:txBody>
      </p:sp>
    </p:spTree>
    <p:extLst>
      <p:ext uri="{BB962C8B-B14F-4D97-AF65-F5344CB8AC3E}">
        <p14:creationId xmlns:p14="http://schemas.microsoft.com/office/powerpoint/2010/main" val="1738246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3</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z="2400" dirty="0"/>
              <a:t>Au cours des 7 derniers jours, y a-t-il eu des jours (et, si oui, combien) où votre ménage a </a:t>
            </a:r>
            <a:r>
              <a:rPr lang="fr-FR" sz="2400" b="1" dirty="0">
                <a:solidFill>
                  <a:schemeClr val="accent1"/>
                </a:solidFill>
              </a:rPr>
              <a:t>dû limiter la taille des portions de repas</a:t>
            </a:r>
            <a:r>
              <a:rPr lang="fr-FR" sz="2400" dirty="0"/>
              <a:t> aux heures de repas pour faire face à un manque de nourriture ou d'argent pour en acheter ?</a:t>
            </a:r>
            <a:endParaRPr lang="en-US" sz="2400" dirty="0"/>
          </a:p>
          <a:p>
            <a:pPr marL="0" indent="0">
              <a:buNone/>
            </a:pPr>
            <a:endParaRPr lang="en-US" dirty="0"/>
          </a:p>
          <a:p>
            <a:pPr marL="0" indent="0">
              <a:buNone/>
            </a:pPr>
            <a:endParaRPr lang="en-US" dirty="0"/>
          </a:p>
          <a:p>
            <a:pPr marL="0" indent="0">
              <a:buNone/>
            </a:pPr>
            <a:r>
              <a:rPr lang="fr-FR" dirty="0"/>
              <a:t>Les ménages peuvent tenter de gérer le déficit en rationnant la nourriture mise à leur disposition en réduisant la taille des portions des repas. Cela leur permet de répartir la nourriture disponible sur une plus longue période.</a:t>
            </a:r>
            <a:endParaRPr lang="en-GB" dirty="0">
              <a:latin typeface="Open Sans" panose="020B0606030504020204" pitchFamily="34" charset="0"/>
              <a:ea typeface="Calibri" panose="020F0502020204030204" pitchFamily="34" charset="0"/>
            </a:endParaRPr>
          </a:p>
        </p:txBody>
      </p:sp>
      <p:sp>
        <p:nvSpPr>
          <p:cNvPr id="13" name="TextBox 12">
            <a:extLst>
              <a:ext uri="{FF2B5EF4-FFF2-40B4-BE49-F238E27FC236}">
                <a16:creationId xmlns:a16="http://schemas.microsoft.com/office/drawing/2014/main" id="{3DE649FA-9ECF-4517-9EFE-FFC0D8751A0B}"/>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973603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3 (suite)</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74619" y="18769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2200" spc="60" dirty="0"/>
              <a:t>Si un ménage a l'habitude de cuisiner et de manger 5 tasses de riz, mais qu'en raison du manque de nourriture et d'argent, il a dû cuisiner 3 tasses de riz, alors le ménage a appliqué la stratégie d'adaptation. </a:t>
            </a:r>
          </a:p>
          <a:p>
            <a:pPr>
              <a:buFont typeface="Wingdings" panose="05000000000000000000" pitchFamily="2" charset="2"/>
              <a:buChar char="v"/>
            </a:pPr>
            <a:r>
              <a:rPr lang="fr-FR" sz="2200" spc="60" dirty="0"/>
              <a:t>Si le ménage a réduit la quantité de produits de base dans son ménage, pour des </a:t>
            </a:r>
            <a:r>
              <a:rPr lang="fr-FR" sz="2200" b="1" spc="60" dirty="0">
                <a:solidFill>
                  <a:schemeClr val="accent1"/>
                </a:solidFill>
              </a:rPr>
              <a:t>raisons de santé ou parce qu'il est au régime</a:t>
            </a:r>
            <a:r>
              <a:rPr lang="fr-FR" sz="2200" spc="60" dirty="0"/>
              <a:t>, la stratégie n'est </a:t>
            </a:r>
            <a:r>
              <a:rPr lang="fr-FR" sz="2200" b="1" spc="60" dirty="0">
                <a:solidFill>
                  <a:schemeClr val="accent1"/>
                </a:solidFill>
              </a:rPr>
              <a:t>PAS</a:t>
            </a:r>
            <a:r>
              <a:rPr lang="fr-FR" sz="2200" spc="60" dirty="0"/>
              <a:t> considérée comme appliquée.</a:t>
            </a:r>
            <a:endParaRPr lang="en-GB" sz="1800" dirty="0">
              <a:latin typeface="Open Sans" panose="020B060603050402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4403A2C7-1562-4E17-A253-59C658525810}"/>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1108756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3 : Comment </a:t>
            </a:r>
            <a:r>
              <a:rPr lang="en-GB" sz="3600" b="0" kern="1400" spc="230" dirty="0" err="1">
                <a:solidFill>
                  <a:schemeClr val="tx1"/>
                </a:solidFill>
                <a:latin typeface="HALDEN SOLID" pitchFamily="2" charset="0"/>
              </a:rPr>
              <a:t>vérifier</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t>Par exemple, si un ménage a déclaré avoir réduit la taille des portions de ses repas au cours des 7 derniers jours, il faut alors vérifier :</a:t>
            </a:r>
          </a:p>
          <a:p>
            <a:pPr marL="0" indent="0">
              <a:buNone/>
            </a:pPr>
            <a:endParaRPr lang="en-US" sz="1800" spc="60" dirty="0"/>
          </a:p>
          <a:p>
            <a:pPr marL="0" indent="0" algn="ctr">
              <a:buNone/>
            </a:pPr>
            <a:r>
              <a:rPr lang="fr-FR" b="1" spc="60" dirty="0">
                <a:solidFill>
                  <a:schemeClr val="accent2"/>
                </a:solidFill>
              </a:rPr>
              <a:t>"S'agit-il de la portion habituelle de nourriture que le ménage a l'habitude de consommer ?</a:t>
            </a:r>
          </a:p>
          <a:p>
            <a:pPr marL="0" indent="0" algn="ctr">
              <a:buNone/>
            </a:pPr>
            <a:endParaRPr lang="en-US" b="1" spc="60" dirty="0">
              <a:solidFill>
                <a:schemeClr val="accent2"/>
              </a:solidFill>
            </a:endParaRPr>
          </a:p>
          <a:p>
            <a:pPr marL="0" indent="0" algn="ctr">
              <a:buNone/>
            </a:pPr>
            <a:r>
              <a:rPr lang="fr-FR" b="1" spc="60" dirty="0">
                <a:solidFill>
                  <a:schemeClr val="accent2"/>
                </a:solidFill>
              </a:rPr>
              <a:t>"Avez-vous réduit la portion de nourriture par manque de nourriture ou d'argent ?</a:t>
            </a:r>
          </a:p>
          <a:p>
            <a:pPr marL="0" indent="0" algn="ctr">
              <a:buNone/>
            </a:pPr>
            <a:endParaRPr lang="en-US" b="1" spc="60" dirty="0">
              <a:solidFill>
                <a:schemeClr val="accent2"/>
              </a:solidFill>
            </a:endParaRPr>
          </a:p>
          <a:p>
            <a:pPr marL="0" indent="0">
              <a:buNone/>
            </a:pPr>
            <a:r>
              <a:rPr lang="fr-FR" spc="60" dirty="0">
                <a:solidFill>
                  <a:srgbClr val="0070BA"/>
                </a:solidFill>
              </a:rPr>
              <a:t>Il est possible qu'il s'agisse d'une pratique courante, en particulier chez les mères.</a:t>
            </a:r>
          </a:p>
        </p:txBody>
      </p:sp>
    </p:spTree>
    <p:extLst>
      <p:ext uri="{BB962C8B-B14F-4D97-AF65-F5344CB8AC3E}">
        <p14:creationId xmlns:p14="http://schemas.microsoft.com/office/powerpoint/2010/main" val="2369517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4</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fr-FR" dirty="0"/>
          </a:p>
          <a:p>
            <a:pPr marL="0" indent="0">
              <a:buNone/>
            </a:pPr>
            <a:r>
              <a:rPr lang="fr-FR" sz="2400" dirty="0"/>
              <a:t>Au cours des 7 derniers jours, y a-t-il eu des jours (et, si oui, combien) où votre ménage a dû </a:t>
            </a:r>
            <a:r>
              <a:rPr lang="fr-FR" sz="2400" b="1" dirty="0">
                <a:solidFill>
                  <a:schemeClr val="accent1"/>
                </a:solidFill>
              </a:rPr>
              <a:t>restreindre la consommation des adultes pour permettre aux jeunes enfants de manger </a:t>
            </a:r>
            <a:r>
              <a:rPr lang="fr-FR" sz="2400" dirty="0"/>
              <a:t>pour faire face à un manque de nourriture ou d'argent pour en acheter?</a:t>
            </a:r>
          </a:p>
          <a:p>
            <a:pPr marL="0" indent="0">
              <a:buNone/>
            </a:pPr>
            <a:endParaRPr lang="fr-FR" dirty="0"/>
          </a:p>
          <a:p>
            <a:pPr marL="0" indent="0">
              <a:buNone/>
            </a:pPr>
            <a:r>
              <a:rPr lang="fr-FR" dirty="0"/>
              <a:t>La plus sévère de toutes les stratégies d'adaptation basées sur la consommation est la réduction des quantités consommées par les adultes/mères afin de laisser suffisamment de nourriture pour les jeunes enfants du ménage.</a:t>
            </a:r>
            <a:endParaRPr lang="en-GB" dirty="0">
              <a:latin typeface="Open Sans" panose="020B0606030504020204" pitchFamily="34" charset="0"/>
              <a:ea typeface="Calibri" panose="020F0502020204030204" pitchFamily="34" charset="0"/>
            </a:endParaRPr>
          </a:p>
        </p:txBody>
      </p:sp>
      <p:sp>
        <p:nvSpPr>
          <p:cNvPr id="13" name="TextBox 12">
            <a:extLst>
              <a:ext uri="{FF2B5EF4-FFF2-40B4-BE49-F238E27FC236}">
                <a16:creationId xmlns:a16="http://schemas.microsoft.com/office/drawing/2014/main" id="{1366C488-1035-40C4-B5A0-33920BD5A362}"/>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3717123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4 (suite)</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74619" y="18769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2200" spc="60" dirty="0"/>
              <a:t>Si le ménage </a:t>
            </a:r>
            <a:r>
              <a:rPr lang="fr-FR" sz="2200" b="1" spc="60" dirty="0">
                <a:solidFill>
                  <a:srgbClr val="0070BA"/>
                </a:solidFill>
              </a:rPr>
              <a:t>n'a pas de jeunes enfants</a:t>
            </a:r>
            <a:r>
              <a:rPr lang="fr-FR" sz="2200" spc="60" dirty="0"/>
              <a:t>, la réponse doit être </a:t>
            </a:r>
            <a:r>
              <a:rPr lang="fr-FR" sz="2200" b="1" spc="60" dirty="0">
                <a:solidFill>
                  <a:srgbClr val="0070BA"/>
                </a:solidFill>
              </a:rPr>
              <a:t>zéro</a:t>
            </a:r>
            <a:r>
              <a:rPr lang="fr-FR" sz="2200" spc="60" dirty="0"/>
              <a:t>. </a:t>
            </a:r>
          </a:p>
          <a:p>
            <a:pPr>
              <a:buFont typeface="Wingdings" panose="05000000000000000000" pitchFamily="2" charset="2"/>
              <a:buChar char="v"/>
            </a:pPr>
            <a:endParaRPr lang="fr-FR" sz="2200" spc="60" dirty="0"/>
          </a:p>
          <a:p>
            <a:pPr>
              <a:buFont typeface="Wingdings" panose="05000000000000000000" pitchFamily="2" charset="2"/>
              <a:buChar char="v"/>
            </a:pPr>
            <a:r>
              <a:rPr lang="fr-FR" sz="2200" spc="60" dirty="0"/>
              <a:t>Si les adultes du ménage, tels que les mères, le font </a:t>
            </a:r>
            <a:r>
              <a:rPr lang="fr-FR" sz="2200" b="1" spc="60" dirty="0">
                <a:solidFill>
                  <a:srgbClr val="0070BA"/>
                </a:solidFill>
              </a:rPr>
              <a:t>par habitude et ne manquent pas de nourriture</a:t>
            </a:r>
            <a:r>
              <a:rPr lang="fr-FR" sz="2200" spc="60" dirty="0"/>
              <a:t>, le ménage n’a </a:t>
            </a:r>
            <a:r>
              <a:rPr lang="fr-FR" sz="2200" b="1" spc="60" dirty="0">
                <a:solidFill>
                  <a:srgbClr val="0070BA"/>
                </a:solidFill>
              </a:rPr>
              <a:t>PAS</a:t>
            </a:r>
            <a:r>
              <a:rPr lang="fr-FR" sz="2200" spc="60" dirty="0"/>
              <a:t> appliqué cette stratégie.</a:t>
            </a:r>
            <a:endParaRPr lang="en-US" sz="2200" spc="60" dirty="0"/>
          </a:p>
          <a:p>
            <a:pPr marL="0" indent="0">
              <a:buNone/>
            </a:pPr>
            <a:endParaRPr lang="en-GB" sz="1800" dirty="0">
              <a:latin typeface="Open Sans" panose="020B060603050402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CC6E7760-8F77-4A47-906C-B0AE8E631F5D}"/>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1264772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4 : Comment </a:t>
            </a:r>
            <a:r>
              <a:rPr lang="en-GB" sz="3600" b="0" kern="1400" spc="230" dirty="0" err="1">
                <a:solidFill>
                  <a:schemeClr val="tx1"/>
                </a:solidFill>
                <a:latin typeface="HALDEN SOLID" pitchFamily="2" charset="0"/>
              </a:rPr>
              <a:t>vérifier</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t>Par exemple, si un ménage a déclaré avoir restreint sa consommation au cours des sept derniers jours pour permettre aux jeunes enfants de manger, il faut vérifiez :</a:t>
            </a:r>
            <a:endParaRPr lang="en-US" sz="1800" spc="60" dirty="0"/>
          </a:p>
          <a:p>
            <a:pPr marL="0" indent="0" algn="ctr">
              <a:buNone/>
            </a:pPr>
            <a:r>
              <a:rPr lang="fr-FR" b="1" spc="60" dirty="0">
                <a:solidFill>
                  <a:schemeClr val="accent2"/>
                </a:solidFill>
              </a:rPr>
              <a:t>"Avez-vous de jeunes enfants dans votre ménage ?"</a:t>
            </a:r>
            <a:endParaRPr lang="en-US" b="1" spc="60" dirty="0">
              <a:solidFill>
                <a:schemeClr val="accent2"/>
              </a:solidFill>
            </a:endParaRPr>
          </a:p>
          <a:p>
            <a:pPr marL="0" indent="0" algn="ctr">
              <a:buNone/>
            </a:pPr>
            <a:r>
              <a:rPr lang="fr-FR" b="1" spc="60" dirty="0">
                <a:solidFill>
                  <a:schemeClr val="accent2"/>
                </a:solidFill>
              </a:rPr>
              <a:t>"Quelle est la raison de cette décision ?« </a:t>
            </a:r>
          </a:p>
          <a:p>
            <a:pPr marL="0" indent="0" algn="ctr">
              <a:buNone/>
            </a:pPr>
            <a:endParaRPr lang="en-US" b="1" spc="60" dirty="0">
              <a:solidFill>
                <a:schemeClr val="accent2"/>
              </a:solidFill>
            </a:endParaRPr>
          </a:p>
          <a:p>
            <a:pPr marL="0" indent="0">
              <a:buNone/>
            </a:pPr>
            <a:r>
              <a:rPr lang="fr-FR" spc="60" dirty="0">
                <a:solidFill>
                  <a:srgbClr val="0070BA"/>
                </a:solidFill>
              </a:rPr>
              <a:t>Il est possible qu'il s'agisse d'une pratique courante, en particulier chez les mères.</a:t>
            </a:r>
            <a:endParaRPr lang="en-US" spc="60" dirty="0">
              <a:solidFill>
                <a:srgbClr val="0070BA"/>
              </a:solidFill>
            </a:endParaRPr>
          </a:p>
        </p:txBody>
      </p:sp>
    </p:spTree>
    <p:extLst>
      <p:ext uri="{BB962C8B-B14F-4D97-AF65-F5344CB8AC3E}">
        <p14:creationId xmlns:p14="http://schemas.microsoft.com/office/powerpoint/2010/main" val="179533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4</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fr-FR" dirty="0"/>
          </a:p>
          <a:p>
            <a:pPr marL="0" indent="0">
              <a:buNone/>
            </a:pPr>
            <a:r>
              <a:rPr lang="fr-FR" sz="2400" dirty="0"/>
              <a:t>Au cours des 7 derniers jours, y a-t-il eu des jours (et, si oui, combien) où votre ménage a dû </a:t>
            </a:r>
            <a:r>
              <a:rPr lang="fr-FR" sz="2400" b="1" dirty="0">
                <a:solidFill>
                  <a:schemeClr val="accent1"/>
                </a:solidFill>
              </a:rPr>
              <a:t>restreindre la consommation des adultes pour permettre aux jeunes enfants de manger </a:t>
            </a:r>
            <a:r>
              <a:rPr lang="fr-FR" sz="2400" dirty="0"/>
              <a:t>pour faire face à un manque de nourriture ou d'argent pour en acheter?</a:t>
            </a:r>
          </a:p>
          <a:p>
            <a:pPr marL="0" indent="0">
              <a:buNone/>
            </a:pPr>
            <a:endParaRPr lang="fr-FR" dirty="0"/>
          </a:p>
          <a:p>
            <a:pPr marL="0" indent="0">
              <a:buNone/>
            </a:pPr>
            <a:r>
              <a:rPr lang="fr-FR" dirty="0"/>
              <a:t>SI OUI, </a:t>
            </a:r>
            <a:r>
              <a:rPr lang="fr-FR" sz="2400" b="1" dirty="0">
                <a:solidFill>
                  <a:schemeClr val="accent2"/>
                </a:solidFill>
              </a:rPr>
              <a:t>QUESTION SUPPLÉMENTAIRE</a:t>
            </a:r>
          </a:p>
        </p:txBody>
      </p:sp>
      <p:sp>
        <p:nvSpPr>
          <p:cNvPr id="13" name="TextBox 12">
            <a:extLst>
              <a:ext uri="{FF2B5EF4-FFF2-40B4-BE49-F238E27FC236}">
                <a16:creationId xmlns:a16="http://schemas.microsoft.com/office/drawing/2014/main" id="{1366C488-1035-40C4-B5A0-33920BD5A362}"/>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3395142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4</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4887949"/>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fr-FR" dirty="0"/>
          </a:p>
          <a:p>
            <a:pPr marL="0" indent="0">
              <a:buNone/>
            </a:pPr>
            <a:r>
              <a:rPr lang="fr-FR" sz="2400" b="1" dirty="0">
                <a:solidFill>
                  <a:schemeClr val="accent2"/>
                </a:solidFill>
              </a:rPr>
              <a:t>QUESTION SUPPLÉMENTAIRE</a:t>
            </a:r>
          </a:p>
          <a:p>
            <a:pPr marL="0" indent="0">
              <a:buNone/>
            </a:pPr>
            <a:endParaRPr lang="fr-FR" sz="2400" b="1" dirty="0">
              <a:solidFill>
                <a:schemeClr val="accent2"/>
              </a:solidFill>
            </a:endParaRPr>
          </a:p>
          <a:p>
            <a:pPr marL="0" indent="0">
              <a:buNone/>
            </a:pPr>
            <a:r>
              <a:rPr lang="fr-FR" sz="2400" dirty="0">
                <a:solidFill>
                  <a:srgbClr val="0070BA"/>
                </a:solidFill>
              </a:rPr>
              <a:t>Au cours des 7 derniers jours, </a:t>
            </a:r>
            <a:r>
              <a:rPr lang="fr-FR" sz="2400" b="1" dirty="0">
                <a:solidFill>
                  <a:schemeClr val="accent1"/>
                </a:solidFill>
              </a:rPr>
              <a:t>quel adulte de votre </a:t>
            </a:r>
            <a:r>
              <a:rPr lang="fr-FR" sz="2400" dirty="0">
                <a:solidFill>
                  <a:srgbClr val="0070BA"/>
                </a:solidFill>
              </a:rPr>
              <a:t>ménage a principalement limité sa consommation pour que les enfants puissent manger?</a:t>
            </a:r>
          </a:p>
          <a:p>
            <a:pPr marL="0" indent="0">
              <a:buNone/>
            </a:pPr>
            <a:endParaRPr lang="fr-FR" sz="2400" b="1" dirty="0">
              <a:solidFill>
                <a:schemeClr val="accent2"/>
              </a:solidFill>
            </a:endParaRPr>
          </a:p>
          <a:p>
            <a:pPr marL="914400" lvl="1" indent="-457200">
              <a:buAutoNum type="arabicPeriod"/>
            </a:pPr>
            <a:r>
              <a:rPr lang="fr-FR" sz="2200" dirty="0">
                <a:solidFill>
                  <a:srgbClr val="0070BA"/>
                </a:solidFill>
              </a:rPr>
              <a:t>Principalement les hommes adultes</a:t>
            </a:r>
          </a:p>
          <a:p>
            <a:pPr marL="914400" lvl="1" indent="-457200">
              <a:buAutoNum type="arabicPeriod"/>
            </a:pPr>
            <a:r>
              <a:rPr lang="fr-FR" sz="2200" dirty="0">
                <a:solidFill>
                  <a:srgbClr val="0070BA"/>
                </a:solidFill>
              </a:rPr>
              <a:t>Principalement les femmes adultes</a:t>
            </a:r>
          </a:p>
          <a:p>
            <a:pPr marL="914400" lvl="1" indent="-457200">
              <a:buAutoNum type="arabicPeriod"/>
            </a:pPr>
            <a:r>
              <a:rPr lang="fr-FR" sz="2200" dirty="0">
                <a:solidFill>
                  <a:srgbClr val="0070BA"/>
                </a:solidFill>
              </a:rPr>
              <a:t>Tous les adultes de façon général</a:t>
            </a:r>
          </a:p>
          <a:p>
            <a:pPr marL="914400" lvl="1" indent="-457200">
              <a:buAutoNum type="arabicPeriod"/>
            </a:pPr>
            <a:endParaRPr lang="fr-FR" sz="2200" dirty="0">
              <a:solidFill>
                <a:srgbClr val="0070BA"/>
              </a:solidFill>
            </a:endParaRPr>
          </a:p>
          <a:p>
            <a:pPr marL="457200" lvl="1" indent="0">
              <a:buNone/>
            </a:pPr>
            <a:r>
              <a:rPr lang="fr-FR" sz="2200" b="1" dirty="0">
                <a:solidFill>
                  <a:schemeClr val="accent1"/>
                </a:solidFill>
              </a:rPr>
              <a:t>								Concerne que les adultes</a:t>
            </a:r>
          </a:p>
        </p:txBody>
      </p:sp>
      <p:sp>
        <p:nvSpPr>
          <p:cNvPr id="13" name="TextBox 12">
            <a:extLst>
              <a:ext uri="{FF2B5EF4-FFF2-40B4-BE49-F238E27FC236}">
                <a16:creationId xmlns:a16="http://schemas.microsoft.com/office/drawing/2014/main" id="{1366C488-1035-40C4-B5A0-33920BD5A362}"/>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1664914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5</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38202" y="1648318"/>
            <a:ext cx="11293964"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z="2400" dirty="0"/>
              <a:t>Au cours des 7 derniers jours, y a-t-il eu des jours (et, si oui, combien) où votre ménage a dû </a:t>
            </a:r>
            <a:r>
              <a:rPr lang="fr-FR" sz="2400" b="1" dirty="0">
                <a:solidFill>
                  <a:schemeClr val="accent1"/>
                </a:solidFill>
              </a:rPr>
              <a:t>réduire le nombre de repas pris dans une journée </a:t>
            </a:r>
            <a:r>
              <a:rPr lang="fr-FR" sz="2400" dirty="0"/>
              <a:t>pour faire face à un manque de nourriture ou d'argent pour en acheter?</a:t>
            </a:r>
            <a:endParaRPr lang="en-US" sz="2400" dirty="0"/>
          </a:p>
          <a:p>
            <a:pPr marL="0" indent="0">
              <a:buNone/>
            </a:pPr>
            <a:endParaRPr lang="en-US" dirty="0"/>
          </a:p>
          <a:p>
            <a:pPr marL="0" indent="0">
              <a:buNone/>
            </a:pPr>
            <a:r>
              <a:rPr lang="fr-FR" dirty="0">
                <a:latin typeface="Open Sans" panose="020B0606030504020204" pitchFamily="34" charset="0"/>
                <a:ea typeface="Calibri" panose="020F0502020204030204" pitchFamily="34" charset="0"/>
              </a:rPr>
              <a:t>Si la nourriture disponible est toujours insuffisante pour répondre aux besoins, les ménages peuvent essayer de réduire le nombre de repas par jour. Par exemple, en combinant le petit-déjeuner et le déjeuner.</a:t>
            </a:r>
            <a:endParaRPr lang="en-GB" dirty="0">
              <a:latin typeface="Open Sans" panose="020B0606030504020204" pitchFamily="34" charset="0"/>
              <a:ea typeface="Calibri" panose="020F0502020204030204" pitchFamily="34" charset="0"/>
            </a:endParaRPr>
          </a:p>
        </p:txBody>
      </p:sp>
      <p:sp>
        <p:nvSpPr>
          <p:cNvPr id="9" name="TextBox 8">
            <a:extLst>
              <a:ext uri="{FF2B5EF4-FFF2-40B4-BE49-F238E27FC236}">
                <a16:creationId xmlns:a16="http://schemas.microsoft.com/office/drawing/2014/main" id="{5B13D0A2-8DF9-42F3-A750-A259B74E0EBA}"/>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209615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5 (suite)</a:t>
            </a:r>
          </a:p>
        </p:txBody>
      </p:sp>
      <p:sp>
        <p:nvSpPr>
          <p:cNvPr id="7" name="Content Placeholder 2">
            <a:extLst>
              <a:ext uri="{FF2B5EF4-FFF2-40B4-BE49-F238E27FC236}">
                <a16:creationId xmlns:a16="http://schemas.microsoft.com/office/drawing/2014/main" id="{35A1684A-13C6-4B69-A1AD-2DFC13191A1F}"/>
              </a:ext>
            </a:extLst>
          </p:cNvPr>
          <p:cNvSpPr txBox="1">
            <a:spLocks/>
          </p:cNvSpPr>
          <p:nvPr/>
        </p:nvSpPr>
        <p:spPr>
          <a:xfrm>
            <a:off x="774619" y="1876918"/>
            <a:ext cx="10937125"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z="2200" spc="60" dirty="0"/>
              <a:t>Si un ménage a l'habitude de prendre 3 repas par jour ces derniers temps, mais qu'en raison du manque de nourriture et d'argent, il a dû prendre 2 repas n'importe quel jour au cours des 7 derniers jours, cette stratégie a été appliquée.  </a:t>
            </a:r>
          </a:p>
          <a:p>
            <a:pPr>
              <a:buFont typeface="Wingdings" panose="05000000000000000000" pitchFamily="2" charset="2"/>
              <a:buChar char="v"/>
            </a:pPr>
            <a:r>
              <a:rPr lang="fr-FR" sz="2200" spc="60" dirty="0"/>
              <a:t>Si un ménage a réduit le nombre de ses repas pour des </a:t>
            </a:r>
            <a:r>
              <a:rPr lang="fr-FR" sz="2200" b="1" spc="60" dirty="0">
                <a:solidFill>
                  <a:schemeClr val="accent1"/>
                </a:solidFill>
              </a:rPr>
              <a:t>raisons de santé ou de régime alimentaire</a:t>
            </a:r>
            <a:r>
              <a:rPr lang="fr-FR" sz="2200" spc="60" dirty="0"/>
              <a:t>, cette stratégie n'est </a:t>
            </a:r>
            <a:r>
              <a:rPr lang="fr-FR" sz="2200" b="1" spc="60" dirty="0">
                <a:solidFill>
                  <a:schemeClr val="accent1"/>
                </a:solidFill>
              </a:rPr>
              <a:t>PAS</a:t>
            </a:r>
            <a:r>
              <a:rPr lang="fr-FR" sz="2200" spc="60" dirty="0"/>
              <a:t> considérée comme appliquée. </a:t>
            </a:r>
          </a:p>
          <a:p>
            <a:pPr>
              <a:buFont typeface="Wingdings" panose="05000000000000000000" pitchFamily="2" charset="2"/>
              <a:buChar char="v"/>
            </a:pPr>
            <a:r>
              <a:rPr lang="fr-FR" sz="2200" spc="60" dirty="0"/>
              <a:t>Si un ménage a pris moins de repas au cours des 7 derniers jours pendant une </a:t>
            </a:r>
            <a:r>
              <a:rPr lang="fr-FR" sz="2200" b="1" spc="60" dirty="0">
                <a:solidFill>
                  <a:schemeClr val="accent1"/>
                </a:solidFill>
              </a:rPr>
              <a:t>période de jeûne</a:t>
            </a:r>
            <a:r>
              <a:rPr lang="fr-FR" sz="2200" spc="60" dirty="0"/>
              <a:t>, et non en raison d'un manque de nourriture ou d'argent pour acheter de la nourriture, cela ne doit </a:t>
            </a:r>
            <a:r>
              <a:rPr lang="fr-FR" sz="2200" b="1" spc="60" dirty="0">
                <a:solidFill>
                  <a:schemeClr val="accent1"/>
                </a:solidFill>
              </a:rPr>
              <a:t>PAS</a:t>
            </a:r>
            <a:r>
              <a:rPr lang="fr-FR" sz="2200" spc="60" dirty="0"/>
              <a:t> être pris en compte.</a:t>
            </a:r>
            <a:endParaRPr lang="en-GB" sz="1800" dirty="0">
              <a:latin typeface="Open Sans" panose="020B060603050402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47B18A3D-79C5-44DC-8F4D-E9ADCAED20DD}"/>
              </a:ext>
            </a:extLst>
          </p:cNvPr>
          <p:cNvSpPr txBox="1"/>
          <p:nvPr/>
        </p:nvSpPr>
        <p:spPr>
          <a:xfrm>
            <a:off x="8753708" y="447070"/>
            <a:ext cx="2721112" cy="646331"/>
          </a:xfrm>
          <a:prstGeom prst="rect">
            <a:avLst/>
          </a:prstGeom>
          <a:noFill/>
          <a:ln w="57150">
            <a:solidFill>
              <a:schemeClr val="bg1">
                <a:lumMod val="50000"/>
              </a:schemeClr>
            </a:solidFill>
          </a:ln>
        </p:spPr>
        <p:txBody>
          <a:bodyPr wrap="square" rtlCol="0">
            <a:spAutoFit/>
          </a:bodyPr>
          <a:lstStyle/>
          <a:p>
            <a:pPr algn="ctr"/>
            <a:r>
              <a:rPr lang="fr-FR" b="1" dirty="0"/>
              <a:t>GESTION NOURRITURE DISPONIBLE</a:t>
            </a:r>
            <a:endParaRPr lang="en-US" b="1" dirty="0"/>
          </a:p>
        </p:txBody>
      </p:sp>
    </p:spTree>
    <p:extLst>
      <p:ext uri="{BB962C8B-B14F-4D97-AF65-F5344CB8AC3E}">
        <p14:creationId xmlns:p14="http://schemas.microsoft.com/office/powerpoint/2010/main" val="25875401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stratégie</a:t>
            </a:r>
            <a:r>
              <a:rPr lang="en-GB" sz="3600" b="0" kern="1400" spc="230" dirty="0">
                <a:solidFill>
                  <a:schemeClr val="tx1"/>
                </a:solidFill>
                <a:latin typeface="HALDEN SOLID" pitchFamily="2" charset="0"/>
              </a:rPr>
              <a:t> 5 : Comment </a:t>
            </a:r>
            <a:r>
              <a:rPr lang="en-GB" sz="3600" b="0" kern="1400" spc="230" dirty="0" err="1">
                <a:solidFill>
                  <a:schemeClr val="tx1"/>
                </a:solidFill>
                <a:latin typeface="HALDEN SOLID" pitchFamily="2" charset="0"/>
              </a:rPr>
              <a:t>vérifier</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t>Si un ménage a déclaré avoir réduit le nombre de ses repas au cours des 7 derniers jours, vérifiez</a:t>
            </a:r>
            <a:r>
              <a:rPr lang="en-GB" spc="60" dirty="0"/>
              <a:t>:</a:t>
            </a:r>
            <a:endParaRPr lang="en-US" sz="1800" spc="60" dirty="0"/>
          </a:p>
          <a:p>
            <a:pPr marL="0" indent="0">
              <a:buFont typeface="Arial"/>
              <a:buNone/>
            </a:pPr>
            <a:endParaRPr lang="en-US" sz="1800" spc="60" dirty="0"/>
          </a:p>
          <a:p>
            <a:pPr marL="0" indent="0" algn="ctr">
              <a:buNone/>
            </a:pPr>
            <a:r>
              <a:rPr lang="fr-FR" b="1" spc="60" dirty="0">
                <a:solidFill>
                  <a:schemeClr val="accent2"/>
                </a:solidFill>
              </a:rPr>
              <a:t>"Quel est le nombre habituel de repas que votre ménage consomme ?« </a:t>
            </a:r>
          </a:p>
          <a:p>
            <a:pPr marL="0" indent="0" algn="ctr">
              <a:buNone/>
            </a:pPr>
            <a:endParaRPr lang="fr-FR" b="1" spc="60" dirty="0">
              <a:solidFill>
                <a:schemeClr val="accent2"/>
              </a:solidFill>
            </a:endParaRPr>
          </a:p>
          <a:p>
            <a:pPr marL="0" indent="0" algn="ctr">
              <a:buNone/>
            </a:pPr>
            <a:r>
              <a:rPr lang="fr-FR" b="1" spc="60" dirty="0">
                <a:solidFill>
                  <a:schemeClr val="accent2"/>
                </a:solidFill>
              </a:rPr>
              <a:t>"Quelle est la raison de cette décision ?</a:t>
            </a:r>
            <a:endParaRPr lang="en-US" b="1" spc="60" dirty="0">
              <a:solidFill>
                <a:schemeClr val="accent2"/>
              </a:solidFill>
            </a:endParaRPr>
          </a:p>
        </p:txBody>
      </p:sp>
    </p:spTree>
    <p:extLst>
      <p:ext uri="{BB962C8B-B14F-4D97-AF65-F5344CB8AC3E}">
        <p14:creationId xmlns:p14="http://schemas.microsoft.com/office/powerpoint/2010/main" val="1751671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SEVERITY Weights</a:t>
            </a:r>
            <a:endParaRPr lang="en-GB" b="0" kern="1400" spc="23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3472667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err="1">
                <a:solidFill>
                  <a:schemeClr val="tx1"/>
                </a:solidFill>
                <a:latin typeface="HALDEN SOLID" pitchFamily="2" charset="0"/>
              </a:rPr>
              <a:t>rcsi</a:t>
            </a:r>
            <a:r>
              <a:rPr lang="en-GB" sz="3600" b="0" kern="1400" spc="230">
                <a:solidFill>
                  <a:schemeClr val="tx1"/>
                </a:solidFill>
                <a:latin typeface="HALDEN SOLID" pitchFamily="2" charset="0"/>
              </a:rPr>
              <a:t>: severity weights</a:t>
            </a:r>
          </a:p>
        </p:txBody>
      </p:sp>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1" y="1648318"/>
            <a:ext cx="11030982" cy="3907221"/>
          </a:xfrm>
          <a:prstGeom prst="rect">
            <a:avLst/>
          </a:prstGeom>
        </p:spPr>
        <p:txBody>
          <a:bodyP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spc="60" dirty="0"/>
              <a:t>The frequency of each </a:t>
            </a:r>
            <a:r>
              <a:rPr lang="en-US" sz="2400" spc="60" dirty="0" err="1"/>
              <a:t>stratégie</a:t>
            </a:r>
            <a:r>
              <a:rPr lang="en-US" sz="2400" spc="60" dirty="0"/>
              <a:t> is multiplied by the standard weights (based on the well-established perceived severity of each </a:t>
            </a:r>
            <a:r>
              <a:rPr lang="en-US" sz="2400" spc="60" dirty="0" err="1"/>
              <a:t>behaviour</a:t>
            </a:r>
            <a:r>
              <a:rPr lang="en-US" sz="2400" spc="60" dirty="0"/>
              <a:t>), and this is summed up across all the coping </a:t>
            </a:r>
            <a:r>
              <a:rPr lang="en-US" sz="2400" spc="60" dirty="0" err="1"/>
              <a:t>behaviours</a:t>
            </a:r>
            <a:r>
              <a:rPr lang="en-US" sz="2400" spc="60" dirty="0"/>
              <a:t>.</a:t>
            </a:r>
            <a:endParaRPr lang="en-GB" sz="2400" spc="60" dirty="0"/>
          </a:p>
          <a:p>
            <a:pPr>
              <a:buFont typeface="Wingdings" panose="05000000000000000000" pitchFamily="2" charset="2"/>
              <a:buChar char="v"/>
            </a:pPr>
            <a:endParaRPr lang="en-GB" sz="2400" spc="60" dirty="0"/>
          </a:p>
          <a:p>
            <a:pPr>
              <a:buFont typeface="Wingdings" panose="05000000000000000000" pitchFamily="2" charset="2"/>
              <a:buChar char="v"/>
            </a:pPr>
            <a:r>
              <a:rPr lang="en-US" sz="2400" spc="60" dirty="0"/>
              <a:t>How “severe” is each of these individual coping strategies considered to be? This information was collected from community-level focus groups to help in setting the weights.</a:t>
            </a:r>
            <a:endParaRPr lang="en-GB" sz="2400" spc="60" dirty="0"/>
          </a:p>
          <a:p>
            <a:endParaRPr lang="en-GB" sz="2400" spc="60" dirty="0"/>
          </a:p>
        </p:txBody>
      </p:sp>
    </p:spTree>
    <p:extLst>
      <p:ext uri="{BB962C8B-B14F-4D97-AF65-F5344CB8AC3E}">
        <p14:creationId xmlns:p14="http://schemas.microsoft.com/office/powerpoint/2010/main" val="3135403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b="0" kern="1400" spc="230">
              <a:solidFill>
                <a:srgbClr val="FFFFFE"/>
              </a:solidFill>
              <a:latin typeface="HALDEN SOLID" pitchFamily="2" charset="0"/>
              <a:ea typeface="Open Sans Extrabold" panose="020B0606030504020204" pitchFamily="34" charset="0"/>
              <a:cs typeface="Open Sans Extrabold" panose="020B0606030504020204" pitchFamily="34" charset="0"/>
            </a:endParaRPr>
          </a:p>
          <a:p>
            <a:pPr>
              <a:lnSpc>
                <a:spcPts val="3920"/>
              </a:lnSpc>
            </a:pPr>
            <a:r>
              <a:rPr lang="it-IT"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How do they all come together?</a:t>
            </a:r>
            <a:endParaRPr lang="en-GB" b="0" kern="1400" spc="23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4179797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err="1">
                <a:solidFill>
                  <a:schemeClr val="tx1"/>
                </a:solidFill>
                <a:latin typeface="HALDEN SOLID" pitchFamily="2" charset="0"/>
              </a:rPr>
              <a:t>rcsi</a:t>
            </a:r>
            <a:r>
              <a:rPr lang="en-GB" sz="3600" b="0" kern="1400" spc="230">
                <a:solidFill>
                  <a:schemeClr val="tx1"/>
                </a:solidFill>
                <a:latin typeface="HALDEN SOLID" pitchFamily="2" charset="0"/>
              </a:rPr>
              <a:t>: CALCULATION </a:t>
            </a:r>
          </a:p>
        </p:txBody>
      </p:sp>
      <p:sp>
        <p:nvSpPr>
          <p:cNvPr id="22" name="TextBox 21">
            <a:extLst>
              <a:ext uri="{FF2B5EF4-FFF2-40B4-BE49-F238E27FC236}">
                <a16:creationId xmlns:a16="http://schemas.microsoft.com/office/drawing/2014/main" id="{845AE3E5-9674-445E-B4FF-AE4477728629}"/>
              </a:ext>
            </a:extLst>
          </p:cNvPr>
          <p:cNvSpPr txBox="1"/>
          <p:nvPr/>
        </p:nvSpPr>
        <p:spPr>
          <a:xfrm>
            <a:off x="815791" y="1658618"/>
            <a:ext cx="11052002" cy="1023870"/>
          </a:xfrm>
          <a:prstGeom prst="rect">
            <a:avLst/>
          </a:prstGeom>
          <a:noFill/>
        </p:spPr>
        <p:txBody>
          <a:bodyPr wrap="square">
            <a:spAutoFit/>
          </a:bodyPr>
          <a:lstStyle/>
          <a:p>
            <a:pPr>
              <a:lnSpc>
                <a:spcPct val="90000"/>
              </a:lnSpc>
              <a:spcBef>
                <a:spcPts val="1000"/>
              </a:spcBef>
            </a:pPr>
            <a:r>
              <a:rPr lang="en-US" sz="2000" spc="60" dirty="0">
                <a:latin typeface="Open Sans" charset="0"/>
                <a:ea typeface="Open Sans" charset="0"/>
                <a:cs typeface="Open Sans" charset="0"/>
              </a:rPr>
              <a:t>Multiply the value obtained for each </a:t>
            </a:r>
            <a:r>
              <a:rPr lang="en-US" sz="2000" spc="60" dirty="0" err="1">
                <a:latin typeface="Open Sans" charset="0"/>
                <a:ea typeface="Open Sans" charset="0"/>
                <a:cs typeface="Open Sans" charset="0"/>
              </a:rPr>
              <a:t>stratégie</a:t>
            </a:r>
            <a:r>
              <a:rPr lang="en-US" sz="2000" spc="60" dirty="0">
                <a:latin typeface="Open Sans" charset="0"/>
                <a:ea typeface="Open Sans" charset="0"/>
                <a:cs typeface="Open Sans" charset="0"/>
              </a:rPr>
              <a:t> by its weight and sum the weighted scores, thus creating the reduced Coping Strategies Index. </a:t>
            </a:r>
          </a:p>
          <a:p>
            <a:pPr>
              <a:lnSpc>
                <a:spcPct val="90000"/>
              </a:lnSpc>
              <a:spcBef>
                <a:spcPts val="1000"/>
              </a:spcBef>
            </a:pPr>
            <a:endParaRPr lang="en-US" spc="60" dirty="0">
              <a:latin typeface="Open Sans" charset="0"/>
              <a:ea typeface="Open Sans" charset="0"/>
              <a:cs typeface="Open Sans" charset="0"/>
            </a:endParaRPr>
          </a:p>
        </p:txBody>
      </p:sp>
      <p:graphicFrame>
        <p:nvGraphicFramePr>
          <p:cNvPr id="6" name="Table 5">
            <a:extLst>
              <a:ext uri="{FF2B5EF4-FFF2-40B4-BE49-F238E27FC236}">
                <a16:creationId xmlns:a16="http://schemas.microsoft.com/office/drawing/2014/main" id="{A75C5E82-7CF6-4165-841F-5CB6A287A5C7}"/>
              </a:ext>
            </a:extLst>
          </p:cNvPr>
          <p:cNvGraphicFramePr>
            <a:graphicFrameLocks noGrp="1"/>
          </p:cNvGraphicFramePr>
          <p:nvPr>
            <p:extLst>
              <p:ext uri="{D42A27DB-BD31-4B8C-83A1-F6EECF244321}">
                <p14:modId xmlns:p14="http://schemas.microsoft.com/office/powerpoint/2010/main" val="1312886321"/>
              </p:ext>
            </p:extLst>
          </p:nvPr>
        </p:nvGraphicFramePr>
        <p:xfrm>
          <a:off x="865096" y="2355340"/>
          <a:ext cx="10953392" cy="3185018"/>
        </p:xfrm>
        <a:graphic>
          <a:graphicData uri="http://schemas.openxmlformats.org/drawingml/2006/table">
            <a:tbl>
              <a:tblPr firstRow="1" firstCol="1" bandRow="1"/>
              <a:tblGrid>
                <a:gridCol w="6133166">
                  <a:extLst>
                    <a:ext uri="{9D8B030D-6E8A-4147-A177-3AD203B41FA5}">
                      <a16:colId xmlns:a16="http://schemas.microsoft.com/office/drawing/2014/main" val="1860531358"/>
                    </a:ext>
                  </a:extLst>
                </a:gridCol>
                <a:gridCol w="1795818">
                  <a:extLst>
                    <a:ext uri="{9D8B030D-6E8A-4147-A177-3AD203B41FA5}">
                      <a16:colId xmlns:a16="http://schemas.microsoft.com/office/drawing/2014/main" val="901740571"/>
                    </a:ext>
                  </a:extLst>
                </a:gridCol>
                <a:gridCol w="1512204">
                  <a:extLst>
                    <a:ext uri="{9D8B030D-6E8A-4147-A177-3AD203B41FA5}">
                      <a16:colId xmlns:a16="http://schemas.microsoft.com/office/drawing/2014/main" val="900236458"/>
                    </a:ext>
                  </a:extLst>
                </a:gridCol>
                <a:gridCol w="1512204">
                  <a:extLst>
                    <a:ext uri="{9D8B030D-6E8A-4147-A177-3AD203B41FA5}">
                      <a16:colId xmlns:a16="http://schemas.microsoft.com/office/drawing/2014/main" val="4253259206"/>
                    </a:ext>
                  </a:extLst>
                </a:gridCol>
              </a:tblGrid>
              <a:tr h="1336478">
                <a:tc>
                  <a:txBody>
                    <a:bodyPr/>
                    <a:lstStyle/>
                    <a:p>
                      <a:pPr marL="0" marR="0" algn="l">
                        <a:lnSpc>
                          <a:spcPct val="115000"/>
                        </a:lnSpc>
                        <a:spcBef>
                          <a:spcPts val="0"/>
                        </a:spcBef>
                        <a:spcAft>
                          <a:spcPts val="0"/>
                        </a:spcAft>
                      </a:pPr>
                      <a:r>
                        <a:rPr lang="en-GB" sz="1200">
                          <a:effectLst/>
                          <a:latin typeface="Open Sans" panose="020B0606030504020204" pitchFamily="34" charset="0"/>
                          <a:ea typeface="Open Sans" panose="020B0606030504020204" pitchFamily="34" charset="0"/>
                          <a:cs typeface="Open Sans" panose="020B0606030504020204" pitchFamily="34" charset="0"/>
                        </a:rPr>
                        <a:t>During the </a:t>
                      </a:r>
                      <a:r>
                        <a:rPr lang="en-GB" sz="1200" b="1" u="sng">
                          <a:effectLst/>
                          <a:latin typeface="Open Sans" panose="020B0606030504020204" pitchFamily="34" charset="0"/>
                          <a:ea typeface="Open Sans" panose="020B0606030504020204" pitchFamily="34" charset="0"/>
                          <a:cs typeface="Open Sans" panose="020B0606030504020204" pitchFamily="34" charset="0"/>
                        </a:rPr>
                        <a:t>last 7 days</a:t>
                      </a:r>
                      <a:r>
                        <a:rPr lang="en-GB" sz="1200">
                          <a:effectLst/>
                          <a:latin typeface="Open Sans" panose="020B0606030504020204" pitchFamily="34" charset="0"/>
                          <a:ea typeface="Open Sans" panose="020B0606030504020204" pitchFamily="34" charset="0"/>
                          <a:cs typeface="Open Sans" panose="020B0606030504020204" pitchFamily="34" charset="0"/>
                        </a:rPr>
                        <a:t>, were there days (and, if so, how many) when your household had to employ one of the </a:t>
                      </a: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following</a:t>
                      </a:r>
                      <a:r>
                        <a:rPr lang="en-GB" sz="1200">
                          <a:effectLst/>
                          <a:latin typeface="Open Sans" panose="020B0606030504020204" pitchFamily="34" charset="0"/>
                          <a:ea typeface="Open Sans" panose="020B0606030504020204" pitchFamily="34" charset="0"/>
                          <a:cs typeface="Open Sans" panose="020B0606030504020204" pitchFamily="34" charset="0"/>
                        </a:rPr>
                        <a:t> strategies (to cope with a lack of food or money to buy it)?</a:t>
                      </a:r>
                      <a:endParaRPr lang="en-US" sz="1400">
                        <a:effectLst/>
                        <a:latin typeface="Open Sans" panose="020B0606030504020204" pitchFamily="34" charset="0"/>
                        <a:ea typeface="Open Sans" panose="020B0606030504020204" pitchFamily="34" charset="0"/>
                        <a:cs typeface="Open Sans" panose="020B0606030504020204" pitchFamily="34" charset="0"/>
                      </a:endParaRPr>
                    </a:p>
                    <a:p>
                      <a:pPr marL="0" marR="0" algn="l">
                        <a:lnSpc>
                          <a:spcPct val="115000"/>
                        </a:lnSpc>
                        <a:spcBef>
                          <a:spcPts val="0"/>
                        </a:spcBef>
                        <a:spcAft>
                          <a:spcPts val="0"/>
                        </a:spcAft>
                      </a:pPr>
                      <a:r>
                        <a:rPr lang="en-GB" sz="900">
                          <a:effectLst/>
                          <a:latin typeface="Open Sans" panose="020B0606030504020204" pitchFamily="34" charset="0"/>
                          <a:ea typeface="Open Sans" panose="020B0606030504020204" pitchFamily="34" charset="0"/>
                          <a:cs typeface="Open Sans" panose="020B0606030504020204" pitchFamily="34" charset="0"/>
                        </a:rPr>
                        <a:t> </a:t>
                      </a:r>
                      <a:endParaRPr lang="en-US" sz="1000">
                        <a:effectLst/>
                        <a:latin typeface="Open Sans" panose="020B0606030504020204" pitchFamily="34" charset="0"/>
                        <a:ea typeface="Open Sans" panose="020B0606030504020204" pitchFamily="34" charset="0"/>
                        <a:cs typeface="Open Sans" panose="020B0606030504020204" pitchFamily="34" charset="0"/>
                      </a:endParaRPr>
                    </a:p>
                    <a:p>
                      <a:pPr marL="360680" marR="0" indent="-360680" algn="ctr">
                        <a:lnSpc>
                          <a:spcPct val="115000"/>
                        </a:lnSpc>
                        <a:spcBef>
                          <a:spcPts val="0"/>
                        </a:spcBef>
                        <a:spcAft>
                          <a:spcPts val="0"/>
                        </a:spcAft>
                      </a:pPr>
                      <a:r>
                        <a:rPr lang="fr-FR" sz="900" b="1">
                          <a:effectLst/>
                          <a:latin typeface="Open Sans" panose="020B0606030504020204" pitchFamily="34" charset="0"/>
                          <a:ea typeface="Open Sans" panose="020B0606030504020204" pitchFamily="34" charset="0"/>
                          <a:cs typeface="Open Sans" panose="020B0606030504020204" pitchFamily="34" charset="0"/>
                        </a:rPr>
                        <a:t>READ OUT STRATEGIES </a:t>
                      </a:r>
                      <a:endParaRPr lang="en-US" sz="10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Weight</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marR="0" algn="l" defTabSz="914400" rtl="0" eaLnBrk="1" latinLnBrk="0" hangingPunct="1">
                        <a:lnSpc>
                          <a:spcPct val="115000"/>
                        </a:lnSpc>
                        <a:spcBef>
                          <a:spcPts val="0"/>
                        </a:spcBef>
                        <a:spcAft>
                          <a:spcPts val="0"/>
                        </a:spcAft>
                      </a:pPr>
                      <a:r>
                        <a:rPr lang="en-GB"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Frequency (number of days</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from 0 to 7)</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algn="l" defTabSz="914400" rtl="0" eaLnBrk="1" latinLnBrk="0" hangingPunct="1">
                        <a:lnSpc>
                          <a:spcPct val="115000"/>
                        </a:lnSpc>
                        <a:spcBef>
                          <a:spcPts val="0"/>
                        </a:spcBef>
                        <a:spcAft>
                          <a:spcPts val="0"/>
                        </a:spcAft>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Frequency x weight </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642623158"/>
                  </a:ext>
                </a:extLst>
              </a:tr>
              <a:tr h="220404">
                <a:tc>
                  <a:txBody>
                    <a:bodyPr/>
                    <a:lstStyle/>
                    <a:p>
                      <a:pPr marL="0" marR="0" lvl="0" indent="0" algn="l" defTabSz="914400" rtl="0" eaLnBrk="1" latinLnBrk="0" hangingPunct="1">
                        <a:lnSpc>
                          <a:spcPct val="115000"/>
                        </a:lnSpc>
                        <a:spcBef>
                          <a:spcPts val="0"/>
                        </a:spcBef>
                        <a:spcAft>
                          <a:spcPts val="0"/>
                        </a:spcAft>
                        <a:buFont typeface="+mj-lt"/>
                        <a:buNone/>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1. Relied on less preferred, less expensive food</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1</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_5_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5</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2144209"/>
                  </a:ext>
                </a:extLst>
              </a:tr>
              <a:tr h="415126">
                <a:tc>
                  <a:txBody>
                    <a:bodyPr/>
                    <a:lstStyle/>
                    <a:p>
                      <a:pPr marL="0" marR="0" lvl="0" indent="0" algn="l" defTabSz="914400" rtl="0" eaLnBrk="1" latinLnBrk="0" hangingPunct="1">
                        <a:lnSpc>
                          <a:spcPct val="115000"/>
                        </a:lnSpc>
                        <a:spcBef>
                          <a:spcPts val="0"/>
                        </a:spcBef>
                        <a:spcAft>
                          <a:spcPts val="0"/>
                        </a:spcAft>
                        <a:buFont typeface="+mj-lt"/>
                        <a:buNone/>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2. Borrowed food or relied on help from friends or relatives</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2</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_2_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4</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7831663"/>
                  </a:ext>
                </a:extLst>
              </a:tr>
              <a:tr h="220404">
                <a:tc>
                  <a:txBody>
                    <a:bodyPr/>
                    <a:lstStyle/>
                    <a:p>
                      <a:pPr marL="0" marR="0" lvl="0" indent="0" algn="l" defTabSz="914400" rtl="0" eaLnBrk="1" latinLnBrk="0" hangingPunct="1">
                        <a:lnSpc>
                          <a:spcPct val="115000"/>
                        </a:lnSpc>
                        <a:spcBef>
                          <a:spcPts val="0"/>
                        </a:spcBef>
                        <a:spcAft>
                          <a:spcPts val="0"/>
                        </a:spcAft>
                        <a:buFont typeface="+mj-lt"/>
                        <a:buNone/>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 Reduced the number of meals eaten per day</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1</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_5_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5</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1363543"/>
                  </a:ext>
                </a:extLst>
              </a:tr>
              <a:tr h="229834">
                <a:tc>
                  <a:txBody>
                    <a:bodyPr/>
                    <a:lstStyle/>
                    <a:p>
                      <a:pPr marL="0" marR="0" lvl="0" indent="0" algn="l" defTabSz="914400" rtl="0" eaLnBrk="1" latinLnBrk="0" hangingPunct="1">
                        <a:lnSpc>
                          <a:spcPct val="115000"/>
                        </a:lnSpc>
                        <a:spcBef>
                          <a:spcPts val="0"/>
                        </a:spcBef>
                        <a:spcAft>
                          <a:spcPts val="0"/>
                        </a:spcAft>
                        <a:buFont typeface="+mj-lt"/>
                        <a:buNone/>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4. Reduced portion size of meals</a:t>
                      </a:r>
                      <a:endPar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1</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_7_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7</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1709094"/>
                  </a:ext>
                </a:extLst>
              </a:tr>
              <a:tr h="415126">
                <a:tc>
                  <a:txBody>
                    <a:bodyPr/>
                    <a:lstStyle/>
                    <a:p>
                      <a:pPr marL="0" marR="0" lvl="0" indent="0" algn="l" defTabSz="914400" rtl="0" eaLnBrk="1" latinLnBrk="0" hangingPunct="1">
                        <a:lnSpc>
                          <a:spcPct val="115000"/>
                        </a:lnSpc>
                        <a:spcBef>
                          <a:spcPts val="0"/>
                        </a:spcBef>
                        <a:spcAft>
                          <a:spcPts val="0"/>
                        </a:spcAft>
                        <a:buFont typeface="+mj-lt"/>
                        <a:buNone/>
                      </a:pPr>
                      <a:r>
                        <a:rPr lang="en-GB"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5. </a:t>
                      </a:r>
                      <a:r>
                        <a:rPr lang="en-US" sz="12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Restricted consumption by adults in order for small children to eat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3</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_2_ |</a:t>
                      </a:r>
                      <a:endParaRPr lang="en-US" sz="14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fr-FR" sz="1400">
                          <a:effectLst/>
                          <a:latin typeface="Open Sans" panose="020B0606030504020204" pitchFamily="34" charset="0"/>
                          <a:ea typeface="Open Sans" panose="020B0606030504020204" pitchFamily="34" charset="0"/>
                          <a:cs typeface="Open Sans" panose="020B0606030504020204" pitchFamily="34" charset="0"/>
                        </a:rPr>
                        <a:t>6</a:t>
                      </a:r>
                      <a:endParaRPr lang="en-US" sz="11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0575519"/>
                  </a:ext>
                </a:extLst>
              </a:tr>
              <a:tr h="301365">
                <a:tc gridSpan="3">
                  <a:txBody>
                    <a:bodyPr/>
                    <a:lstStyle/>
                    <a:p>
                      <a:pPr marL="0" marR="0" algn="r">
                        <a:lnSpc>
                          <a:spcPct val="115000"/>
                        </a:lnSpc>
                        <a:spcBef>
                          <a:spcPts val="0"/>
                        </a:spcBef>
                        <a:spcAft>
                          <a:spcPts val="0"/>
                        </a:spcAft>
                      </a:pPr>
                      <a:r>
                        <a:rPr lang="en-GB" sz="2000" b="0" err="1">
                          <a:solidFill>
                            <a:schemeClr val="accent1">
                              <a:lumMod val="50000"/>
                            </a:schemeClr>
                          </a:solidFill>
                          <a:effectLst/>
                          <a:latin typeface="Open Sans" panose="020B0606030504020204" pitchFamily="34" charset="0"/>
                          <a:ea typeface="Open Sans" panose="020B0606030504020204" pitchFamily="34" charset="0"/>
                          <a:cs typeface="Open Sans" panose="020B0606030504020204" pitchFamily="34" charset="0"/>
                        </a:rPr>
                        <a:t>rCSI</a:t>
                      </a:r>
                      <a:endParaRPr lang="en-US" sz="2000" b="0">
                        <a:solidFill>
                          <a:schemeClr val="accent1">
                            <a:lumMod val="50000"/>
                          </a:schemeClr>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fr-FR" sz="2000" b="0">
                          <a:solidFill>
                            <a:schemeClr val="accent1">
                              <a:lumMod val="50000"/>
                            </a:schemeClr>
                          </a:solidFill>
                          <a:effectLst/>
                          <a:latin typeface="Open Sans" panose="020B0606030504020204" pitchFamily="34" charset="0"/>
                          <a:ea typeface="Open Sans" panose="020B0606030504020204" pitchFamily="34" charset="0"/>
                          <a:cs typeface="Open Sans" panose="020B0606030504020204" pitchFamily="34" charset="0"/>
                        </a:rPr>
                        <a:t>27</a:t>
                      </a:r>
                      <a:endParaRPr lang="en-US" sz="1600" b="0">
                        <a:solidFill>
                          <a:schemeClr val="accent1">
                            <a:lumMod val="50000"/>
                          </a:schemeClr>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0969624"/>
                  </a:ext>
                </a:extLst>
              </a:tr>
            </a:tbl>
          </a:graphicData>
        </a:graphic>
      </p:graphicFrame>
    </p:spTree>
    <p:extLst>
      <p:ext uri="{BB962C8B-B14F-4D97-AF65-F5344CB8AC3E}">
        <p14:creationId xmlns:p14="http://schemas.microsoft.com/office/powerpoint/2010/main" val="166201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E"/>
        </a:soli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Enumerator’s notes </a:t>
            </a:r>
          </a:p>
        </p:txBody>
      </p:sp>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7553183" cy="3907221"/>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pc="6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2200" spc="60" dirty="0">
                <a:latin typeface="Open Sans"/>
                <a:ea typeface="Open Sans"/>
                <a:cs typeface="Open Sans"/>
              </a:rPr>
              <a:t>Enumerators and field supervisors should take notes about any irregular consumption-based coping patterns that may stand out during the pilot or actual data collection phases. </a:t>
            </a:r>
            <a:endParaRPr lang="en-US" sz="2200" spc="60" dirty="0">
              <a:latin typeface="Open Sans" panose="020B0606030504020204" pitchFamily="34" charset="0"/>
              <a:ea typeface="Open Sans" panose="020B0606030504020204" pitchFamily="34" charset="0"/>
              <a:cs typeface="Open Sans" panose="020B0606030504020204" pitchFamily="34" charset="0"/>
            </a:endParaRPr>
          </a:p>
          <a:p>
            <a:pPr marL="0" indent="0">
              <a:buFont typeface="Arial"/>
              <a:buNone/>
            </a:pPr>
            <a:endParaRPr lang="en-US" sz="2200" spc="60">
              <a:latin typeface="Open Sans" panose="020B0606030504020204" pitchFamily="34" charset="0"/>
              <a:ea typeface="Open Sans" panose="020B0606030504020204" pitchFamily="34" charset="0"/>
              <a:cs typeface="Open Sans" panose="020B0606030504020204" pitchFamily="34" charset="0"/>
            </a:endParaRPr>
          </a:p>
          <a:p>
            <a:pPr marL="0" indent="0">
              <a:buFont typeface="Arial"/>
              <a:buNone/>
            </a:pPr>
            <a:r>
              <a:rPr lang="en-US" sz="2200" spc="60">
                <a:latin typeface="Open Sans" panose="020B0606030504020204" pitchFamily="34" charset="0"/>
                <a:ea typeface="Open Sans" panose="020B0606030504020204" pitchFamily="34" charset="0"/>
                <a:cs typeface="Open Sans" panose="020B0606030504020204" pitchFamily="34" charset="0"/>
              </a:rPr>
              <a:t>Enumerators’ notes should be presented and discussed during debriefing sessions, along with observational information. </a:t>
            </a:r>
          </a:p>
        </p:txBody>
      </p:sp>
      <p:pic>
        <p:nvPicPr>
          <p:cNvPr id="1026" name="Picture 2" descr="Note Icon Vector Art, Icons, and Graphics for Free Download">
            <a:extLst>
              <a:ext uri="{FF2B5EF4-FFF2-40B4-BE49-F238E27FC236}">
                <a16:creationId xmlns:a16="http://schemas.microsoft.com/office/drawing/2014/main" id="{71EA02EE-25AD-4608-9E29-BAA9EE000A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1384" y="1863101"/>
            <a:ext cx="2962212" cy="2962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502678"/>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1703200" y="2369285"/>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gn="ctr">
              <a:lnSpc>
                <a:spcPts val="3920"/>
              </a:lnSpc>
            </a:pPr>
            <a:r>
              <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rPr>
              <a:t>Thank You!</a:t>
            </a:r>
            <a:endParaRPr lang="en-GB" sz="2900" b="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96823955"/>
      </p:ext>
    </p:extLst>
  </p:cSld>
  <p:clrMapOvr>
    <a:masterClrMapping/>
  </p:clrMapOvr>
</p:sld>
</file>

<file path=ppt/theme/theme1.xml><?xml version="1.0" encoding="utf-8"?>
<a:theme xmlns:a="http://schemas.openxmlformats.org/drawingml/2006/main" name="Theme2">
  <a:themeElements>
    <a:clrScheme name="WFP COLOUR PALETTE">
      <a:dk1>
        <a:srgbClr val="007DBC"/>
      </a:dk1>
      <a:lt1>
        <a:srgbClr val="36B5C5"/>
      </a:lt1>
      <a:dk2>
        <a:srgbClr val="00B385"/>
      </a:dk2>
      <a:lt2>
        <a:srgbClr val="008868"/>
      </a:lt2>
      <a:accent1>
        <a:srgbClr val="1A4161"/>
      </a:accent1>
      <a:accent2>
        <a:srgbClr val="982B56"/>
      </a:accent2>
      <a:accent3>
        <a:srgbClr val="EF404C"/>
      </a:accent3>
      <a:accent4>
        <a:srgbClr val="B79F8D"/>
      </a:accent4>
      <a:accent5>
        <a:srgbClr val="ECDFBB"/>
      </a:accent5>
      <a:accent6>
        <a:srgbClr val="F37847"/>
      </a:accent6>
      <a:hlink>
        <a:srgbClr val="FFFFFF"/>
      </a:hlink>
      <a:folHlink>
        <a:srgbClr val="00000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FP COLOUR PALETTE">
    <a:dk1>
      <a:srgbClr val="007DBC"/>
    </a:dk1>
    <a:lt1>
      <a:srgbClr val="36B5C5"/>
    </a:lt1>
    <a:dk2>
      <a:srgbClr val="00B385"/>
    </a:dk2>
    <a:lt2>
      <a:srgbClr val="008868"/>
    </a:lt2>
    <a:accent1>
      <a:srgbClr val="1A4161"/>
    </a:accent1>
    <a:accent2>
      <a:srgbClr val="982B56"/>
    </a:accent2>
    <a:accent3>
      <a:srgbClr val="EF404C"/>
    </a:accent3>
    <a:accent4>
      <a:srgbClr val="B79F8D"/>
    </a:accent4>
    <a:accent5>
      <a:srgbClr val="ECDFBB"/>
    </a:accent5>
    <a:accent6>
      <a:srgbClr val="F37847"/>
    </a:accent6>
    <a:hlink>
      <a:srgbClr val="FFFFFF"/>
    </a:hlink>
    <a:folHlink>
      <a:srgbClr val="0000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Props1.xml><?xml version="1.0" encoding="utf-8"?>
<ds:datastoreItem xmlns:ds="http://schemas.openxmlformats.org/officeDocument/2006/customXml" ds:itemID="{77FB3E5C-BD72-46D4-A1F3-BBC2F1B79E58}"/>
</file>

<file path=customXml/itemProps2.xml><?xml version="1.0" encoding="utf-8"?>
<ds:datastoreItem xmlns:ds="http://schemas.openxmlformats.org/officeDocument/2006/customXml" ds:itemID="{2A3AC776-BB22-46C6-94CA-DE5319E32815}">
  <ds:schemaRefs>
    <ds:schemaRef ds:uri="http://schemas.microsoft.com/sharepoint/v3/contenttype/forms"/>
  </ds:schemaRefs>
</ds:datastoreItem>
</file>

<file path=customXml/itemProps3.xml><?xml version="1.0" encoding="utf-8"?>
<ds:datastoreItem xmlns:ds="http://schemas.openxmlformats.org/officeDocument/2006/customXml" ds:itemID="{7144BB7B-CE34-4D68-9B7C-68D737AEA431}">
  <ds:schemaRefs>
    <ds:schemaRef ds:uri="http://schemas.microsoft.com/office/2006/documentManagement/types"/>
    <ds:schemaRef ds:uri="3940b711-dc1d-4235-b0a5-48d487f0d3b9"/>
    <ds:schemaRef ds:uri="http://purl.org/dc/elements/1.1/"/>
    <ds:schemaRef ds:uri="49256dcf-74b5-4e0f-b2ab-e17546be8a80"/>
    <ds:schemaRef ds:uri="http://purl.org/dc/terms/"/>
    <ds:schemaRef ds:uri="http://purl.org/dc/dcmitype/"/>
    <ds:schemaRef ds:uri="http://schemas.microsoft.com/office/infopath/2007/PartnerControls"/>
    <ds:schemaRef ds:uri="http://schemas.microsoft.com/office/2006/metadata/properti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1049</TotalTime>
  <Words>2499</Words>
  <Application>Microsoft Office PowerPoint</Application>
  <PresentationFormat>Widescreen</PresentationFormat>
  <Paragraphs>221</Paragraphs>
  <Slides>31</Slides>
  <Notes>23</Notes>
  <HiddenSlides>8</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Theme2</vt:lpstr>
      <vt:lpstr>PowerPoint Presentation</vt:lpstr>
      <vt:lpstr>PowerPoint Presentation</vt:lpstr>
      <vt:lpstr>RCSI: training instructions 1</vt:lpstr>
      <vt:lpstr>RCSI: Définition </vt:lpstr>
      <vt:lpstr>RCSI: Utilisation de l'indicateur</vt:lpstr>
      <vt:lpstr>PowerPoint Presentation</vt:lpstr>
      <vt:lpstr>rcsi: training instructions 2</vt:lpstr>
      <vt:lpstr>RCSI MODULE: Question principale </vt:lpstr>
      <vt:lpstr>Rcsi: stratégie 1</vt:lpstr>
      <vt:lpstr>Rcsi: stratégie 1 (suite)</vt:lpstr>
      <vt:lpstr>Rcsi: stratégie 1: Comment vérifier</vt:lpstr>
      <vt:lpstr>Rcsi: stratégie 2</vt:lpstr>
      <vt:lpstr>Rcsi: stratégie 2 (suite)</vt:lpstr>
      <vt:lpstr>Rcsi: stratégie 2: Comment vérifier</vt:lpstr>
      <vt:lpstr>Rcsi: stratégie 3</vt:lpstr>
      <vt:lpstr>Rcsi: stratégie 3 (suite)</vt:lpstr>
      <vt:lpstr>Rcsi: stratégie 3 : Comment vérifier</vt:lpstr>
      <vt:lpstr>Rcsi: stratégie 4</vt:lpstr>
      <vt:lpstr>Rcsi: stratégie 4 (suite)</vt:lpstr>
      <vt:lpstr>Rcsi: stratégie 4 : Comment vérifier</vt:lpstr>
      <vt:lpstr>Rcsi: stratégie 4</vt:lpstr>
      <vt:lpstr>Rcsi: stratégie 4</vt:lpstr>
      <vt:lpstr>Rcsi: stratégie 5</vt:lpstr>
      <vt:lpstr>Rcsi: stratégie 5 (suite)</vt:lpstr>
      <vt:lpstr>Rcsi: stratégie 5 : Comment vérifier</vt:lpstr>
      <vt:lpstr>PowerPoint Presentation</vt:lpstr>
      <vt:lpstr>rcsi: severity weights</vt:lpstr>
      <vt:lpstr>PowerPoint Presentation</vt:lpstr>
      <vt:lpstr>rcsi: CALCULATION </vt:lpstr>
      <vt:lpstr>Enumerator’s notes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lastModifiedBy>Jonas DEMEYER</cp:lastModifiedBy>
  <cp:revision>34</cp:revision>
  <dcterms:created xsi:type="dcterms:W3CDTF">2018-08-20T09:35:59Z</dcterms:created>
  <dcterms:modified xsi:type="dcterms:W3CDTF">2024-09-06T13:47:32Z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