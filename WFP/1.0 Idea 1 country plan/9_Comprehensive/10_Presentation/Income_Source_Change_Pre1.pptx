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56" r:id="rId5"/>
    <p:sldId id="257" r:id="rId6"/>
    <p:sldId id="311" r:id="rId7"/>
    <p:sldId id="258" r:id="rId8"/>
    <p:sldId id="320" r:id="rId9"/>
    <p:sldId id="259" r:id="rId10"/>
    <p:sldId id="260" r:id="rId11"/>
    <p:sldId id="261" r:id="rId12"/>
    <p:sldId id="263" r:id="rId13"/>
    <p:sldId id="321" r:id="rId14"/>
    <p:sldId id="265" r:id="rId15"/>
    <p:sldId id="327" r:id="rId16"/>
    <p:sldId id="328" r:id="rId17"/>
    <p:sldId id="330" r:id="rId18"/>
    <p:sldId id="266" r:id="rId19"/>
    <p:sldId id="326" r:id="rId20"/>
    <p:sldId id="325" r:id="rId21"/>
    <p:sldId id="324" r:id="rId22"/>
    <p:sldId id="270" r:id="rId23"/>
    <p:sldId id="329" r:id="rId2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BA16F2-64DC-4217-8140-2A28262001E4}" v="3" dt="2024-06-20T10:26:40.845"/>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37" autoAdjust="0"/>
    <p:restoredTop sz="96355" autoAdjust="0"/>
  </p:normalViewPr>
  <p:slideViewPr>
    <p:cSldViewPr snapToGrid="0" snapToObjects="1">
      <p:cViewPr varScale="1">
        <p:scale>
          <a:sx n="145" d="100"/>
          <a:sy n="145" d="100"/>
        </p:scale>
        <p:origin x="570" y="11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ole WU" userId="4cf90142-5117-41df-a92b-6216d87bdf3c" providerId="ADAL" clId="{12C1CC7C-E9BB-AE44-BBD2-A93AAC3728F0}"/>
    <pc:docChg chg="custSel addSld delSld modSld">
      <pc:chgData name="Nicole WU" userId="4cf90142-5117-41df-a92b-6216d87bdf3c" providerId="ADAL" clId="{12C1CC7C-E9BB-AE44-BBD2-A93AAC3728F0}" dt="2024-05-20T08:43:44.031" v="108" actId="1076"/>
      <pc:docMkLst>
        <pc:docMk/>
      </pc:docMkLst>
      <pc:sldChg chg="modSp mod">
        <pc:chgData name="Nicole WU" userId="4cf90142-5117-41df-a92b-6216d87bdf3c" providerId="ADAL" clId="{12C1CC7C-E9BB-AE44-BBD2-A93AAC3728F0}" dt="2024-05-20T08:29:59.656" v="101" actId="20577"/>
        <pc:sldMkLst>
          <pc:docMk/>
          <pc:sldMk cId="0" sldId="260"/>
        </pc:sldMkLst>
        <pc:spChg chg="mod">
          <ac:chgData name="Nicole WU" userId="4cf90142-5117-41df-a92b-6216d87bdf3c" providerId="ADAL" clId="{12C1CC7C-E9BB-AE44-BBD2-A93AAC3728F0}" dt="2024-05-20T08:29:44.762" v="71" actId="20577"/>
          <ac:spMkLst>
            <pc:docMk/>
            <pc:sldMk cId="0" sldId="260"/>
            <ac:spMk id="4" creationId="{00000000-0000-0000-0000-000000000000}"/>
          </ac:spMkLst>
        </pc:spChg>
        <pc:spChg chg="mod">
          <ac:chgData name="Nicole WU" userId="4cf90142-5117-41df-a92b-6216d87bdf3c" providerId="ADAL" clId="{12C1CC7C-E9BB-AE44-BBD2-A93AAC3728F0}" dt="2024-05-20T08:29:59.656" v="101" actId="20577"/>
          <ac:spMkLst>
            <pc:docMk/>
            <pc:sldMk cId="0" sldId="260"/>
            <ac:spMk id="5" creationId="{C79D1E5F-A8C1-4D46-D8A8-782162E13C51}"/>
          </ac:spMkLst>
        </pc:spChg>
      </pc:sldChg>
      <pc:sldChg chg="modSp mod">
        <pc:chgData name="Nicole WU" userId="4cf90142-5117-41df-a92b-6216d87bdf3c" providerId="ADAL" clId="{12C1CC7C-E9BB-AE44-BBD2-A93AAC3728F0}" dt="2024-05-20T08:43:44.031" v="108" actId="1076"/>
        <pc:sldMkLst>
          <pc:docMk/>
          <pc:sldMk cId="0" sldId="263"/>
        </pc:sldMkLst>
        <pc:spChg chg="mod">
          <ac:chgData name="Nicole WU" userId="4cf90142-5117-41df-a92b-6216d87bdf3c" providerId="ADAL" clId="{12C1CC7C-E9BB-AE44-BBD2-A93AAC3728F0}" dt="2024-05-20T08:43:40.560" v="106" actId="20577"/>
          <ac:spMkLst>
            <pc:docMk/>
            <pc:sldMk cId="0" sldId="263"/>
            <ac:spMk id="4" creationId="{00000000-0000-0000-0000-000000000000}"/>
          </ac:spMkLst>
        </pc:spChg>
        <pc:picChg chg="mod">
          <ac:chgData name="Nicole WU" userId="4cf90142-5117-41df-a92b-6216d87bdf3c" providerId="ADAL" clId="{12C1CC7C-E9BB-AE44-BBD2-A93AAC3728F0}" dt="2024-05-20T08:43:44.031" v="108" actId="1076"/>
          <ac:picMkLst>
            <pc:docMk/>
            <pc:sldMk cId="0" sldId="263"/>
            <ac:picMk id="2" creationId="{00000000-0000-0000-0000-000000000000}"/>
          </ac:picMkLst>
        </pc:picChg>
      </pc:sldChg>
      <pc:sldChg chg="del">
        <pc:chgData name="Nicole WU" userId="4cf90142-5117-41df-a92b-6216d87bdf3c" providerId="ADAL" clId="{12C1CC7C-E9BB-AE44-BBD2-A93AAC3728F0}" dt="2024-05-20T08:17:10.104" v="0" actId="2696"/>
        <pc:sldMkLst>
          <pc:docMk/>
          <pc:sldMk cId="0" sldId="271"/>
        </pc:sldMkLst>
      </pc:sldChg>
      <pc:sldChg chg="modSp">
        <pc:chgData name="Nicole WU" userId="4cf90142-5117-41df-a92b-6216d87bdf3c" providerId="ADAL" clId="{12C1CC7C-E9BB-AE44-BBD2-A93AAC3728F0}" dt="2024-05-20T08:40:54.415" v="103" actId="1036"/>
        <pc:sldMkLst>
          <pc:docMk/>
          <pc:sldMk cId="2012597582" sldId="326"/>
        </pc:sldMkLst>
        <pc:picChg chg="mod">
          <ac:chgData name="Nicole WU" userId="4cf90142-5117-41df-a92b-6216d87bdf3c" providerId="ADAL" clId="{12C1CC7C-E9BB-AE44-BBD2-A93AAC3728F0}" dt="2024-05-20T08:40:54.415" v="103" actId="1036"/>
          <ac:picMkLst>
            <pc:docMk/>
            <pc:sldMk cId="2012597582" sldId="326"/>
            <ac:picMk id="5122" creationId="{7E2F468D-8C5D-6D50-D8C5-29B10E0299A8}"/>
          </ac:picMkLst>
        </pc:picChg>
      </pc:sldChg>
      <pc:sldChg chg="addSp delSp modSp add mod">
        <pc:chgData name="Nicole WU" userId="4cf90142-5117-41df-a92b-6216d87bdf3c" providerId="ADAL" clId="{12C1CC7C-E9BB-AE44-BBD2-A93AAC3728F0}" dt="2024-05-20T08:17:36.482" v="40" actId="1076"/>
        <pc:sldMkLst>
          <pc:docMk/>
          <pc:sldMk cId="1673652409" sldId="329"/>
        </pc:sldMkLst>
        <pc:spChg chg="mod">
          <ac:chgData name="Nicole WU" userId="4cf90142-5117-41df-a92b-6216d87bdf3c" providerId="ADAL" clId="{12C1CC7C-E9BB-AE44-BBD2-A93AAC3728F0}" dt="2024-05-20T08:17:36.482" v="40" actId="1076"/>
          <ac:spMkLst>
            <pc:docMk/>
            <pc:sldMk cId="1673652409" sldId="329"/>
            <ac:spMk id="2" creationId="{00000000-0000-0000-0000-000000000000}"/>
          </ac:spMkLst>
        </pc:spChg>
        <pc:spChg chg="del">
          <ac:chgData name="Nicole WU" userId="4cf90142-5117-41df-a92b-6216d87bdf3c" providerId="ADAL" clId="{12C1CC7C-E9BB-AE44-BBD2-A93AAC3728F0}" dt="2024-05-20T08:17:19.619" v="2" actId="478"/>
          <ac:spMkLst>
            <pc:docMk/>
            <pc:sldMk cId="1673652409" sldId="329"/>
            <ac:spMk id="3" creationId="{00000000-0000-0000-0000-000000000000}"/>
          </ac:spMkLst>
        </pc:spChg>
        <pc:spChg chg="add del mod">
          <ac:chgData name="Nicole WU" userId="4cf90142-5117-41df-a92b-6216d87bdf3c" providerId="ADAL" clId="{12C1CC7C-E9BB-AE44-BBD2-A93AAC3728F0}" dt="2024-05-20T08:17:21.097" v="3" actId="478"/>
          <ac:spMkLst>
            <pc:docMk/>
            <pc:sldMk cId="1673652409" sldId="329"/>
            <ac:spMk id="5" creationId="{759E68F6-E026-4D45-FC12-26624F433CE8}"/>
          </ac:spMkLst>
        </pc:spChg>
      </pc:sldChg>
    </pc:docChg>
  </pc:docChgLst>
  <pc:docChgLst>
    <pc:chgData name="Marianne JENSBY" userId="138ee585-774f-4d33-910f-eb8f633c7eea" providerId="ADAL" clId="{C449FF1C-5585-4A83-8F74-2E41044B3894}"/>
    <pc:docChg chg="custSel addSld modSld">
      <pc:chgData name="Marianne JENSBY" userId="138ee585-774f-4d33-910f-eb8f633c7eea" providerId="ADAL" clId="{C449FF1C-5585-4A83-8F74-2E41044B3894}" dt="2024-05-20T08:43:30.970" v="175" actId="6549"/>
      <pc:docMkLst>
        <pc:docMk/>
      </pc:docMkLst>
      <pc:sldChg chg="modSp mod">
        <pc:chgData name="Marianne JENSBY" userId="138ee585-774f-4d33-910f-eb8f633c7eea" providerId="ADAL" clId="{C449FF1C-5585-4A83-8F74-2E41044B3894}" dt="2024-05-20T08:15:56.177" v="15" actId="20577"/>
        <pc:sldMkLst>
          <pc:docMk/>
          <pc:sldMk cId="0" sldId="256"/>
        </pc:sldMkLst>
        <pc:spChg chg="mod">
          <ac:chgData name="Marianne JENSBY" userId="138ee585-774f-4d33-910f-eb8f633c7eea" providerId="ADAL" clId="{C449FF1C-5585-4A83-8F74-2E41044B3894}" dt="2024-05-20T08:15:56.177" v="15" actId="20577"/>
          <ac:spMkLst>
            <pc:docMk/>
            <pc:sldMk cId="0" sldId="256"/>
            <ac:spMk id="3" creationId="{00000000-0000-0000-0000-000000000000}"/>
          </ac:spMkLst>
        </pc:spChg>
      </pc:sldChg>
      <pc:sldChg chg="modSp mod">
        <pc:chgData name="Marianne JENSBY" userId="138ee585-774f-4d33-910f-eb8f633c7eea" providerId="ADAL" clId="{C449FF1C-5585-4A83-8F74-2E41044B3894}" dt="2024-05-20T08:23:09.233" v="18" actId="20577"/>
        <pc:sldMkLst>
          <pc:docMk/>
          <pc:sldMk cId="0" sldId="257"/>
        </pc:sldMkLst>
        <pc:spChg chg="mod">
          <ac:chgData name="Marianne JENSBY" userId="138ee585-774f-4d33-910f-eb8f633c7eea" providerId="ADAL" clId="{C449FF1C-5585-4A83-8F74-2E41044B3894}" dt="2024-05-20T08:23:09.233" v="18" actId="20577"/>
          <ac:spMkLst>
            <pc:docMk/>
            <pc:sldMk cId="0" sldId="257"/>
            <ac:spMk id="3" creationId="{00000000-0000-0000-0000-000000000000}"/>
          </ac:spMkLst>
        </pc:spChg>
      </pc:sldChg>
      <pc:sldChg chg="addSp modSp mod modShow">
        <pc:chgData name="Marianne JENSBY" userId="138ee585-774f-4d33-910f-eb8f633c7eea" providerId="ADAL" clId="{C449FF1C-5585-4A83-8F74-2E41044B3894}" dt="2024-05-20T08:34:14.559" v="70" actId="729"/>
        <pc:sldMkLst>
          <pc:docMk/>
          <pc:sldMk cId="0" sldId="259"/>
        </pc:sldMkLst>
        <pc:spChg chg="add mod">
          <ac:chgData name="Marianne JENSBY" userId="138ee585-774f-4d33-910f-eb8f633c7eea" providerId="ADAL" clId="{C449FF1C-5585-4A83-8F74-2E41044B3894}" dt="2024-05-20T08:27:02.624" v="24" actId="14100"/>
          <ac:spMkLst>
            <pc:docMk/>
            <pc:sldMk cId="0" sldId="259"/>
            <ac:spMk id="2" creationId="{3824D0E3-385D-43AD-3A9F-89A45E0CE0F0}"/>
          </ac:spMkLst>
        </pc:spChg>
      </pc:sldChg>
      <pc:sldChg chg="modSp mod">
        <pc:chgData name="Marianne JENSBY" userId="138ee585-774f-4d33-910f-eb8f633c7eea" providerId="ADAL" clId="{C449FF1C-5585-4A83-8F74-2E41044B3894}" dt="2024-05-20T08:29:19.799" v="58" actId="20577"/>
        <pc:sldMkLst>
          <pc:docMk/>
          <pc:sldMk cId="0" sldId="260"/>
        </pc:sldMkLst>
        <pc:spChg chg="mod">
          <ac:chgData name="Marianne JENSBY" userId="138ee585-774f-4d33-910f-eb8f633c7eea" providerId="ADAL" clId="{C449FF1C-5585-4A83-8F74-2E41044B3894}" dt="2024-05-20T08:29:03.681" v="51" actId="27636"/>
          <ac:spMkLst>
            <pc:docMk/>
            <pc:sldMk cId="0" sldId="260"/>
            <ac:spMk id="4" creationId="{00000000-0000-0000-0000-000000000000}"/>
          </ac:spMkLst>
        </pc:spChg>
        <pc:spChg chg="mod">
          <ac:chgData name="Marianne JENSBY" userId="138ee585-774f-4d33-910f-eb8f633c7eea" providerId="ADAL" clId="{C449FF1C-5585-4A83-8F74-2E41044B3894}" dt="2024-05-20T08:29:19.799" v="58" actId="20577"/>
          <ac:spMkLst>
            <pc:docMk/>
            <pc:sldMk cId="0" sldId="260"/>
            <ac:spMk id="5" creationId="{C79D1E5F-A8C1-4D46-D8A8-782162E13C51}"/>
          </ac:spMkLst>
        </pc:spChg>
      </pc:sldChg>
      <pc:sldChg chg="modSp mod modShow">
        <pc:chgData name="Marianne JENSBY" userId="138ee585-774f-4d33-910f-eb8f633c7eea" providerId="ADAL" clId="{C449FF1C-5585-4A83-8F74-2E41044B3894}" dt="2024-05-20T08:32:51.769" v="62" actId="729"/>
        <pc:sldMkLst>
          <pc:docMk/>
          <pc:sldMk cId="0" sldId="261"/>
        </pc:sldMkLst>
        <pc:picChg chg="mod">
          <ac:chgData name="Marianne JENSBY" userId="138ee585-774f-4d33-910f-eb8f633c7eea" providerId="ADAL" clId="{C449FF1C-5585-4A83-8F74-2E41044B3894}" dt="2024-05-20T08:32:21.153" v="61" actId="1036"/>
          <ac:picMkLst>
            <pc:docMk/>
            <pc:sldMk cId="0" sldId="261"/>
            <ac:picMk id="1030" creationId="{5BD48B27-65BE-542F-B57A-1C9D3D5B7529}"/>
          </ac:picMkLst>
        </pc:picChg>
      </pc:sldChg>
      <pc:sldChg chg="addSp delSp modSp mod modShow">
        <pc:chgData name="Marianne JENSBY" userId="138ee585-774f-4d33-910f-eb8f633c7eea" providerId="ADAL" clId="{C449FF1C-5585-4A83-8F74-2E41044B3894}" dt="2024-05-20T08:43:30.970" v="175" actId="6549"/>
        <pc:sldMkLst>
          <pc:docMk/>
          <pc:sldMk cId="0" sldId="263"/>
        </pc:sldMkLst>
        <pc:spChg chg="mod">
          <ac:chgData name="Marianne JENSBY" userId="138ee585-774f-4d33-910f-eb8f633c7eea" providerId="ADAL" clId="{C449FF1C-5585-4A83-8F74-2E41044B3894}" dt="2024-05-20T08:42:58.118" v="165" actId="20577"/>
          <ac:spMkLst>
            <pc:docMk/>
            <pc:sldMk cId="0" sldId="263"/>
            <ac:spMk id="3" creationId="{FA9DE2C2-8610-1571-D797-320441E145BF}"/>
          </ac:spMkLst>
        </pc:spChg>
        <pc:spChg chg="mod">
          <ac:chgData name="Marianne JENSBY" userId="138ee585-774f-4d33-910f-eb8f633c7eea" providerId="ADAL" clId="{C449FF1C-5585-4A83-8F74-2E41044B3894}" dt="2024-05-20T08:43:30.970" v="175" actId="6549"/>
          <ac:spMkLst>
            <pc:docMk/>
            <pc:sldMk cId="0" sldId="263"/>
            <ac:spMk id="4" creationId="{00000000-0000-0000-0000-000000000000}"/>
          </ac:spMkLst>
        </pc:spChg>
        <pc:spChg chg="add del mod">
          <ac:chgData name="Marianne JENSBY" userId="138ee585-774f-4d33-910f-eb8f633c7eea" providerId="ADAL" clId="{C449FF1C-5585-4A83-8F74-2E41044B3894}" dt="2024-05-20T08:35:03.741" v="72" actId="478"/>
          <ac:spMkLst>
            <pc:docMk/>
            <pc:sldMk cId="0" sldId="263"/>
            <ac:spMk id="5" creationId="{0065EC1D-F686-6935-EEB3-89D1F4BC9C6A}"/>
          </ac:spMkLst>
        </pc:spChg>
        <pc:picChg chg="mod modCrop">
          <ac:chgData name="Marianne JENSBY" userId="138ee585-774f-4d33-910f-eb8f633c7eea" providerId="ADAL" clId="{C449FF1C-5585-4A83-8F74-2E41044B3894}" dt="2024-05-20T08:35:25.360" v="74" actId="1076"/>
          <ac:picMkLst>
            <pc:docMk/>
            <pc:sldMk cId="0" sldId="263"/>
            <ac:picMk id="2" creationId="{00000000-0000-0000-0000-000000000000}"/>
          </ac:picMkLst>
        </pc:picChg>
      </pc:sldChg>
      <pc:sldChg chg="mod modShow">
        <pc:chgData name="Marianne JENSBY" userId="138ee585-774f-4d33-910f-eb8f633c7eea" providerId="ADAL" clId="{C449FF1C-5585-4A83-8F74-2E41044B3894}" dt="2024-05-20T08:35:55.180" v="76" actId="729"/>
        <pc:sldMkLst>
          <pc:docMk/>
          <pc:sldMk cId="0" sldId="265"/>
        </pc:sldMkLst>
      </pc:sldChg>
      <pc:sldChg chg="modSp mod">
        <pc:chgData name="Marianne JENSBY" userId="138ee585-774f-4d33-910f-eb8f633c7eea" providerId="ADAL" clId="{C449FF1C-5585-4A83-8F74-2E41044B3894}" dt="2024-05-20T08:41:46.308" v="127" actId="20577"/>
        <pc:sldMkLst>
          <pc:docMk/>
          <pc:sldMk cId="0" sldId="266"/>
        </pc:sldMkLst>
        <pc:spChg chg="mod">
          <ac:chgData name="Marianne JENSBY" userId="138ee585-774f-4d33-910f-eb8f633c7eea" providerId="ADAL" clId="{C449FF1C-5585-4A83-8F74-2E41044B3894}" dt="2024-05-20T08:41:46.308" v="127" actId="20577"/>
          <ac:spMkLst>
            <pc:docMk/>
            <pc:sldMk cId="0" sldId="266"/>
            <ac:spMk id="2" creationId="{00000000-0000-0000-0000-000000000000}"/>
          </ac:spMkLst>
        </pc:spChg>
        <pc:spChg chg="mod">
          <ac:chgData name="Marianne JENSBY" userId="138ee585-774f-4d33-910f-eb8f633c7eea" providerId="ADAL" clId="{C449FF1C-5585-4A83-8F74-2E41044B3894}" dt="2024-05-20T08:35:43.571" v="75" actId="20577"/>
          <ac:spMkLst>
            <pc:docMk/>
            <pc:sldMk cId="0" sldId="266"/>
            <ac:spMk id="4" creationId="{00000000-0000-0000-0000-000000000000}"/>
          </ac:spMkLst>
        </pc:spChg>
      </pc:sldChg>
      <pc:sldChg chg="modSp mod">
        <pc:chgData name="Marianne JENSBY" userId="138ee585-774f-4d33-910f-eb8f633c7eea" providerId="ADAL" clId="{C449FF1C-5585-4A83-8F74-2E41044B3894}" dt="2024-05-20T08:39:36.473" v="99" actId="20577"/>
        <pc:sldMkLst>
          <pc:docMk/>
          <pc:sldMk cId="0" sldId="270"/>
        </pc:sldMkLst>
        <pc:spChg chg="mod">
          <ac:chgData name="Marianne JENSBY" userId="138ee585-774f-4d33-910f-eb8f633c7eea" providerId="ADAL" clId="{C449FF1C-5585-4A83-8F74-2E41044B3894}" dt="2024-05-20T08:39:36.473" v="99" actId="20577"/>
          <ac:spMkLst>
            <pc:docMk/>
            <pc:sldMk cId="0" sldId="270"/>
            <ac:spMk id="3" creationId="{00000000-0000-0000-0000-000000000000}"/>
          </ac:spMkLst>
        </pc:spChg>
      </pc:sldChg>
      <pc:sldChg chg="mod modShow">
        <pc:chgData name="Marianne JENSBY" userId="138ee585-774f-4d33-910f-eb8f633c7eea" providerId="ADAL" clId="{C449FF1C-5585-4A83-8F74-2E41044B3894}" dt="2024-05-20T08:22:24.979" v="17" actId="729"/>
        <pc:sldMkLst>
          <pc:docMk/>
          <pc:sldMk cId="2986976553" sldId="311"/>
        </pc:sldMkLst>
      </pc:sldChg>
      <pc:sldChg chg="mod modShow">
        <pc:chgData name="Marianne JENSBY" userId="138ee585-774f-4d33-910f-eb8f633c7eea" providerId="ADAL" clId="{C449FF1C-5585-4A83-8F74-2E41044B3894}" dt="2024-05-20T08:24:08.525" v="19" actId="729"/>
        <pc:sldMkLst>
          <pc:docMk/>
          <pc:sldMk cId="1237851312" sldId="320"/>
        </pc:sldMkLst>
      </pc:sldChg>
      <pc:sldChg chg="mod modShow">
        <pc:chgData name="Marianne JENSBY" userId="138ee585-774f-4d33-910f-eb8f633c7eea" providerId="ADAL" clId="{C449FF1C-5585-4A83-8F74-2E41044B3894}" dt="2024-05-20T08:35:57.660" v="77" actId="729"/>
        <pc:sldMkLst>
          <pc:docMk/>
          <pc:sldMk cId="3707884599" sldId="327"/>
        </pc:sldMkLst>
      </pc:sldChg>
      <pc:sldChg chg="mod modShow">
        <pc:chgData name="Marianne JENSBY" userId="138ee585-774f-4d33-910f-eb8f633c7eea" providerId="ADAL" clId="{C449FF1C-5585-4A83-8F74-2E41044B3894}" dt="2024-05-20T08:36:00.858" v="78" actId="729"/>
        <pc:sldMkLst>
          <pc:docMk/>
          <pc:sldMk cId="1685304084" sldId="328"/>
        </pc:sldMkLst>
      </pc:sldChg>
      <pc:sldChg chg="modSp new mod">
        <pc:chgData name="Marianne JENSBY" userId="138ee585-774f-4d33-910f-eb8f633c7eea" providerId="ADAL" clId="{C449FF1C-5585-4A83-8F74-2E41044B3894}" dt="2024-05-20T08:42:26.482" v="150" actId="20577"/>
        <pc:sldMkLst>
          <pc:docMk/>
          <pc:sldMk cId="3535072456" sldId="330"/>
        </pc:sldMkLst>
        <pc:spChg chg="mod">
          <ac:chgData name="Marianne JENSBY" userId="138ee585-774f-4d33-910f-eb8f633c7eea" providerId="ADAL" clId="{C449FF1C-5585-4A83-8F74-2E41044B3894}" dt="2024-05-20T08:42:26.482" v="150" actId="20577"/>
          <ac:spMkLst>
            <pc:docMk/>
            <pc:sldMk cId="3535072456" sldId="330"/>
            <ac:spMk id="2" creationId="{860583DC-562A-E180-3B26-BCD2DBDF741E}"/>
          </ac:spMkLst>
        </pc:spChg>
      </pc:sldChg>
    </pc:docChg>
  </pc:docChgLst>
  <pc:docChgLst>
    <pc:chgData name="Marianne JENSBY" userId="138ee585-774f-4d33-910f-eb8f633c7eea" providerId="ADAL" clId="{91BA16F2-64DC-4217-8140-2A28262001E4}"/>
    <pc:docChg chg="modSld">
      <pc:chgData name="Marianne JENSBY" userId="138ee585-774f-4d33-910f-eb8f633c7eea" providerId="ADAL" clId="{91BA16F2-64DC-4217-8140-2A28262001E4}" dt="2024-06-20T10:26:46.520" v="2" actId="13926"/>
      <pc:docMkLst>
        <pc:docMk/>
      </pc:docMkLst>
      <pc:sldChg chg="modSp mod">
        <pc:chgData name="Marianne JENSBY" userId="138ee585-774f-4d33-910f-eb8f633c7eea" providerId="ADAL" clId="{91BA16F2-64DC-4217-8140-2A28262001E4}" dt="2024-06-20T10:26:46.520" v="2" actId="13926"/>
        <pc:sldMkLst>
          <pc:docMk/>
          <pc:sldMk cId="0" sldId="258"/>
        </pc:sldMkLst>
        <pc:graphicFrameChg chg="mod modGraphic">
          <ac:chgData name="Marianne JENSBY" userId="138ee585-774f-4d33-910f-eb8f633c7eea" providerId="ADAL" clId="{91BA16F2-64DC-4217-8140-2A28262001E4}" dt="2024-06-20T10:26:46.520" v="2" actId="13926"/>
          <ac:graphicFrameMkLst>
            <pc:docMk/>
            <pc:sldMk cId="0" sldId="258"/>
            <ac:graphicFrameMk id="6"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DD31DA-63FD-9444-8924-EB5A7191BB85}" type="datetimeFigureOut">
              <a:rPr lang="en-US" smtClean="0"/>
              <a:t>6/20/2024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527F09-B703-B641-A5AD-6290960D0653}" type="slidenum">
              <a:rPr lang="en-US" smtClean="0"/>
              <a:t>‹#›</a:t>
            </a:fld>
            <a:endParaRPr lang="en-US"/>
          </a:p>
        </p:txBody>
      </p:sp>
    </p:spTree>
    <p:extLst>
      <p:ext uri="{BB962C8B-B14F-4D97-AF65-F5344CB8AC3E}">
        <p14:creationId xmlns:p14="http://schemas.microsoft.com/office/powerpoint/2010/main" val="1647319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Consolidate Approach for Reporting food Insecurity (CARI)</a:t>
            </a:r>
          </a:p>
          <a:p>
            <a:pPr marL="342900" marR="0" lvl="1" indent="-342900" algn="l" defTabSz="914400" rtl="0" eaLnBrk="1" fontAlgn="auto" latinLnBrk="0" hangingPunct="1">
              <a:lnSpc>
                <a:spcPct val="100000"/>
              </a:lnSpc>
              <a:spcBef>
                <a:spcPts val="1000"/>
              </a:spcBef>
              <a:spcAft>
                <a:spcPts val="0"/>
              </a:spcAft>
              <a:buClrTx/>
              <a:buSzTx/>
              <a:buFontTx/>
              <a:buNone/>
              <a:tabLst/>
              <a:defRPr/>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 useful in emergencies where F2F survey is not feasible</a:t>
            </a:r>
          </a:p>
          <a:p>
            <a:pPr marL="342900" lvl="1" indent="-342900">
              <a:spcBef>
                <a:spcPts val="1000"/>
              </a:spcBef>
            </a:pPr>
            <a:endPar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342900" marR="0" lvl="1" indent="-342900" algn="l" defTabSz="914400" rtl="0" eaLnBrk="1" fontAlgn="auto" latinLnBrk="0" hangingPunct="1">
              <a:lnSpc>
                <a:spcPct val="100000"/>
              </a:lnSpc>
              <a:spcBef>
                <a:spcPts val="1000"/>
              </a:spcBef>
              <a:spcAft>
                <a:spcPts val="0"/>
              </a:spcAft>
              <a:buClrTx/>
              <a:buSzTx/>
              <a:buFontTx/>
              <a:buNone/>
              <a:tabLst/>
              <a:defRPr/>
            </a:pP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 t</a:t>
            </a:r>
            <a:r>
              <a:rPr lang="en-US" sz="2400">
                <a:latin typeface="Open Sans" panose="020B0606030504020204" pitchFamily="34" charset="0"/>
                <a:ea typeface="Open Sans" panose="020B0606030504020204" pitchFamily="34" charset="0"/>
                <a:cs typeface="Times New Roman" panose="02020603050405020304" pitchFamily="18" charset="0"/>
              </a:rPr>
              <a:t>hough easily available, results are not globally accepted because</a:t>
            </a:r>
            <a:r>
              <a:rPr lang="en-US" sz="240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methodology is not been empirically validated against other standard methods- CARI</a:t>
            </a:r>
          </a:p>
          <a:p>
            <a:pPr marL="0" lvl="0" indent="0" algn="just">
              <a:lnSpc>
                <a:spcPct val="107000"/>
              </a:lnSpc>
              <a:buFont typeface="+mj-lt"/>
              <a:buNone/>
            </a:pPr>
            <a:endParaRPr lang="en-GB" sz="1800">
              <a:effectLst/>
              <a:latin typeface="Calibri" panose="020F0502020204030204" pitchFamily="34" charset="0"/>
              <a:ea typeface="Calibri" panose="020F0502020204030204" pitchFamily="34" charset="0"/>
              <a:cs typeface="Calibri" panose="020F0502020204030204" pitchFamily="34" charset="0"/>
            </a:endParaRPr>
          </a:p>
          <a:p>
            <a:pPr marL="0" lvl="0" indent="0" algn="just">
              <a:lnSpc>
                <a:spcPct val="107000"/>
              </a:lnSpc>
              <a:buFont typeface="+mj-lt"/>
              <a:buNone/>
            </a:pPr>
            <a:r>
              <a:rPr lang="en-GB" sz="1800">
                <a:effectLst/>
                <a:latin typeface="Calibri" panose="020F0502020204030204" pitchFamily="34" charset="0"/>
                <a:ea typeface="Calibri" panose="020F0502020204030204" pitchFamily="34" charset="0"/>
                <a:cs typeface="Calibri" panose="020F0502020204030204" pitchFamily="34" charset="0"/>
              </a:rPr>
              <a:t>rCARI is based on the following modules</a:t>
            </a: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Food consumption score </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Consumption-based coping strategy (rCSI)</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Livelihood coping strategy (usually a shorter version of the original) </a:t>
            </a:r>
            <a:endParaRPr lang="en-GB" sz="1800">
              <a:effectLst/>
              <a:latin typeface="Calibri" panose="020F0502020204030204" pitchFamily="34" charset="0"/>
              <a:ea typeface="Calibri" panose="020F0502020204030204" pitchFamily="34" charset="0"/>
              <a:cs typeface="Arial" panose="020B0604020202020204" pitchFamily="34" charset="0"/>
            </a:endParaRPr>
          </a:p>
          <a:p>
            <a:pPr marL="342900" lvl="0" indent="-342900" algn="just">
              <a:lnSpc>
                <a:spcPct val="107000"/>
              </a:lnSpc>
              <a:buFont typeface="+mj-lt"/>
              <a:buAutoNum type="arabicPeriod"/>
            </a:pPr>
            <a:r>
              <a:rPr lang="en-GB" sz="1800">
                <a:effectLst/>
                <a:latin typeface="Calibri" panose="020F0502020204030204" pitchFamily="34" charset="0"/>
                <a:ea typeface="Calibri" panose="020F0502020204030204" pitchFamily="34" charset="0"/>
                <a:cs typeface="Calibri" panose="020F0502020204030204" pitchFamily="34" charset="0"/>
              </a:rPr>
              <a:t>Income sources &amp; income changes</a:t>
            </a:r>
            <a:endParaRPr lang="en-GB" sz="1800">
              <a:effectLst/>
              <a:latin typeface="Calibri" panose="020F0502020204030204" pitchFamily="34" charset="0"/>
              <a:ea typeface="Calibri" panose="020F0502020204030204" pitchFamily="34" charset="0"/>
              <a:cs typeface="Arial" panose="020B0604020202020204" pitchFamily="34" charset="0"/>
            </a:endParaRPr>
          </a:p>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3</a:t>
            </a:fld>
            <a:endParaRPr lang="it-IT"/>
          </a:p>
        </p:txBody>
      </p:sp>
    </p:spTree>
    <p:extLst>
      <p:ext uri="{BB962C8B-B14F-4D97-AF65-F5344CB8AC3E}">
        <p14:creationId xmlns:p14="http://schemas.microsoft.com/office/powerpoint/2010/main" val="8056154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227884D-8063-894A-9B96-2E8B250142EB}" type="slidenum">
              <a:rPr lang="it-IT" smtClean="0"/>
              <a:t>5</a:t>
            </a:fld>
            <a:endParaRPr lang="it-IT"/>
          </a:p>
        </p:txBody>
      </p:sp>
    </p:spTree>
    <p:extLst>
      <p:ext uri="{BB962C8B-B14F-4D97-AF65-F5344CB8AC3E}">
        <p14:creationId xmlns:p14="http://schemas.microsoft.com/office/powerpoint/2010/main" val="10773401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p-value due to small sample size for valid statistical tests </a:t>
            </a:r>
          </a:p>
        </p:txBody>
      </p:sp>
      <p:sp>
        <p:nvSpPr>
          <p:cNvPr id="4" name="Slide Number Placeholder 3"/>
          <p:cNvSpPr>
            <a:spLocks noGrp="1"/>
          </p:cNvSpPr>
          <p:nvPr>
            <p:ph type="sldNum" sz="quarter" idx="5"/>
          </p:nvPr>
        </p:nvSpPr>
        <p:spPr/>
        <p:txBody>
          <a:bodyPr/>
          <a:lstStyle/>
          <a:p>
            <a:fld id="{70527F09-B703-B641-A5AD-6290960D0653}" type="slidenum">
              <a:rPr lang="en-US" smtClean="0"/>
              <a:t>11</a:t>
            </a:fld>
            <a:endParaRPr lang="en-US"/>
          </a:p>
        </p:txBody>
      </p:sp>
    </p:spTree>
    <p:extLst>
      <p:ext uri="{BB962C8B-B14F-4D97-AF65-F5344CB8AC3E}">
        <p14:creationId xmlns:p14="http://schemas.microsoft.com/office/powerpoint/2010/main" val="4273068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Missing p-value due to small sample size for valid statistical tests </a:t>
            </a:r>
          </a:p>
          <a:p>
            <a:endParaRPr lang="en-US" dirty="0"/>
          </a:p>
        </p:txBody>
      </p:sp>
      <p:sp>
        <p:nvSpPr>
          <p:cNvPr id="4" name="Slide Number Placeholder 3"/>
          <p:cNvSpPr>
            <a:spLocks noGrp="1"/>
          </p:cNvSpPr>
          <p:nvPr>
            <p:ph type="sldNum" sz="quarter" idx="5"/>
          </p:nvPr>
        </p:nvSpPr>
        <p:spPr/>
        <p:txBody>
          <a:bodyPr/>
          <a:lstStyle/>
          <a:p>
            <a:fld id="{70527F09-B703-B641-A5AD-6290960D0653}" type="slidenum">
              <a:rPr lang="en-US" smtClean="0"/>
              <a:t>12</a:t>
            </a:fld>
            <a:endParaRPr lang="en-US"/>
          </a:p>
        </p:txBody>
      </p:sp>
    </p:spTree>
    <p:extLst>
      <p:ext uri="{BB962C8B-B14F-4D97-AF65-F5344CB8AC3E}">
        <p14:creationId xmlns:p14="http://schemas.microsoft.com/office/powerpoint/2010/main" val="19932948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Missing p-value due to small sample size for valid statistical tests </a:t>
            </a:r>
          </a:p>
          <a:p>
            <a:endParaRPr lang="en-US" dirty="0"/>
          </a:p>
        </p:txBody>
      </p:sp>
      <p:sp>
        <p:nvSpPr>
          <p:cNvPr id="4" name="Slide Number Placeholder 3"/>
          <p:cNvSpPr>
            <a:spLocks noGrp="1"/>
          </p:cNvSpPr>
          <p:nvPr>
            <p:ph type="sldNum" sz="quarter" idx="5"/>
          </p:nvPr>
        </p:nvSpPr>
        <p:spPr/>
        <p:txBody>
          <a:bodyPr/>
          <a:lstStyle/>
          <a:p>
            <a:fld id="{70527F09-B703-B641-A5AD-6290960D0653}" type="slidenum">
              <a:rPr lang="en-US" smtClean="0"/>
              <a:t>13</a:t>
            </a:fld>
            <a:endParaRPr lang="en-US"/>
          </a:p>
        </p:txBody>
      </p:sp>
    </p:spTree>
    <p:extLst>
      <p:ext uri="{BB962C8B-B14F-4D97-AF65-F5344CB8AC3E}">
        <p14:creationId xmlns:p14="http://schemas.microsoft.com/office/powerpoint/2010/main" val="884822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6/20/2024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6/20/2024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6/20/2024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6/20/2024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6/20/2024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1EB5C9-1307-BA42-ABA2-0BC069CD8E7F}" type="datetimeFigureOut">
              <a:rPr lang="en-US" smtClean="0"/>
              <a:t>6/20/2024</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342900" indent="-342900" algn="l" defTabSz="342900" rtl="0" eaLnBrk="1" latinLnBrk="0" hangingPunct="1">
        <a:spcBef>
          <a:spcPct val="20000"/>
        </a:spcBef>
        <a:buFont typeface="Arial"/>
        <a:buChar char="•"/>
        <a:defRPr sz="2400" kern="1200">
          <a:solidFill>
            <a:schemeClr val="tx1"/>
          </a:solidFill>
          <a:latin typeface="+mn-lt"/>
          <a:ea typeface="+mn-ea"/>
          <a:cs typeface="+mn-cs"/>
        </a:defRPr>
      </a:lvl1pPr>
      <a:lvl2pPr marL="685800" indent="-342900" algn="l" defTabSz="342900" rtl="0" eaLnBrk="1" latinLnBrk="0" hangingPunct="1">
        <a:spcBef>
          <a:spcPct val="20000"/>
        </a:spcBef>
        <a:buFont typeface="Arial"/>
        <a:buChar char="–"/>
        <a:defRPr sz="2100" kern="1200">
          <a:solidFill>
            <a:schemeClr val="tx1"/>
          </a:solidFill>
          <a:latin typeface="+mn-lt"/>
          <a:ea typeface="+mn-ea"/>
          <a:cs typeface="+mn-cs"/>
        </a:defRPr>
      </a:lvl2pPr>
      <a:lvl3pPr marL="1028700" indent="-34290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371600" indent="-34290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714500" indent="-342900" algn="l" defTabSz="342900" rtl="0" eaLnBrk="1" latinLnBrk="0" hangingPunct="1">
        <a:spcBef>
          <a:spcPct val="20000"/>
        </a:spcBef>
        <a:buFont typeface="Arial"/>
        <a:buChar char="»"/>
        <a:defRPr sz="1500" kern="1200">
          <a:solidFill>
            <a:schemeClr val="tx1"/>
          </a:solidFill>
          <a:latin typeface="+mn-lt"/>
          <a:ea typeface="+mn-ea"/>
          <a:cs typeface="+mn-cs"/>
        </a:defRPr>
      </a:lvl5pPr>
      <a:lvl6pPr marL="2057400" indent="-34290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400300" indent="-34290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743200" indent="-342900" algn="l" defTabSz="342900" rtl="0" eaLnBrk="1" latinLnBrk="0" hangingPunct="1">
        <a:spcBef>
          <a:spcPct val="20000"/>
        </a:spcBef>
        <a:buFont typeface="Arial"/>
        <a:buChar char="•"/>
        <a:defRPr sz="1500" kern="1200">
          <a:solidFill>
            <a:schemeClr val="tx1"/>
          </a:solidFill>
          <a:latin typeface="+mn-lt"/>
          <a:ea typeface="+mn-ea"/>
          <a:cs typeface="+mn-cs"/>
        </a:defRPr>
      </a:lvl8pPr>
      <a:lvl9pPr marL="3086100" indent="-34290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9761" y="991790"/>
            <a:ext cx="8178994" cy="1102519"/>
          </a:xfrm>
        </p:spPr>
        <p:txBody>
          <a:bodyPr/>
          <a:lstStyle/>
          <a:p>
            <a:pPr marL="0" lvl="0" indent="0">
              <a:buNone/>
            </a:pPr>
            <a:r>
              <a:rPr dirty="0"/>
              <a:t>Income Source and Income Change Variables</a:t>
            </a:r>
          </a:p>
        </p:txBody>
      </p:sp>
      <p:sp>
        <p:nvSpPr>
          <p:cNvPr id="3" name="Subtitle 2"/>
          <p:cNvSpPr>
            <a:spLocks noGrp="1"/>
          </p:cNvSpPr>
          <p:nvPr>
            <p:ph type="subTitle" idx="1"/>
          </p:nvPr>
        </p:nvSpPr>
        <p:spPr>
          <a:xfrm>
            <a:off x="1371600" y="2914650"/>
            <a:ext cx="6400800" cy="1314450"/>
          </a:xfrm>
        </p:spPr>
        <p:txBody>
          <a:bodyPr>
            <a:normAutofit/>
          </a:bodyPr>
          <a:lstStyle/>
          <a:p>
            <a:pPr marL="0" lvl="0" indent="0">
              <a:buNone/>
            </a:pPr>
            <a:r>
              <a:rPr dirty="0"/>
              <a:t>Preliminary Analysis</a:t>
            </a:r>
            <a:br>
              <a:rPr dirty="0"/>
            </a:br>
            <a:br>
              <a:rPr dirty="0"/>
            </a:br>
            <a:r>
              <a:rPr sz="2000" dirty="0"/>
              <a:t>Needs Assessment &amp; Targeting Unit at WFP APP HQ</a:t>
            </a:r>
            <a:endParaRPr dirty="0"/>
          </a:p>
        </p:txBody>
      </p:sp>
      <p:sp>
        <p:nvSpPr>
          <p:cNvPr id="4" name="Date Placeholder 3"/>
          <p:cNvSpPr>
            <a:spLocks noGrp="1"/>
          </p:cNvSpPr>
          <p:nvPr>
            <p:ph type="dt" sz="half" idx="10"/>
          </p:nvPr>
        </p:nvSpPr>
        <p:spPr/>
        <p:txBody>
          <a:bodyPr/>
          <a:lstStyle/>
          <a:p>
            <a:pPr marL="0" lvl="0" indent="0">
              <a:buNone/>
            </a:pPr>
            <a:r>
              <a:t>May 20, 2024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Introduction</a:t>
            </a:r>
          </a:p>
        </p:txBody>
      </p:sp>
      <p:sp>
        <p:nvSpPr>
          <p:cNvPr id="3" name="Content Placeholder 2"/>
          <p:cNvSpPr>
            <a:spLocks noGrp="1"/>
          </p:cNvSpPr>
          <p:nvPr>
            <p:ph idx="1"/>
          </p:nvPr>
        </p:nvSpPr>
        <p:spPr/>
        <p:txBody>
          <a:bodyPr>
            <a:normAutofit/>
          </a:bodyPr>
          <a:lstStyle/>
          <a:p>
            <a:pPr marL="0" lvl="0" indent="0">
              <a:buNone/>
            </a:pPr>
            <a:r>
              <a:rPr sz="2000" dirty="0"/>
              <a:t>The income source and income change variables have been used specifically since COVID-19 in WFP as a proxy indicator representing the economic vulnerability in current coping capacity of CARI. </a:t>
            </a:r>
            <a:endParaRPr lang="en-US" sz="2000" dirty="0"/>
          </a:p>
          <a:p>
            <a:pPr marL="0" lvl="0" indent="0">
              <a:buNone/>
            </a:pPr>
            <a:endParaRPr lang="en-US" sz="2000" dirty="0"/>
          </a:p>
          <a:p>
            <a:pPr marL="0" lvl="0" indent="0">
              <a:buNone/>
            </a:pPr>
            <a:r>
              <a:rPr sz="2000" dirty="0"/>
              <a:t>This </a:t>
            </a:r>
            <a:r>
              <a:rPr lang="en-US" sz="2000" dirty="0"/>
              <a:t>presentation</a:t>
            </a:r>
            <a:r>
              <a:rPr sz="2000" dirty="0"/>
              <a:t> explains the current way how the module has been implemented and examines the relationship between the income and other food security indicators using data collected in Myanmar, Ecuador and Central African Republic </a:t>
            </a:r>
            <a:r>
              <a:rPr lang="en-US" sz="2000" dirty="0"/>
              <a:t>(CAR)</a:t>
            </a:r>
            <a:r>
              <a:rPr sz="2000" dirty="0"/>
              <a:t>.</a:t>
            </a:r>
            <a:endParaRPr lang="en-US" sz="2000"/>
          </a:p>
          <a:p>
            <a:pPr marL="0" lvl="0" indent="0">
              <a:buNone/>
            </a:pP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9B89D-5416-48E5-81EA-436AE51F041C}"/>
              </a:ext>
            </a:extLst>
          </p:cNvPr>
          <p:cNvSpPr>
            <a:spLocks noGrp="1"/>
          </p:cNvSpPr>
          <p:nvPr>
            <p:ph type="title"/>
          </p:nvPr>
        </p:nvSpPr>
        <p:spPr>
          <a:xfrm>
            <a:off x="473697" y="214049"/>
            <a:ext cx="8257157" cy="966192"/>
          </a:xfrm>
        </p:spPr>
        <p:txBody>
          <a:bodyPr/>
          <a:lstStyle/>
          <a:p>
            <a:r>
              <a:rPr lang="en-US" altLang="zh-CN" dirty="0" err="1"/>
              <a:t>rCARI</a:t>
            </a:r>
            <a:r>
              <a:rPr lang="en-US" altLang="zh-CN" dirty="0"/>
              <a:t> Validation Study</a:t>
            </a:r>
            <a:endParaRPr lang="en-GB" dirty="0"/>
          </a:p>
        </p:txBody>
      </p:sp>
      <p:sp>
        <p:nvSpPr>
          <p:cNvPr id="6" name="Content Placeholder 2">
            <a:extLst>
              <a:ext uri="{FF2B5EF4-FFF2-40B4-BE49-F238E27FC236}">
                <a16:creationId xmlns:a16="http://schemas.microsoft.com/office/drawing/2014/main" id="{C77D6C2F-AC0C-CDE5-6C26-DEC4BD426D97}"/>
              </a:ext>
            </a:extLst>
          </p:cNvPr>
          <p:cNvSpPr>
            <a:spLocks noGrp="1"/>
          </p:cNvSpPr>
          <p:nvPr>
            <p:ph idx="1"/>
          </p:nvPr>
        </p:nvSpPr>
        <p:spPr>
          <a:xfrm>
            <a:off x="473697" y="1374045"/>
            <a:ext cx="3717036" cy="3112399"/>
          </a:xfrm>
          <a:ln w="19050">
            <a:noFill/>
          </a:ln>
        </p:spPr>
        <p:txBody>
          <a:bodyPr anchor="ctr"/>
          <a:lstStyle/>
          <a:p>
            <a:pPr marL="257175" lvl="1" indent="-257175">
              <a:lnSpc>
                <a:spcPct val="120000"/>
              </a:lnSpc>
              <a:spcBef>
                <a:spcPts val="750"/>
              </a:spcBef>
            </a:pPr>
            <a:r>
              <a:rPr lang="en-US" sz="18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CARI and </a:t>
            </a:r>
            <a:r>
              <a:rPr lang="en-US" sz="1800" dirty="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18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(remote CARI) aggregate indicators in a similar way and the only difference is in the </a:t>
            </a:r>
            <a:r>
              <a:rPr lang="en-US" sz="1800" b="1"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Economic Vulnerability</a:t>
            </a:r>
          </a:p>
          <a:p>
            <a:pPr marL="0" lvl="1" indent="0">
              <a:lnSpc>
                <a:spcPct val="120000"/>
              </a:lnSpc>
              <a:spcBef>
                <a:spcPts val="750"/>
              </a:spcBef>
              <a:buNone/>
            </a:pPr>
            <a:endParaRPr lang="en-US" sz="1800" b="1"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endParaRPr>
          </a:p>
          <a:p>
            <a:pPr marL="257175" lvl="1" indent="-257175">
              <a:lnSpc>
                <a:spcPct val="120000"/>
              </a:lnSpc>
              <a:spcBef>
                <a:spcPts val="750"/>
              </a:spcBef>
            </a:pPr>
            <a:r>
              <a:rPr lang="en-US" sz="18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To date, </a:t>
            </a:r>
            <a:r>
              <a:rPr lang="en-US" sz="1800" dirty="0" err="1">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rCARI</a:t>
            </a:r>
            <a:r>
              <a:rPr lang="en-US" sz="1800" dirty="0">
                <a:solidFill>
                  <a:schemeClr val="tx1">
                    <a:lumMod val="50000"/>
                  </a:schemeClr>
                </a:solidFill>
                <a:latin typeface="Open Sans" panose="020B0606030504020204" pitchFamily="34" charset="0"/>
                <a:ea typeface="Open Sans" panose="020B0606030504020204" pitchFamily="34" charset="0"/>
                <a:cs typeface="Times New Roman" panose="02020603050405020304" pitchFamily="18" charset="0"/>
              </a:rPr>
              <a:t> is not validated</a:t>
            </a:r>
          </a:p>
        </p:txBody>
      </p:sp>
      <p:pic>
        <p:nvPicPr>
          <p:cNvPr id="4" name="Picture 3">
            <a:extLst>
              <a:ext uri="{FF2B5EF4-FFF2-40B4-BE49-F238E27FC236}">
                <a16:creationId xmlns:a16="http://schemas.microsoft.com/office/drawing/2014/main" id="{C1497816-66DD-EF27-A2CF-5B2FFB89D6E1}"/>
              </a:ext>
            </a:extLst>
          </p:cNvPr>
          <p:cNvPicPr>
            <a:picLocks noChangeAspect="1"/>
          </p:cNvPicPr>
          <p:nvPr/>
        </p:nvPicPr>
        <p:blipFill>
          <a:blip r:embed="rId3"/>
          <a:stretch>
            <a:fillRect/>
          </a:stretch>
        </p:blipFill>
        <p:spPr>
          <a:xfrm>
            <a:off x="-17418" y="-272466"/>
            <a:ext cx="901985" cy="240530"/>
          </a:xfrm>
          <a:prstGeom prst="rect">
            <a:avLst/>
          </a:prstGeom>
        </p:spPr>
      </p:pic>
      <p:pic>
        <p:nvPicPr>
          <p:cNvPr id="8" name="Picture 7" descr="A picture containing text, screenshot, font, number&#10;&#10;Description automatically generated">
            <a:extLst>
              <a:ext uri="{FF2B5EF4-FFF2-40B4-BE49-F238E27FC236}">
                <a16:creationId xmlns:a16="http://schemas.microsoft.com/office/drawing/2014/main" id="{9F548F5E-1645-A988-92FC-24A524438847}"/>
              </a:ext>
            </a:extLst>
          </p:cNvPr>
          <p:cNvPicPr>
            <a:picLocks noChangeAspect="1"/>
          </p:cNvPicPr>
          <p:nvPr/>
        </p:nvPicPr>
        <p:blipFill>
          <a:blip r:embed="rId4"/>
          <a:stretch>
            <a:fillRect/>
          </a:stretch>
        </p:blipFill>
        <p:spPr>
          <a:xfrm>
            <a:off x="4345886" y="1294183"/>
            <a:ext cx="4757281" cy="3192261"/>
          </a:xfrm>
          <a:prstGeom prst="rect">
            <a:avLst/>
          </a:prstGeom>
        </p:spPr>
      </p:pic>
    </p:spTree>
    <p:extLst>
      <p:ext uri="{BB962C8B-B14F-4D97-AF65-F5344CB8AC3E}">
        <p14:creationId xmlns:p14="http://schemas.microsoft.com/office/powerpoint/2010/main" val="2986976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1531577690"/>
              </p:ext>
            </p:extLst>
          </p:nvPr>
        </p:nvGraphicFramePr>
        <p:xfrm>
          <a:off x="310087" y="171450"/>
          <a:ext cx="8523826" cy="4823460"/>
        </p:xfrm>
        <a:graphic>
          <a:graphicData uri="http://schemas.openxmlformats.org/drawingml/2006/table">
            <a:tbl>
              <a:tblPr firstRow="1" bandRow="1">
                <a:tableStyleId>{6E25E649-3F16-4E02-A733-19D2CDBF48F0}</a:tableStyleId>
              </a:tblPr>
              <a:tblGrid>
                <a:gridCol w="1099904">
                  <a:extLst>
                    <a:ext uri="{9D8B030D-6E8A-4147-A177-3AD203B41FA5}">
                      <a16:colId xmlns:a16="http://schemas.microsoft.com/office/drawing/2014/main" val="20000"/>
                    </a:ext>
                  </a:extLst>
                </a:gridCol>
                <a:gridCol w="3201779">
                  <a:extLst>
                    <a:ext uri="{9D8B030D-6E8A-4147-A177-3AD203B41FA5}">
                      <a16:colId xmlns:a16="http://schemas.microsoft.com/office/drawing/2014/main" val="20001"/>
                    </a:ext>
                  </a:extLst>
                </a:gridCol>
                <a:gridCol w="4222143">
                  <a:extLst>
                    <a:ext uri="{9D8B030D-6E8A-4147-A177-3AD203B41FA5}">
                      <a16:colId xmlns:a16="http://schemas.microsoft.com/office/drawing/2014/main" val="20002"/>
                    </a:ext>
                  </a:extLst>
                </a:gridCol>
              </a:tblGrid>
              <a:tr h="235572">
                <a:tc>
                  <a:txBody>
                    <a:bodyPr/>
                    <a:lstStyle/>
                    <a:p>
                      <a:pPr marL="0" lvl="0" indent="0" algn="ctr">
                        <a:buNone/>
                      </a:pPr>
                      <a:r>
                        <a:rPr sz="1200" dirty="0"/>
                        <a:t>Variable</a:t>
                      </a:r>
                    </a:p>
                  </a:txBody>
                  <a:tcPr>
                    <a:solidFill>
                      <a:srgbClr val="0070C0"/>
                    </a:solidFill>
                  </a:tcPr>
                </a:tc>
                <a:tc>
                  <a:txBody>
                    <a:bodyPr/>
                    <a:lstStyle/>
                    <a:p>
                      <a:pPr marL="0" lvl="0" indent="0" algn="ctr">
                        <a:buNone/>
                      </a:pPr>
                      <a:r>
                        <a:rPr sz="1200" dirty="0"/>
                        <a:t>Question</a:t>
                      </a:r>
                      <a:r>
                        <a:rPr lang="en-US" sz="1200" dirty="0"/>
                        <a:t>s in Income Module</a:t>
                      </a:r>
                      <a:endParaRPr sz="1200" dirty="0"/>
                    </a:p>
                  </a:txBody>
                  <a:tcPr>
                    <a:solidFill>
                      <a:srgbClr val="0070C0"/>
                    </a:solidFill>
                  </a:tcPr>
                </a:tc>
                <a:tc>
                  <a:txBody>
                    <a:bodyPr/>
                    <a:lstStyle/>
                    <a:p>
                      <a:pPr marL="0" lvl="0" indent="0" algn="ctr">
                        <a:buNone/>
                      </a:pPr>
                      <a:r>
                        <a:rPr sz="1200" dirty="0"/>
                        <a:t>Choice List</a:t>
                      </a:r>
                    </a:p>
                  </a:txBody>
                  <a:tcPr>
                    <a:solidFill>
                      <a:srgbClr val="0070C0"/>
                    </a:solidFill>
                  </a:tcPr>
                </a:tc>
                <a:extLst>
                  <a:ext uri="{0D108BD9-81ED-4DB2-BD59-A6C34878D82A}">
                    <a16:rowId xmlns:a16="http://schemas.microsoft.com/office/drawing/2014/main" val="10000"/>
                  </a:ext>
                </a:extLst>
              </a:tr>
              <a:tr h="235572">
                <a:tc>
                  <a:txBody>
                    <a:bodyPr/>
                    <a:lstStyle/>
                    <a:p>
                      <a:pPr marL="0" lvl="0" indent="0">
                        <a:buNone/>
                      </a:pPr>
                      <a:r>
                        <a:rPr sz="1050" dirty="0" err="1"/>
                        <a:t>HHHOccupation</a:t>
                      </a:r>
                      <a:endParaRPr sz="1050" dirty="0"/>
                    </a:p>
                  </a:txBody>
                  <a:tcPr>
                    <a:solidFill>
                      <a:schemeClr val="bg1"/>
                    </a:solidFill>
                  </a:tcPr>
                </a:tc>
                <a:tc>
                  <a:txBody>
                    <a:bodyPr/>
                    <a:lstStyle/>
                    <a:p>
                      <a:pPr marL="0" lvl="0" indent="0">
                        <a:buNone/>
                      </a:pPr>
                      <a:r>
                        <a:rPr sz="1050" dirty="0">
                          <a:highlight>
                            <a:srgbClr val="FFFF00"/>
                          </a:highlight>
                        </a:rPr>
                        <a:t>What is the occupation of the household head?</a:t>
                      </a:r>
                    </a:p>
                  </a:txBody>
                  <a:tcPr>
                    <a:solidFill>
                      <a:schemeClr val="bg1"/>
                    </a:solidFill>
                  </a:tcPr>
                </a:tc>
                <a:tc>
                  <a:txBody>
                    <a:bodyPr/>
                    <a:lstStyle/>
                    <a:p>
                      <a:pPr marL="0" lvl="0" indent="0">
                        <a:buNone/>
                      </a:pPr>
                      <a:r>
                        <a:rPr sz="1050" dirty="0"/>
                        <a:t>Open Ended</a:t>
                      </a:r>
                    </a:p>
                  </a:txBody>
                  <a:tcPr>
                    <a:solidFill>
                      <a:schemeClr val="bg1"/>
                    </a:solidFill>
                  </a:tcPr>
                </a:tc>
                <a:extLst>
                  <a:ext uri="{0D108BD9-81ED-4DB2-BD59-A6C34878D82A}">
                    <a16:rowId xmlns:a16="http://schemas.microsoft.com/office/drawing/2014/main" val="10001"/>
                  </a:ext>
                </a:extLst>
              </a:tr>
              <a:tr h="0">
                <a:tc>
                  <a:txBody>
                    <a:bodyPr/>
                    <a:lstStyle/>
                    <a:p>
                      <a:pPr marL="0" lvl="0" indent="0">
                        <a:buNone/>
                      </a:pPr>
                      <a:r>
                        <a:rPr sz="1050" dirty="0" err="1"/>
                        <a:t>HHInc_PCT</a:t>
                      </a:r>
                      <a:endParaRPr sz="1050" dirty="0"/>
                    </a:p>
                  </a:txBody>
                  <a:tcPr>
                    <a:solidFill>
                      <a:schemeClr val="bg1"/>
                    </a:solidFill>
                  </a:tcPr>
                </a:tc>
                <a:tc>
                  <a:txBody>
                    <a:bodyPr/>
                    <a:lstStyle/>
                    <a:p>
                      <a:pPr marL="0" lvl="0" indent="0">
                        <a:buNone/>
                      </a:pPr>
                      <a:r>
                        <a:rPr sz="1050" dirty="0"/>
                        <a:t>How many household members are contributing to the household income?</a:t>
                      </a:r>
                    </a:p>
                  </a:txBody>
                  <a:tcPr>
                    <a:solidFill>
                      <a:schemeClr val="bg1"/>
                    </a:solidFill>
                  </a:tcPr>
                </a:tc>
                <a:tc>
                  <a:txBody>
                    <a:bodyPr/>
                    <a:lstStyle/>
                    <a:p>
                      <a:pPr marL="0" lvl="0" indent="0">
                        <a:buNone/>
                      </a:pPr>
                      <a:r>
                        <a:rPr sz="1050" dirty="0"/>
                        <a:t>Number</a:t>
                      </a:r>
                    </a:p>
                  </a:txBody>
                  <a:tcPr>
                    <a:solidFill>
                      <a:schemeClr val="bg1"/>
                    </a:solidFill>
                  </a:tcPr>
                </a:tc>
                <a:extLst>
                  <a:ext uri="{0D108BD9-81ED-4DB2-BD59-A6C34878D82A}">
                    <a16:rowId xmlns:a16="http://schemas.microsoft.com/office/drawing/2014/main" val="10002"/>
                  </a:ext>
                </a:extLst>
              </a:tr>
              <a:tr h="171151">
                <a:tc>
                  <a:txBody>
                    <a:bodyPr/>
                    <a:lstStyle/>
                    <a:p>
                      <a:pPr marL="0" lvl="0" indent="0">
                        <a:buNone/>
                      </a:pPr>
                      <a:r>
                        <a:rPr sz="1050" dirty="0" err="1"/>
                        <a:t>HHIncNb</a:t>
                      </a:r>
                      <a:endParaRPr sz="1050" dirty="0"/>
                    </a:p>
                  </a:txBody>
                  <a:tcPr>
                    <a:solidFill>
                      <a:schemeClr val="bg1"/>
                    </a:solidFill>
                  </a:tcPr>
                </a:tc>
                <a:tc>
                  <a:txBody>
                    <a:bodyPr/>
                    <a:lstStyle/>
                    <a:p>
                      <a:pPr marL="0" lvl="0" indent="0">
                        <a:buNone/>
                      </a:pPr>
                      <a:r>
                        <a:rPr sz="1050" dirty="0"/>
                        <a:t>How many income sources does your household have?</a:t>
                      </a:r>
                    </a:p>
                  </a:txBody>
                  <a:tcPr>
                    <a:solidFill>
                      <a:schemeClr val="bg1"/>
                    </a:solidFill>
                  </a:tcPr>
                </a:tc>
                <a:tc>
                  <a:txBody>
                    <a:bodyPr/>
                    <a:lstStyle/>
                    <a:p>
                      <a:pPr marL="0" lvl="0" indent="0">
                        <a:buNone/>
                      </a:pPr>
                      <a:r>
                        <a:rPr sz="1050" dirty="0"/>
                        <a:t>Number</a:t>
                      </a:r>
                    </a:p>
                  </a:txBody>
                  <a:tcPr>
                    <a:solidFill>
                      <a:schemeClr val="bg1"/>
                    </a:solidFill>
                  </a:tcPr>
                </a:tc>
                <a:extLst>
                  <a:ext uri="{0D108BD9-81ED-4DB2-BD59-A6C34878D82A}">
                    <a16:rowId xmlns:a16="http://schemas.microsoft.com/office/drawing/2014/main" val="10003"/>
                  </a:ext>
                </a:extLst>
              </a:tr>
              <a:tr h="1434845">
                <a:tc>
                  <a:txBody>
                    <a:bodyPr/>
                    <a:lstStyle/>
                    <a:p>
                      <a:pPr marL="0" lvl="0" indent="0">
                        <a:buNone/>
                      </a:pPr>
                      <a:r>
                        <a:rPr sz="1050" dirty="0" err="1"/>
                        <a:t>HHIncFirst</a:t>
                      </a:r>
                      <a:endParaRPr sz="1050" dirty="0"/>
                    </a:p>
                  </a:txBody>
                  <a:tcPr>
                    <a:solidFill>
                      <a:schemeClr val="bg1"/>
                    </a:solidFill>
                  </a:tcPr>
                </a:tc>
                <a:tc>
                  <a:txBody>
                    <a:bodyPr/>
                    <a:lstStyle/>
                    <a:p>
                      <a:pPr marL="0" lvl="0" indent="0">
                        <a:buNone/>
                      </a:pPr>
                      <a:r>
                        <a:rPr sz="1050" dirty="0"/>
                        <a:t>Main source of income for the household.](Hint: This is the most stable income source for the household)Relevance: </a:t>
                      </a:r>
                      <a:r>
                        <a:rPr sz="1050" dirty="0" err="1"/>
                        <a:t>HHIncNb</a:t>
                      </a:r>
                      <a:r>
                        <a:rPr sz="1050" dirty="0"/>
                        <a:t> &gt; 0</a:t>
                      </a:r>
                    </a:p>
                  </a:txBody>
                  <a:tcPr>
                    <a:solidFill>
                      <a:schemeClr val="bg1"/>
                    </a:solidFill>
                  </a:tcPr>
                </a:tc>
                <a:tc>
                  <a:txBody>
                    <a:bodyPr/>
                    <a:lstStyle/>
                    <a:p>
                      <a:pPr marL="0" lvl="0" indent="0">
                        <a:buNone/>
                      </a:pPr>
                      <a:r>
                        <a:rPr sz="1050" dirty="0"/>
                        <a:t>1 Wage Labor </a:t>
                      </a:r>
                      <a:r>
                        <a:rPr lang="en-US" sz="1050" dirty="0"/>
                        <a:t>–</a:t>
                      </a:r>
                      <a:r>
                        <a:rPr sz="1050" dirty="0"/>
                        <a:t> Professional</a:t>
                      </a:r>
                      <a:endParaRPr lang="en-US" sz="1050" dirty="0"/>
                    </a:p>
                    <a:p>
                      <a:pPr marL="0" lvl="0" indent="0">
                        <a:buNone/>
                      </a:pPr>
                      <a:r>
                        <a:rPr sz="1050" dirty="0"/>
                        <a:t>2 Wage Labor </a:t>
                      </a:r>
                      <a:r>
                        <a:rPr lang="en-US" sz="1050" dirty="0"/>
                        <a:t>–</a:t>
                      </a:r>
                      <a:r>
                        <a:rPr sz="1050" dirty="0"/>
                        <a:t> Skilled</a:t>
                      </a:r>
                      <a:endParaRPr lang="en-US" sz="1050" dirty="0"/>
                    </a:p>
                    <a:p>
                      <a:pPr marL="0" lvl="0" indent="0">
                        <a:buNone/>
                      </a:pPr>
                      <a:r>
                        <a:rPr sz="1050" dirty="0"/>
                        <a:t>3 Wage Labor - Unskilled/Casual/Agriculture</a:t>
                      </a:r>
                      <a:endParaRPr lang="en-US" sz="1050" dirty="0"/>
                    </a:p>
                    <a:p>
                      <a:pPr marL="0" lvl="0" indent="0">
                        <a:buNone/>
                      </a:pPr>
                      <a:r>
                        <a:rPr sz="1050" dirty="0"/>
                        <a:t>4 Wage Labor - Unskilled/Casual/non-agriculture</a:t>
                      </a:r>
                      <a:endParaRPr lang="en-US" sz="1050" dirty="0"/>
                    </a:p>
                    <a:p>
                      <a:pPr marL="0" lvl="0" indent="0">
                        <a:buNone/>
                      </a:pPr>
                      <a:r>
                        <a:rPr sz="1050" dirty="0"/>
                        <a:t>5 Pension</a:t>
                      </a:r>
                      <a:endParaRPr lang="en-US" sz="1050" dirty="0"/>
                    </a:p>
                    <a:p>
                      <a:pPr marL="0" lvl="0" indent="0">
                        <a:buNone/>
                      </a:pPr>
                      <a:r>
                        <a:rPr sz="1050" dirty="0"/>
                        <a:t>6 Remittances</a:t>
                      </a:r>
                      <a:endParaRPr lang="en-US" sz="1050" dirty="0"/>
                    </a:p>
                    <a:p>
                      <a:pPr marL="0" lvl="0" indent="0">
                        <a:buNone/>
                      </a:pPr>
                      <a:r>
                        <a:rPr sz="1050" dirty="0"/>
                        <a:t>7 Aid/gifts</a:t>
                      </a:r>
                      <a:endParaRPr lang="en-US" sz="1050" dirty="0"/>
                    </a:p>
                    <a:p>
                      <a:pPr marL="0" lvl="0" indent="0">
                        <a:buNone/>
                      </a:pPr>
                      <a:r>
                        <a:rPr sz="1050" dirty="0"/>
                        <a:t>8 Borrowing money/Living off debt</a:t>
                      </a:r>
                      <a:endParaRPr lang="en-US" sz="1050" dirty="0"/>
                    </a:p>
                    <a:p>
                      <a:pPr marL="0" lvl="0" indent="0">
                        <a:buNone/>
                      </a:pPr>
                      <a:r>
                        <a:rPr sz="1050" dirty="0"/>
                        <a:t>9 High risk activity (e.g. begging, scavenging)</a:t>
                      </a:r>
                      <a:endParaRPr lang="en-US" sz="1050" dirty="0"/>
                    </a:p>
                    <a:p>
                      <a:pPr marL="0" lvl="0" indent="0">
                        <a:buNone/>
                      </a:pPr>
                      <a:r>
                        <a:rPr sz="1050" dirty="0"/>
                        <a:t>10 Saving/selling assets</a:t>
                      </a:r>
                      <a:endParaRPr lang="en-US" sz="1050" dirty="0"/>
                    </a:p>
                    <a:p>
                      <a:pPr marL="0" lvl="0" indent="0">
                        <a:buNone/>
                      </a:pPr>
                      <a:r>
                        <a:rPr sz="1050" dirty="0"/>
                        <a:t>11 Petty trade/selling on streets</a:t>
                      </a:r>
                      <a:endParaRPr lang="en-US" sz="1050" dirty="0"/>
                    </a:p>
                    <a:p>
                      <a:pPr marL="0" lvl="0" indent="0">
                        <a:buNone/>
                      </a:pPr>
                      <a:r>
                        <a:rPr sz="1050" dirty="0"/>
                        <a:t>12 Small trade (own business)</a:t>
                      </a:r>
                      <a:endParaRPr lang="en-US" sz="1050" dirty="0"/>
                    </a:p>
                    <a:p>
                      <a:pPr marL="0" lvl="0" indent="0">
                        <a:buNone/>
                      </a:pPr>
                      <a:r>
                        <a:rPr sz="1050" dirty="0"/>
                        <a:t>13 Medium/large trade (own business)</a:t>
                      </a:r>
                      <a:endParaRPr lang="en-US" sz="1050" dirty="0"/>
                    </a:p>
                    <a:p>
                      <a:pPr marL="0" lvl="0" indent="0">
                        <a:buNone/>
                      </a:pPr>
                      <a:r>
                        <a:rPr sz="1050" dirty="0"/>
                        <a:t>14 Small Agriculture production including livestock (own land/livestock)</a:t>
                      </a:r>
                      <a:endParaRPr lang="en-US" sz="1050" dirty="0"/>
                    </a:p>
                    <a:p>
                      <a:pPr marL="0" lvl="0" indent="0">
                        <a:buNone/>
                      </a:pPr>
                      <a:r>
                        <a:rPr sz="1050" dirty="0"/>
                        <a:t>15 Medium/large agriculture production including livestock (own land/livestock)</a:t>
                      </a:r>
                      <a:endParaRPr lang="en-US" sz="1050" dirty="0"/>
                    </a:p>
                    <a:p>
                      <a:pPr marL="0" lvl="0" indent="0">
                        <a:buNone/>
                      </a:pPr>
                      <a:r>
                        <a:rPr sz="1050" dirty="0"/>
                        <a:t>999 Other (specify)</a:t>
                      </a:r>
                    </a:p>
                  </a:txBody>
                  <a:tcPr>
                    <a:solidFill>
                      <a:schemeClr val="bg1"/>
                    </a:solidFill>
                  </a:tcPr>
                </a:tc>
                <a:extLst>
                  <a:ext uri="{0D108BD9-81ED-4DB2-BD59-A6C34878D82A}">
                    <a16:rowId xmlns:a16="http://schemas.microsoft.com/office/drawing/2014/main" val="10004"/>
                  </a:ext>
                </a:extLst>
              </a:tr>
              <a:tr h="235572">
                <a:tc>
                  <a:txBody>
                    <a:bodyPr/>
                    <a:lstStyle/>
                    <a:p>
                      <a:pPr marL="0" lvl="0" indent="0">
                        <a:buNone/>
                      </a:pPr>
                      <a:r>
                        <a:rPr sz="1050" dirty="0" err="1"/>
                        <a:t>HHIncFirst_Oth</a:t>
                      </a:r>
                      <a:endParaRPr sz="1050" dirty="0"/>
                    </a:p>
                  </a:txBody>
                  <a:tcPr>
                    <a:solidFill>
                      <a:schemeClr val="bg1"/>
                    </a:solidFill>
                  </a:tcPr>
                </a:tc>
                <a:tc>
                  <a:txBody>
                    <a:bodyPr/>
                    <a:lstStyle/>
                    <a:p>
                      <a:pPr marL="0" lvl="0" indent="0">
                        <a:buNone/>
                      </a:pPr>
                      <a:r>
                        <a:rPr sz="1050" dirty="0" err="1"/>
                        <a:t>SpecifyRelevance</a:t>
                      </a:r>
                      <a:r>
                        <a:rPr sz="1050" dirty="0"/>
                        <a:t>: </a:t>
                      </a:r>
                      <a:r>
                        <a:rPr sz="1050" dirty="0" err="1"/>
                        <a:t>HHIncFirst_SRi</a:t>
                      </a:r>
                      <a:r>
                        <a:rPr sz="1050" dirty="0"/>
                        <a:t> = ‘999’</a:t>
                      </a:r>
                    </a:p>
                  </a:txBody>
                  <a:tcPr>
                    <a:solidFill>
                      <a:schemeClr val="bg1"/>
                    </a:solidFill>
                  </a:tcPr>
                </a:tc>
                <a:tc>
                  <a:txBody>
                    <a:bodyPr/>
                    <a:lstStyle/>
                    <a:p>
                      <a:endParaRPr sz="1050" dirty="0"/>
                    </a:p>
                  </a:txBody>
                  <a:tcPr>
                    <a:solidFill>
                      <a:schemeClr val="bg1"/>
                    </a:solidFill>
                  </a:tcPr>
                </a:tc>
                <a:extLst>
                  <a:ext uri="{0D108BD9-81ED-4DB2-BD59-A6C34878D82A}">
                    <a16:rowId xmlns:a16="http://schemas.microsoft.com/office/drawing/2014/main" val="10005"/>
                  </a:ext>
                </a:extLst>
              </a:tr>
              <a:tr h="535390">
                <a:tc>
                  <a:txBody>
                    <a:bodyPr/>
                    <a:lstStyle/>
                    <a:p>
                      <a:pPr marL="0" lvl="0" indent="0">
                        <a:buNone/>
                      </a:pPr>
                      <a:r>
                        <a:rPr sz="1050" dirty="0" err="1"/>
                        <a:t>HHIncChg</a:t>
                      </a:r>
                      <a:endParaRPr sz="1050" dirty="0"/>
                    </a:p>
                  </a:txBody>
                  <a:tcPr>
                    <a:solidFill>
                      <a:schemeClr val="bg1"/>
                    </a:solidFill>
                  </a:tcPr>
                </a:tc>
                <a:tc>
                  <a:txBody>
                    <a:bodyPr/>
                    <a:lstStyle/>
                    <a:p>
                      <a:pPr marL="0" lvl="0" indent="0">
                        <a:buNone/>
                      </a:pPr>
                      <a:r>
                        <a:rPr lang="en-US" sz="1050" dirty="0"/>
                        <a:t>Was there a change in income over the last year?</a:t>
                      </a:r>
                      <a:r>
                        <a:rPr sz="1050" dirty="0"/>
                        <a:t> (Please do not take into account the currency devaluation.)</a:t>
                      </a:r>
                    </a:p>
                  </a:txBody>
                  <a:tcPr>
                    <a:solidFill>
                      <a:schemeClr val="bg1"/>
                    </a:solidFill>
                  </a:tcPr>
                </a:tc>
                <a:tc>
                  <a:txBody>
                    <a:bodyPr/>
                    <a:lstStyle/>
                    <a:p>
                      <a:pPr marL="0" lvl="0" indent="0">
                        <a:buNone/>
                      </a:pPr>
                      <a:r>
                        <a:rPr sz="1050" dirty="0"/>
                        <a:t>0 No change</a:t>
                      </a:r>
                      <a:r>
                        <a:rPr lang="en-US" sz="1050" dirty="0"/>
                        <a:t>                         </a:t>
                      </a:r>
                      <a:r>
                        <a:rPr sz="1050" dirty="0"/>
                        <a:t>1 Increased</a:t>
                      </a:r>
                      <a:r>
                        <a:rPr lang="en-US" sz="1050" dirty="0"/>
                        <a:t>                </a:t>
                      </a:r>
                      <a:r>
                        <a:rPr sz="1050" dirty="0"/>
                        <a:t>2 Reduced by less than 25%</a:t>
                      </a:r>
                      <a:endParaRPr lang="en-US" sz="1050" dirty="0"/>
                    </a:p>
                    <a:p>
                      <a:pPr marL="0" lvl="0" indent="0">
                        <a:buNone/>
                      </a:pPr>
                      <a:r>
                        <a:rPr sz="1050" dirty="0"/>
                        <a:t>3 Reduced by more than 25% and less than 50%</a:t>
                      </a:r>
                      <a:endParaRPr lang="en-US" sz="1050" dirty="0"/>
                    </a:p>
                    <a:p>
                      <a:pPr marL="0" lvl="0" indent="0">
                        <a:buNone/>
                      </a:pPr>
                      <a:r>
                        <a:rPr sz="1050" dirty="0"/>
                        <a:t>4 Reduced by more than 50%</a:t>
                      </a:r>
                    </a:p>
                  </a:txBody>
                  <a:tcPr>
                    <a:solidFill>
                      <a:schemeClr val="bg1"/>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9FF3-0E37-AD51-18F7-3D20C12981BD}"/>
              </a:ext>
            </a:extLst>
          </p:cNvPr>
          <p:cNvSpPr>
            <a:spLocks noGrp="1"/>
          </p:cNvSpPr>
          <p:nvPr>
            <p:ph type="title"/>
          </p:nvPr>
        </p:nvSpPr>
        <p:spPr>
          <a:xfrm>
            <a:off x="819150" y="397670"/>
            <a:ext cx="7906595" cy="682269"/>
          </a:xfrm>
        </p:spPr>
        <p:txBody>
          <a:bodyPr anchor="ctr">
            <a:normAutofit/>
          </a:bodyPr>
          <a:lstStyle/>
          <a:p>
            <a:r>
              <a:rPr lang="en-GB" dirty="0">
                <a:latin typeface="+mn-lt"/>
              </a:rPr>
              <a:t>Sample Completion</a:t>
            </a:r>
          </a:p>
        </p:txBody>
      </p:sp>
      <p:pic>
        <p:nvPicPr>
          <p:cNvPr id="4" name="Picture 3">
            <a:extLst>
              <a:ext uri="{FF2B5EF4-FFF2-40B4-BE49-F238E27FC236}">
                <a16:creationId xmlns:a16="http://schemas.microsoft.com/office/drawing/2014/main" id="{7043CEEA-DFD5-78AB-FD60-97153E800CDC}"/>
              </a:ext>
            </a:extLst>
          </p:cNvPr>
          <p:cNvPicPr>
            <a:picLocks noChangeAspect="1"/>
          </p:cNvPicPr>
          <p:nvPr/>
        </p:nvPicPr>
        <p:blipFill>
          <a:blip r:embed="rId3"/>
          <a:stretch>
            <a:fillRect/>
          </a:stretch>
        </p:blipFill>
        <p:spPr>
          <a:xfrm>
            <a:off x="-17418" y="-272466"/>
            <a:ext cx="901985" cy="240530"/>
          </a:xfrm>
          <a:prstGeom prst="rect">
            <a:avLst/>
          </a:prstGeom>
        </p:spPr>
      </p:pic>
      <p:graphicFrame>
        <p:nvGraphicFramePr>
          <p:cNvPr id="11" name="Content Placeholder 10">
            <a:extLst>
              <a:ext uri="{FF2B5EF4-FFF2-40B4-BE49-F238E27FC236}">
                <a16:creationId xmlns:a16="http://schemas.microsoft.com/office/drawing/2014/main" id="{AB895958-F1DD-9FAC-D58D-B6234CC9C4DB}"/>
              </a:ext>
            </a:extLst>
          </p:cNvPr>
          <p:cNvGraphicFramePr>
            <a:graphicFrameLocks noGrp="1"/>
          </p:cNvGraphicFramePr>
          <p:nvPr>
            <p:ph idx="1"/>
            <p:extLst>
              <p:ext uri="{D42A27DB-BD31-4B8C-83A1-F6EECF244321}">
                <p14:modId xmlns:p14="http://schemas.microsoft.com/office/powerpoint/2010/main" val="1541604096"/>
              </p:ext>
            </p:extLst>
          </p:nvPr>
        </p:nvGraphicFramePr>
        <p:xfrm>
          <a:off x="819149" y="1213701"/>
          <a:ext cx="7906597" cy="3056157"/>
        </p:xfrm>
        <a:graphic>
          <a:graphicData uri="http://schemas.openxmlformats.org/drawingml/2006/table">
            <a:tbl>
              <a:tblPr firstRow="1" firstCol="1" bandRow="1">
                <a:tableStyleId>{616DA210-FB5B-4158-B5E0-FEB733F419BA}</a:tableStyleId>
              </a:tblPr>
              <a:tblGrid>
                <a:gridCol w="2676077">
                  <a:extLst>
                    <a:ext uri="{9D8B030D-6E8A-4147-A177-3AD203B41FA5}">
                      <a16:colId xmlns:a16="http://schemas.microsoft.com/office/drawing/2014/main" val="438933011"/>
                    </a:ext>
                  </a:extLst>
                </a:gridCol>
                <a:gridCol w="1307630">
                  <a:extLst>
                    <a:ext uri="{9D8B030D-6E8A-4147-A177-3AD203B41FA5}">
                      <a16:colId xmlns:a16="http://schemas.microsoft.com/office/drawing/2014/main" val="1685720268"/>
                    </a:ext>
                  </a:extLst>
                </a:gridCol>
                <a:gridCol w="1307630">
                  <a:extLst>
                    <a:ext uri="{9D8B030D-6E8A-4147-A177-3AD203B41FA5}">
                      <a16:colId xmlns:a16="http://schemas.microsoft.com/office/drawing/2014/main" val="2438233364"/>
                    </a:ext>
                  </a:extLst>
                </a:gridCol>
                <a:gridCol w="1307630">
                  <a:extLst>
                    <a:ext uri="{9D8B030D-6E8A-4147-A177-3AD203B41FA5}">
                      <a16:colId xmlns:a16="http://schemas.microsoft.com/office/drawing/2014/main" val="424258167"/>
                    </a:ext>
                  </a:extLst>
                </a:gridCol>
                <a:gridCol w="1307630">
                  <a:extLst>
                    <a:ext uri="{9D8B030D-6E8A-4147-A177-3AD203B41FA5}">
                      <a16:colId xmlns:a16="http://schemas.microsoft.com/office/drawing/2014/main" val="2345839991"/>
                    </a:ext>
                  </a:extLst>
                </a:gridCol>
              </a:tblGrid>
              <a:tr h="374321">
                <a:tc>
                  <a:txBody>
                    <a:bodyPr/>
                    <a:lstStyle/>
                    <a:p>
                      <a:pPr marL="0" marR="0" algn="ctr">
                        <a:lnSpc>
                          <a:spcPct val="115000"/>
                        </a:lnSpc>
                        <a:spcBef>
                          <a:spcPts val="0"/>
                        </a:spcBef>
                        <a:spcAft>
                          <a:spcPts val="0"/>
                        </a:spcAft>
                      </a:pPr>
                      <a:r>
                        <a:rPr lang="en-US" sz="1000" dirty="0">
                          <a:effectLst/>
                          <a:latin typeface="+mn-lt"/>
                          <a:ea typeface="Open Sans" pitchFamily="2" charset="0"/>
                          <a:cs typeface="Open Sans" pitchFamily="2" charset="0"/>
                        </a:rPr>
                        <a:t> </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25400" cmpd="sng">
                      <a:noFill/>
                    </a:lnB>
                    <a:lnTlToBr w="12700" cmpd="sng">
                      <a:noFill/>
                      <a:prstDash val="solid"/>
                    </a:lnTlToBr>
                    <a:lnBlToTr w="12700" cmpd="sng">
                      <a:noFill/>
                      <a:prstDash val="solid"/>
                    </a:lnBlToTr>
                  </a:tcPr>
                </a:tc>
                <a:tc gridSpan="4">
                  <a:txBody>
                    <a:bodyPr/>
                    <a:lstStyle/>
                    <a:p>
                      <a:pPr marL="0" marR="0" algn="ctr">
                        <a:lnSpc>
                          <a:spcPct val="115000"/>
                        </a:lnSpc>
                        <a:spcBef>
                          <a:spcPts val="0"/>
                        </a:spcBef>
                        <a:spcAft>
                          <a:spcPts val="0"/>
                        </a:spcAft>
                      </a:pPr>
                      <a:r>
                        <a:rPr lang="en-US" sz="1800" b="1" kern="1200" dirty="0">
                          <a:solidFill>
                            <a:schemeClr val="tx1">
                              <a:lumMod val="50000"/>
                            </a:schemeClr>
                          </a:solidFill>
                          <a:effectLst/>
                          <a:latin typeface="+mn-lt"/>
                          <a:ea typeface="Open Sans" pitchFamily="2" charset="0"/>
                          <a:cs typeface="Open Sans" pitchFamily="2" charset="0"/>
                        </a:rPr>
                        <a:t>Country</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solidFill>
                      <a:srgbClr val="FFFFFE"/>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45601818"/>
                  </a:ext>
                </a:extLst>
              </a:tr>
              <a:tr h="374321">
                <a:tc>
                  <a:txBody>
                    <a:bodyPr/>
                    <a:lstStyle/>
                    <a:p>
                      <a:pPr marL="0" marR="0" algn="ctr">
                        <a:lnSpc>
                          <a:spcPct val="115000"/>
                        </a:lnSpc>
                        <a:spcBef>
                          <a:spcPts val="0"/>
                        </a:spcBef>
                        <a:spcAft>
                          <a:spcPts val="0"/>
                        </a:spcAft>
                      </a:pPr>
                      <a:r>
                        <a:rPr lang="en-US" sz="1400" dirty="0">
                          <a:solidFill>
                            <a:srgbClr val="002060"/>
                          </a:solidFill>
                          <a:effectLst/>
                          <a:latin typeface="+mn-lt"/>
                          <a:ea typeface="Open Sans" pitchFamily="2" charset="0"/>
                          <a:cs typeface="Open Sans" pitchFamily="2" charset="0"/>
                        </a:rPr>
                        <a:t> </a:t>
                      </a:r>
                    </a:p>
                  </a:txBody>
                  <a:tcPr marL="51435" marR="51435" marT="0" marB="0" anchor="ctr">
                    <a:lnL w="12700" cmpd="sng">
                      <a:noFill/>
                    </a:lnL>
                    <a:lnR w="12700" cmpd="sng">
                      <a:noFill/>
                    </a:lnR>
                    <a:lnT w="254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Myanmar</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Ecuador</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CAR</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Total</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1672722"/>
                  </a:ext>
                </a:extLst>
              </a:tr>
              <a:tr h="374321">
                <a:tc>
                  <a:txBody>
                    <a:bodyPr/>
                    <a:lstStyle/>
                    <a:p>
                      <a:pPr marL="0" marR="0" algn="l">
                        <a:lnSpc>
                          <a:spcPct val="115000"/>
                        </a:lnSpc>
                        <a:spcBef>
                          <a:spcPts val="0"/>
                        </a:spcBef>
                        <a:spcAft>
                          <a:spcPts val="0"/>
                        </a:spcAft>
                      </a:pPr>
                      <a:r>
                        <a:rPr lang="en-US" sz="1400" b="1" dirty="0">
                          <a:solidFill>
                            <a:srgbClr val="002060"/>
                          </a:solidFill>
                          <a:effectLst/>
                          <a:latin typeface="+mn-lt"/>
                          <a:ea typeface="Open Sans" pitchFamily="2" charset="0"/>
                          <a:cs typeface="Open Sans" pitchFamily="2" charset="0"/>
                        </a:rPr>
                        <a:t>N</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1,665 (27.2%)</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2,372 (38.8%)</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2,080 (34.0%)</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6,117 (100.0%)</a:t>
                      </a:r>
                    </a:p>
                  </a:txBody>
                  <a:tcPr marL="51435" marR="51435" marT="0" marB="0" anchor="ctr">
                    <a:lnL w="12700" cmpd="sng">
                      <a:noFill/>
                    </a:lnL>
                    <a:lnR w="12700" cmpd="sng">
                      <a:noFill/>
                    </a:lnR>
                    <a:lnT w="19050" cap="flat" cmpd="sng" algn="ctr">
                      <a:solidFill>
                        <a:schemeClr val="accent1">
                          <a:lumMod val="50000"/>
                        </a:schemeClr>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28526945"/>
                  </a:ext>
                </a:extLst>
              </a:tr>
              <a:tr h="322199">
                <a:tc gridSpan="5">
                  <a:txBody>
                    <a:bodyPr/>
                    <a:lstStyle/>
                    <a:p>
                      <a:pPr marL="0" marR="0" algn="l">
                        <a:lnSpc>
                          <a:spcPct val="115000"/>
                        </a:lnSpc>
                        <a:spcBef>
                          <a:spcPts val="0"/>
                        </a:spcBef>
                        <a:spcAft>
                          <a:spcPts val="0"/>
                        </a:spcAft>
                      </a:pPr>
                      <a:r>
                        <a:rPr lang="en-US" sz="1400" dirty="0">
                          <a:solidFill>
                            <a:srgbClr val="002060"/>
                          </a:solidFill>
                          <a:effectLst/>
                          <a:latin typeface="+mn-lt"/>
                          <a:ea typeface="Open Sans" pitchFamily="2" charset="0"/>
                          <a:cs typeface="Open Sans" pitchFamily="2" charset="0"/>
                        </a:rPr>
                        <a:t>Survey Progress</a:t>
                      </a:r>
                      <a:r>
                        <a:rPr lang="en-US" sz="1200" dirty="0">
                          <a:solidFill>
                            <a:srgbClr val="002060"/>
                          </a:solidFill>
                          <a:effectLst/>
                          <a:latin typeface="+mn-lt"/>
                          <a:ea typeface="Open Sans" pitchFamily="2" charset="0"/>
                          <a:cs typeface="Open Sans" pitchFamily="2" charset="0"/>
                        </a:rPr>
                        <a:t> </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tc hMerge="1">
                  <a:txBody>
                    <a:bodyPr/>
                    <a:lstStyle/>
                    <a:p>
                      <a:pPr marL="0" marR="0" algn="ctr">
                        <a:lnSpc>
                          <a:spcPct val="115000"/>
                        </a:lnSpc>
                        <a:spcBef>
                          <a:spcPts val="0"/>
                        </a:spcBef>
                        <a:spcAft>
                          <a:spcPts val="0"/>
                        </a:spcAft>
                      </a:pPr>
                      <a:r>
                        <a:rPr lang="en-US" sz="1400">
                          <a:effectLst/>
                          <a:latin typeface="Open Sans" pitchFamily="2" charset="0"/>
                          <a:ea typeface="Open Sans" pitchFamily="2" charset="0"/>
                          <a:cs typeface="Open Sans" pitchFamily="2" charset="0"/>
                        </a:rPr>
                        <a:t> </a:t>
                      </a:r>
                    </a:p>
                  </a:txBody>
                  <a:tcPr marL="68580" marR="68580" marT="0" marB="0" anchor="ctr"/>
                </a:tc>
                <a:extLst>
                  <a:ext uri="{0D108BD9-81ED-4DB2-BD59-A6C34878D82A}">
                    <a16:rowId xmlns:a16="http://schemas.microsoft.com/office/drawing/2014/main" val="3775654628"/>
                  </a:ext>
                </a:extLst>
              </a:tr>
              <a:tr h="322199">
                <a:tc>
                  <a:txBody>
                    <a:bodyPr/>
                    <a:lstStyle/>
                    <a:p>
                      <a:pPr marL="0" marR="0" algn="l">
                        <a:lnSpc>
                          <a:spcPct val="115000"/>
                        </a:lnSpc>
                        <a:spcBef>
                          <a:spcPts val="0"/>
                        </a:spcBef>
                        <a:spcAft>
                          <a:spcPts val="0"/>
                        </a:spcAft>
                      </a:pPr>
                      <a:r>
                        <a:rPr lang="en-US" sz="1400">
                          <a:solidFill>
                            <a:srgbClr val="002060"/>
                          </a:solidFill>
                          <a:effectLst/>
                          <a:latin typeface="+mn-lt"/>
                          <a:ea typeface="Open Sans" pitchFamily="2" charset="0"/>
                          <a:cs typeface="Open Sans" pitchFamily="2" charset="0"/>
                        </a:rPr>
                        <a:t>  Not Completed</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a:solidFill>
                            <a:srgbClr val="002060"/>
                          </a:solidFill>
                          <a:effectLst/>
                          <a:latin typeface="+mn-lt"/>
                          <a:ea typeface="Open Sans" pitchFamily="2" charset="0"/>
                          <a:cs typeface="Open Sans" pitchFamily="2" charset="0"/>
                        </a:rPr>
                        <a:t>572 (34.4%)</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a:solidFill>
                            <a:srgbClr val="002060"/>
                          </a:solidFill>
                          <a:effectLst/>
                          <a:latin typeface="+mn-lt"/>
                          <a:ea typeface="Open Sans" pitchFamily="2" charset="0"/>
                          <a:cs typeface="Open Sans" pitchFamily="2" charset="0"/>
                        </a:rPr>
                        <a:t>956 (40.3%)</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a:solidFill>
                            <a:srgbClr val="002060"/>
                          </a:solidFill>
                          <a:effectLst/>
                          <a:latin typeface="+mn-lt"/>
                          <a:ea typeface="Open Sans" pitchFamily="2" charset="0"/>
                          <a:cs typeface="Open Sans" pitchFamily="2" charset="0"/>
                        </a:rPr>
                        <a:t>835 (40.1%)</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dirty="0">
                          <a:solidFill>
                            <a:srgbClr val="002060"/>
                          </a:solidFill>
                          <a:effectLst/>
                          <a:latin typeface="+mn-lt"/>
                          <a:ea typeface="Open Sans" pitchFamily="2" charset="0"/>
                          <a:cs typeface="Open Sans" pitchFamily="2" charset="0"/>
                        </a:rPr>
                        <a:t>2,363 (38.6%)</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041135992"/>
                  </a:ext>
                </a:extLst>
              </a:tr>
              <a:tr h="322199">
                <a:tc>
                  <a:txBody>
                    <a:bodyPr/>
                    <a:lstStyle/>
                    <a:p>
                      <a:pPr marL="0" marR="0" algn="l">
                        <a:lnSpc>
                          <a:spcPct val="115000"/>
                        </a:lnSpc>
                        <a:spcBef>
                          <a:spcPts val="0"/>
                        </a:spcBef>
                        <a:spcAft>
                          <a:spcPts val="0"/>
                        </a:spcAft>
                      </a:pPr>
                      <a:r>
                        <a:rPr lang="en-US" sz="1400">
                          <a:solidFill>
                            <a:srgbClr val="002060"/>
                          </a:solidFill>
                          <a:effectLst/>
                          <a:latin typeface="+mn-lt"/>
                          <a:ea typeface="Open Sans" pitchFamily="2" charset="0"/>
                          <a:cs typeface="Open Sans" pitchFamily="2" charset="0"/>
                        </a:rPr>
                        <a:t>  Completed</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1,093 (65.6%)</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1,416 (59.7%)</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1,245 (59.9%)</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3,754 (61.4%)</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77399857"/>
                  </a:ext>
                </a:extLst>
              </a:tr>
              <a:tr h="322199">
                <a:tc gridSpan="5">
                  <a:txBody>
                    <a:bodyPr/>
                    <a:lstStyle/>
                    <a:p>
                      <a:pPr marL="0" marR="0" algn="l">
                        <a:lnSpc>
                          <a:spcPct val="115000"/>
                        </a:lnSpc>
                        <a:spcBef>
                          <a:spcPts val="0"/>
                        </a:spcBef>
                        <a:spcAft>
                          <a:spcPts val="0"/>
                        </a:spcAft>
                      </a:pPr>
                      <a:r>
                        <a:rPr lang="en-US" sz="1400" b="1" kern="1200" dirty="0">
                          <a:solidFill>
                            <a:srgbClr val="002060"/>
                          </a:solidFill>
                          <a:effectLst/>
                          <a:latin typeface="+mn-lt"/>
                          <a:ea typeface="Open Sans" pitchFamily="2" charset="0"/>
                          <a:cs typeface="Open Sans" pitchFamily="2" charset="0"/>
                        </a:rPr>
                        <a:t>Survey Modality</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tc hMerge="1">
                  <a:txBody>
                    <a:bodyPr/>
                    <a:lstStyle/>
                    <a:p>
                      <a:pPr marL="0" marR="0" algn="ctr">
                        <a:lnSpc>
                          <a:spcPct val="115000"/>
                        </a:lnSpc>
                        <a:spcBef>
                          <a:spcPts val="0"/>
                        </a:spcBef>
                        <a:spcAft>
                          <a:spcPts val="0"/>
                        </a:spcAft>
                      </a:pPr>
                      <a:r>
                        <a:rPr lang="en-US" sz="1600" b="1" kern="1200">
                          <a:solidFill>
                            <a:schemeClr val="tx1"/>
                          </a:solidFill>
                          <a:effectLst/>
                          <a:latin typeface="Open Sans" pitchFamily="2" charset="0"/>
                          <a:ea typeface="Open Sans" pitchFamily="2" charset="0"/>
                          <a:cs typeface="Open Sans" pitchFamily="2" charset="0"/>
                        </a:rPr>
                        <a:t> </a:t>
                      </a:r>
                    </a:p>
                  </a:txBody>
                  <a:tcPr marL="68580" marR="68580" marT="0" marB="0" anchor="ctr">
                    <a:solidFill>
                      <a:srgbClr val="D4E6F2"/>
                    </a:solidFill>
                  </a:tcPr>
                </a:tc>
                <a:extLst>
                  <a:ext uri="{0D108BD9-81ED-4DB2-BD59-A6C34878D82A}">
                    <a16:rowId xmlns:a16="http://schemas.microsoft.com/office/drawing/2014/main" val="600601668"/>
                  </a:ext>
                </a:extLst>
              </a:tr>
              <a:tr h="322199">
                <a:tc>
                  <a:txBody>
                    <a:bodyPr/>
                    <a:lstStyle/>
                    <a:p>
                      <a:pPr marL="0" marR="0" algn="l">
                        <a:lnSpc>
                          <a:spcPct val="115000"/>
                        </a:lnSpc>
                        <a:spcBef>
                          <a:spcPts val="0"/>
                        </a:spcBef>
                        <a:spcAft>
                          <a:spcPts val="0"/>
                        </a:spcAft>
                      </a:pPr>
                      <a:r>
                        <a:rPr lang="en-US" sz="1400" dirty="0">
                          <a:solidFill>
                            <a:srgbClr val="002060"/>
                          </a:solidFill>
                          <a:effectLst/>
                          <a:latin typeface="+mn-lt"/>
                          <a:ea typeface="Open Sans" pitchFamily="2" charset="0"/>
                          <a:cs typeface="Open Sans" pitchFamily="2" charset="0"/>
                        </a:rPr>
                        <a:t>  Face-to-Face</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610 (55.8%)</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760 (53.7%)</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969 (77.8%)</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2,339 (62.3%)</a:t>
                      </a:r>
                    </a:p>
                  </a:txBody>
                  <a:tcPr marL="51435" marR="51435"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9452903"/>
                  </a:ext>
                </a:extLst>
              </a:tr>
              <a:tr h="322199">
                <a:tc>
                  <a:txBody>
                    <a:bodyPr/>
                    <a:lstStyle/>
                    <a:p>
                      <a:pPr marL="0" marR="0" algn="l">
                        <a:lnSpc>
                          <a:spcPct val="115000"/>
                        </a:lnSpc>
                        <a:spcBef>
                          <a:spcPts val="0"/>
                        </a:spcBef>
                        <a:spcAft>
                          <a:spcPts val="0"/>
                        </a:spcAft>
                      </a:pPr>
                      <a:r>
                        <a:rPr lang="en-US" sz="1400">
                          <a:solidFill>
                            <a:srgbClr val="002060"/>
                          </a:solidFill>
                          <a:effectLst/>
                          <a:latin typeface="+mn-lt"/>
                          <a:ea typeface="Open Sans" pitchFamily="2" charset="0"/>
                          <a:cs typeface="Open Sans" pitchFamily="2" charset="0"/>
                        </a:rPr>
                        <a:t>  Remote</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483 (44.2%)</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656 (46.3%)</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a:solidFill>
                            <a:srgbClr val="002060"/>
                          </a:solidFill>
                          <a:effectLst/>
                          <a:latin typeface="+mn-lt"/>
                          <a:ea typeface="Open Sans" pitchFamily="2" charset="0"/>
                          <a:cs typeface="Open Sans" pitchFamily="2" charset="0"/>
                        </a:rPr>
                        <a:t>276 (22.2%)</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lnSpc>
                          <a:spcPct val="115000"/>
                        </a:lnSpc>
                        <a:spcBef>
                          <a:spcPts val="0"/>
                        </a:spcBef>
                        <a:spcAft>
                          <a:spcPts val="0"/>
                        </a:spcAft>
                      </a:pPr>
                      <a:r>
                        <a:rPr lang="en-US" sz="1200" b="1" dirty="0">
                          <a:solidFill>
                            <a:srgbClr val="002060"/>
                          </a:solidFill>
                          <a:effectLst/>
                          <a:latin typeface="+mn-lt"/>
                          <a:ea typeface="Open Sans" pitchFamily="2" charset="0"/>
                          <a:cs typeface="Open Sans" pitchFamily="2" charset="0"/>
                        </a:rPr>
                        <a:t>1,415 (37.7%)</a:t>
                      </a:r>
                    </a:p>
                  </a:txBody>
                  <a:tcPr marL="51435" marR="51435" marT="0" marB="0" anchor="ctr">
                    <a:lnL w="12700" cmpd="sng">
                      <a:noFill/>
                    </a:lnL>
                    <a:lnR w="12700" cmpd="sng">
                      <a:noFill/>
                    </a:lnR>
                    <a:lnT w="12700" cmpd="sng">
                      <a:noFill/>
                    </a:lnT>
                    <a:lnB w="19050" cap="flat" cmpd="sng" algn="ctr">
                      <a:solidFill>
                        <a:schemeClr val="accent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60713245"/>
                  </a:ext>
                </a:extLst>
              </a:tr>
            </a:tbl>
          </a:graphicData>
        </a:graphic>
      </p:graphicFrame>
      <p:sp>
        <p:nvSpPr>
          <p:cNvPr id="12" name="TextBox 11">
            <a:extLst>
              <a:ext uri="{FF2B5EF4-FFF2-40B4-BE49-F238E27FC236}">
                <a16:creationId xmlns:a16="http://schemas.microsoft.com/office/drawing/2014/main" id="{78F8510D-4F5B-1C05-9E49-E3797DA58C4A}"/>
              </a:ext>
            </a:extLst>
          </p:cNvPr>
          <p:cNvSpPr txBox="1"/>
          <p:nvPr/>
        </p:nvSpPr>
        <p:spPr>
          <a:xfrm>
            <a:off x="819149" y="4294361"/>
            <a:ext cx="7911704" cy="266483"/>
          </a:xfrm>
          <a:prstGeom prst="rect">
            <a:avLst/>
          </a:prstGeom>
          <a:noFill/>
        </p:spPr>
        <p:txBody>
          <a:bodyPr wrap="square">
            <a:spAutoFit/>
          </a:bodyPr>
          <a:lstStyle/>
          <a:p>
            <a:pPr algn="just">
              <a:lnSpc>
                <a:spcPct val="115000"/>
              </a:lnSpc>
            </a:pPr>
            <a:r>
              <a:rPr lang="en-GB" sz="1050" b="1" dirty="0">
                <a:solidFill>
                  <a:schemeClr val="tx1">
                    <a:lumMod val="50000"/>
                  </a:schemeClr>
                </a:solidFill>
                <a:ea typeface="Open Sans" pitchFamily="2" charset="0"/>
                <a:cs typeface="Open Sans" pitchFamily="2" charset="0"/>
              </a:rPr>
              <a:t>Source:</a:t>
            </a:r>
            <a:r>
              <a:rPr lang="en-GB" sz="1050" dirty="0">
                <a:solidFill>
                  <a:schemeClr val="tx1">
                    <a:lumMod val="50000"/>
                  </a:schemeClr>
                </a:solidFill>
                <a:ea typeface="Open Sans" pitchFamily="2" charset="0"/>
                <a:cs typeface="Open Sans" pitchFamily="2" charset="0"/>
              </a:rPr>
              <a:t> </a:t>
            </a:r>
            <a:r>
              <a:rPr lang="en-GB" sz="1050" dirty="0" err="1">
                <a:solidFill>
                  <a:schemeClr val="tx1">
                    <a:lumMod val="50000"/>
                  </a:schemeClr>
                </a:solidFill>
                <a:ea typeface="Open Sans" pitchFamily="2" charset="0"/>
                <a:cs typeface="Open Sans" pitchFamily="2" charset="0"/>
              </a:rPr>
              <a:t>rCARI</a:t>
            </a:r>
            <a:r>
              <a:rPr lang="en-GB" sz="1050" dirty="0">
                <a:solidFill>
                  <a:schemeClr val="tx1">
                    <a:lumMod val="50000"/>
                  </a:schemeClr>
                </a:solidFill>
                <a:ea typeface="Open Sans" pitchFamily="2" charset="0"/>
                <a:cs typeface="Open Sans" pitchFamily="2" charset="0"/>
              </a:rPr>
              <a:t> survey 2023; </a:t>
            </a:r>
            <a:r>
              <a:rPr lang="en-US" sz="1050" dirty="0">
                <a:ea typeface="Open Sans" pitchFamily="2" charset="0"/>
                <a:cs typeface="Open Sans" pitchFamily="2" charset="0"/>
              </a:rPr>
              <a:t>For CAR, the current analysis is limited to phone owners only. </a:t>
            </a:r>
          </a:p>
        </p:txBody>
      </p:sp>
      <p:sp>
        <p:nvSpPr>
          <p:cNvPr id="3" name="Rectangle: Rounded Corners 2">
            <a:extLst>
              <a:ext uri="{FF2B5EF4-FFF2-40B4-BE49-F238E27FC236}">
                <a16:creationId xmlns:a16="http://schemas.microsoft.com/office/drawing/2014/main" id="{2173EE80-3268-1024-AC8B-35C535701CBA}"/>
              </a:ext>
            </a:extLst>
          </p:cNvPr>
          <p:cNvSpPr/>
          <p:nvPr/>
        </p:nvSpPr>
        <p:spPr>
          <a:xfrm>
            <a:off x="810836" y="2958003"/>
            <a:ext cx="7911703" cy="350354"/>
          </a:xfrm>
          <a:prstGeom prst="round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Tree>
    <p:extLst>
      <p:ext uri="{BB962C8B-B14F-4D97-AF65-F5344CB8AC3E}">
        <p14:creationId xmlns:p14="http://schemas.microsoft.com/office/powerpoint/2010/main" val="1237851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1654"/>
            <a:ext cx="8229600" cy="459183"/>
          </a:xfrm>
        </p:spPr>
        <p:txBody>
          <a:bodyPr>
            <a:normAutofit/>
          </a:bodyPr>
          <a:lstStyle/>
          <a:p>
            <a:pPr marL="0" lvl="0" indent="0">
              <a:spcBef>
                <a:spcPts val="3000"/>
              </a:spcBef>
              <a:buNone/>
            </a:pPr>
            <a:r>
              <a:rPr b="1" dirty="0"/>
              <a:t>Overall Distribution by Country</a:t>
            </a:r>
            <a:endParaRPr lang="en-US" b="1" dirty="0"/>
          </a:p>
        </p:txBody>
      </p:sp>
      <p:sp>
        <p:nvSpPr>
          <p:cNvPr id="5" name="TextBox 4">
            <a:extLst>
              <a:ext uri="{FF2B5EF4-FFF2-40B4-BE49-F238E27FC236}">
                <a16:creationId xmlns:a16="http://schemas.microsoft.com/office/drawing/2014/main" id="{C104845A-F50A-6FA6-0AC1-C75E37B0E9AC}"/>
              </a:ext>
            </a:extLst>
          </p:cNvPr>
          <p:cNvSpPr txBox="1"/>
          <p:nvPr/>
        </p:nvSpPr>
        <p:spPr>
          <a:xfrm>
            <a:off x="281634" y="4575572"/>
            <a:ext cx="8701432" cy="400110"/>
          </a:xfrm>
          <a:prstGeom prst="rect">
            <a:avLst/>
          </a:prstGeom>
          <a:noFill/>
        </p:spPr>
        <p:txBody>
          <a:bodyPr wrap="square">
            <a:spAutoFit/>
          </a:bodyPr>
          <a:lstStyle/>
          <a:p>
            <a:pPr marL="0" lvl="0" indent="0">
              <a:buNone/>
            </a:pPr>
            <a:r>
              <a:rPr lang="en-US" sz="1000" dirty="0"/>
              <a:t>Note: The other specify answers in income source variable (</a:t>
            </a:r>
            <a:r>
              <a:rPr lang="en-US" sz="1000" dirty="0" err="1"/>
              <a:t>HHIncFirst_SRi</a:t>
            </a:r>
            <a:r>
              <a:rPr lang="en-US" sz="1000" dirty="0"/>
              <a:t>) are not fully cleaned in tables below since many of them have limited information. Thus, they are not able to be recoded into the detailed source categories.</a:t>
            </a:r>
          </a:p>
        </p:txBody>
      </p:sp>
      <p:pic>
        <p:nvPicPr>
          <p:cNvPr id="7" name="Picture 6" descr="A table of statistics with numbers and text&#10;&#10;Description automatically generated with medium confidence">
            <a:extLst>
              <a:ext uri="{FF2B5EF4-FFF2-40B4-BE49-F238E27FC236}">
                <a16:creationId xmlns:a16="http://schemas.microsoft.com/office/drawing/2014/main" id="{AB880CBE-DCE1-C053-1CDB-10290EA95282}"/>
              </a:ext>
            </a:extLst>
          </p:cNvPr>
          <p:cNvPicPr>
            <a:picLocks noChangeAspect="1"/>
          </p:cNvPicPr>
          <p:nvPr/>
        </p:nvPicPr>
        <p:blipFill>
          <a:blip r:embed="rId2"/>
          <a:stretch>
            <a:fillRect/>
          </a:stretch>
        </p:blipFill>
        <p:spPr>
          <a:xfrm>
            <a:off x="1609343" y="692044"/>
            <a:ext cx="5925313" cy="3883528"/>
          </a:xfrm>
          <a:prstGeom prst="rect">
            <a:avLst/>
          </a:prstGeom>
        </p:spPr>
      </p:pic>
      <p:sp>
        <p:nvSpPr>
          <p:cNvPr id="2" name="Rectangle: Rounded Corners 1">
            <a:extLst>
              <a:ext uri="{FF2B5EF4-FFF2-40B4-BE49-F238E27FC236}">
                <a16:creationId xmlns:a16="http://schemas.microsoft.com/office/drawing/2014/main" id="{3824D0E3-385D-43AD-3A9F-89A45E0CE0F0}"/>
              </a:ext>
            </a:extLst>
          </p:cNvPr>
          <p:cNvSpPr/>
          <p:nvPr/>
        </p:nvSpPr>
        <p:spPr>
          <a:xfrm>
            <a:off x="4650940" y="989022"/>
            <a:ext cx="3023967" cy="293770"/>
          </a:xfrm>
          <a:prstGeom prst="roundRect">
            <a:avLst/>
          </a:prstGeom>
          <a:noFill/>
          <a:ln>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698269" y="953298"/>
            <a:ext cx="7848202" cy="3888548"/>
          </a:xfrm>
        </p:spPr>
        <p:txBody>
          <a:bodyPr>
            <a:normAutofit lnSpcReduction="10000"/>
          </a:bodyPr>
          <a:lstStyle/>
          <a:p>
            <a:pPr lvl="0"/>
            <a:r>
              <a:rPr lang="en-US" sz="1600" b="1" dirty="0"/>
              <a:t>Income Sources:</a:t>
            </a:r>
          </a:p>
          <a:p>
            <a:pPr marL="285750" lvl="0" indent="-285750">
              <a:buFont typeface="Arial" panose="020B0604020202020204" pitchFamily="34" charset="0"/>
              <a:buChar char="•"/>
            </a:pPr>
            <a:r>
              <a:rPr sz="1600" b="1" dirty="0"/>
              <a:t>Regular employment/income</a:t>
            </a:r>
          </a:p>
          <a:p>
            <a:pPr lvl="1"/>
            <a:r>
              <a:rPr sz="1200" dirty="0"/>
              <a:t>Wage Labor – Professional/skilled</a:t>
            </a:r>
          </a:p>
          <a:p>
            <a:pPr lvl="1"/>
            <a:r>
              <a:rPr sz="1200" dirty="0"/>
              <a:t>Pension</a:t>
            </a:r>
          </a:p>
          <a:p>
            <a:pPr lvl="1"/>
            <a:r>
              <a:rPr sz="1200" dirty="0"/>
              <a:t>Small/Medium/large trade (own business)</a:t>
            </a:r>
          </a:p>
          <a:p>
            <a:pPr lvl="1"/>
            <a:r>
              <a:rPr sz="1200" dirty="0"/>
              <a:t>Small/Medium/Large agriculture production including livestock (own or rented land/owned livestock)</a:t>
            </a:r>
          </a:p>
          <a:p>
            <a:pPr marL="285750" lvl="0" indent="-285750">
              <a:buFont typeface="Arial" panose="020B0604020202020204" pitchFamily="34" charset="0"/>
              <a:buChar char="•"/>
            </a:pPr>
            <a:r>
              <a:rPr sz="1600" b="1" dirty="0"/>
              <a:t>Irregular employment/income</a:t>
            </a:r>
          </a:p>
          <a:p>
            <a:pPr lvl="1"/>
            <a:r>
              <a:rPr sz="1200" dirty="0"/>
              <a:t>Wage Labor - Unskilled/casual/agriculture/unskilled/casual/non-agriculture</a:t>
            </a:r>
          </a:p>
          <a:p>
            <a:pPr lvl="1"/>
            <a:r>
              <a:rPr sz="1200" dirty="0"/>
              <a:t>Remittances</a:t>
            </a:r>
          </a:p>
          <a:p>
            <a:pPr lvl="1"/>
            <a:r>
              <a:rPr sz="1200" dirty="0"/>
              <a:t>Petty trade/selling on streets</a:t>
            </a:r>
          </a:p>
          <a:p>
            <a:pPr marL="285750" lvl="0" indent="-285750">
              <a:buFont typeface="Arial" panose="020B0604020202020204" pitchFamily="34" charset="0"/>
              <a:buChar char="•"/>
            </a:pPr>
            <a:r>
              <a:rPr sz="1600" b="1" dirty="0"/>
              <a:t>No income</a:t>
            </a:r>
          </a:p>
          <a:p>
            <a:pPr lvl="1"/>
            <a:r>
              <a:rPr sz="1200" dirty="0"/>
              <a:t>Aid/gifts</a:t>
            </a:r>
          </a:p>
          <a:p>
            <a:pPr lvl="1"/>
            <a:r>
              <a:rPr sz="1200" dirty="0"/>
              <a:t>Borrowing money/Living off debt</a:t>
            </a:r>
          </a:p>
          <a:p>
            <a:pPr lvl="1"/>
            <a:r>
              <a:rPr sz="1200" dirty="0"/>
              <a:t>High risk activity (e.g. begging, scavenging)</a:t>
            </a:r>
          </a:p>
          <a:p>
            <a:pPr lvl="1"/>
            <a:r>
              <a:rPr sz="1200" dirty="0"/>
              <a:t>Saving/selling assets</a:t>
            </a:r>
          </a:p>
          <a:p>
            <a:pPr lvl="1"/>
            <a:r>
              <a:rPr sz="1200" dirty="0"/>
              <a:t>No income source noted in </a:t>
            </a:r>
            <a:r>
              <a:rPr sz="1200" i="1" dirty="0" err="1"/>
              <a:t>HHIncNb</a:t>
            </a:r>
            <a:endParaRPr sz="1200" i="1" dirty="0"/>
          </a:p>
          <a:p>
            <a:pPr marL="0" lvl="0" indent="0">
              <a:buNone/>
            </a:pPr>
            <a:r>
              <a:rPr sz="1600" b="1" dirty="0"/>
              <a:t>Income change is categorized as increased, reduced and no change</a:t>
            </a:r>
            <a:r>
              <a:rPr lang="en-US" sz="1600" b="1" dirty="0"/>
              <a:t>.</a:t>
            </a:r>
          </a:p>
        </p:txBody>
      </p:sp>
      <p:sp>
        <p:nvSpPr>
          <p:cNvPr id="5" name="Content Placeholder 2">
            <a:extLst>
              <a:ext uri="{FF2B5EF4-FFF2-40B4-BE49-F238E27FC236}">
                <a16:creationId xmlns:a16="http://schemas.microsoft.com/office/drawing/2014/main" id="{C79D1E5F-A8C1-4D46-D8A8-782162E13C51}"/>
              </a:ext>
            </a:extLst>
          </p:cNvPr>
          <p:cNvSpPr>
            <a:spLocks noGrp="1"/>
          </p:cNvSpPr>
          <p:nvPr>
            <p:ph idx="1"/>
          </p:nvPr>
        </p:nvSpPr>
        <p:spPr>
          <a:xfrm>
            <a:off x="457200" y="301654"/>
            <a:ext cx="8229600" cy="459183"/>
          </a:xfrm>
        </p:spPr>
        <p:txBody>
          <a:bodyPr>
            <a:normAutofit/>
          </a:bodyPr>
          <a:lstStyle/>
          <a:p>
            <a:pPr marL="0" lvl="0" indent="0">
              <a:spcBef>
                <a:spcPts val="3000"/>
              </a:spcBef>
              <a:buNone/>
            </a:pPr>
            <a:r>
              <a:rPr lang="en-US" b="1" dirty="0"/>
              <a:t>Current Categorization of Income Sources and Change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1030" name="Picture 6" descr="A graph of blue and white bars&#10;&#10;Description automatically generated with medium confidence">
            <a:extLst>
              <a:ext uri="{FF2B5EF4-FFF2-40B4-BE49-F238E27FC236}">
                <a16:creationId xmlns:a16="http://schemas.microsoft.com/office/drawing/2014/main" id="{5BD48B27-65BE-542F-B57A-1C9D3D5B752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63474" y="1637992"/>
            <a:ext cx="2637839" cy="1886054"/>
          </a:xfrm>
          <a:prstGeom prst="rect">
            <a:avLst/>
          </a:prstGeom>
          <a:noFill/>
          <a:extLst>
            <a:ext uri="{909E8E84-426E-40DD-AFC4-6F175D3DCCD1}">
              <a14:hiddenFill xmlns:a14="http://schemas.microsoft.com/office/drawing/2010/main">
                <a:solidFill>
                  <a:srgbClr val="FFFFFF"/>
                </a:solidFill>
              </a14:hiddenFill>
            </a:ext>
          </a:extLst>
        </p:spPr>
      </p:pic>
      <p:cxnSp>
        <p:nvCxnSpPr>
          <p:cNvPr id="1053" name="Straight Connector 1052">
            <a:extLst>
              <a:ext uri="{FF2B5EF4-FFF2-40B4-BE49-F238E27FC236}">
                <a16:creationId xmlns:a16="http://schemas.microsoft.com/office/drawing/2014/main" id="{DCD67800-37AC-4E14-89B0-F79DCB3FB8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124200" y="1180415"/>
            <a:ext cx="0" cy="2782670"/>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028" name="Picture 4" descr="A graph of blue and white bars&#10;&#10;Description automatically generated with medium confidence">
            <a:extLst>
              <a:ext uri="{FF2B5EF4-FFF2-40B4-BE49-F238E27FC236}">
                <a16:creationId xmlns:a16="http://schemas.microsoft.com/office/drawing/2014/main" id="{BAF1C147-138F-911C-7067-D0837DC810D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233007" y="1620995"/>
            <a:ext cx="2653008" cy="1896900"/>
          </a:xfrm>
          <a:prstGeom prst="rect">
            <a:avLst/>
          </a:prstGeom>
          <a:noFill/>
          <a:extLst>
            <a:ext uri="{909E8E84-426E-40DD-AFC4-6F175D3DCCD1}">
              <a14:hiddenFill xmlns:a14="http://schemas.microsoft.com/office/drawing/2010/main">
                <a:solidFill>
                  <a:srgbClr val="FFFFFF"/>
                </a:solidFill>
              </a14:hiddenFill>
            </a:ext>
          </a:extLst>
        </p:spPr>
      </p:pic>
      <p:cxnSp>
        <p:nvCxnSpPr>
          <p:cNvPr id="1055" name="Straight Connector 1054">
            <a:extLst>
              <a:ext uri="{FF2B5EF4-FFF2-40B4-BE49-F238E27FC236}">
                <a16:creationId xmlns:a16="http://schemas.microsoft.com/office/drawing/2014/main" id="{20F1788F-A5AE-4188-8274-F7F2E3833EC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96940" y="1180415"/>
            <a:ext cx="0" cy="2782670"/>
          </a:xfrm>
          <a:prstGeom prst="line">
            <a:avLst/>
          </a:prstGeom>
          <a:ln w="19050">
            <a:solidFill>
              <a:srgbClr val="7F7F7F"/>
            </a:solidFill>
          </a:ln>
        </p:spPr>
        <p:style>
          <a:lnRef idx="1">
            <a:schemeClr val="accent1"/>
          </a:lnRef>
          <a:fillRef idx="0">
            <a:schemeClr val="accent1"/>
          </a:fillRef>
          <a:effectRef idx="0">
            <a:schemeClr val="accent1"/>
          </a:effectRef>
          <a:fontRef idx="minor">
            <a:schemeClr val="tx1"/>
          </a:fontRef>
        </p:style>
      </p:cxnSp>
      <p:pic>
        <p:nvPicPr>
          <p:cNvPr id="1026" name="Picture 2" descr="A graph of a number of blue and white bars&#10;&#10;Description automatically generated with medium confidence">
            <a:extLst>
              <a:ext uri="{FF2B5EF4-FFF2-40B4-BE49-F238E27FC236}">
                <a16:creationId xmlns:a16="http://schemas.microsoft.com/office/drawing/2014/main" id="{787451AA-995E-04BA-B342-8A1FB66B795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121752" y="1626419"/>
            <a:ext cx="2637840" cy="18860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457201" y="1076327"/>
            <a:ext cx="8386074" cy="777873"/>
          </a:xfrm>
        </p:spPr>
        <p:txBody>
          <a:bodyPr>
            <a:normAutofit/>
          </a:bodyPr>
          <a:lstStyle/>
          <a:p>
            <a:pPr marL="0" lvl="0" indent="0">
              <a:buNone/>
            </a:pPr>
            <a:r>
              <a:rPr sz="2000" dirty="0"/>
              <a:t>The combination of main income sources and changes over the past 12 months further aggregates to an </a:t>
            </a:r>
            <a:r>
              <a:rPr sz="2000" b="1" dirty="0"/>
              <a:t>overall </a:t>
            </a:r>
            <a:r>
              <a:rPr lang="en-US" sz="2000" b="1" dirty="0"/>
              <a:t>4-point </a:t>
            </a:r>
            <a:r>
              <a:rPr sz="2000" b="1" dirty="0"/>
              <a:t>income indicator</a:t>
            </a:r>
            <a:endParaRPr sz="2000" dirty="0"/>
          </a:p>
        </p:txBody>
      </p:sp>
      <p:pic>
        <p:nvPicPr>
          <p:cNvPr id="2" name="Picture 1" descr="Income.png"/>
          <p:cNvPicPr>
            <a:picLocks noGrp="1" noChangeAspect="1"/>
          </p:cNvPicPr>
          <p:nvPr/>
        </p:nvPicPr>
        <p:blipFill rotWithShape="1">
          <a:blip r:embed="rId2"/>
          <a:srcRect l="25034"/>
          <a:stretch/>
        </p:blipFill>
        <p:spPr bwMode="auto">
          <a:xfrm>
            <a:off x="1369990" y="2471171"/>
            <a:ext cx="6404019" cy="1636260"/>
          </a:xfrm>
          <a:prstGeom prst="rect">
            <a:avLst/>
          </a:prstGeom>
          <a:noFill/>
          <a:ln w="9525">
            <a:noFill/>
            <a:headEnd/>
            <a:tailEnd/>
          </a:ln>
        </p:spPr>
      </p:pic>
      <p:sp>
        <p:nvSpPr>
          <p:cNvPr id="3" name="Content Placeholder 2">
            <a:extLst>
              <a:ext uri="{FF2B5EF4-FFF2-40B4-BE49-F238E27FC236}">
                <a16:creationId xmlns:a16="http://schemas.microsoft.com/office/drawing/2014/main" id="{FA9DE2C2-8610-1571-D797-320441E145BF}"/>
              </a:ext>
            </a:extLst>
          </p:cNvPr>
          <p:cNvSpPr>
            <a:spLocks noGrp="1"/>
          </p:cNvSpPr>
          <p:nvPr>
            <p:ph idx="1"/>
          </p:nvPr>
        </p:nvSpPr>
        <p:spPr>
          <a:xfrm>
            <a:off x="457200" y="301654"/>
            <a:ext cx="8229600" cy="459183"/>
          </a:xfrm>
        </p:spPr>
        <p:txBody>
          <a:bodyPr>
            <a:normAutofit/>
          </a:bodyPr>
          <a:lstStyle/>
          <a:p>
            <a:pPr marL="0" lvl="0" indent="0">
              <a:spcBef>
                <a:spcPts val="3000"/>
              </a:spcBef>
              <a:buNone/>
            </a:pPr>
            <a:r>
              <a:rPr lang="en-US" sz="2400" b="1" dirty="0"/>
              <a:t>Aggregated Income Indicator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48466EF6-42E6-7AC2-4CDE-A5FCFFA2CA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632" y="124586"/>
            <a:ext cx="6852058" cy="4894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975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b="1" dirty="0"/>
              <a:t>Correlation with FS indicators and Expenditure</a:t>
            </a:r>
            <a:r>
              <a:rPr lang="en-US" b="1" dirty="0"/>
              <a:t> - Myanmar</a:t>
            </a:r>
            <a:endParaRPr b="1" dirty="0"/>
          </a:p>
        </p:txBody>
      </p:sp>
      <p:pic>
        <p:nvPicPr>
          <p:cNvPr id="4" name="Picture 3" descr="A table with numbers and text&#10;&#10;Description automatically generated">
            <a:extLst>
              <a:ext uri="{FF2B5EF4-FFF2-40B4-BE49-F238E27FC236}">
                <a16:creationId xmlns:a16="http://schemas.microsoft.com/office/drawing/2014/main" id="{DCD11391-8D7E-3BBA-D3F6-A9DAAA50FC38}"/>
              </a:ext>
            </a:extLst>
          </p:cNvPr>
          <p:cNvPicPr>
            <a:picLocks noChangeAspect="1"/>
          </p:cNvPicPr>
          <p:nvPr/>
        </p:nvPicPr>
        <p:blipFill>
          <a:blip r:embed="rId3"/>
          <a:stretch>
            <a:fillRect/>
          </a:stretch>
        </p:blipFill>
        <p:spPr>
          <a:xfrm>
            <a:off x="1687163" y="572231"/>
            <a:ext cx="5902862" cy="4535377"/>
          </a:xfrm>
          <a:prstGeom prst="rect">
            <a:avLst/>
          </a:prstGeom>
        </p:spPr>
      </p:pic>
      <p:sp>
        <p:nvSpPr>
          <p:cNvPr id="5" name="TextBox 4">
            <a:extLst>
              <a:ext uri="{FF2B5EF4-FFF2-40B4-BE49-F238E27FC236}">
                <a16:creationId xmlns:a16="http://schemas.microsoft.com/office/drawing/2014/main" id="{BEF515FF-FB43-A479-816A-18EE62CE2A1F}"/>
              </a:ext>
            </a:extLst>
          </p:cNvPr>
          <p:cNvSpPr txBox="1"/>
          <p:nvPr/>
        </p:nvSpPr>
        <p:spPr>
          <a:xfrm>
            <a:off x="4861712" y="4765436"/>
            <a:ext cx="3586238" cy="246221"/>
          </a:xfrm>
          <a:prstGeom prst="rect">
            <a:avLst/>
          </a:prstGeom>
          <a:noFill/>
        </p:spPr>
        <p:txBody>
          <a:bodyPr wrap="none" rtlCol="0">
            <a:spAutoFit/>
          </a:bodyPr>
          <a:lstStyle/>
          <a:p>
            <a:r>
              <a:rPr lang="en-US" sz="1000" dirty="0"/>
              <a:t>Note: Only sample used standard expenditure module is included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b="1" dirty="0"/>
              <a:t>Correlation with FS indicators and Expenditure</a:t>
            </a:r>
            <a:r>
              <a:rPr lang="en-US" b="1" dirty="0"/>
              <a:t> - Ecuador</a:t>
            </a:r>
            <a:endParaRPr b="1" dirty="0"/>
          </a:p>
        </p:txBody>
      </p:sp>
      <p:pic>
        <p:nvPicPr>
          <p:cNvPr id="6" name="Picture 5" descr="A table with numbers and text&#10;&#10;Description automatically generated">
            <a:extLst>
              <a:ext uri="{FF2B5EF4-FFF2-40B4-BE49-F238E27FC236}">
                <a16:creationId xmlns:a16="http://schemas.microsoft.com/office/drawing/2014/main" id="{FCB5110C-9D75-EE7D-F7AE-934D8DC98564}"/>
              </a:ext>
            </a:extLst>
          </p:cNvPr>
          <p:cNvPicPr>
            <a:picLocks noChangeAspect="1"/>
          </p:cNvPicPr>
          <p:nvPr/>
        </p:nvPicPr>
        <p:blipFill>
          <a:blip r:embed="rId3"/>
          <a:stretch>
            <a:fillRect/>
          </a:stretch>
        </p:blipFill>
        <p:spPr>
          <a:xfrm>
            <a:off x="1683943" y="579424"/>
            <a:ext cx="5896497" cy="4518811"/>
          </a:xfrm>
          <a:prstGeom prst="rect">
            <a:avLst/>
          </a:prstGeom>
        </p:spPr>
      </p:pic>
      <p:sp>
        <p:nvSpPr>
          <p:cNvPr id="5" name="TextBox 4">
            <a:extLst>
              <a:ext uri="{FF2B5EF4-FFF2-40B4-BE49-F238E27FC236}">
                <a16:creationId xmlns:a16="http://schemas.microsoft.com/office/drawing/2014/main" id="{BEF515FF-FB43-A479-816A-18EE62CE2A1F}"/>
              </a:ext>
            </a:extLst>
          </p:cNvPr>
          <p:cNvSpPr txBox="1"/>
          <p:nvPr/>
        </p:nvSpPr>
        <p:spPr>
          <a:xfrm>
            <a:off x="4861712" y="4765436"/>
            <a:ext cx="3586238" cy="246221"/>
          </a:xfrm>
          <a:prstGeom prst="rect">
            <a:avLst/>
          </a:prstGeom>
          <a:noFill/>
        </p:spPr>
        <p:txBody>
          <a:bodyPr wrap="none" rtlCol="0">
            <a:spAutoFit/>
          </a:bodyPr>
          <a:lstStyle/>
          <a:p>
            <a:r>
              <a:rPr lang="en-US" sz="1000" dirty="0"/>
              <a:t>Note: Only sample used standard expenditure module is included</a:t>
            </a:r>
          </a:p>
        </p:txBody>
      </p:sp>
    </p:spTree>
    <p:extLst>
      <p:ext uri="{BB962C8B-B14F-4D97-AF65-F5344CB8AC3E}">
        <p14:creationId xmlns:p14="http://schemas.microsoft.com/office/powerpoint/2010/main" val="3707884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b="1" dirty="0"/>
              <a:t>Correlation with FS indicators and Expenditure</a:t>
            </a:r>
            <a:r>
              <a:rPr lang="en-US" b="1" dirty="0"/>
              <a:t> - CAR</a:t>
            </a:r>
            <a:endParaRPr b="1" dirty="0"/>
          </a:p>
        </p:txBody>
      </p:sp>
      <p:pic>
        <p:nvPicPr>
          <p:cNvPr id="4" name="Picture 3" descr="A table with numbers and symbols&#10;&#10;Description automatically generated">
            <a:extLst>
              <a:ext uri="{FF2B5EF4-FFF2-40B4-BE49-F238E27FC236}">
                <a16:creationId xmlns:a16="http://schemas.microsoft.com/office/drawing/2014/main" id="{9F64E3C7-4F74-E8AD-189B-0AAE15FA537E}"/>
              </a:ext>
            </a:extLst>
          </p:cNvPr>
          <p:cNvPicPr>
            <a:picLocks noChangeAspect="1"/>
          </p:cNvPicPr>
          <p:nvPr/>
        </p:nvPicPr>
        <p:blipFill>
          <a:blip r:embed="rId3"/>
          <a:stretch>
            <a:fillRect/>
          </a:stretch>
        </p:blipFill>
        <p:spPr>
          <a:xfrm>
            <a:off x="1613122" y="552263"/>
            <a:ext cx="5865038" cy="4550938"/>
          </a:xfrm>
          <a:prstGeom prst="rect">
            <a:avLst/>
          </a:prstGeom>
        </p:spPr>
      </p:pic>
      <p:sp>
        <p:nvSpPr>
          <p:cNvPr id="5" name="TextBox 4">
            <a:extLst>
              <a:ext uri="{FF2B5EF4-FFF2-40B4-BE49-F238E27FC236}">
                <a16:creationId xmlns:a16="http://schemas.microsoft.com/office/drawing/2014/main" id="{BEF515FF-FB43-A479-816A-18EE62CE2A1F}"/>
              </a:ext>
            </a:extLst>
          </p:cNvPr>
          <p:cNvSpPr txBox="1"/>
          <p:nvPr/>
        </p:nvSpPr>
        <p:spPr>
          <a:xfrm>
            <a:off x="4861712" y="4765436"/>
            <a:ext cx="3586238" cy="246221"/>
          </a:xfrm>
          <a:prstGeom prst="rect">
            <a:avLst/>
          </a:prstGeom>
          <a:noFill/>
        </p:spPr>
        <p:txBody>
          <a:bodyPr wrap="none" rtlCol="0">
            <a:spAutoFit/>
          </a:bodyPr>
          <a:lstStyle/>
          <a:p>
            <a:r>
              <a:rPr lang="en-US" sz="1000" dirty="0"/>
              <a:t>Note: Only sample used standard expenditure module is included</a:t>
            </a:r>
          </a:p>
        </p:txBody>
      </p:sp>
    </p:spTree>
    <p:extLst>
      <p:ext uri="{BB962C8B-B14F-4D97-AF65-F5344CB8AC3E}">
        <p14:creationId xmlns:p14="http://schemas.microsoft.com/office/powerpoint/2010/main" val="1685304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583DC-562A-E180-3B26-BCD2DBDF741E}"/>
              </a:ext>
            </a:extLst>
          </p:cNvPr>
          <p:cNvSpPr>
            <a:spLocks noGrp="1"/>
          </p:cNvSpPr>
          <p:nvPr>
            <p:ph type="title"/>
          </p:nvPr>
        </p:nvSpPr>
        <p:spPr/>
        <p:txBody>
          <a:bodyPr/>
          <a:lstStyle/>
          <a:p>
            <a:r>
              <a:rPr lang="en-US"/>
              <a:t>Current </a:t>
            </a:r>
            <a:r>
              <a:rPr lang="en-US" dirty="0"/>
              <a:t>progress</a:t>
            </a:r>
            <a:endParaRPr lang="en-GB"/>
          </a:p>
        </p:txBody>
      </p:sp>
      <p:sp>
        <p:nvSpPr>
          <p:cNvPr id="3" name="Content Placeholder 2">
            <a:extLst>
              <a:ext uri="{FF2B5EF4-FFF2-40B4-BE49-F238E27FC236}">
                <a16:creationId xmlns:a16="http://schemas.microsoft.com/office/drawing/2014/main" id="{E8473ACE-C243-1380-9C5B-79DD1CA7B952}"/>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535072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8333714" cy="483276"/>
          </a:xfrm>
        </p:spPr>
        <p:txBody>
          <a:bodyPr>
            <a:normAutofit fontScale="90000"/>
          </a:bodyPr>
          <a:lstStyle/>
          <a:p>
            <a:pPr marL="0" lvl="0" indent="0">
              <a:buNone/>
            </a:pPr>
            <a:br>
              <a:rPr lang="en-US" sz="2400" dirty="0"/>
            </a:br>
            <a:br>
              <a:rPr lang="en-US" sz="2400" dirty="0"/>
            </a:br>
            <a:r>
              <a:rPr sz="2400" dirty="0"/>
              <a:t>Recategorization of Smallholder Farmers</a:t>
            </a:r>
          </a:p>
        </p:txBody>
      </p:sp>
      <p:sp>
        <p:nvSpPr>
          <p:cNvPr id="4" name="Text Placeholder 3"/>
          <p:cNvSpPr>
            <a:spLocks noGrp="1"/>
          </p:cNvSpPr>
          <p:nvPr>
            <p:ph type="body" sz="half" idx="2"/>
          </p:nvPr>
        </p:nvSpPr>
        <p:spPr>
          <a:xfrm>
            <a:off x="457201" y="913929"/>
            <a:ext cx="8170751" cy="1657821"/>
          </a:xfrm>
        </p:spPr>
        <p:txBody>
          <a:bodyPr>
            <a:normAutofit lnSpcReduction="10000"/>
          </a:bodyPr>
          <a:lstStyle/>
          <a:p>
            <a:pPr marL="0" lvl="0" indent="0">
              <a:buNone/>
            </a:pPr>
            <a:r>
              <a:rPr sz="1800" dirty="0"/>
              <a:t>The income source and income change indicators in its current form seems to be showing some downward bias because of possible misclassification of low-income earners such as </a:t>
            </a:r>
            <a:r>
              <a:rPr sz="1800" b="1" dirty="0"/>
              <a:t>small-scale farmers and small enterprise owners</a:t>
            </a:r>
            <a:r>
              <a:rPr sz="1800" dirty="0"/>
              <a:t> in the 4-point scale into food secure. </a:t>
            </a:r>
            <a:endParaRPr lang="en-US" sz="1800" dirty="0"/>
          </a:p>
          <a:p>
            <a:pPr marL="0" lvl="0" indent="0">
              <a:buNone/>
            </a:pPr>
            <a:r>
              <a:rPr sz="1800" dirty="0"/>
              <a:t>The changes to the previous analysis after re-categorizing the small-scale farmers and small enterprise owners to Irregular Income Group are presented as below:</a:t>
            </a:r>
            <a:endParaRPr lang="en-US" sz="1800" b="1" dirty="0"/>
          </a:p>
        </p:txBody>
      </p:sp>
      <p:pic>
        <p:nvPicPr>
          <p:cNvPr id="6" name="Picture 5" descr="A screenshot of a graph&#10;&#10;Description automatically generated">
            <a:extLst>
              <a:ext uri="{FF2B5EF4-FFF2-40B4-BE49-F238E27FC236}">
                <a16:creationId xmlns:a16="http://schemas.microsoft.com/office/drawing/2014/main" id="{0CD267EE-91B5-AA72-52BA-BF00F56A567C}"/>
              </a:ext>
            </a:extLst>
          </p:cNvPr>
          <p:cNvPicPr>
            <a:picLocks noChangeAspect="1"/>
          </p:cNvPicPr>
          <p:nvPr/>
        </p:nvPicPr>
        <p:blipFill>
          <a:blip r:embed="rId2"/>
          <a:stretch>
            <a:fillRect/>
          </a:stretch>
        </p:blipFill>
        <p:spPr>
          <a:xfrm>
            <a:off x="1444027" y="2571750"/>
            <a:ext cx="5979815" cy="23670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lang="en-US" b="1" dirty="0"/>
              <a:t>Before vs. After Recategorization - CAR</a:t>
            </a:r>
            <a:endParaRPr b="1" dirty="0"/>
          </a:p>
        </p:txBody>
      </p:sp>
      <p:sp>
        <p:nvSpPr>
          <p:cNvPr id="2" name="TextBox 1">
            <a:extLst>
              <a:ext uri="{FF2B5EF4-FFF2-40B4-BE49-F238E27FC236}">
                <a16:creationId xmlns:a16="http://schemas.microsoft.com/office/drawing/2014/main" id="{E490BC8D-FA46-ABA3-1C58-6FAD459B9584}"/>
              </a:ext>
            </a:extLst>
          </p:cNvPr>
          <p:cNvSpPr txBox="1"/>
          <p:nvPr/>
        </p:nvSpPr>
        <p:spPr>
          <a:xfrm>
            <a:off x="256716" y="4722888"/>
            <a:ext cx="8763755" cy="261610"/>
          </a:xfrm>
          <a:prstGeom prst="rect">
            <a:avLst/>
          </a:prstGeom>
          <a:noFill/>
        </p:spPr>
        <p:txBody>
          <a:bodyPr wrap="square" rtlCol="0">
            <a:spAutoFit/>
          </a:bodyPr>
          <a:lstStyle/>
          <a:p>
            <a:r>
              <a:rPr lang="en-US" sz="1100" b="1" dirty="0"/>
              <a:t>Note</a:t>
            </a:r>
            <a:r>
              <a:rPr lang="en-US" sz="1100" dirty="0"/>
              <a:t>: The other specify answers in income source variable (</a:t>
            </a:r>
            <a:r>
              <a:rPr lang="en-US" sz="1100" dirty="0" err="1"/>
              <a:t>HHIncFirst_SRi</a:t>
            </a:r>
            <a:r>
              <a:rPr lang="en-US" sz="1100" dirty="0"/>
              <a:t>) are fully cleaned in the aggregated 3pt category.</a:t>
            </a:r>
          </a:p>
        </p:txBody>
      </p:sp>
      <p:sp>
        <p:nvSpPr>
          <p:cNvPr id="4" name="TextBox 3">
            <a:extLst>
              <a:ext uri="{FF2B5EF4-FFF2-40B4-BE49-F238E27FC236}">
                <a16:creationId xmlns:a16="http://schemas.microsoft.com/office/drawing/2014/main" id="{C841A1D1-637E-5246-FDFB-263894211E71}"/>
              </a:ext>
            </a:extLst>
          </p:cNvPr>
          <p:cNvSpPr txBox="1"/>
          <p:nvPr/>
        </p:nvSpPr>
        <p:spPr>
          <a:xfrm>
            <a:off x="306931" y="805758"/>
            <a:ext cx="4156427" cy="369332"/>
          </a:xfrm>
          <a:prstGeom prst="rect">
            <a:avLst/>
          </a:prstGeom>
          <a:noFill/>
        </p:spPr>
        <p:txBody>
          <a:bodyPr wrap="square" rtlCol="0">
            <a:spAutoFit/>
          </a:bodyPr>
          <a:lstStyle/>
          <a:p>
            <a:pPr algn="ctr"/>
            <a:r>
              <a:rPr lang="en-US" dirty="0"/>
              <a:t>Before</a:t>
            </a:r>
          </a:p>
        </p:txBody>
      </p:sp>
      <p:sp>
        <p:nvSpPr>
          <p:cNvPr id="6" name="TextBox 5">
            <a:extLst>
              <a:ext uri="{FF2B5EF4-FFF2-40B4-BE49-F238E27FC236}">
                <a16:creationId xmlns:a16="http://schemas.microsoft.com/office/drawing/2014/main" id="{5DF57751-9EA2-33B1-E508-5104FD0DD081}"/>
              </a:ext>
            </a:extLst>
          </p:cNvPr>
          <p:cNvSpPr txBox="1"/>
          <p:nvPr/>
        </p:nvSpPr>
        <p:spPr>
          <a:xfrm>
            <a:off x="4717646" y="805758"/>
            <a:ext cx="4156427" cy="369332"/>
          </a:xfrm>
          <a:prstGeom prst="rect">
            <a:avLst/>
          </a:prstGeom>
          <a:noFill/>
        </p:spPr>
        <p:txBody>
          <a:bodyPr wrap="square" rtlCol="0">
            <a:spAutoFit/>
          </a:bodyPr>
          <a:lstStyle/>
          <a:p>
            <a:pPr algn="ctr"/>
            <a:r>
              <a:rPr lang="en-US" dirty="0"/>
              <a:t>After</a:t>
            </a:r>
          </a:p>
        </p:txBody>
      </p:sp>
      <p:pic>
        <p:nvPicPr>
          <p:cNvPr id="5122" name="Picture 2">
            <a:extLst>
              <a:ext uri="{FF2B5EF4-FFF2-40B4-BE49-F238E27FC236}">
                <a16:creationId xmlns:a16="http://schemas.microsoft.com/office/drawing/2014/main" id="{7E2F468D-8C5D-6D50-D8C5-29B10E029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314" y="1346519"/>
            <a:ext cx="4227097" cy="301935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CC09B4C7-BBA8-EDF4-E440-A41B8E4E3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7647" y="1338052"/>
            <a:ext cx="4227096" cy="3019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2597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lang="en-US" b="1" dirty="0"/>
              <a:t>Before vs. After Recategorization - Ecuador</a:t>
            </a:r>
            <a:endParaRPr b="1" dirty="0"/>
          </a:p>
        </p:txBody>
      </p:sp>
      <p:sp>
        <p:nvSpPr>
          <p:cNvPr id="2" name="TextBox 1">
            <a:extLst>
              <a:ext uri="{FF2B5EF4-FFF2-40B4-BE49-F238E27FC236}">
                <a16:creationId xmlns:a16="http://schemas.microsoft.com/office/drawing/2014/main" id="{E490BC8D-FA46-ABA3-1C58-6FAD459B9584}"/>
              </a:ext>
            </a:extLst>
          </p:cNvPr>
          <p:cNvSpPr txBox="1"/>
          <p:nvPr/>
        </p:nvSpPr>
        <p:spPr>
          <a:xfrm>
            <a:off x="256716" y="4722888"/>
            <a:ext cx="8763755" cy="261610"/>
          </a:xfrm>
          <a:prstGeom prst="rect">
            <a:avLst/>
          </a:prstGeom>
          <a:noFill/>
        </p:spPr>
        <p:txBody>
          <a:bodyPr wrap="square" rtlCol="0">
            <a:spAutoFit/>
          </a:bodyPr>
          <a:lstStyle/>
          <a:p>
            <a:r>
              <a:rPr lang="en-US" sz="1100" b="1" dirty="0"/>
              <a:t>Note</a:t>
            </a:r>
            <a:r>
              <a:rPr lang="en-US" sz="1100" dirty="0"/>
              <a:t>: The other specify answers in income source variable (</a:t>
            </a:r>
            <a:r>
              <a:rPr lang="en-US" sz="1100" dirty="0" err="1"/>
              <a:t>HHIncFirst_SRi</a:t>
            </a:r>
            <a:r>
              <a:rPr lang="en-US" sz="1100" dirty="0"/>
              <a:t>) are fully cleaned in the aggregated 3pt category.</a:t>
            </a:r>
          </a:p>
        </p:txBody>
      </p:sp>
      <p:sp>
        <p:nvSpPr>
          <p:cNvPr id="4" name="TextBox 3">
            <a:extLst>
              <a:ext uri="{FF2B5EF4-FFF2-40B4-BE49-F238E27FC236}">
                <a16:creationId xmlns:a16="http://schemas.microsoft.com/office/drawing/2014/main" id="{C841A1D1-637E-5246-FDFB-263894211E71}"/>
              </a:ext>
            </a:extLst>
          </p:cNvPr>
          <p:cNvSpPr txBox="1"/>
          <p:nvPr/>
        </p:nvSpPr>
        <p:spPr>
          <a:xfrm>
            <a:off x="306931" y="805758"/>
            <a:ext cx="4156427" cy="369332"/>
          </a:xfrm>
          <a:prstGeom prst="rect">
            <a:avLst/>
          </a:prstGeom>
          <a:noFill/>
        </p:spPr>
        <p:txBody>
          <a:bodyPr wrap="square" rtlCol="0">
            <a:spAutoFit/>
          </a:bodyPr>
          <a:lstStyle/>
          <a:p>
            <a:pPr algn="ctr"/>
            <a:r>
              <a:rPr lang="en-US" dirty="0"/>
              <a:t>Before</a:t>
            </a:r>
          </a:p>
        </p:txBody>
      </p:sp>
      <p:sp>
        <p:nvSpPr>
          <p:cNvPr id="6" name="TextBox 5">
            <a:extLst>
              <a:ext uri="{FF2B5EF4-FFF2-40B4-BE49-F238E27FC236}">
                <a16:creationId xmlns:a16="http://schemas.microsoft.com/office/drawing/2014/main" id="{5DF57751-9EA2-33B1-E508-5104FD0DD081}"/>
              </a:ext>
            </a:extLst>
          </p:cNvPr>
          <p:cNvSpPr txBox="1"/>
          <p:nvPr/>
        </p:nvSpPr>
        <p:spPr>
          <a:xfrm>
            <a:off x="4717646" y="805758"/>
            <a:ext cx="4156427" cy="369332"/>
          </a:xfrm>
          <a:prstGeom prst="rect">
            <a:avLst/>
          </a:prstGeom>
          <a:noFill/>
        </p:spPr>
        <p:txBody>
          <a:bodyPr wrap="square" rtlCol="0">
            <a:spAutoFit/>
          </a:bodyPr>
          <a:lstStyle/>
          <a:p>
            <a:pPr algn="ctr"/>
            <a:r>
              <a:rPr lang="en-US" dirty="0"/>
              <a:t>After</a:t>
            </a:r>
          </a:p>
        </p:txBody>
      </p:sp>
      <p:pic>
        <p:nvPicPr>
          <p:cNvPr id="4098" name="Picture 2">
            <a:extLst>
              <a:ext uri="{FF2B5EF4-FFF2-40B4-BE49-F238E27FC236}">
                <a16:creationId xmlns:a16="http://schemas.microsoft.com/office/drawing/2014/main" id="{FE1020E4-261D-0DC2-B4F8-BA87FE177C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833" y="1356158"/>
            <a:ext cx="4174217" cy="298158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15A692A3-FCD9-57CE-3A00-269E49EB50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7646" y="1356158"/>
            <a:ext cx="4174217" cy="2981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5826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23794" y="159002"/>
            <a:ext cx="8229600" cy="465687"/>
          </a:xfrm>
        </p:spPr>
        <p:txBody>
          <a:bodyPr>
            <a:normAutofit/>
          </a:bodyPr>
          <a:lstStyle/>
          <a:p>
            <a:pPr marL="0" lvl="0" indent="0">
              <a:spcBef>
                <a:spcPts val="3000"/>
              </a:spcBef>
              <a:buNone/>
            </a:pPr>
            <a:r>
              <a:rPr lang="en-US" b="1" dirty="0"/>
              <a:t>Before vs. After Recategorization - Myanmar</a:t>
            </a:r>
            <a:endParaRPr b="1" dirty="0"/>
          </a:p>
        </p:txBody>
      </p:sp>
      <p:sp>
        <p:nvSpPr>
          <p:cNvPr id="2" name="TextBox 1">
            <a:extLst>
              <a:ext uri="{FF2B5EF4-FFF2-40B4-BE49-F238E27FC236}">
                <a16:creationId xmlns:a16="http://schemas.microsoft.com/office/drawing/2014/main" id="{E490BC8D-FA46-ABA3-1C58-6FAD459B9584}"/>
              </a:ext>
            </a:extLst>
          </p:cNvPr>
          <p:cNvSpPr txBox="1"/>
          <p:nvPr/>
        </p:nvSpPr>
        <p:spPr>
          <a:xfrm>
            <a:off x="256716" y="4722888"/>
            <a:ext cx="8763755" cy="261610"/>
          </a:xfrm>
          <a:prstGeom prst="rect">
            <a:avLst/>
          </a:prstGeom>
          <a:noFill/>
        </p:spPr>
        <p:txBody>
          <a:bodyPr wrap="square" rtlCol="0">
            <a:spAutoFit/>
          </a:bodyPr>
          <a:lstStyle/>
          <a:p>
            <a:r>
              <a:rPr lang="en-US" sz="1100" b="1" dirty="0"/>
              <a:t>Note</a:t>
            </a:r>
            <a:r>
              <a:rPr lang="en-US" sz="1100" dirty="0"/>
              <a:t>: The other specify answers in income source variable (</a:t>
            </a:r>
            <a:r>
              <a:rPr lang="en-US" sz="1100" dirty="0" err="1"/>
              <a:t>HHIncFirst_SRi</a:t>
            </a:r>
            <a:r>
              <a:rPr lang="en-US" sz="1100" dirty="0"/>
              <a:t>) are fully cleaned in the aggregated 3pt category.</a:t>
            </a:r>
          </a:p>
        </p:txBody>
      </p:sp>
      <p:pic>
        <p:nvPicPr>
          <p:cNvPr id="3074" name="Picture 2">
            <a:extLst>
              <a:ext uri="{FF2B5EF4-FFF2-40B4-BE49-F238E27FC236}">
                <a16:creationId xmlns:a16="http://schemas.microsoft.com/office/drawing/2014/main" id="{CCFB1F9A-C910-C70C-93E5-85F8F3F2B3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667" y="1356159"/>
            <a:ext cx="4174216" cy="298158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41A1D1-637E-5246-FDFB-263894211E71}"/>
              </a:ext>
            </a:extLst>
          </p:cNvPr>
          <p:cNvSpPr txBox="1"/>
          <p:nvPr/>
        </p:nvSpPr>
        <p:spPr>
          <a:xfrm>
            <a:off x="306931" y="805758"/>
            <a:ext cx="4156427" cy="369332"/>
          </a:xfrm>
          <a:prstGeom prst="rect">
            <a:avLst/>
          </a:prstGeom>
          <a:noFill/>
        </p:spPr>
        <p:txBody>
          <a:bodyPr wrap="square" rtlCol="0">
            <a:spAutoFit/>
          </a:bodyPr>
          <a:lstStyle/>
          <a:p>
            <a:pPr algn="ctr"/>
            <a:r>
              <a:rPr lang="en-US" dirty="0"/>
              <a:t>Before</a:t>
            </a:r>
          </a:p>
        </p:txBody>
      </p:sp>
      <p:pic>
        <p:nvPicPr>
          <p:cNvPr id="3076" name="Picture 4">
            <a:extLst>
              <a:ext uri="{FF2B5EF4-FFF2-40B4-BE49-F238E27FC236}">
                <a16:creationId xmlns:a16="http://schemas.microsoft.com/office/drawing/2014/main" id="{5480ED35-B630-52F4-5BB8-A772C2247D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9057" y="1356158"/>
            <a:ext cx="4174216" cy="298158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DF57751-9EA2-33B1-E508-5104FD0DD081}"/>
              </a:ext>
            </a:extLst>
          </p:cNvPr>
          <p:cNvSpPr txBox="1"/>
          <p:nvPr/>
        </p:nvSpPr>
        <p:spPr>
          <a:xfrm>
            <a:off x="4717646" y="805758"/>
            <a:ext cx="4156427" cy="369332"/>
          </a:xfrm>
          <a:prstGeom prst="rect">
            <a:avLst/>
          </a:prstGeom>
          <a:noFill/>
        </p:spPr>
        <p:txBody>
          <a:bodyPr wrap="square" rtlCol="0">
            <a:spAutoFit/>
          </a:bodyPr>
          <a:lstStyle/>
          <a:p>
            <a:pPr algn="ctr"/>
            <a:r>
              <a:rPr lang="en-US" dirty="0"/>
              <a:t>After</a:t>
            </a:r>
          </a:p>
        </p:txBody>
      </p:sp>
    </p:spTree>
    <p:extLst>
      <p:ext uri="{BB962C8B-B14F-4D97-AF65-F5344CB8AC3E}">
        <p14:creationId xmlns:p14="http://schemas.microsoft.com/office/powerpoint/2010/main" val="16659964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lvl="0" indent="0">
              <a:buNone/>
            </a:pPr>
            <a:r>
              <a:rPr dirty="0"/>
              <a:t>Next Steps</a:t>
            </a:r>
          </a:p>
        </p:txBody>
      </p:sp>
      <p:sp>
        <p:nvSpPr>
          <p:cNvPr id="3" name="Content Placeholder 2"/>
          <p:cNvSpPr>
            <a:spLocks noGrp="1"/>
          </p:cNvSpPr>
          <p:nvPr>
            <p:ph idx="1"/>
          </p:nvPr>
        </p:nvSpPr>
        <p:spPr/>
        <p:txBody>
          <a:bodyPr>
            <a:normAutofit/>
          </a:bodyPr>
          <a:lstStyle/>
          <a:p>
            <a:pPr lvl="0"/>
            <a:r>
              <a:rPr sz="2000" dirty="0"/>
              <a:t>Expand the </a:t>
            </a:r>
            <a:r>
              <a:rPr lang="en-US" sz="2000" dirty="0"/>
              <a:t>testing</a:t>
            </a:r>
            <a:r>
              <a:rPr sz="2000" dirty="0"/>
              <a:t> to </a:t>
            </a:r>
            <a:r>
              <a:rPr lang="en-US" sz="2000" dirty="0"/>
              <a:t>other </a:t>
            </a:r>
            <a:r>
              <a:rPr sz="2000" dirty="0"/>
              <a:t>available dataset to enable larger evidence base for testing the </a:t>
            </a:r>
            <a:r>
              <a:rPr sz="2000"/>
              <a:t>indicator.</a:t>
            </a:r>
            <a:endParaRPr lang="en-US" sz="2000" dirty="0"/>
          </a:p>
          <a:p>
            <a:pPr lvl="0"/>
            <a:r>
              <a:rPr sz="2000" dirty="0"/>
              <a:t>Possible reclassification of the income types based on the standardized income categorization of Lower-, Lower-middle-, Middle-, and High-income groups.</a:t>
            </a:r>
          </a:p>
          <a:p>
            <a:pPr lvl="0"/>
            <a:r>
              <a:rPr sz="2000" dirty="0"/>
              <a:t>Sensitivity analysis of the individual income sources [</a:t>
            </a:r>
            <a:r>
              <a:rPr sz="2000" dirty="0" err="1"/>
              <a:t>HHIncFirst</a:t>
            </a:r>
            <a:r>
              <a:rPr sz="2000" dirty="0"/>
              <a:t>] based on the results obtained from the correlation and sensitivity analysis</a:t>
            </a:r>
            <a:r>
              <a:rPr lang="en-US" sz="2000" dirty="0"/>
              <a:t>.</a:t>
            </a:r>
            <a:endParaRPr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0963" y="2143125"/>
            <a:ext cx="8229600" cy="857250"/>
          </a:xfrm>
        </p:spPr>
        <p:txBody>
          <a:bodyPr/>
          <a:lstStyle/>
          <a:p>
            <a:pPr marL="0" lvl="0" indent="0">
              <a:buNone/>
            </a:pPr>
            <a:r>
              <a:rPr lang="en-US" dirty="0"/>
              <a:t>Thank You!</a:t>
            </a:r>
            <a:endParaRPr dirty="0"/>
          </a:p>
        </p:txBody>
      </p:sp>
    </p:spTree>
    <p:extLst>
      <p:ext uri="{BB962C8B-B14F-4D97-AF65-F5344CB8AC3E}">
        <p14:creationId xmlns:p14="http://schemas.microsoft.com/office/powerpoint/2010/main" val="16736524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8" ma:contentTypeDescription="Create a new document." ma:contentTypeScope="" ma:versionID="ad2f6bf157231b83579321204f69ffe0">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e944df982cebb5615fc5ff0a850bebfa"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16160AE-FB9A-4D1F-8343-7AA5C4EA57F6}">
  <ds:schemaRefs>
    <ds:schemaRef ds:uri="http://schemas.microsoft.com/sharepoint/v3/contenttype/forms"/>
  </ds:schemaRefs>
</ds:datastoreItem>
</file>

<file path=customXml/itemProps2.xml><?xml version="1.0" encoding="utf-8"?>
<ds:datastoreItem xmlns:ds="http://schemas.openxmlformats.org/officeDocument/2006/customXml" ds:itemID="{5F477F48-762F-4B49-A9DD-2993B2D4AF06}">
  <ds:schemaRefs>
    <ds:schemaRef ds:uri="http://purl.org/dc/terms/"/>
    <ds:schemaRef ds:uri="http://purl.org/dc/elements/1.1/"/>
    <ds:schemaRef ds:uri="http://schemas.microsoft.com/office/infopath/2007/PartnerControls"/>
    <ds:schemaRef ds:uri="http://purl.org/dc/dcmitype/"/>
    <ds:schemaRef ds:uri="http://schemas.microsoft.com/office/2006/documentManagement/types"/>
    <ds:schemaRef ds:uri="49256dcf-74b5-4e0f-b2ab-e17546be8a80"/>
    <ds:schemaRef ds:uri="http://schemas.openxmlformats.org/package/2006/metadata/core-properties"/>
    <ds:schemaRef ds:uri="3940b711-dc1d-4235-b0a5-48d487f0d3b9"/>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8F7754B8-53DB-41CD-885C-4B311DE8AF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9256dcf-74b5-4e0f-b2ab-e17546be8a80"/>
    <ds:schemaRef ds:uri="3940b711-dc1d-4235-b0a5-48d487f0d3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46</TotalTime>
  <Words>1098</Words>
  <Application>Microsoft Office PowerPoint</Application>
  <PresentationFormat>On-screen Show (16:9)</PresentationFormat>
  <Paragraphs>152</Paragraphs>
  <Slides>20</Slides>
  <Notes>5</Notes>
  <HiddenSlides>7</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Aptos</vt:lpstr>
      <vt:lpstr>Arial</vt:lpstr>
      <vt:lpstr>Calibri</vt:lpstr>
      <vt:lpstr>Open Sans</vt:lpstr>
      <vt:lpstr>Office Theme</vt:lpstr>
      <vt:lpstr>Income Source and Income Change Variables</vt:lpstr>
      <vt:lpstr>Introduction</vt:lpstr>
      <vt:lpstr>rCARI Validation Study</vt:lpstr>
      <vt:lpstr>PowerPoint Presentation</vt:lpstr>
      <vt:lpstr>Sample Completion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Current progress</vt:lpstr>
      <vt:lpstr>  Recategorization of Smallholder Farmers</vt:lpstr>
      <vt:lpstr>PowerPoint Presentation</vt:lpstr>
      <vt:lpstr>PowerPoint Presentation</vt:lpstr>
      <vt:lpstr>PowerPoint Presentation</vt:lpstr>
      <vt:lpstr>Next Steps</vt:lpstr>
      <vt:lpstr>Thank You!</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Income Source and Income Change Variables</dc:title>
  <dc:creator>Needs Assessment &amp; Targeting Unit at WFP APP HQ</dc:creator>
  <cp:keywords/>
  <cp:lastModifiedBy>Marianne JENSBY</cp:lastModifiedBy>
  <cp:revision>1</cp:revision>
  <dcterms:created xsi:type="dcterms:W3CDTF">2024-05-20T07:04:07Z</dcterms:created>
  <dcterms:modified xsi:type="dcterms:W3CDTF">2024-06-20T10:30:32Z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May 20, 2024</vt:lpwstr>
  </property>
  <property fmtid="{D5CDD505-2E9C-101B-9397-08002B2CF9AE}" pid="3" name="output">
    <vt:lpwstr/>
  </property>
  <property fmtid="{D5CDD505-2E9C-101B-9397-08002B2CF9AE}" pid="4" name="subtitle">
    <vt:lpwstr>Preliminary Analysis from the rCARI Study</vt:lpwstr>
  </property>
  <property fmtid="{D5CDD505-2E9C-101B-9397-08002B2CF9AE}" pid="5" name="ContentTypeId">
    <vt:lpwstr>0x01010007EC5AEA005F3944B5281CE0F7F3B6DF</vt:lpwstr>
  </property>
  <property fmtid="{D5CDD505-2E9C-101B-9397-08002B2CF9AE}" pid="6" name="MediaServiceImageTags">
    <vt:lpwstr/>
  </property>
</Properties>
</file>